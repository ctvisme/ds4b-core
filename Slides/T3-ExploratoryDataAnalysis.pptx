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9" r:id="rId1"/>
  </p:sldMasterIdLst>
  <p:notesMasterIdLst>
    <p:notesMasterId r:id="rId36"/>
  </p:notesMasterIdLst>
  <p:sldIdLst>
    <p:sldId id="838" r:id="rId2"/>
    <p:sldId id="258" r:id="rId3"/>
    <p:sldId id="257" r:id="rId4"/>
    <p:sldId id="791" r:id="rId5"/>
    <p:sldId id="809" r:id="rId6"/>
    <p:sldId id="793" r:id="rId7"/>
    <p:sldId id="787" r:id="rId8"/>
    <p:sldId id="789" r:id="rId9"/>
    <p:sldId id="792" r:id="rId10"/>
    <p:sldId id="449" r:id="rId11"/>
    <p:sldId id="802" r:id="rId12"/>
    <p:sldId id="539" r:id="rId13"/>
    <p:sldId id="812" r:id="rId14"/>
    <p:sldId id="820" r:id="rId15"/>
    <p:sldId id="795" r:id="rId16"/>
    <p:sldId id="796" r:id="rId17"/>
    <p:sldId id="821" r:id="rId18"/>
    <p:sldId id="799" r:id="rId19"/>
    <p:sldId id="822" r:id="rId20"/>
    <p:sldId id="801" r:id="rId21"/>
    <p:sldId id="808" r:id="rId22"/>
    <p:sldId id="823" r:id="rId23"/>
    <p:sldId id="800" r:id="rId24"/>
    <p:sldId id="372" r:id="rId25"/>
    <p:sldId id="819" r:id="rId26"/>
    <p:sldId id="389" r:id="rId27"/>
    <p:sldId id="392" r:id="rId28"/>
    <p:sldId id="400" r:id="rId29"/>
    <p:sldId id="813" r:id="rId30"/>
    <p:sldId id="814" r:id="rId31"/>
    <p:sldId id="815" r:id="rId32"/>
    <p:sldId id="816" r:id="rId33"/>
    <p:sldId id="393" r:id="rId34"/>
    <p:sldId id="811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0592"/>
    <a:srgbClr val="4A0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486"/>
    <p:restoredTop sz="74333"/>
  </p:normalViewPr>
  <p:slideViewPr>
    <p:cSldViewPr snapToGrid="0">
      <p:cViewPr varScale="1">
        <p:scale>
          <a:sx n="102" d="100"/>
          <a:sy n="102" d="100"/>
        </p:scale>
        <p:origin x="119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13ED7A-E0CC-A14D-8702-3DBB30C4345D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12B09-6666-2149-A7EC-89A035875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811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has promise but does not necessarily make this better!!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79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here about finding data for their projects….</a:t>
            </a:r>
            <a:r>
              <a:rPr lang="en-US" dirty="0" err="1"/>
              <a:t>dont</a:t>
            </a:r>
            <a:r>
              <a:rPr lang="en-US" dirty="0"/>
              <a:t> try and take the easy road.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54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not covering </a:t>
            </a:r>
            <a:r>
              <a:rPr lang="en-US" dirty="0" err="1"/>
              <a:t>json</a:t>
            </a:r>
            <a:r>
              <a:rPr lang="en-US" dirty="0"/>
              <a:t> or </a:t>
            </a:r>
            <a:r>
              <a:rPr lang="en-US" dirty="0" err="1"/>
              <a:t>sql</a:t>
            </a:r>
            <a:r>
              <a:rPr lang="en-US" dirty="0"/>
              <a:t> in class.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2160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929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defRPr i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22338">
              <a:defRPr i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22338">
              <a:defRPr i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22338">
              <a:defRPr i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22338">
              <a:defRPr i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r" defTabSz="92233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r" defTabSz="92233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r" defTabSz="92233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r" defTabSz="92233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B769DA9D-202A-4A4C-A217-27806BB3352B}" type="slidenum">
              <a:rPr lang="en-US" i="0" smtClean="0">
                <a:solidFill>
                  <a:prstClr val="black"/>
                </a:solidFill>
              </a:rPr>
              <a:pPr/>
              <a:t>7</a:t>
            </a:fld>
            <a:endParaRPr lang="en-US" i="0">
              <a:solidFill>
                <a:prstClr val="black"/>
              </a:solidFill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dirty="0">
                <a:latin typeface="Arial" pitchFamily="34" charset="0"/>
              </a:rPr>
              <a:t>May need to create variables</a:t>
            </a:r>
          </a:p>
          <a:p>
            <a:pPr eaLnBrk="1" hangingPunct="1"/>
            <a:endParaRPr lang="en-US" dirty="0">
              <a:latin typeface="Arial" pitchFamily="34" charset="0"/>
            </a:endParaRPr>
          </a:p>
          <a:p>
            <a:pPr eaLnBrk="1" hangingPunct="1"/>
            <a:r>
              <a:rPr lang="en-US" dirty="0">
                <a:latin typeface="Arial" pitchFamily="34" charset="0"/>
              </a:rPr>
              <a:t>Income – adding 10k makes sense, doubling makes sense</a:t>
            </a:r>
          </a:p>
          <a:p>
            <a:pPr eaLnBrk="1" hangingPunct="1"/>
            <a:r>
              <a:rPr lang="en-US" dirty="0">
                <a:latin typeface="Arial" pitchFamily="34" charset="0"/>
              </a:rPr>
              <a:t>Test grade? : SAT – adding numbers makes sense, I guess. </a:t>
            </a:r>
          </a:p>
          <a:p>
            <a:pPr eaLnBrk="1" hangingPunct="1"/>
            <a:endParaRPr lang="en-US" dirty="0">
              <a:latin typeface="Arial" pitchFamily="34" charset="0"/>
            </a:endParaRPr>
          </a:p>
          <a:p>
            <a:pPr eaLnBrk="1" hangingPunct="1"/>
            <a:r>
              <a:rPr lang="en-US" dirty="0">
                <a:latin typeface="Arial" pitchFamily="34" charset="0"/>
              </a:rPr>
              <a:t>e.g., average balance may not be in any database, but would have to be computed during the data prep stage.</a:t>
            </a:r>
          </a:p>
          <a:p>
            <a:pPr eaLnBrk="1" hangingPunct="1"/>
            <a:endParaRPr lang="en-US" dirty="0">
              <a:latin typeface="Arial" pitchFamily="34" charset="0"/>
            </a:endParaRPr>
          </a:p>
          <a:p>
            <a:pPr eaLnBrk="1" hangingPunct="1"/>
            <a:r>
              <a:rPr lang="en-US" dirty="0">
                <a:latin typeface="Arial" pitchFamily="34" charset="0"/>
              </a:rPr>
              <a:t>What happens if you add “unknown” to an ordinal?  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9921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7232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This changes how you interpret the coefficients…</a:t>
            </a:r>
          </a:p>
          <a:p>
            <a:endParaRPr lang="en-US" dirty="0"/>
          </a:p>
          <a:p>
            <a:r>
              <a:rPr lang="en-US" dirty="0"/>
              <a:t>Redundant features may lead to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1350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</a:t>
            </a:r>
            <a:r>
              <a:rPr lang="en-US" dirty="0" err="1"/>
              <a:t>interpreteability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7982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: how do you find outliers? </a:t>
            </a:r>
          </a:p>
          <a:p>
            <a:endParaRPr lang="en-US" dirty="0"/>
          </a:p>
          <a:p>
            <a:r>
              <a:rPr lang="en-US" dirty="0"/>
              <a:t>Blood pressure = -100</a:t>
            </a:r>
          </a:p>
          <a:p>
            <a:r>
              <a:rPr lang="en-US" dirty="0"/>
              <a:t>Temperature = 800</a:t>
            </a:r>
          </a:p>
          <a:p>
            <a:r>
              <a:rPr lang="en-US" dirty="0"/>
              <a:t>Net worth = 3B. </a:t>
            </a:r>
          </a:p>
          <a:p>
            <a:endParaRPr lang="en-US" dirty="0"/>
          </a:p>
          <a:p>
            <a:r>
              <a:rPr lang="en-US" dirty="0"/>
              <a:t>Go back to HBO example…hours…is there a smooth distribution with some high, or a spike or single value?  </a:t>
            </a:r>
          </a:p>
          <a:p>
            <a:endParaRPr lang="en-US" dirty="0"/>
          </a:p>
          <a:p>
            <a:r>
              <a:rPr lang="en-US" dirty="0"/>
              <a:t>Even if real, you may want to delete it – to avoid overweight influence.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6656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– 1.5 IQR…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5546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6934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Medical test – the fact that you had the test might be important, or the fact that you refused the test.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6180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Needs careful consideration</a:t>
            </a:r>
          </a:p>
          <a:p>
            <a:r>
              <a:rPr lang="en-US" dirty="0"/>
              <a:t>Robustness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5622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9945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6E42E-69B4-1013-0801-28346334E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25A093-42CE-B0AD-5A4F-268736DB04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9FA62C-3839-B7B6-EA70-A4637073D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484805-8FB9-D3F8-F5E2-92B3782435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0567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3:14 – 4:53 – fertility rate vs life expectancy</a:t>
            </a:r>
          </a:p>
          <a:p>
            <a:r>
              <a:rPr lang="en-US" dirty="0"/>
              <a:t>9:17 –  10:52 13:03 tracks of GDP vs exp. Survival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4587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472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1470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Maybe go back to </a:t>
            </a:r>
            <a:r>
              <a:rPr lang="en-US" dirty="0" err="1"/>
              <a:t>echo.csv</a:t>
            </a:r>
            <a:r>
              <a:rPr lang="en-US" dirty="0"/>
              <a:t> data…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115CE6-3A25-0C40-BA6E-879DBEF4CE9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7693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Perhaps show this in Orange?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3435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not to be too harsh on outliers.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77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questions:</a:t>
            </a:r>
          </a:p>
          <a:p>
            <a:pPr marL="171450" indent="-171450">
              <a:buFontTx/>
              <a:buChar char="-"/>
            </a:pPr>
            <a:r>
              <a:rPr lang="en-US" dirty="0"/>
              <a:t>What kind of data do we have here? </a:t>
            </a:r>
          </a:p>
          <a:p>
            <a:pPr marL="171450" indent="-171450">
              <a:buFontTx/>
              <a:buChar char="-"/>
            </a:pPr>
            <a:r>
              <a:rPr lang="en-US" dirty="0"/>
              <a:t>What do we want to visualize (counts!) </a:t>
            </a:r>
          </a:p>
          <a:p>
            <a:pPr marL="171450" indent="-171450">
              <a:buFontTx/>
              <a:buChar char="-"/>
            </a:pPr>
            <a:r>
              <a:rPr lang="en-US" dirty="0"/>
              <a:t>Which columns do we use?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7145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lphaUcParenR"/>
            </a:pPr>
            <a:r>
              <a:rPr lang="en-US" dirty="0"/>
              <a:t>Clear what the largest age group is</a:t>
            </a:r>
          </a:p>
          <a:p>
            <a:pPr marL="228600" indent="-228600">
              <a:buAutoNum type="alphaUcParenR"/>
            </a:pPr>
            <a:r>
              <a:rPr lang="en-US" dirty="0"/>
              <a:t>B) clear that sprots and outdoors is decreasing (as %)  as age increases</a:t>
            </a:r>
          </a:p>
          <a:p>
            <a:pPr marL="228600" indent="-228600">
              <a:buAutoNum type="alphaUcParenR"/>
            </a:pPr>
            <a:r>
              <a:rPr lang="en-US" dirty="0"/>
              <a:t>Clear which is largest within an age group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1588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Maybe not as good because there is not an actual ordering on the x?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0496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4214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126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4254946" y="3467480"/>
            <a:ext cx="6912587" cy="1402207"/>
          </a:xfrm>
        </p:spPr>
        <p:txBody>
          <a:bodyPr lIns="91440" anchor="t">
            <a:noAutofit/>
          </a:bodyPr>
          <a:lstStyle>
            <a:lvl1pPr marL="0" indent="0" algn="l">
              <a:buNone/>
              <a:defRPr sz="2800" b="1" i="0">
                <a:solidFill>
                  <a:schemeClr val="bg2"/>
                </a:solidFill>
                <a:latin typeface="Montserrat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Data Science and AI for Business</a:t>
            </a:r>
          </a:p>
          <a:p>
            <a:r>
              <a:rPr lang="en-US" dirty="0"/>
              <a:t>Prof: Chris Volinsky</a:t>
            </a:r>
          </a:p>
          <a:p>
            <a:r>
              <a:rPr lang="en-US" dirty="0"/>
              <a:t>Fall 2025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4254946" y="567189"/>
            <a:ext cx="6912587" cy="2387600"/>
          </a:xfrm>
          <a:noFill/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Topic X – Topic Name</a:t>
            </a:r>
          </a:p>
        </p:txBody>
      </p:sp>
    </p:spTree>
    <p:extLst>
      <p:ext uri="{BB962C8B-B14F-4D97-AF65-F5344CB8AC3E}">
        <p14:creationId xmlns:p14="http://schemas.microsoft.com/office/powerpoint/2010/main" val="190746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47533-C89B-7F4F-A98B-2DD0B0DD654B}" type="datetimeFigureOut">
              <a:rPr lang="en-US" smtClean="0"/>
              <a:t>12/19/25</a:t>
            </a:fld>
            <a:endParaRPr lang="en-US" dirty="0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>
          <a:xfrm>
            <a:off x="162683" y="6358199"/>
            <a:ext cx="1351034" cy="365125"/>
          </a:xfrm>
        </p:spPr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/>
            </a:lvl1pPr>
            <a:lvl2pPr marL="685800" indent="-228600">
              <a:lnSpc>
                <a:spcPct val="100000"/>
              </a:lnSpc>
              <a:spcBef>
                <a:spcPts val="600"/>
              </a:spcBef>
              <a:buSzPct val="75000"/>
              <a:buFont typeface="Wingdings" pitchFamily="2" charset="2"/>
              <a:buChar char="§"/>
              <a:defRPr/>
            </a:lvl2pPr>
            <a:lvl3pPr marL="1143000" indent="-228600">
              <a:lnSpc>
                <a:spcPct val="100000"/>
              </a:lnSpc>
              <a:spcBef>
                <a:spcPts val="600"/>
              </a:spcBef>
              <a:buSzPct val="60000"/>
              <a:buFont typeface="Wingdings" pitchFamily="2" charset="2"/>
              <a:buChar char="v"/>
              <a:defRPr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lnSpc>
                <a:spcPct val="10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339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body" idx="1"/>
          </p:nvPr>
        </p:nvSpPr>
        <p:spPr>
          <a:xfrm>
            <a:off x="1674006" y="3447259"/>
            <a:ext cx="8160774" cy="1500187"/>
          </a:xfrm>
        </p:spPr>
        <p:txBody>
          <a:bodyPr lIns="9144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674006" y="1555276"/>
            <a:ext cx="8160774" cy="1864995"/>
          </a:xfrm>
          <a:noFill/>
        </p:spPr>
        <p:txBody>
          <a:bodyPr anchor="b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45712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2"/>
          <p:cNvSpPr>
            <a:spLocks noGrp="1"/>
          </p:cNvSpPr>
          <p:nvPr>
            <p:ph sz="half" idx="2"/>
          </p:nvPr>
        </p:nvSpPr>
        <p:spPr>
          <a:xfrm>
            <a:off x="6172200" y="1602658"/>
            <a:ext cx="5181600" cy="45743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1"/>
          <p:cNvSpPr>
            <a:spLocks noGrp="1"/>
          </p:cNvSpPr>
          <p:nvPr>
            <p:ph sz="half" idx="1"/>
          </p:nvPr>
        </p:nvSpPr>
        <p:spPr>
          <a:xfrm>
            <a:off x="838200" y="1602658"/>
            <a:ext cx="5181600" cy="45743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683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2"/>
          <p:cNvSpPr>
            <a:spLocks noGrp="1"/>
          </p:cNvSpPr>
          <p:nvPr>
            <p:ph sz="quarter" idx="4"/>
          </p:nvPr>
        </p:nvSpPr>
        <p:spPr>
          <a:xfrm>
            <a:off x="6172200" y="2424112"/>
            <a:ext cx="5183188" cy="3765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Heading 2"/>
          <p:cNvSpPr>
            <a:spLocks noGrp="1"/>
          </p:cNvSpPr>
          <p:nvPr>
            <p:ph type="body" sz="quarter" idx="3"/>
          </p:nvPr>
        </p:nvSpPr>
        <p:spPr>
          <a:xfrm>
            <a:off x="6172200" y="160020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1"/>
          <p:cNvSpPr>
            <a:spLocks noGrp="1"/>
          </p:cNvSpPr>
          <p:nvPr>
            <p:ph sz="half" idx="2"/>
          </p:nvPr>
        </p:nvSpPr>
        <p:spPr>
          <a:xfrm>
            <a:off x="839788" y="2424112"/>
            <a:ext cx="5157787" cy="3765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Heading 1"/>
          <p:cNvSpPr>
            <a:spLocks noGrp="1"/>
          </p:cNvSpPr>
          <p:nvPr>
            <p:ph type="body" idx="1"/>
          </p:nvPr>
        </p:nvSpPr>
        <p:spPr>
          <a:xfrm>
            <a:off x="839788" y="160020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005840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116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666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Hidden Title">
            <a:extLst>
              <a:ext uri="{FF2B5EF4-FFF2-40B4-BE49-F238E27FC236}">
                <a16:creationId xmlns:a16="http://schemas.microsoft.com/office/drawing/2014/main" id="{2BFCB23C-FD7A-DDAB-2F31-3EA0403961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-1139584"/>
            <a:ext cx="10515600" cy="1001559"/>
          </a:xfrm>
        </p:spPr>
        <p:txBody>
          <a:bodyPr/>
          <a:lstStyle/>
          <a:p>
            <a:r>
              <a:rPr lang="en-US" dirty="0"/>
              <a:t>Click to edit title (this will display for screen readers and outlines)</a:t>
            </a:r>
          </a:p>
        </p:txBody>
      </p:sp>
    </p:spTree>
    <p:extLst>
      <p:ext uri="{BB962C8B-B14F-4D97-AF65-F5344CB8AC3E}">
        <p14:creationId xmlns:p14="http://schemas.microsoft.com/office/powerpoint/2010/main" val="202257504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 tIns="18288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aption">
            <a:extLst>
              <a:ext uri="{FF2B5EF4-FFF2-40B4-BE49-F238E27FC236}">
                <a16:creationId xmlns:a16="http://schemas.microsoft.com/office/drawing/2014/main" id="{F7BEC92A-23B7-BAAB-4CE5-D6D7A6417B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6612" y="2057400"/>
            <a:ext cx="3935413" cy="380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Ins="274320"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5454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"/>
          <p:cNvSpPr>
            <a:spLocks noGrp="1" noChangeAspect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 tIns="18288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aption">
            <a:extLst>
              <a:ext uri="{FF2B5EF4-FFF2-40B4-BE49-F238E27FC236}">
                <a16:creationId xmlns:a16="http://schemas.microsoft.com/office/drawing/2014/main" id="{7D76AD61-182C-13DD-7E32-DAED6ED8CD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6612" y="2057401"/>
            <a:ext cx="3935413" cy="380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Ins="274320"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64642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832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tIns="182880" bIns="18288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1068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ographical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E0315FA0-DFBB-0494-15F4-F94FA37BC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248D3A38-8D3E-6EB0-FE34-FBB6F9AFC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3331D1D9-60E1-36A2-EDA8-C31A7ED84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AC4533C5-D85B-5D93-12B0-136A51D73C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684088" y="565150"/>
            <a:ext cx="5672170" cy="5511800"/>
          </a:xfrm>
          <a:solidFill>
            <a:schemeClr val="bg2"/>
          </a:solidFill>
        </p:spPr>
        <p:txBody>
          <a:bodyPr lIns="365760" tIns="45720" rIns="365760"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8F52A58E-1F73-C381-F411-54304E513F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6923" y="5453949"/>
            <a:ext cx="3868300" cy="622409"/>
          </a:xfrm>
        </p:spPr>
        <p:txBody>
          <a:bodyPr tIns="9144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DF94145-6C3C-7197-F652-4095F3D464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6923" y="4557832"/>
            <a:ext cx="3867807" cy="896117"/>
          </a:xfrm>
        </p:spPr>
        <p:txBody>
          <a:bodyPr lIns="91440" anchor="ctr">
            <a:noAutofit/>
          </a:bodyPr>
          <a:lstStyle>
            <a:lvl1pPr algn="ctr">
              <a:defRPr sz="2800"/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14" name="Biographical Portrait">
            <a:extLst>
              <a:ext uri="{FF2B5EF4-FFF2-40B4-BE49-F238E27FC236}">
                <a16:creationId xmlns:a16="http://schemas.microsoft.com/office/drawing/2014/main" id="{C01C33A2-E0D6-52C6-B10A-B3D8B056EAC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26923" y="490278"/>
            <a:ext cx="3867808" cy="4022020"/>
          </a:xfrm>
          <a:custGeom>
            <a:avLst/>
            <a:gdLst>
              <a:gd name="connsiteX0" fmla="*/ 1933904 w 3867808"/>
              <a:gd name="connsiteY0" fmla="*/ 0 h 4022020"/>
              <a:gd name="connsiteX1" fmla="*/ 3867808 w 3867808"/>
              <a:gd name="connsiteY1" fmla="*/ 2011366 h 4022020"/>
              <a:gd name="connsiteX2" fmla="*/ 2131635 w 3867808"/>
              <a:gd name="connsiteY2" fmla="*/ 4012348 h 4022020"/>
              <a:gd name="connsiteX3" fmla="*/ 1947462 w 3867808"/>
              <a:gd name="connsiteY3" fmla="*/ 4022020 h 4022020"/>
              <a:gd name="connsiteX4" fmla="*/ 1920347 w 3867808"/>
              <a:gd name="connsiteY4" fmla="*/ 4022020 h 4022020"/>
              <a:gd name="connsiteX5" fmla="*/ 1736174 w 3867808"/>
              <a:gd name="connsiteY5" fmla="*/ 4012348 h 4022020"/>
              <a:gd name="connsiteX6" fmla="*/ 0 w 3867808"/>
              <a:gd name="connsiteY6" fmla="*/ 2011366 h 4022020"/>
              <a:gd name="connsiteX7" fmla="*/ 1933904 w 3867808"/>
              <a:gd name="connsiteY7" fmla="*/ 0 h 402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808" h="4022020">
                <a:moveTo>
                  <a:pt x="1933904" y="0"/>
                </a:moveTo>
                <a:cubicBezTo>
                  <a:pt x="3001970" y="0"/>
                  <a:pt x="3867808" y="900519"/>
                  <a:pt x="3867808" y="2011366"/>
                </a:cubicBezTo>
                <a:cubicBezTo>
                  <a:pt x="3867808" y="3052785"/>
                  <a:pt x="3106818" y="3909346"/>
                  <a:pt x="2131635" y="4012348"/>
                </a:cubicBezTo>
                <a:lnTo>
                  <a:pt x="1947462" y="4022020"/>
                </a:lnTo>
                <a:lnTo>
                  <a:pt x="1920347" y="4022020"/>
                </a:lnTo>
                <a:lnTo>
                  <a:pt x="1736174" y="4012348"/>
                </a:lnTo>
                <a:cubicBezTo>
                  <a:pt x="760991" y="3909346"/>
                  <a:pt x="0" y="3052785"/>
                  <a:pt x="0" y="2011366"/>
                </a:cubicBezTo>
                <a:cubicBezTo>
                  <a:pt x="0" y="900519"/>
                  <a:pt x="865838" y="0"/>
                  <a:pt x="193390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62941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x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Upper Right Background">
            <a:extLst>
              <a:ext uri="{FF2B5EF4-FFF2-40B4-BE49-F238E27FC236}">
                <a16:creationId xmlns:a16="http://schemas.microsoft.com/office/drawing/2014/main" id="{741348CF-8AE0-CDA7-6AF8-73CBD508D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6000" y="1362456"/>
            <a:ext cx="4389120" cy="228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Lower Left Background">
            <a:extLst>
              <a:ext uri="{FF2B5EF4-FFF2-40B4-BE49-F238E27FC236}">
                <a16:creationId xmlns:a16="http://schemas.microsoft.com/office/drawing/2014/main" id="{7A022FAC-8470-0247-48BA-724E9DA04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06879" y="3664139"/>
            <a:ext cx="4389120" cy="228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Vertical Divider">
            <a:extLst>
              <a:ext uri="{FF2B5EF4-FFF2-40B4-BE49-F238E27FC236}">
                <a16:creationId xmlns:a16="http://schemas.microsoft.com/office/drawing/2014/main" id="{56653F9A-22F3-01A3-08FE-B872A42C7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096000" y="1362456"/>
            <a:ext cx="0" cy="4572000"/>
          </a:xfrm>
          <a:prstGeom prst="line">
            <a:avLst/>
          </a:prstGeom>
          <a:ln w="28575">
            <a:solidFill>
              <a:srgbClr val="3306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Horizontal Divider">
            <a:extLst>
              <a:ext uri="{FF2B5EF4-FFF2-40B4-BE49-F238E27FC236}">
                <a16:creationId xmlns:a16="http://schemas.microsoft.com/office/drawing/2014/main" id="{FD96D644-BABC-710D-9181-F5F1CFE255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706880" y="3648456"/>
            <a:ext cx="877824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ate">
            <a:extLst>
              <a:ext uri="{FF2B5EF4-FFF2-40B4-BE49-F238E27FC236}">
                <a16:creationId xmlns:a16="http://schemas.microsoft.com/office/drawing/2014/main" id="{8C45C620-8DCA-F412-3FAF-615D5BE68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01FB36B0-30B4-5161-4F34-C0DB33DF0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0834D6B-037D-B08E-B56B-6F63524B7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28" name="Lower Right Content">
            <a:extLst>
              <a:ext uri="{FF2B5EF4-FFF2-40B4-BE49-F238E27FC236}">
                <a16:creationId xmlns:a16="http://schemas.microsoft.com/office/drawing/2014/main" id="{59A8F6BE-E970-A0F4-7DDA-8524CD5C332D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095840" y="3740145"/>
            <a:ext cx="4389437" cy="2207388"/>
          </a:xfrm>
        </p:spPr>
        <p:txBody>
          <a:bodyPr lIns="182880" tIns="274320" rIns="27432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Lower Right Label 2">
            <a:extLst>
              <a:ext uri="{FF2B5EF4-FFF2-40B4-BE49-F238E27FC236}">
                <a16:creationId xmlns:a16="http://schemas.microsoft.com/office/drawing/2014/main" id="{CFD30BF1-A505-9ACC-025A-469B5F02978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03409" y="4654295"/>
            <a:ext cx="1487423" cy="392113"/>
          </a:xfrm>
        </p:spPr>
        <p:txBody>
          <a:bodyPr>
            <a:noAutofit/>
          </a:bodyPr>
          <a:lstStyle>
            <a:lvl1pPr marL="0" indent="0" algn="l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7" name="Lower Right Label 1">
            <a:extLst>
              <a:ext uri="{FF2B5EF4-FFF2-40B4-BE49-F238E27FC236}">
                <a16:creationId xmlns:a16="http://schemas.microsoft.com/office/drawing/2014/main" id="{C1877750-E333-F03B-47EC-F2033B802A8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524" y="5962966"/>
            <a:ext cx="4389117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27" name="Lower Left Content">
            <a:extLst>
              <a:ext uri="{FF2B5EF4-FFF2-40B4-BE49-F238E27FC236}">
                <a16:creationId xmlns:a16="http://schemas.microsoft.com/office/drawing/2014/main" id="{6EB568C5-C36C-C3B6-B84E-33585ED25B1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1706563" y="3740145"/>
            <a:ext cx="4389437" cy="2207388"/>
          </a:xfrm>
        </p:spPr>
        <p:txBody>
          <a:bodyPr lIns="182880" tIns="274320" rIns="27432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Lower Left Label 2">
            <a:extLst>
              <a:ext uri="{FF2B5EF4-FFF2-40B4-BE49-F238E27FC236}">
                <a16:creationId xmlns:a16="http://schemas.microsoft.com/office/drawing/2014/main" id="{837C4CC4-7EAF-DC30-D4DD-8B9A27E114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01168" y="4654295"/>
            <a:ext cx="1487423" cy="392113"/>
          </a:xfrm>
        </p:spPr>
        <p:txBody>
          <a:bodyPr>
            <a:noAutofit/>
          </a:bodyPr>
          <a:lstStyle>
            <a:lvl1pPr marL="0" indent="0" algn="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6" name="Lower Left Label 1">
            <a:extLst>
              <a:ext uri="{FF2B5EF4-FFF2-40B4-BE49-F238E27FC236}">
                <a16:creationId xmlns:a16="http://schemas.microsoft.com/office/drawing/2014/main" id="{4B5B599D-1D6D-2F42-226C-68559DBA7D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06406" y="5962966"/>
            <a:ext cx="4389119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26" name="Upper Right Content">
            <a:extLst>
              <a:ext uri="{FF2B5EF4-FFF2-40B4-BE49-F238E27FC236}">
                <a16:creationId xmlns:a16="http://schemas.microsoft.com/office/drawing/2014/main" id="{C9BA5D50-354F-362B-0D00-D2581CEB93A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095840" y="1358773"/>
            <a:ext cx="4389437" cy="2207388"/>
          </a:xfrm>
        </p:spPr>
        <p:txBody>
          <a:bodyPr lIns="182880" tIns="274320" rIns="27432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Upper Right Label 2">
            <a:extLst>
              <a:ext uri="{FF2B5EF4-FFF2-40B4-BE49-F238E27FC236}">
                <a16:creationId xmlns:a16="http://schemas.microsoft.com/office/drawing/2014/main" id="{95D7251D-C3E9-D88C-6B59-37FDF825BC9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503409" y="2176811"/>
            <a:ext cx="1487423" cy="392113"/>
          </a:xfrm>
        </p:spPr>
        <p:txBody>
          <a:bodyPr>
            <a:noAutofit/>
          </a:bodyPr>
          <a:lstStyle>
            <a:lvl1pPr marL="0" indent="0" algn="l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5" name="Upper Right Label 1">
            <a:extLst>
              <a:ext uri="{FF2B5EF4-FFF2-40B4-BE49-F238E27FC236}">
                <a16:creationId xmlns:a16="http://schemas.microsoft.com/office/drawing/2014/main" id="{01DC97BE-4E44-4321-55D1-58467CA8CD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524" y="904718"/>
            <a:ext cx="4389117" cy="457200"/>
          </a:xfrm>
        </p:spPr>
        <p:txBody>
          <a:bodyPr anchor="b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25" name="Upper Left Content">
            <a:extLst>
              <a:ext uri="{FF2B5EF4-FFF2-40B4-BE49-F238E27FC236}">
                <a16:creationId xmlns:a16="http://schemas.microsoft.com/office/drawing/2014/main" id="{34ADB10B-DD8F-366C-2FE7-EB6B19010DC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1706563" y="1358773"/>
            <a:ext cx="4389437" cy="2207388"/>
          </a:xfrm>
        </p:spPr>
        <p:txBody>
          <a:bodyPr lIns="182880" tIns="274320" rIns="27432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Upper Left Label 2">
            <a:extLst>
              <a:ext uri="{FF2B5EF4-FFF2-40B4-BE49-F238E27FC236}">
                <a16:creationId xmlns:a16="http://schemas.microsoft.com/office/drawing/2014/main" id="{A2A1B410-A6E6-1BF0-054A-670E8ED31F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1168" y="2176811"/>
            <a:ext cx="1487423" cy="392113"/>
          </a:xfrm>
        </p:spPr>
        <p:txBody>
          <a:bodyPr>
            <a:noAutofit/>
          </a:bodyPr>
          <a:lstStyle>
            <a:lvl1pPr marL="0" indent="0" algn="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4" name="Upper Left Label 1">
            <a:extLst>
              <a:ext uri="{FF2B5EF4-FFF2-40B4-BE49-F238E27FC236}">
                <a16:creationId xmlns:a16="http://schemas.microsoft.com/office/drawing/2014/main" id="{49583889-99E8-7796-E87C-F99F6EE72D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06406" y="904718"/>
            <a:ext cx="4389119" cy="457200"/>
          </a:xfrm>
        </p:spPr>
        <p:txBody>
          <a:bodyPr anchor="b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C5C5A4C-3D9C-8F95-687D-4440AD423F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542736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2896427575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5BF72350-7C98-FBEB-2F3B-2484C5946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EE8AD11E-DA5D-22C0-7E98-72840ACE0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5F3E7FD-E179-CFF4-29F5-C801F3EC4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">
            <a:extLst>
              <a:ext uri="{FF2B5EF4-FFF2-40B4-BE49-F238E27FC236}">
                <a16:creationId xmlns:a16="http://schemas.microsoft.com/office/drawing/2014/main" id="{924D0665-6B62-D94C-6BB9-A5F32444BAF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</p:spPr>
        <p:txBody>
          <a:bodyPr tIns="27432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picture. Resize to fill screen if necessary.</a:t>
            </a:r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D0F66A68-CFCE-76B6-AA53-FDBE844F57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737651"/>
            <a:ext cx="5872095" cy="587375"/>
          </a:xfrm>
          <a:solidFill>
            <a:schemeClr val="accent6"/>
          </a:solidFill>
        </p:spPr>
        <p:txBody>
          <a:bodyPr lIns="822960"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image caption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8B02C69-13B3-AF45-CE38-55FAC6F830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01609"/>
            <a:ext cx="6171117" cy="836754"/>
          </a:xfrm>
          <a:solidFill>
            <a:schemeClr val="accent1"/>
          </a:solidFill>
        </p:spPr>
        <p:txBody>
          <a:bodyPr lIns="822960">
            <a:noAutofit/>
          </a:bodyPr>
          <a:lstStyle>
            <a:lvl1pPr>
              <a:defRPr sz="32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Click to add image title</a:t>
            </a:r>
          </a:p>
        </p:txBody>
      </p:sp>
    </p:spTree>
    <p:extLst>
      <p:ext uri="{BB962C8B-B14F-4D97-AF65-F5344CB8AC3E}">
        <p14:creationId xmlns:p14="http://schemas.microsoft.com/office/powerpoint/2010/main" val="119783016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imag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5345CF1A-4C10-1E0A-F359-242D961D8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5F89A3E1-10E8-DF5C-ADA7-7AA1AC188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A5217EA-2F5D-8BD3-F6A4-7D27B940E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aption">
            <a:extLst>
              <a:ext uri="{FF2B5EF4-FFF2-40B4-BE49-F238E27FC236}">
                <a16:creationId xmlns:a16="http://schemas.microsoft.com/office/drawing/2014/main" id="{28B89F34-6ED0-DAD7-D81D-47BF20B8B6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99" y="5640428"/>
            <a:ext cx="10515601" cy="592656"/>
          </a:xfrm>
        </p:spPr>
        <p:txBody>
          <a:bodyPr/>
          <a:lstStyle>
            <a:lvl1pPr marL="0" indent="0" algn="ctr">
              <a:buNone/>
              <a:defRPr sz="2000" i="1"/>
            </a:lvl1pPr>
          </a:lstStyle>
          <a:p>
            <a:pPr lvl="0"/>
            <a:r>
              <a:rPr lang="en-US" dirty="0"/>
              <a:t>Click to add an image caption</a:t>
            </a:r>
          </a:p>
        </p:txBody>
      </p:sp>
      <p:sp>
        <p:nvSpPr>
          <p:cNvPr id="13" name="Picture or Content">
            <a:extLst>
              <a:ext uri="{FF2B5EF4-FFF2-40B4-BE49-F238E27FC236}">
                <a16:creationId xmlns:a16="http://schemas.microsoft.com/office/drawing/2014/main" id="{CD1EE5D5-5FAF-B62D-975C-50CD0639937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200" y="1377023"/>
            <a:ext cx="10515600" cy="42530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EDF3277-C373-C98B-51F8-11BE6680E5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1605591009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Way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672552CE-57B0-D785-85F5-225E32E6D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93EB0BEA-0AF7-A252-24DF-6C97D14F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4B4D71D-AD5D-4C98-1899-1F087628E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Column 3 Content">
            <a:extLst>
              <a:ext uri="{FF2B5EF4-FFF2-40B4-BE49-F238E27FC236}">
                <a16:creationId xmlns:a16="http://schemas.microsoft.com/office/drawing/2014/main" id="{05C1C30C-0CDC-3433-354D-EE9FD3483F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53399" y="2743199"/>
            <a:ext cx="3200401" cy="3328045"/>
          </a:xfrm>
          <a:solidFill>
            <a:schemeClr val="bg2"/>
          </a:solidFill>
        </p:spPr>
        <p:txBody>
          <a:bodyPr lIns="182880" tIns="182880" r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lumn 3 Header">
            <a:extLst>
              <a:ext uri="{FF2B5EF4-FFF2-40B4-BE49-F238E27FC236}">
                <a16:creationId xmlns:a16="http://schemas.microsoft.com/office/drawing/2014/main" id="{EAD20429-72EA-1AA7-5960-5D9EC8A91A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53400" y="1828800"/>
            <a:ext cx="32004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lumn 2 Content">
            <a:extLst>
              <a:ext uri="{FF2B5EF4-FFF2-40B4-BE49-F238E27FC236}">
                <a16:creationId xmlns:a16="http://schemas.microsoft.com/office/drawing/2014/main" id="{D0A545A4-8A49-4146-D78B-41174161DC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95799" y="2743199"/>
            <a:ext cx="3200401" cy="3328045"/>
          </a:xfrm>
          <a:solidFill>
            <a:schemeClr val="bg2"/>
          </a:solidFill>
        </p:spPr>
        <p:txBody>
          <a:bodyPr lIns="182880" tIns="182880" r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lumn 2 Header">
            <a:extLst>
              <a:ext uri="{FF2B5EF4-FFF2-40B4-BE49-F238E27FC236}">
                <a16:creationId xmlns:a16="http://schemas.microsoft.com/office/drawing/2014/main" id="{9314D649-A64C-6E34-2130-1BDF8C873E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95800" y="1828800"/>
            <a:ext cx="32004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lumn 1 Content">
            <a:extLst>
              <a:ext uri="{FF2B5EF4-FFF2-40B4-BE49-F238E27FC236}">
                <a16:creationId xmlns:a16="http://schemas.microsoft.com/office/drawing/2014/main" id="{C23072DC-4A0E-C83E-BDE9-54755DDCF74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8198" y="2743199"/>
            <a:ext cx="3200401" cy="3328045"/>
          </a:xfrm>
          <a:solidFill>
            <a:schemeClr val="bg2"/>
          </a:solidFill>
        </p:spPr>
        <p:txBody>
          <a:bodyPr lIns="182880" tIns="182880" r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lumn 1 Header">
            <a:extLst>
              <a:ext uri="{FF2B5EF4-FFF2-40B4-BE49-F238E27FC236}">
                <a16:creationId xmlns:a16="http://schemas.microsoft.com/office/drawing/2014/main" id="{C9BF1D7D-132C-5DC4-A1F8-16FE0BFECF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8800"/>
            <a:ext cx="32004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F6E66BC-C77D-5E9E-4407-6B490F15E2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2451303275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-Way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672552CE-57B0-D785-85F5-225E32E6D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93EB0BEA-0AF7-A252-24DF-6C97D14F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4B4D71D-AD5D-4C98-1899-1F087628E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Column 4 Content">
            <a:extLst>
              <a:ext uri="{FF2B5EF4-FFF2-40B4-BE49-F238E27FC236}">
                <a16:creationId xmlns:a16="http://schemas.microsoft.com/office/drawing/2014/main" id="{34C4BCE7-4191-F2A9-F80D-F627E9EA077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839198" y="2743198"/>
            <a:ext cx="2514600" cy="3328045"/>
          </a:xfrm>
          <a:solidFill>
            <a:schemeClr val="bg2"/>
          </a:solidFill>
        </p:spPr>
        <p:txBody>
          <a:bodyPr tIns="18288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lumn 4 Header">
            <a:extLst>
              <a:ext uri="{FF2B5EF4-FFF2-40B4-BE49-F238E27FC236}">
                <a16:creationId xmlns:a16="http://schemas.microsoft.com/office/drawing/2014/main" id="{1B8965D5-7659-2A00-C376-DD8B3ACA713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839200" y="1828799"/>
            <a:ext cx="25146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lumn 3 Content">
            <a:extLst>
              <a:ext uri="{FF2B5EF4-FFF2-40B4-BE49-F238E27FC236}">
                <a16:creationId xmlns:a16="http://schemas.microsoft.com/office/drawing/2014/main" id="{E901D810-CC36-C6AA-9EDE-FB64CCF9EAB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79166" y="2743198"/>
            <a:ext cx="2514600" cy="3328045"/>
          </a:xfrm>
          <a:solidFill>
            <a:schemeClr val="bg2"/>
          </a:solidFill>
        </p:spPr>
        <p:txBody>
          <a:bodyPr tIns="18288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lumn 3 Header">
            <a:extLst>
              <a:ext uri="{FF2B5EF4-FFF2-40B4-BE49-F238E27FC236}">
                <a16:creationId xmlns:a16="http://schemas.microsoft.com/office/drawing/2014/main" id="{303B94A8-CAE7-3320-55C2-EC5B8724067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72200" y="1828799"/>
            <a:ext cx="25146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lumn 2 Content">
            <a:extLst>
              <a:ext uri="{FF2B5EF4-FFF2-40B4-BE49-F238E27FC236}">
                <a16:creationId xmlns:a16="http://schemas.microsoft.com/office/drawing/2014/main" id="{CB09BE5E-E412-C4BE-23E6-1B9E9E610C0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98230" y="2743199"/>
            <a:ext cx="2514600" cy="3328045"/>
          </a:xfrm>
          <a:solidFill>
            <a:schemeClr val="bg2"/>
          </a:solidFill>
        </p:spPr>
        <p:txBody>
          <a:bodyPr tIns="18288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lumn 2 Header">
            <a:extLst>
              <a:ext uri="{FF2B5EF4-FFF2-40B4-BE49-F238E27FC236}">
                <a16:creationId xmlns:a16="http://schemas.microsoft.com/office/drawing/2014/main" id="{FE4E8193-CA60-39C5-BF2A-642510ED2AD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505200" y="1828800"/>
            <a:ext cx="25146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lumn 1 Content">
            <a:extLst>
              <a:ext uri="{FF2B5EF4-FFF2-40B4-BE49-F238E27FC236}">
                <a16:creationId xmlns:a16="http://schemas.microsoft.com/office/drawing/2014/main" id="{C23072DC-4A0E-C83E-BDE9-54755DDCF74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8198" y="2743199"/>
            <a:ext cx="2514600" cy="3328045"/>
          </a:xfrm>
          <a:solidFill>
            <a:schemeClr val="bg2"/>
          </a:solidFill>
        </p:spPr>
        <p:txBody>
          <a:bodyPr tIns="18288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lumn 1 Header">
            <a:extLst>
              <a:ext uri="{FF2B5EF4-FFF2-40B4-BE49-F238E27FC236}">
                <a16:creationId xmlns:a16="http://schemas.microsoft.com/office/drawing/2014/main" id="{C9BF1D7D-132C-5DC4-A1F8-16FE0BFECF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8800"/>
            <a:ext cx="25146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F6E66BC-C77D-5E9E-4407-6B490F15E2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2453986176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105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B056C3-2019-B406-B923-FB0A68BB94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8476" y="1769441"/>
            <a:ext cx="4638168" cy="914400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Placeholder</a:t>
            </a:r>
          </a:p>
        </p:txBody>
      </p:sp>
    </p:spTree>
    <p:extLst>
      <p:ext uri="{BB962C8B-B14F-4D97-AF65-F5344CB8AC3E}">
        <p14:creationId xmlns:p14="http://schemas.microsoft.com/office/powerpoint/2010/main" val="2310165541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4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4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268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2"/>
          </p:nvPr>
        </p:nvSpPr>
        <p:spPr>
          <a:xfrm>
            <a:off x="6927794" y="6356350"/>
            <a:ext cx="13709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3"/>
          </p:nvPr>
        </p:nvSpPr>
        <p:spPr>
          <a:xfrm>
            <a:off x="2501114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4"/>
          </p:nvPr>
        </p:nvSpPr>
        <p:spPr>
          <a:xfrm>
            <a:off x="162683" y="6358199"/>
            <a:ext cx="13510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8200" y="1602658"/>
            <a:ext cx="10515600" cy="4574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155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152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  <p:sldLayoutId id="2147483726" r:id="rId17"/>
    <p:sldLayoutId id="2147483727" r:id="rId18"/>
    <p:sldLayoutId id="2147483728" r:id="rId19"/>
    <p:sldLayoutId id="2147483729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Montserra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Wingdings" pitchFamily="2" charset="2"/>
        <a:buChar char="§"/>
        <a:defRPr sz="24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Wingdings" pitchFamily="2" charset="2"/>
        <a:buChar char="v"/>
        <a:defRPr sz="20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Wingdings" pitchFamily="2" charset="2"/>
        <a:buChar char="§"/>
        <a:defRPr sz="18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Wingdings" pitchFamily="2" charset="2"/>
        <a:buChar char="§"/>
        <a:defRPr sz="18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4.jpe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atesilver.net/p/nate-silver-2024-president-election-polls-model" TargetMode="External"/><Relationship Id="rId5" Type="http://schemas.openxmlformats.org/officeDocument/2006/relationships/image" Target="../media/image23.png"/><Relationship Id="rId4" Type="http://schemas.openxmlformats.org/officeDocument/2006/relationships/image" Target="../media/image25.png"/><Relationship Id="rId9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hyperlink" Target="https://www.reddit.com/r/data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penintro.org/data/index.php?data=loan50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9" descr="Gould Plaza and the entrance to NYU Stern.">
            <a:extLst>
              <a:ext uri="{FF2B5EF4-FFF2-40B4-BE49-F238E27FC236}">
                <a16:creationId xmlns:a16="http://schemas.microsoft.com/office/drawing/2014/main" id="{F17365F4-1E30-C933-8686-832E1115072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7813" b="7813"/>
          <a:stretch/>
        </p:blipFill>
        <p:spPr/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BC2083-E159-5D73-81B8-E41ED22AD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D02E90-7C54-47EB-C2F3-880E692B8E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Data Science and AI for Business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AC408D0-47BE-6C66-ED8D-D1BC21324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39343"/>
            <a:ext cx="7053943" cy="1199020"/>
          </a:xfrm>
        </p:spPr>
        <p:txBody>
          <a:bodyPr/>
          <a:lstStyle/>
          <a:p>
            <a:r>
              <a:rPr lang="en-US" dirty="0"/>
              <a:t>Topic 3 – Exploratory Data Analysis</a:t>
            </a:r>
          </a:p>
        </p:txBody>
      </p:sp>
    </p:spTree>
    <p:extLst>
      <p:ext uri="{BB962C8B-B14F-4D97-AF65-F5344CB8AC3E}">
        <p14:creationId xmlns:p14="http://schemas.microsoft.com/office/powerpoint/2010/main" val="3500939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04A3CE-8242-4C8E-22CA-FA2520BF1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</a:t>
            </a:fld>
            <a:endParaRPr lang="en-US"/>
          </a:p>
        </p:txBody>
      </p:sp>
      <p:pic>
        <p:nvPicPr>
          <p:cNvPr id="1026" name="Picture 2" descr="programmer meme">
            <a:extLst>
              <a:ext uri="{FF2B5EF4-FFF2-40B4-BE49-F238E27FC236}">
                <a16:creationId xmlns:a16="http://schemas.microsoft.com/office/drawing/2014/main" id="{EF0BB2BF-44B6-B013-BFAD-92C345ECB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81000"/>
            <a:ext cx="60960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8246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1DB78-EDD3-FED8-B85C-E4964652A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92" y="6270967"/>
            <a:ext cx="1526326" cy="501711"/>
          </a:xfrm>
        </p:spPr>
        <p:txBody>
          <a:bodyPr/>
          <a:lstStyle/>
          <a:p>
            <a:fld id="{ABBEE3BA-F264-1746-880E-39AD601DF2B1}" type="slidenum">
              <a:rPr lang="en-US" smtClean="0"/>
              <a:t>3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7D8CB2-5161-A2D9-BFD2-D12AC354E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30" y="152853"/>
            <a:ext cx="4109356" cy="1431017"/>
          </a:xfrm>
        </p:spPr>
        <p:txBody>
          <a:bodyPr>
            <a:normAutofit fontScale="90000"/>
          </a:bodyPr>
          <a:lstStyle/>
          <a:p>
            <a:r>
              <a:rPr lang="en-US" dirty="0"/>
              <a:t>Data Science: Reality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B899FA-C6DB-008D-6772-9035AB52EC4A}"/>
              </a:ext>
            </a:extLst>
          </p:cNvPr>
          <p:cNvSpPr txBox="1"/>
          <p:nvPr/>
        </p:nvSpPr>
        <p:spPr>
          <a:xfrm>
            <a:off x="5001861" y="5972040"/>
            <a:ext cx="208699" cy="549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50" name="Picture 2" descr="machine learning artificial intelligence data science meme">
            <a:extLst>
              <a:ext uri="{FF2B5EF4-FFF2-40B4-BE49-F238E27FC236}">
                <a16:creationId xmlns:a16="http://schemas.microsoft.com/office/drawing/2014/main" id="{B5F75D81-645A-CCA1-38CC-89F8C464D4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8086" y="152853"/>
            <a:ext cx="4726664" cy="3978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close up of a newspaper&#10;&#10;Description automatically generated">
            <a:extLst>
              <a:ext uri="{FF2B5EF4-FFF2-40B4-BE49-F238E27FC236}">
                <a16:creationId xmlns:a16="http://schemas.microsoft.com/office/drawing/2014/main" id="{598F7740-165A-EE08-17D7-06095D28CA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94627"/>
            <a:ext cx="5418407" cy="1590017"/>
          </a:xfrm>
          <a:prstGeom prst="rect">
            <a:avLst/>
          </a:prstGeom>
        </p:spPr>
      </p:pic>
      <p:pic>
        <p:nvPicPr>
          <p:cNvPr id="10" name="Picture 9" descr="A close-up of a text&#10;&#10;Description automatically generated">
            <a:extLst>
              <a:ext uri="{FF2B5EF4-FFF2-40B4-BE49-F238E27FC236}">
                <a16:creationId xmlns:a16="http://schemas.microsoft.com/office/drawing/2014/main" id="{6DB84285-6812-9870-7A3B-8E13A82C61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0560" y="4281594"/>
            <a:ext cx="6781181" cy="2067704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90B8486-4F29-7547-F3BF-B0D2621100AD}"/>
              </a:ext>
            </a:extLst>
          </p:cNvPr>
          <p:cNvSpPr txBox="1"/>
          <p:nvPr/>
        </p:nvSpPr>
        <p:spPr>
          <a:xfrm>
            <a:off x="1028680" y="5907146"/>
            <a:ext cx="3868832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Steve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Lohr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NYT 8/17/2014</a:t>
            </a:r>
          </a:p>
        </p:txBody>
      </p:sp>
    </p:spTree>
    <p:extLst>
      <p:ext uri="{BB962C8B-B14F-4D97-AF65-F5344CB8AC3E}">
        <p14:creationId xmlns:p14="http://schemas.microsoft.com/office/powerpoint/2010/main" val="1970065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20C19-86AF-103D-AB3B-FA43FA63C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F32AC-0B0E-6C52-5E6C-4937C3C38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021899"/>
            <a:ext cx="8229600" cy="522332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In business critical systems</a:t>
            </a:r>
          </a:p>
          <a:p>
            <a:pPr lvl="1"/>
            <a:r>
              <a:rPr lang="en-US" dirty="0"/>
              <a:t>Challenge:  these systems are often not set up for collection of data, they are for running a business.  Much cleaning needed. </a:t>
            </a:r>
          </a:p>
          <a:p>
            <a:pPr lvl="1"/>
            <a:endParaRPr lang="en-US" dirty="0"/>
          </a:p>
          <a:p>
            <a:r>
              <a:rPr lang="en-US" dirty="0"/>
              <a:t>Online</a:t>
            </a:r>
          </a:p>
          <a:p>
            <a:pPr lvl="1"/>
            <a:r>
              <a:rPr lang="en-US" dirty="0"/>
              <a:t>Challenge:  Companies often do not give access to critical data, and if they do it is via a rate limited API</a:t>
            </a:r>
          </a:p>
          <a:p>
            <a:pPr lvl="1"/>
            <a:r>
              <a:rPr lang="en-US" dirty="0"/>
              <a:t>Can use parsers, scrapers, and other tools</a:t>
            </a:r>
          </a:p>
          <a:p>
            <a:pPr lvl="1"/>
            <a:r>
              <a:rPr lang="en-US" dirty="0"/>
              <a:t>Useful modules like Beautiful Soup* can scrape web sites</a:t>
            </a:r>
          </a:p>
          <a:p>
            <a:pPr lvl="1"/>
            <a:r>
              <a:rPr lang="en-US" dirty="0"/>
              <a:t>Using </a:t>
            </a:r>
            <a:r>
              <a:rPr lang="en-US" dirty="0" err="1"/>
              <a:t>GenAI</a:t>
            </a:r>
            <a:r>
              <a:rPr lang="en-US" dirty="0"/>
              <a:t> to get data (e.g. financial reports) </a:t>
            </a:r>
          </a:p>
          <a:p>
            <a:pPr lvl="1"/>
            <a:endParaRPr lang="en-US" dirty="0"/>
          </a:p>
          <a:p>
            <a:r>
              <a:rPr lang="en-US" dirty="0"/>
              <a:t>Curated data science websites</a:t>
            </a:r>
          </a:p>
          <a:p>
            <a:pPr lvl="1"/>
            <a:r>
              <a:rPr lang="en-US" dirty="0"/>
              <a:t>Challenges: Sanitized, much analyzed data </a:t>
            </a:r>
          </a:p>
          <a:p>
            <a:pPr lvl="1"/>
            <a:r>
              <a:rPr lang="en-US" dirty="0"/>
              <a:t>UCI repository</a:t>
            </a:r>
          </a:p>
          <a:p>
            <a:pPr lvl="1"/>
            <a:r>
              <a:rPr lang="en-US" dirty="0"/>
              <a:t>Lots of data science courses!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170CC-687E-9BB9-6B22-4540DCBBD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9" y="20340"/>
            <a:ext cx="10515600" cy="1001559"/>
          </a:xfrm>
        </p:spPr>
        <p:txBody>
          <a:bodyPr/>
          <a:lstStyle/>
          <a:p>
            <a:r>
              <a:rPr lang="en-US" dirty="0"/>
              <a:t>Where to Find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2E6F88-3042-82CB-ED34-756E2B24194B}"/>
              </a:ext>
            </a:extLst>
          </p:cNvPr>
          <p:cNvSpPr txBox="1"/>
          <p:nvPr/>
        </p:nvSpPr>
        <p:spPr>
          <a:xfrm>
            <a:off x="7538678" y="4516051"/>
            <a:ext cx="2980881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*https://</a:t>
            </a:r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pypi.org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/project/beautifulsoup4/</a:t>
            </a:r>
          </a:p>
        </p:txBody>
      </p:sp>
    </p:spTree>
    <p:extLst>
      <p:ext uri="{BB962C8B-B14F-4D97-AF65-F5344CB8AC3E}">
        <p14:creationId xmlns:p14="http://schemas.microsoft.com/office/powerpoint/2010/main" val="3228956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EED86-05E7-522F-D268-3130B9EEC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F9E8B-0866-4238-4628-2F85B4648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863" y="911229"/>
            <a:ext cx="7629355" cy="4814202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Ideally data we will access will come to us in a nice Excel or CSV format.</a:t>
            </a:r>
          </a:p>
          <a:p>
            <a:pPr>
              <a:lnSpc>
                <a:spcPct val="120000"/>
              </a:lnSpc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Reading in data via CSV requires the </a:t>
            </a:r>
            <a:r>
              <a:rPr lang="en-US" sz="18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pandas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module and </a:t>
            </a:r>
            <a:r>
              <a:rPr lang="en-US" sz="1800" dirty="0" err="1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read_csv</a:t>
            </a:r>
            <a:r>
              <a:rPr lang="en-US" sz="1800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()</a:t>
            </a: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Several ways to do this:</a:t>
            </a:r>
          </a:p>
          <a:p>
            <a:pPr lvl="1">
              <a:lnSpc>
                <a:spcPct val="120000"/>
              </a:lnSpc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Mount your Google Drive and read from there</a:t>
            </a:r>
          </a:p>
          <a:p>
            <a:pPr lvl="1">
              <a:lnSpc>
                <a:spcPct val="120000"/>
              </a:lnSpc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Upload file from computer to </a:t>
            </a:r>
            <a:r>
              <a:rPr lang="en-US" sz="1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Colab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session</a:t>
            </a:r>
          </a:p>
          <a:p>
            <a:pPr lvl="2">
              <a:lnSpc>
                <a:spcPct val="120000"/>
              </a:lnSpc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See “T1_Managing_data”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800" b="0" dirty="0">
              <a:solidFill>
                <a:srgbClr val="000000"/>
              </a:solidFill>
              <a:effectLst/>
              <a:highlight>
                <a:srgbClr val="F7F7F7"/>
              </a:highligh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1800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some cases may need to read in data from XML, SQL or JSON scripts</a:t>
            </a:r>
          </a:p>
          <a:p>
            <a:pPr lvl="1">
              <a:lnSpc>
                <a:spcPct val="120000"/>
              </a:lnSpc>
            </a:pPr>
            <a:r>
              <a:rPr lang="en-US" sz="1800" dirty="0">
                <a:solidFill>
                  <a:srgbClr val="000000"/>
                </a:solidFill>
                <a:highlight>
                  <a:srgbClr val="F7F7F7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Come see me/TA  if you need help with this</a:t>
            </a:r>
            <a:endParaRPr lang="en-US" sz="1800" b="0" dirty="0">
              <a:solidFill>
                <a:srgbClr val="000000"/>
              </a:solidFill>
              <a:effectLst/>
              <a:highlight>
                <a:srgbClr val="F7F7F7"/>
              </a:highligh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2">
              <a:lnSpc>
                <a:spcPct val="120000"/>
              </a:lnSpc>
            </a:pP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lnSpc>
                <a:spcPct val="120000"/>
              </a:lnSpc>
            </a:pP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B68438-3A18-5503-474C-E4879CE94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683" y="69666"/>
            <a:ext cx="10515600" cy="784793"/>
          </a:xfrm>
        </p:spPr>
        <p:txBody>
          <a:bodyPr/>
          <a:lstStyle/>
          <a:p>
            <a:r>
              <a:rPr lang="en-US" dirty="0"/>
              <a:t>Reading data into Python</a:t>
            </a:r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61B2085C-9365-84AE-027A-97D41F7F3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67386"/>
            <a:ext cx="5803075" cy="73983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F351B7EB-003B-6A9E-052B-8B4E0E83DC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218" y="3645725"/>
            <a:ext cx="3774919" cy="230104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47D53E-CBAD-2B90-8AB3-218023CF96F0}"/>
              </a:ext>
            </a:extLst>
          </p:cNvPr>
          <p:cNvSpPr txBox="1"/>
          <p:nvPr/>
        </p:nvSpPr>
        <p:spPr>
          <a:xfrm>
            <a:off x="2788064" y="5987041"/>
            <a:ext cx="4980851" cy="400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T3_Getting_Data_Through_APIs.ipynb</a:t>
            </a:r>
          </a:p>
        </p:txBody>
      </p:sp>
    </p:spTree>
    <p:extLst>
      <p:ext uri="{BB962C8B-B14F-4D97-AF65-F5344CB8AC3E}">
        <p14:creationId xmlns:p14="http://schemas.microsoft.com/office/powerpoint/2010/main" val="2202500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5F2B4-F69D-D1CB-F504-2857EC22A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BCD99-C54A-7B67-E512-309163DDD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530" y="1293899"/>
            <a:ext cx="8127670" cy="4574305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10000"/>
              </a:lnSpc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Exploratory Data analysis – prior to any modelling</a:t>
            </a:r>
          </a:p>
          <a:p>
            <a:pPr>
              <a:lnSpc>
                <a:spcPct val="110000"/>
              </a:lnSpc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lnSpc>
                <a:spcPct val="11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Study (and understand)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every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feature!! </a:t>
            </a:r>
          </a:p>
          <a:p>
            <a:pPr lvl="1">
              <a:lnSpc>
                <a:spcPct val="11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Know your feature types and distributions </a:t>
            </a:r>
          </a:p>
          <a:p>
            <a:pPr lvl="1">
              <a:lnSpc>
                <a:spcPct val="11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Explore Outliers</a:t>
            </a:r>
          </a:p>
          <a:p>
            <a:pPr lvl="1">
              <a:lnSpc>
                <a:spcPct val="11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Consider Transformations </a:t>
            </a:r>
          </a:p>
          <a:p>
            <a:pPr lvl="1">
              <a:lnSpc>
                <a:spcPct val="11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Evaluate Missing Data</a:t>
            </a:r>
          </a:p>
          <a:p>
            <a:pPr lvl="1">
              <a:lnSpc>
                <a:spcPct val="11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Visualize Key Features</a:t>
            </a:r>
          </a:p>
          <a:p>
            <a:pPr marL="342900" lvl="1" indent="0">
              <a:lnSpc>
                <a:spcPct val="110000"/>
              </a:lnSpc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FB31C8-3605-0510-590D-B76FA3628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683" y="134676"/>
            <a:ext cx="10515600" cy="1001559"/>
          </a:xfrm>
        </p:spPr>
        <p:txBody>
          <a:bodyPr/>
          <a:lstStyle/>
          <a:p>
            <a:r>
              <a:rPr lang="en-US" dirty="0"/>
              <a:t>Exploring data through EDA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014B577-C1C2-79E5-7C20-875802305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1704" y="1480272"/>
            <a:ext cx="2193966" cy="4387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7223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D73AFA-2A38-510D-97B8-2A598640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9154" y="868754"/>
            <a:ext cx="9399160" cy="5550514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Numeric: anything where calculations are meaningful</a:t>
            </a:r>
          </a:p>
          <a:p>
            <a:pPr lvl="1">
              <a:lnSpc>
                <a:spcPct val="120000"/>
              </a:lnSpc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Does addition / subtraction make sense</a:t>
            </a:r>
          </a:p>
          <a:p>
            <a:pPr marL="0" indent="0">
              <a:lnSpc>
                <a:spcPct val="120000"/>
              </a:lnSpc>
              <a:buNone/>
              <a:defRPr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20000"/>
              </a:lnSpc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Categorical: cannot do meaningful calculations</a:t>
            </a:r>
          </a:p>
          <a:p>
            <a:pPr lvl="1">
              <a:lnSpc>
                <a:spcPct val="120000"/>
              </a:lnSpc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Don’t be fooled: Categories might have numeric labels! </a:t>
            </a:r>
          </a:p>
          <a:p>
            <a:pPr lvl="1">
              <a:lnSpc>
                <a:spcPct val="120000"/>
              </a:lnSpc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 your categories ordered?  </a:t>
            </a:r>
          </a:p>
          <a:p>
            <a:pPr lvl="2">
              <a:lnSpc>
                <a:spcPct val="120000"/>
              </a:lnSpc>
              <a:defRPr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Ordinal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Income (A: 0-50k; B: 50k-100k; C: 100k-500k; D: &gt; 500k)</a:t>
            </a:r>
          </a:p>
          <a:p>
            <a:pPr lvl="2">
              <a:lnSpc>
                <a:spcPct val="120000"/>
              </a:lnSpc>
              <a:defRPr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Nominal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EyeColor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A:Blue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 B=Brown; C=Green; D=Other)</a:t>
            </a:r>
          </a:p>
          <a:p>
            <a:pPr marL="0" indent="0">
              <a:lnSpc>
                <a:spcPct val="120000"/>
              </a:lnSpc>
              <a:buNone/>
              <a:defRPr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20000"/>
              </a:lnSpc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Binary (special case of categorical):</a:t>
            </a:r>
          </a:p>
          <a:p>
            <a:pPr lvl="1">
              <a:lnSpc>
                <a:spcPct val="120000"/>
              </a:lnSpc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Two possible values, in particular 0/1</a:t>
            </a:r>
          </a:p>
          <a:p>
            <a:pPr marL="342900" lvl="1" indent="0">
              <a:lnSpc>
                <a:spcPct val="120000"/>
              </a:lnSpc>
              <a:buNone/>
              <a:defRPr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20000"/>
              </a:lnSpc>
              <a:defRPr/>
            </a:pP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Datestamps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lnSpc>
                <a:spcPct val="120000"/>
              </a:lnSpc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Beware of format! </a:t>
            </a:r>
          </a:p>
          <a:p>
            <a:pPr lvl="1">
              <a:lnSpc>
                <a:spcPct val="120000"/>
              </a:lnSpc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Make sure software imports dates properly  (e.g. </a:t>
            </a:r>
            <a:r>
              <a:rPr lang="en-US" dirty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import datetime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python)</a:t>
            </a:r>
          </a:p>
          <a:p>
            <a:pPr lvl="2">
              <a:lnSpc>
                <a:spcPct val="120000"/>
              </a:lnSpc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Numeric calculations should be possible</a:t>
            </a:r>
          </a:p>
        </p:txBody>
      </p:sp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409154" y="134676"/>
            <a:ext cx="8229600" cy="68548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Feature Types</a:t>
            </a:r>
          </a:p>
        </p:txBody>
      </p:sp>
      <p:pic>
        <p:nvPicPr>
          <p:cNvPr id="3" name="Picture 2" descr="programmer meme">
            <a:extLst>
              <a:ext uri="{FF2B5EF4-FFF2-40B4-BE49-F238E27FC236}">
                <a16:creationId xmlns:a16="http://schemas.microsoft.com/office/drawing/2014/main" id="{DBC97133-79C7-39F1-1738-17A43EFFD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4753" y="311443"/>
            <a:ext cx="1838093" cy="1838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computer code with green and black text&#10;&#10;Description automatically generated">
            <a:extLst>
              <a:ext uri="{FF2B5EF4-FFF2-40B4-BE49-F238E27FC236}">
                <a16:creationId xmlns:a16="http://schemas.microsoft.com/office/drawing/2014/main" id="{7ECCA72A-8C5A-52E8-F330-BF89349367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5060" y="3729360"/>
            <a:ext cx="5381309" cy="173070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02667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3755"/>
            <a:ext cx="10515600" cy="4574305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Its not always obvious what is categorical – so don’t trust the software!</a:t>
            </a:r>
          </a:p>
          <a:p>
            <a:pPr lv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Social Security numbers</a:t>
            </a:r>
          </a:p>
          <a:p>
            <a:pPr lv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Credit scores </a:t>
            </a:r>
          </a:p>
          <a:p>
            <a:pPr lv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Zip codes</a:t>
            </a:r>
          </a:p>
          <a:p>
            <a:pPr lv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Ordinals can be coded as numbers</a:t>
            </a:r>
          </a:p>
          <a:p>
            <a:pPr lvl="2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e.g. (1=no HS; 2=HS grad; 3=post HS)</a:t>
            </a: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Make sure that your software recognizes the right data type:</a:t>
            </a:r>
          </a:p>
          <a:p>
            <a:pPr lv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Make numbers look like numbers</a:t>
            </a:r>
          </a:p>
          <a:p>
            <a:pPr lv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Make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categoricals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NOT look like numbers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1" y="132079"/>
            <a:ext cx="10515600" cy="1001559"/>
          </a:xfrm>
        </p:spPr>
        <p:txBody>
          <a:bodyPr/>
          <a:lstStyle/>
          <a:p>
            <a:r>
              <a:rPr lang="en-US" dirty="0"/>
              <a:t>Things can get messy</a:t>
            </a:r>
          </a:p>
        </p:txBody>
      </p:sp>
    </p:spTree>
    <p:extLst>
      <p:ext uri="{BB962C8B-B14F-4D97-AF65-F5344CB8AC3E}">
        <p14:creationId xmlns:p14="http://schemas.microsoft.com/office/powerpoint/2010/main" val="3725983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841AA-FE1E-E6DF-7482-2C3787CF7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9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C1402-A9CB-1021-3E3B-CFE9A7624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527" y="1099075"/>
            <a:ext cx="5479473" cy="467875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Looking at data in Python:</a:t>
            </a:r>
          </a:p>
          <a:p>
            <a:pPr marL="0" indent="0">
              <a:buNone/>
            </a:pP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Ideally data can be input as a .csv file</a:t>
            </a:r>
          </a:p>
          <a:p>
            <a:pPr lvl="1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Make sure no commas!</a:t>
            </a:r>
          </a:p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Python tools for initial manipulation of data</a:t>
            </a:r>
          </a:p>
          <a:p>
            <a:pPr lvl="1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Renaming variables (.</a:t>
            </a:r>
            <a:r>
              <a:rPr lang="en-US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rename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lvl="1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Summaries of variables </a:t>
            </a:r>
            <a:r>
              <a:rPr lang="en-US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(.info and .describe)</a:t>
            </a:r>
          </a:p>
          <a:p>
            <a:pPr lvl="1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Exploring data </a:t>
            </a:r>
            <a:r>
              <a:rPr lang="en-US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(.head, .tail)</a:t>
            </a:r>
          </a:p>
          <a:p>
            <a:pPr lvl="1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Viewing slices of data (.</a:t>
            </a:r>
            <a:r>
              <a:rPr lang="en-US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.</a:t>
            </a:r>
            <a:r>
              <a:rPr lang="en-US" sz="1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iloc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</a:p>
          <a:p>
            <a:pPr lvl="1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Categorical variables (.</a:t>
            </a:r>
            <a:r>
              <a:rPr lang="en-US" sz="1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value_counts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lvl="1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Merging and splitting attributes (.</a:t>
            </a:r>
            <a:r>
              <a:rPr lang="en-US" sz="1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concat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.</a:t>
            </a:r>
            <a:r>
              <a:rPr lang="en-US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split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other text tools)</a:t>
            </a:r>
          </a:p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 use sampling if data is too large (.</a:t>
            </a:r>
            <a:r>
              <a:rPr lang="en-US" sz="1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sample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F1C6BE-26C7-DB6F-98AC-CC74FC393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001559"/>
          </a:xfrm>
        </p:spPr>
        <p:txBody>
          <a:bodyPr/>
          <a:lstStyle/>
          <a:p>
            <a:r>
              <a:rPr lang="en-US" dirty="0"/>
              <a:t>Exploring data in python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5B860B-1788-4F80-35D8-3DBC61DC2D3A}"/>
              </a:ext>
            </a:extLst>
          </p:cNvPr>
          <p:cNvSpPr txBox="1"/>
          <p:nvPr/>
        </p:nvSpPr>
        <p:spPr>
          <a:xfrm>
            <a:off x="8671782" y="416784"/>
            <a:ext cx="1664706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ISLP Ch2.3</a:t>
            </a:r>
          </a:p>
          <a:p>
            <a:pPr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Shmueli Ch2.4</a:t>
            </a:r>
          </a:p>
        </p:txBody>
      </p:sp>
      <p:pic>
        <p:nvPicPr>
          <p:cNvPr id="7" name="Picture 6" descr="A screenshot of a data sheet&#10;&#10;Description automatically generated">
            <a:extLst>
              <a:ext uri="{FF2B5EF4-FFF2-40B4-BE49-F238E27FC236}">
                <a16:creationId xmlns:a16="http://schemas.microsoft.com/office/drawing/2014/main" id="{37B536A2-1182-CC7E-D5B8-577DD2427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460" y="1099075"/>
            <a:ext cx="4998920" cy="5161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699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90B21-C21F-FBFC-25B0-9E52D22EB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C1578-2F32-24B4-9077-E2A4A180B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156" y="810292"/>
            <a:ext cx="10379033" cy="481420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Lets say we wanted to study impact of diet type on Cholesterol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986682-62EC-5C1F-5055-98F6637A0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941"/>
            <a:ext cx="10711543" cy="1001559"/>
          </a:xfrm>
        </p:spPr>
        <p:txBody>
          <a:bodyPr>
            <a:noAutofit/>
          </a:bodyPr>
          <a:lstStyle/>
          <a:p>
            <a:r>
              <a:rPr lang="en-US" sz="3600" dirty="0"/>
              <a:t>Encoding Categorical Variables (</a:t>
            </a:r>
            <a:r>
              <a:rPr 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python</a:t>
            </a:r>
            <a:r>
              <a:rPr lang="en-US" sz="3600" dirty="0"/>
              <a:t>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780E730-01ED-F7AF-7679-029D2939D2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33203"/>
              </p:ext>
            </p:extLst>
          </p:nvPr>
        </p:nvGraphicFramePr>
        <p:xfrm>
          <a:off x="2316219" y="1405795"/>
          <a:ext cx="4699836" cy="265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6612">
                  <a:extLst>
                    <a:ext uri="{9D8B030D-6E8A-4147-A177-3AD203B41FA5}">
                      <a16:colId xmlns:a16="http://schemas.microsoft.com/office/drawing/2014/main" val="3980559937"/>
                    </a:ext>
                  </a:extLst>
                </a:gridCol>
                <a:gridCol w="1566612">
                  <a:extLst>
                    <a:ext uri="{9D8B030D-6E8A-4147-A177-3AD203B41FA5}">
                      <a16:colId xmlns:a16="http://schemas.microsoft.com/office/drawing/2014/main" val="2064854923"/>
                    </a:ext>
                  </a:extLst>
                </a:gridCol>
                <a:gridCol w="1566612">
                  <a:extLst>
                    <a:ext uri="{9D8B030D-6E8A-4147-A177-3AD203B41FA5}">
                      <a16:colId xmlns:a16="http://schemas.microsoft.com/office/drawing/2014/main" val="1791774329"/>
                    </a:ext>
                  </a:extLst>
                </a:gridCol>
              </a:tblGrid>
              <a:tr h="379703">
                <a:tc>
                  <a:txBody>
                    <a:bodyPr/>
                    <a:lstStyle/>
                    <a:p>
                      <a:r>
                        <a:rPr lang="en-US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Cholesterol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785830"/>
                  </a:ext>
                </a:extLst>
              </a:tr>
              <a:tr h="379703">
                <a:tc>
                  <a:txBody>
                    <a:bodyPr/>
                    <a:lstStyle/>
                    <a:p>
                      <a:r>
                        <a:rPr lang="en-US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Alberto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Vegetarian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0844048"/>
                  </a:ext>
                </a:extLst>
              </a:tr>
              <a:tr h="379703">
                <a:tc>
                  <a:txBody>
                    <a:bodyPr/>
                    <a:lstStyle/>
                    <a:p>
                      <a:r>
                        <a:rPr lang="en-US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Becky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Vegan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28506"/>
                  </a:ext>
                </a:extLst>
              </a:tr>
              <a:tr h="379703">
                <a:tc>
                  <a:txBody>
                    <a:bodyPr/>
                    <a:lstStyle/>
                    <a:p>
                      <a:r>
                        <a:rPr lang="en-US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Callie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Omnivore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485380"/>
                  </a:ext>
                </a:extLst>
              </a:tr>
              <a:tr h="379703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Daneyah</a:t>
                      </a:r>
                      <a:endParaRPr lang="en-US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Pescatarian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106487"/>
                  </a:ext>
                </a:extLst>
              </a:tr>
              <a:tr h="379703">
                <a:tc>
                  <a:txBody>
                    <a:bodyPr/>
                    <a:lstStyle/>
                    <a:p>
                      <a:r>
                        <a:rPr lang="en-US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Omnivore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705406"/>
                  </a:ext>
                </a:extLst>
              </a:tr>
              <a:tr h="379703">
                <a:tc>
                  <a:txBody>
                    <a:bodyPr/>
                    <a:lstStyle/>
                    <a:p>
                      <a:r>
                        <a:rPr lang="en-US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252043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51DF13F-9614-A019-866D-4A8438F50D65}"/>
              </a:ext>
            </a:extLst>
          </p:cNvPr>
          <p:cNvSpPr txBox="1"/>
          <p:nvPr/>
        </p:nvSpPr>
        <p:spPr>
          <a:xfrm>
            <a:off x="7645537" y="1538868"/>
            <a:ext cx="2230244" cy="1890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Four types:</a:t>
            </a:r>
          </a:p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Vegan (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Vegetarian (Vg)</a:t>
            </a:r>
          </a:p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Pescatarian (P)</a:t>
            </a:r>
          </a:p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Omnivore (O)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3F312B-583A-2588-25DA-DA05E44095BB}"/>
              </a:ext>
            </a:extLst>
          </p:cNvPr>
          <p:cNvSpPr txBox="1"/>
          <p:nvPr/>
        </p:nvSpPr>
        <p:spPr>
          <a:xfrm>
            <a:off x="1981200" y="4203789"/>
            <a:ext cx="83411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 should re-code this variable as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k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binary (0,1) indicator variables (also called 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dummy variables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 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one-hot encoding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Note: only (k-1) dummies are needed to encode the information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D3C15E-3455-5BFD-AB6E-FD8D84F00C79}"/>
              </a:ext>
            </a:extLst>
          </p:cNvPr>
          <p:cNvSpPr txBox="1"/>
          <p:nvPr/>
        </p:nvSpPr>
        <p:spPr>
          <a:xfrm>
            <a:off x="1686296" y="5504346"/>
            <a:ext cx="86360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some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methods (regression!) you 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must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encode with (k-1) dummies to avoid an error:</a:t>
            </a:r>
            <a:endParaRPr lang="en-US" sz="20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4CEB29-FD98-C919-CA43-E1D63BA36F5B}"/>
              </a:ext>
            </a:extLst>
          </p:cNvPr>
          <p:cNvSpPr txBox="1"/>
          <p:nvPr/>
        </p:nvSpPr>
        <p:spPr>
          <a:xfrm>
            <a:off x="3813718" y="6007789"/>
            <a:ext cx="5765180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400" b="1" dirty="0" err="1">
                <a:latin typeface="Lucida Console" panose="020B0609040504020204" pitchFamily="49" charset="0"/>
              </a:rPr>
              <a:t>pandas.get_dummies</a:t>
            </a:r>
            <a:r>
              <a:rPr lang="en-US" sz="1400" b="1" dirty="0">
                <a:latin typeface="Lucida Console" panose="020B0609040504020204" pitchFamily="49" charset="0"/>
              </a:rPr>
              <a:t>  (</a:t>
            </a:r>
            <a:r>
              <a:rPr lang="en-US" sz="1400" b="1" dirty="0" err="1">
                <a:latin typeface="Lucida Console" panose="020B0609040504020204" pitchFamily="49" charset="0"/>
              </a:rPr>
              <a:t>drop_first</a:t>
            </a:r>
            <a:r>
              <a:rPr lang="en-US" sz="1400" b="1" dirty="0">
                <a:latin typeface="Lucida Console" panose="020B0609040504020204" pitchFamily="49" charset="0"/>
              </a:rPr>
              <a:t>=TRUE)</a:t>
            </a:r>
            <a:br>
              <a:rPr lang="en-US" sz="1400" b="1" dirty="0">
                <a:latin typeface="Lucida Console" panose="020B0609040504020204" pitchFamily="49" charset="0"/>
              </a:rPr>
            </a:br>
            <a:r>
              <a:rPr lang="en-US" sz="1400" b="1" dirty="0" err="1">
                <a:latin typeface="Lucida Console" panose="020B0609040504020204" pitchFamily="49" charset="0"/>
              </a:rPr>
              <a:t>sklearn.preprocessing.OneHotEncoder</a:t>
            </a:r>
            <a:r>
              <a:rPr lang="en-US" sz="1400" b="1" dirty="0">
                <a:latin typeface="Lucida Console" panose="020B0609040504020204" pitchFamily="49" charset="0"/>
              </a:rPr>
              <a:t> (drop=‘first’)</a:t>
            </a:r>
          </a:p>
        </p:txBody>
      </p:sp>
    </p:spTree>
    <p:extLst>
      <p:ext uri="{BB962C8B-B14F-4D97-AF65-F5344CB8AC3E}">
        <p14:creationId xmlns:p14="http://schemas.microsoft.com/office/powerpoint/2010/main" val="3048934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B85731-239E-80CD-AA96-4A8E6A720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CADEC-2087-8AB2-C0F0-FD8E7C0A6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496" y="1021898"/>
            <a:ext cx="6222670" cy="1305666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Another issue with categorical variables: there can be too many levels – this can make modeling complicated and messy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May want to cluster, or transform to top levels + “other”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2F560F-C067-BA78-6A00-980F88A4E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0116" y="90408"/>
            <a:ext cx="8229600" cy="729214"/>
          </a:xfrm>
        </p:spPr>
        <p:txBody>
          <a:bodyPr/>
          <a:lstStyle/>
          <a:p>
            <a:r>
              <a:rPr lang="en-US" dirty="0"/>
              <a:t>Categorical Variables</a:t>
            </a:r>
          </a:p>
        </p:txBody>
      </p:sp>
      <p:pic>
        <p:nvPicPr>
          <p:cNvPr id="9" name="Picture 8" descr="A screenshot of a table&#10;&#10;Description automatically generated">
            <a:extLst>
              <a:ext uri="{FF2B5EF4-FFF2-40B4-BE49-F238E27FC236}">
                <a16:creationId xmlns:a16="http://schemas.microsoft.com/office/drawing/2014/main" id="{F4E50887-17CE-07A2-4EF8-1F6522E6C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93" y="9243"/>
            <a:ext cx="2723972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27AB7DD-7269-1DCD-C539-8AB7F661B964}"/>
              </a:ext>
            </a:extLst>
          </p:cNvPr>
          <p:cNvSpPr txBox="1"/>
          <p:nvPr/>
        </p:nvSpPr>
        <p:spPr>
          <a:xfrm>
            <a:off x="3366575" y="6621022"/>
            <a:ext cx="788999" cy="24622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+ 40 more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9490F1B-2D1E-9B48-C467-1C247FC16E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1182" y="2521330"/>
            <a:ext cx="4457462" cy="383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276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837872-C11A-2B0C-CC73-3ADFC25D7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0E77E-4FF1-CAFB-D249-82DAC7D1E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758" y="1021899"/>
            <a:ext cx="8117655" cy="4814202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</a:pP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Outliers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are observations that are far from the mean, and fall outside the range of most of the data</a:t>
            </a:r>
          </a:p>
          <a:p>
            <a:pPr>
              <a:lnSpc>
                <a:spcPct val="110000"/>
              </a:lnSpc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 be found via summary tables, visualization or simple sorting</a:t>
            </a:r>
          </a:p>
          <a:p>
            <a:pPr lvl="1">
              <a:lnSpc>
                <a:spcPct val="110000"/>
              </a:lnSpc>
            </a:pP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Look at each feature!!</a:t>
            </a:r>
          </a:p>
          <a:p>
            <a:pPr marL="0" indent="0">
              <a:lnSpc>
                <a:spcPct val="110000"/>
              </a:lnSpc>
              <a:buNone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Outliers typically are attributable to one of the following causes</a:t>
            </a:r>
          </a:p>
          <a:p>
            <a:pPr lvl="1">
              <a:lnSpc>
                <a:spcPct val="11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measurement is observed, recorded, or entered into the computer incorrectly.  (Blood pressure = -50)</a:t>
            </a:r>
          </a:p>
          <a:p>
            <a:pPr lvl="1">
              <a:lnSpc>
                <a:spcPct val="11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measurement comes from a different population. (Age = 5) </a:t>
            </a:r>
          </a:p>
          <a:p>
            <a:pPr lvl="1">
              <a:lnSpc>
                <a:spcPct val="11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measurement is correct but represents a rare (chance) event. (Net worth = $3B)</a:t>
            </a:r>
          </a:p>
          <a:p>
            <a:pPr>
              <a:lnSpc>
                <a:spcPct val="110000"/>
              </a:lnSpc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10000"/>
              </a:lnSpc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AE6E6D-E493-3054-611C-EA3522ADB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683" y="20340"/>
            <a:ext cx="10515600" cy="1001559"/>
          </a:xfrm>
        </p:spPr>
        <p:txBody>
          <a:bodyPr/>
          <a:lstStyle/>
          <a:p>
            <a:r>
              <a:rPr lang="en-US" dirty="0"/>
              <a:t>Outliers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B9E120-9A92-7B2F-18E8-05B6F73E0448}"/>
              </a:ext>
            </a:extLst>
          </p:cNvPr>
          <p:cNvSpPr txBox="1"/>
          <p:nvPr/>
        </p:nvSpPr>
        <p:spPr>
          <a:xfrm>
            <a:off x="1463693" y="5866827"/>
            <a:ext cx="7588213" cy="70788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Outliers should always be identified and inspected to see if they are “real” or some artifact of data collection</a:t>
            </a:r>
          </a:p>
        </p:txBody>
      </p:sp>
      <p:pic>
        <p:nvPicPr>
          <p:cNvPr id="7" name="Picture 6" descr="A diagram of a graph&#10;&#10;AI-generated content may be incorrect.">
            <a:extLst>
              <a:ext uri="{FF2B5EF4-FFF2-40B4-BE49-F238E27FC236}">
                <a16:creationId xmlns:a16="http://schemas.microsoft.com/office/drawing/2014/main" id="{FE7DA945-9FB2-C15B-6AE7-6945EEA09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1906" y="2111167"/>
            <a:ext cx="2590635" cy="242667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636138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D73CB-BE55-391B-66E0-86300E708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36525"/>
            <a:ext cx="8229600" cy="1143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Outliers: Remove or no?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7033E-FADD-74A5-113D-5960A70F72CC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56259" y="1417638"/>
            <a:ext cx="6552211" cy="4886058"/>
          </a:xfrm>
        </p:spPr>
        <p:txBody>
          <a:bodyPr wrap="square" anchor="t">
            <a:normAutofit/>
          </a:bodyPr>
          <a:lstStyle/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Outliers can have an outsize impact on analysis</a:t>
            </a:r>
          </a:p>
          <a:p>
            <a:pPr lvl="1"/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 may choose to remove an outlier, even if it is legitimate, just to avoid influence on analysis</a:t>
            </a:r>
          </a:p>
          <a:p>
            <a:pPr marL="457200" lvl="1" indent="0">
              <a:buNone/>
            </a:pP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Or, choose a robust analysis technique</a:t>
            </a:r>
          </a:p>
          <a:p>
            <a:pPr lvl="1"/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Regression is </a:t>
            </a:r>
            <a:r>
              <a:rPr lang="en-US" sz="18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sensitive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 outliers</a:t>
            </a:r>
          </a:p>
          <a:p>
            <a:pPr lvl="1"/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Decision Trees are </a:t>
            </a:r>
            <a:r>
              <a:rPr lang="en-US" sz="18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robust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 outliers</a:t>
            </a:r>
          </a:p>
          <a:p>
            <a:pPr marL="457200" lvl="1" indent="0">
              <a:buNone/>
            </a:pP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Carefully assess data for legitimacy. If appears incorrect, remove it (or fix it!)</a:t>
            </a:r>
          </a:p>
          <a:p>
            <a:pPr lvl="1"/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Blood Pressure = -50</a:t>
            </a:r>
          </a:p>
          <a:p>
            <a:pPr lvl="1"/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Temperature = 180 degrees</a:t>
            </a:r>
          </a:p>
          <a:p>
            <a:pPr lvl="1"/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Net worth = $3B</a:t>
            </a:r>
          </a:p>
          <a:p>
            <a:pPr marL="457200" lvl="1" indent="0">
              <a:buNone/>
            </a:pP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1F441-28A1-BA4C-804D-CCB3C76DA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245225"/>
            <a:ext cx="2133600" cy="47625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ABBEE3BA-F264-1746-880E-39AD601DF2B1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098364-F968-0B64-CDEA-1DB7F06E9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471" y="1915726"/>
            <a:ext cx="4788723" cy="338802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11591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437FC-6DB1-54CE-D75A-63F1543BE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FED8E-00E8-AAE0-44B7-2AAF140D5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021" y="1574938"/>
            <a:ext cx="4164594" cy="4667189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Highly skewed data can be problematic in data science analysis</a:t>
            </a:r>
          </a:p>
          <a:p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Income and other monetary values are often heavily skewed right. </a:t>
            </a:r>
          </a:p>
          <a:p>
            <a:pPr lvl="1"/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 obscure patterns</a:t>
            </a:r>
          </a:p>
          <a:p>
            <a:pPr lvl="1"/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Makes EDA/Viz challenging</a:t>
            </a:r>
          </a:p>
          <a:p>
            <a:pPr lvl="1"/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Consider Transformations:</a:t>
            </a:r>
          </a:p>
          <a:p>
            <a:pPr lvl="2"/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Log-scale</a:t>
            </a:r>
          </a:p>
          <a:p>
            <a:pPr lvl="2"/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Square root</a:t>
            </a:r>
          </a:p>
          <a:p>
            <a:pPr lvl="2"/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Binning </a:t>
            </a:r>
            <a:r>
              <a:rPr lang="en-US"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(deciles) </a:t>
            </a: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2"/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Beware of interpretation of transformed features</a:t>
            </a:r>
          </a:p>
          <a:p>
            <a:pPr lvl="1"/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6B0EED-4624-2116-14E1-B144FF0FC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731" y="124627"/>
            <a:ext cx="10515600" cy="1001559"/>
          </a:xfrm>
        </p:spPr>
        <p:txBody>
          <a:bodyPr/>
          <a:lstStyle/>
          <a:p>
            <a:r>
              <a:rPr lang="en-US" dirty="0"/>
              <a:t>Skewed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ED82DD-6C6C-D449-1304-C90402D31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213" y="3632368"/>
            <a:ext cx="3232766" cy="27771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482840-603B-9C83-9B0A-532C8FDBD0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5531" y="3465018"/>
            <a:ext cx="3232766" cy="27771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335B82-35CE-A88E-AF91-541F360914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2196" y="625407"/>
            <a:ext cx="3109898" cy="26715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6B8725-DFDE-81EA-0A4F-DB10E62DE7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9160" y="625408"/>
            <a:ext cx="2896948" cy="248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512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68FA2-5F7E-35F6-7A83-05B1EB45A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054EB-9B6D-E497-61AF-4D15CEACC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322" y="1077106"/>
            <a:ext cx="7511143" cy="4703788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Missing Data: Data points that are not recorded or are absent in the dataset.  </a:t>
            </a:r>
          </a:p>
          <a:p>
            <a:pPr lvl="1">
              <a:lnSpc>
                <a:spcPct val="110000"/>
              </a:lnSpc>
            </a:pPr>
            <a:r>
              <a:rPr lang="en-US" sz="18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 be represented by “.” “NA” “99” “-1” etc.  </a:t>
            </a:r>
          </a:p>
          <a:p>
            <a:pPr lvl="1">
              <a:lnSpc>
                <a:spcPct val="110000"/>
              </a:lnSpc>
            </a:pPr>
            <a:r>
              <a:rPr lang="en-US" sz="18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Python uses “</a:t>
            </a:r>
            <a:r>
              <a:rPr lang="en-US" sz="1800" kern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NaN</a:t>
            </a:r>
            <a:r>
              <a:rPr lang="en-US" sz="18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 </a:t>
            </a:r>
          </a:p>
          <a:p>
            <a:pPr lvl="1">
              <a:lnSpc>
                <a:spcPct val="110000"/>
              </a:lnSpc>
            </a:pPr>
            <a:endParaRPr lang="en-US" sz="18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8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Reasons for missing data</a:t>
            </a:r>
          </a:p>
          <a:p>
            <a:pPr lvl="1">
              <a:lnSpc>
                <a:spcPct val="110000"/>
              </a:lnSpc>
            </a:pPr>
            <a:r>
              <a:rPr lang="en-US" sz="18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entry errors</a:t>
            </a:r>
          </a:p>
          <a:p>
            <a:pPr lvl="1">
              <a:lnSpc>
                <a:spcPct val="110000"/>
              </a:lnSpc>
            </a:pPr>
            <a:r>
              <a:rPr lang="en-US" sz="18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non-responses in surveys</a:t>
            </a:r>
          </a:p>
          <a:p>
            <a:pPr lvl="1">
              <a:lnSpc>
                <a:spcPct val="110000"/>
              </a:lnSpc>
            </a:pPr>
            <a:r>
              <a:rPr lang="en-US" sz="18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 errors, etc.</a:t>
            </a:r>
          </a:p>
          <a:p>
            <a:pPr lvl="1">
              <a:lnSpc>
                <a:spcPct val="110000"/>
              </a:lnSpc>
            </a:pPr>
            <a:endParaRPr lang="en-US" sz="18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8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Missing Data Considerations</a:t>
            </a:r>
          </a:p>
          <a:p>
            <a:pPr lvl="1">
              <a:lnSpc>
                <a:spcPct val="110000"/>
              </a:lnSpc>
            </a:pPr>
            <a:r>
              <a:rPr lang="en-US" sz="18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much is there?</a:t>
            </a:r>
          </a:p>
          <a:p>
            <a:pPr lvl="1">
              <a:lnSpc>
                <a:spcPct val="110000"/>
              </a:lnSpc>
            </a:pPr>
            <a:r>
              <a:rPr lang="en-US" sz="18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it ”missing at random”</a:t>
            </a:r>
          </a:p>
          <a:p>
            <a:pPr lvl="1">
              <a:lnSpc>
                <a:spcPct val="110000"/>
              </a:lnSpc>
            </a:pPr>
            <a:r>
              <a:rPr lang="en-US" sz="18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missing-ness important by itself? </a:t>
            </a:r>
          </a:p>
          <a:p>
            <a:pPr lvl="1">
              <a:lnSpc>
                <a:spcPct val="110000"/>
              </a:lnSpc>
            </a:pPr>
            <a:r>
              <a:rPr lang="en-US" sz="18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does the model handle it?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EA8FA9-3394-8350-51C5-4F3AE6BBD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683" y="96758"/>
            <a:ext cx="8229600" cy="729214"/>
          </a:xfrm>
        </p:spPr>
        <p:txBody>
          <a:bodyPr/>
          <a:lstStyle/>
          <a:p>
            <a:r>
              <a:rPr lang="en-US" dirty="0"/>
              <a:t>Missing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4B6706-F7DF-3E46-D78E-EA2680E12E1B}"/>
              </a:ext>
            </a:extLst>
          </p:cNvPr>
          <p:cNvSpPr txBox="1"/>
          <p:nvPr/>
        </p:nvSpPr>
        <p:spPr>
          <a:xfrm>
            <a:off x="7630450" y="5042230"/>
            <a:ext cx="2464420" cy="73866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Pandas functions:</a:t>
            </a:r>
          </a:p>
          <a:p>
            <a:pPr>
              <a:buNone/>
            </a:pPr>
            <a:r>
              <a:rPr lang="en-US" sz="1400" dirty="0" err="1">
                <a:solidFill>
                  <a:srgbClr val="374151"/>
                </a:solidFill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isnull</a:t>
            </a:r>
            <a:r>
              <a:rPr lang="en-US" sz="1400" dirty="0">
                <a:solidFill>
                  <a:srgbClr val="374151"/>
                </a:solidFill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(), </a:t>
            </a:r>
            <a:r>
              <a:rPr lang="en-US" sz="1400" dirty="0" err="1">
                <a:solidFill>
                  <a:srgbClr val="374151"/>
                </a:solidFill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notnull</a:t>
            </a:r>
            <a:r>
              <a:rPr lang="en-US" sz="1400" dirty="0">
                <a:solidFill>
                  <a:srgbClr val="374151"/>
                </a:solidFill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(): </a:t>
            </a:r>
            <a:r>
              <a:rPr lang="en-US" sz="1400" dirty="0">
                <a:solidFill>
                  <a:srgbClr val="3741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detect missing values.</a:t>
            </a:r>
          </a:p>
        </p:txBody>
      </p:sp>
      <p:pic>
        <p:nvPicPr>
          <p:cNvPr id="7" name="Picture 2" descr="Learn From the Experts: The Consequences of Missing Data ...">
            <a:extLst>
              <a:ext uri="{FF2B5EF4-FFF2-40B4-BE49-F238E27FC236}">
                <a16:creationId xmlns:a16="http://schemas.microsoft.com/office/drawing/2014/main" id="{2BCE5FA1-F415-9169-8C00-860AAB957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5107" y="1907890"/>
            <a:ext cx="3649574" cy="1909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0632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94D9FC-8E9B-9FCF-FD96-99B99A3D5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871B8-AA7A-CAD5-EAAC-499FA95F5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5447" y="836420"/>
            <a:ext cx="6656667" cy="5704341"/>
          </a:xfrm>
        </p:spPr>
        <p:txBody>
          <a:bodyPr/>
          <a:lstStyle/>
          <a:p>
            <a:pPr marL="0" indent="0">
              <a:buNone/>
            </a:pPr>
            <a:r>
              <a:rPr lang="en-US" sz="18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Deletion Methods:</a:t>
            </a:r>
          </a:p>
          <a:p>
            <a:r>
              <a:rPr lang="en-US" sz="18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Row Deletion: Remove entire row if any value is NA.</a:t>
            </a:r>
          </a:p>
          <a:p>
            <a:r>
              <a:rPr lang="en-US" sz="18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Column Deletion: Delete features with high % of NA</a:t>
            </a:r>
          </a:p>
          <a:p>
            <a:pPr lvl="1"/>
            <a:r>
              <a:rPr lang="en-US" sz="16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These are drastic!  Should evaluate impact on analysis</a:t>
            </a:r>
          </a:p>
          <a:p>
            <a:pPr marL="0" indent="0">
              <a:buNone/>
            </a:pPr>
            <a:endParaRPr lang="en-US" sz="18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sz="18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Imputation Methods:</a:t>
            </a:r>
            <a:endParaRPr lang="en-US" sz="1800" kern="12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8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Mean/Median/Mode Imputation: </a:t>
            </a:r>
          </a:p>
          <a:p>
            <a:pPr lvl="1"/>
            <a:r>
              <a:rPr lang="en-US" sz="16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Replace NAs with mean, median, or mode of the feature.</a:t>
            </a:r>
          </a:p>
          <a:p>
            <a:r>
              <a:rPr lang="en-US" sz="18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Modeled Imputation: </a:t>
            </a:r>
          </a:p>
          <a:p>
            <a:pPr lvl="1"/>
            <a:r>
              <a:rPr lang="en-US" sz="16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algorithms like regression or k-nearest neighbors to predict and fill missing values.</a:t>
            </a:r>
          </a:p>
          <a:p>
            <a:r>
              <a:rPr lang="en-US" sz="18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Interpolation </a:t>
            </a:r>
          </a:p>
          <a:p>
            <a:pPr lvl="1"/>
            <a:r>
              <a:rPr lang="en-US" sz="16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Give data point the average of the two observations surrounding it (relevant for time series)</a:t>
            </a:r>
          </a:p>
          <a:p>
            <a:r>
              <a:rPr lang="en-US" sz="18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Create a new category for NA</a:t>
            </a:r>
          </a:p>
          <a:p>
            <a:pPr lvl="1"/>
            <a:endParaRPr lang="en-US" sz="16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sz="18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56A4D8-3612-AC17-6B19-57F00E31B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683" y="134676"/>
            <a:ext cx="8229600" cy="476250"/>
          </a:xfrm>
        </p:spPr>
        <p:txBody>
          <a:bodyPr>
            <a:normAutofit fontScale="90000"/>
          </a:bodyPr>
          <a:lstStyle/>
          <a:p>
            <a:r>
              <a:rPr lang="en-US" dirty="0"/>
              <a:t>Strategies for Missing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F367B6-84C7-DDCC-2634-6F55ECE5A080}"/>
              </a:ext>
            </a:extLst>
          </p:cNvPr>
          <p:cNvSpPr txBox="1"/>
          <p:nvPr/>
        </p:nvSpPr>
        <p:spPr>
          <a:xfrm>
            <a:off x="8763991" y="1338031"/>
            <a:ext cx="2701952" cy="378565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Pandas functions</a:t>
            </a:r>
          </a:p>
          <a:p>
            <a:pPr marL="285750" indent="-285750"/>
            <a:r>
              <a:rPr lang="en-US" sz="1600" b="1" dirty="0" err="1">
                <a:solidFill>
                  <a:srgbClr val="374151"/>
                </a:solidFill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dropna</a:t>
            </a:r>
            <a:r>
              <a:rPr lang="en-US" sz="1600" dirty="0">
                <a:solidFill>
                  <a:srgbClr val="37415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(): </a:t>
            </a:r>
            <a:r>
              <a:rPr lang="en-US" sz="1600" dirty="0">
                <a:solidFill>
                  <a:srgbClr val="3741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drop rows or columns with missing values.</a:t>
            </a:r>
          </a:p>
          <a:p>
            <a:pPr marL="285750" indent="-285750"/>
            <a:r>
              <a:rPr lang="en-US" sz="1600" b="1" dirty="0" err="1">
                <a:solidFill>
                  <a:srgbClr val="374151"/>
                </a:solidFill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fillna</a:t>
            </a:r>
            <a:r>
              <a:rPr lang="en-US" sz="1600" dirty="0">
                <a:solidFill>
                  <a:srgbClr val="37415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(): </a:t>
            </a:r>
            <a:r>
              <a:rPr lang="en-US" sz="1600" dirty="0">
                <a:solidFill>
                  <a:srgbClr val="3741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fill missing values with a specific value or method (mean, median, etc.)</a:t>
            </a:r>
          </a:p>
          <a:p>
            <a:pPr marL="285750" indent="-285750"/>
            <a:endParaRPr lang="en-US" sz="1600" dirty="0">
              <a:solidFill>
                <a:srgbClr val="37415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r>
              <a:rPr lang="en-US" sz="1600" dirty="0" err="1">
                <a:solidFill>
                  <a:srgbClr val="3741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SciKitLearn</a:t>
            </a:r>
            <a:r>
              <a:rPr lang="en-US" sz="1600" dirty="0">
                <a:solidFill>
                  <a:srgbClr val="374151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marL="285750" indent="-285750"/>
            <a:r>
              <a:rPr lang="en-US" sz="1600" b="1" dirty="0" err="1">
                <a:solidFill>
                  <a:srgbClr val="374151"/>
                </a:solidFill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SimpleImputer</a:t>
            </a:r>
            <a:r>
              <a:rPr lang="en-US" sz="1600" b="1" dirty="0">
                <a:solidFill>
                  <a:srgbClr val="374151"/>
                </a:solidFill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()</a:t>
            </a:r>
            <a:r>
              <a:rPr lang="en-US" sz="1600" dirty="0">
                <a:solidFill>
                  <a:srgbClr val="3741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Basic imputation strategies</a:t>
            </a:r>
          </a:p>
          <a:p>
            <a:pPr marL="285750" indent="-285750"/>
            <a:r>
              <a:rPr lang="en-US" sz="1600" b="1" dirty="0" err="1">
                <a:solidFill>
                  <a:srgbClr val="374151"/>
                </a:solidFill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IterativeImputer</a:t>
            </a:r>
            <a:r>
              <a:rPr lang="en-US" sz="1600" b="1" dirty="0">
                <a:solidFill>
                  <a:srgbClr val="374151"/>
                </a:solidFill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rPr>
              <a:t>()</a:t>
            </a:r>
            <a:r>
              <a:rPr lang="en-US" sz="1600" dirty="0">
                <a:solidFill>
                  <a:srgbClr val="3741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Modelling based imputation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C23334-2977-A443-076C-946F31634C07}"/>
              </a:ext>
            </a:extLst>
          </p:cNvPr>
          <p:cNvSpPr txBox="1"/>
          <p:nvPr/>
        </p:nvSpPr>
        <p:spPr>
          <a:xfrm>
            <a:off x="2333549" y="6024021"/>
            <a:ext cx="7066586" cy="668356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Important to evaluate: How much influence does your strategy have on the final conclusions? </a:t>
            </a:r>
          </a:p>
        </p:txBody>
      </p:sp>
    </p:spTree>
    <p:extLst>
      <p:ext uri="{BB962C8B-B14F-4D97-AF65-F5344CB8AC3E}">
        <p14:creationId xmlns:p14="http://schemas.microsoft.com/office/powerpoint/2010/main" val="455743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4AB46-3BD2-D47F-3208-BDA809737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17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2FF2B-21EC-B717-0B35-E15B61144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813" y="1200478"/>
            <a:ext cx="7047016" cy="4457043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Looking carefully at your data is an important part of the exploratory process:</a:t>
            </a:r>
          </a:p>
          <a:p>
            <a:pPr>
              <a:lnSpc>
                <a:spcPct val="120000"/>
              </a:lnSpc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lnSpc>
                <a:spcPct val="12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identify mistakes in collection/processing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find violations of statistical assumptions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observe patterns in the data</a:t>
            </a:r>
          </a:p>
          <a:p>
            <a:pPr>
              <a:lnSpc>
                <a:spcPct val="120000"/>
              </a:lnSpc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Sometimes a good, simple visualization is all the “analysis” you need! 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Tools like Tableau and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PowerBI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are good for this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815B67-6B75-11E6-22F3-23628DE35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4676"/>
            <a:ext cx="10515600" cy="1001559"/>
          </a:xfrm>
        </p:spPr>
        <p:txBody>
          <a:bodyPr/>
          <a:lstStyle/>
          <a:p>
            <a:r>
              <a:rPr lang="en-US" dirty="0"/>
              <a:t>Data Visualization</a:t>
            </a:r>
          </a:p>
        </p:txBody>
      </p:sp>
      <p:pic>
        <p:nvPicPr>
          <p:cNvPr id="5" name="Picture 6" descr="GDP: U.S economy grew 2.3 percent in 2019, a solid pace below what Trump  promised - The Washington Post">
            <a:extLst>
              <a:ext uri="{FF2B5EF4-FFF2-40B4-BE49-F238E27FC236}">
                <a16:creationId xmlns:a16="http://schemas.microsoft.com/office/drawing/2014/main" id="{176F5802-C4D7-B3C4-54B6-DE8B75D4B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4744" y="2067941"/>
            <a:ext cx="3958443" cy="2722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6963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8B70C64-0FAE-D7AD-BB93-E25AA00A462F}"/>
              </a:ext>
            </a:extLst>
          </p:cNvPr>
          <p:cNvSpPr txBox="1"/>
          <p:nvPr/>
        </p:nvSpPr>
        <p:spPr bwMode="auto">
          <a:xfrm>
            <a:off x="1981200" y="136525"/>
            <a:ext cx="8229600" cy="72921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3000">
                <a:solidFill>
                  <a:srgbClr val="60059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Effective visualizations say a lot with a little:</a:t>
            </a:r>
          </a:p>
        </p:txBody>
      </p:sp>
      <p:pic>
        <p:nvPicPr>
          <p:cNvPr id="1026" name="Picture 2" descr="r/dataisbeautiful - [OC] Tracking the decrease in smoking, alcohol and marijuana use by teenagers since 1976 ">
            <a:extLst>
              <a:ext uri="{FF2B5EF4-FFF2-40B4-BE49-F238E27FC236}">
                <a16:creationId xmlns:a16="http://schemas.microsoft.com/office/drawing/2014/main" id="{531C2948-83AD-DA3A-FB06-B3F32640D0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3413" y="1070517"/>
            <a:ext cx="3963460" cy="2635701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70B488-C95F-770C-2579-E0C20449E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245225"/>
            <a:ext cx="2133600" cy="47625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spcAft>
                <a:spcPts val="600"/>
              </a:spcAft>
            </a:pPr>
            <a:fld id="{ABBEE3BA-F264-1746-880E-39AD601DF2B1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pic>
        <p:nvPicPr>
          <p:cNvPr id="1028" name="Picture 4" descr="r/dataisbeautiful - [OC] I graphed the number of orders completed at my grocery store in the last week">
            <a:extLst>
              <a:ext uri="{FF2B5EF4-FFF2-40B4-BE49-F238E27FC236}">
                <a16:creationId xmlns:a16="http://schemas.microsoft.com/office/drawing/2014/main" id="{50A2E2FE-6BAC-4478-1C7A-DE35111099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1633" y="919781"/>
            <a:ext cx="3691135" cy="2635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DP: U.S economy grew 2.3 percent in 2019, a solid pace below what Trump  promised - The Washington Post">
            <a:extLst>
              <a:ext uri="{FF2B5EF4-FFF2-40B4-BE49-F238E27FC236}">
                <a16:creationId xmlns:a16="http://schemas.microsoft.com/office/drawing/2014/main" id="{EDFB46EF-465C-1828-CFD5-4ED6124AC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937343"/>
            <a:ext cx="3769112" cy="2591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graph with red and blue lines&#10;&#10;Description automatically generated">
            <a:hlinkClick r:id="rId6"/>
            <a:extLst>
              <a:ext uri="{FF2B5EF4-FFF2-40B4-BE49-F238E27FC236}">
                <a16:creationId xmlns:a16="http://schemas.microsoft.com/office/drawing/2014/main" id="{3785AFBB-DA3C-9DE9-12A9-F048EC3CA2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4137" y="3784255"/>
            <a:ext cx="3412423" cy="24609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76C093-34DC-F7A1-3634-072ACC5B73BF}"/>
              </a:ext>
            </a:extLst>
          </p:cNvPr>
          <p:cNvSpPr txBox="1"/>
          <p:nvPr/>
        </p:nvSpPr>
        <p:spPr>
          <a:xfrm>
            <a:off x="5948025" y="6483350"/>
            <a:ext cx="3974742" cy="33855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https://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www.reddit.com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/r/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dataisbeautiful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</a:p>
        </p:txBody>
      </p:sp>
      <p:pic>
        <p:nvPicPr>
          <p:cNvPr id="5" name="Picture 4" descr="A map of the united states&#10;&#10;Description automatically generated">
            <a:extLst>
              <a:ext uri="{FF2B5EF4-FFF2-40B4-BE49-F238E27FC236}">
                <a16:creationId xmlns:a16="http://schemas.microsoft.com/office/drawing/2014/main" id="{08522289-77A1-A4D5-F10D-73FB19BC50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4360" y="3897674"/>
            <a:ext cx="2991293" cy="2485247"/>
          </a:xfrm>
          <a:prstGeom prst="rect">
            <a:avLst/>
          </a:prstGeom>
        </p:spPr>
      </p:pic>
      <p:pic>
        <p:nvPicPr>
          <p:cNvPr id="8" name="Picture 7" descr="A graph with red and blue dots&#10;&#10;Description automatically generated">
            <a:extLst>
              <a:ext uri="{FF2B5EF4-FFF2-40B4-BE49-F238E27FC236}">
                <a16:creationId xmlns:a16="http://schemas.microsoft.com/office/drawing/2014/main" id="{F94F61B3-B87A-9153-78B8-086EEDB3C93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6884" y="4051049"/>
            <a:ext cx="3815159" cy="2364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298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F8D4A-99F7-381A-8748-DA0969626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55D5514-74E3-10F6-FDE2-C0A88E2DDEDA}"/>
              </a:ext>
            </a:extLst>
          </p:cNvPr>
          <p:cNvSpPr txBox="1"/>
          <p:nvPr/>
        </p:nvSpPr>
        <p:spPr bwMode="auto">
          <a:xfrm>
            <a:off x="1981200" y="136525"/>
            <a:ext cx="8229600" cy="72921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3000">
                <a:solidFill>
                  <a:srgbClr val="60059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Effective visualizations say a lot with a little: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7D8F7D-2C0C-02EE-2295-0543383C1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245225"/>
            <a:ext cx="2133600" cy="47625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spcAft>
                <a:spcPts val="600"/>
              </a:spcAft>
            </a:pPr>
            <a:fld id="{ABBEE3BA-F264-1746-880E-39AD601DF2B1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  <p:pic>
        <p:nvPicPr>
          <p:cNvPr id="7" name="Picture 6" descr="A graph showing the weather&#10;&#10;AI-generated content may be incorrect.">
            <a:extLst>
              <a:ext uri="{FF2B5EF4-FFF2-40B4-BE49-F238E27FC236}">
                <a16:creationId xmlns:a16="http://schemas.microsoft.com/office/drawing/2014/main" id="{2D5F3882-6D68-D7BA-BAEC-E161641FD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502422"/>
            <a:ext cx="7772400" cy="3512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9587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367A7A-AE4E-B72B-FB01-D812C9FD6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20</a:t>
            </a:fld>
            <a:endParaRPr lang="en-US"/>
          </a:p>
        </p:txBody>
      </p:sp>
      <p:pic>
        <p:nvPicPr>
          <p:cNvPr id="6" name="Content Placeholder 5" descr="A person raising his hands up&#10;&#10;Description automatically generated">
            <a:extLst>
              <a:ext uri="{FF2B5EF4-FFF2-40B4-BE49-F238E27FC236}">
                <a16:creationId xmlns:a16="http://schemas.microsoft.com/office/drawing/2014/main" id="{3EA6B136-827B-2887-1FE8-797FEAA25F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12649" y="2183150"/>
            <a:ext cx="2912226" cy="192009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7AA74A-91B7-E7B4-F3AF-A6B8EFFC1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683" y="39886"/>
            <a:ext cx="10515600" cy="1001559"/>
          </a:xfrm>
        </p:spPr>
        <p:txBody>
          <a:bodyPr/>
          <a:lstStyle/>
          <a:p>
            <a:r>
              <a:rPr lang="en-US" dirty="0"/>
              <a:t>Data Viz: Good examples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554FAD-7D7B-EF16-7F08-E7CA8460AD7C}"/>
              </a:ext>
            </a:extLst>
          </p:cNvPr>
          <p:cNvSpPr txBox="1"/>
          <p:nvPr/>
        </p:nvSpPr>
        <p:spPr>
          <a:xfrm>
            <a:off x="3221399" y="5244951"/>
            <a:ext cx="57492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best data visualization talk you will ever see:</a:t>
            </a:r>
          </a:p>
          <a:p>
            <a:pPr algn="ctr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Hans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Rosling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48C73A-74D1-B51B-CB3C-5D82EAAAF417}"/>
              </a:ext>
            </a:extLst>
          </p:cNvPr>
          <p:cNvSpPr txBox="1"/>
          <p:nvPr/>
        </p:nvSpPr>
        <p:spPr>
          <a:xfrm>
            <a:off x="4065608" y="6091337"/>
            <a:ext cx="4201022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https://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www.youtube.com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watch?v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usdJgEwMinM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Google Shape;268;p53">
            <a:extLst>
              <a:ext uri="{FF2B5EF4-FFF2-40B4-BE49-F238E27FC236}">
                <a16:creationId xmlns:a16="http://schemas.microsoft.com/office/drawing/2014/main" id="{8376C0AC-F9F2-FD66-04BF-7FD7BB3F144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3237" y="1041445"/>
            <a:ext cx="5325046" cy="39002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25588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90FAF2-933F-9E6C-2D4C-733C1A51A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469AD3-4994-21B3-C465-595AC3038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574"/>
            <a:ext cx="10515600" cy="1001559"/>
          </a:xfrm>
        </p:spPr>
        <p:txBody>
          <a:bodyPr/>
          <a:lstStyle/>
          <a:p>
            <a:r>
              <a:rPr lang="en-US" dirty="0"/>
              <a:t>Data Viz: Bad Examples</a:t>
            </a:r>
          </a:p>
        </p:txBody>
      </p:sp>
      <p:pic>
        <p:nvPicPr>
          <p:cNvPr id="1026" name="Picture 2" descr="r/dataisugly - Labor Force Participation Rates">
            <a:extLst>
              <a:ext uri="{FF2B5EF4-FFF2-40B4-BE49-F238E27FC236}">
                <a16:creationId xmlns:a16="http://schemas.microsoft.com/office/drawing/2014/main" id="{F85E4759-B352-735E-0F9F-D135C3B2F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796" y="1301447"/>
            <a:ext cx="4281866" cy="2127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3D6C3F-79AA-BFF8-8235-CE55EBBFD788}"/>
              </a:ext>
            </a:extLst>
          </p:cNvPr>
          <p:cNvSpPr txBox="1"/>
          <p:nvPr/>
        </p:nvSpPr>
        <p:spPr>
          <a:xfrm>
            <a:off x="104703" y="2196381"/>
            <a:ext cx="212109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Purposely bad</a:t>
            </a:r>
          </a:p>
          <a:p>
            <a:pPr marL="342900" indent="-342900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Bad design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92E5E1-7743-FFFE-9BF4-71C3C5145361}"/>
              </a:ext>
            </a:extLst>
          </p:cNvPr>
          <p:cNvSpPr txBox="1"/>
          <p:nvPr/>
        </p:nvSpPr>
        <p:spPr>
          <a:xfrm>
            <a:off x="2887101" y="6470897"/>
            <a:ext cx="3569182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https://www.reddit.com/r/</a:t>
            </a:r>
            <a:r>
              <a:rPr lang="en-US" sz="1600" u="sn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</a:t>
            </a:r>
            <a:r>
              <a:rPr lang="en-US" sz="1600" u="sn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isugly</a:t>
            </a:r>
            <a:r>
              <a:rPr lang="en-US" sz="16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</a:p>
        </p:txBody>
      </p:sp>
      <p:pic>
        <p:nvPicPr>
          <p:cNvPr id="2050" name="Picture 2" descr="Forms response chart. Question title: What is your favorite color? . Number of responses: 40 responses.">
            <a:extLst>
              <a:ext uri="{FF2B5EF4-FFF2-40B4-BE49-F238E27FC236}">
                <a16:creationId xmlns:a16="http://schemas.microsoft.com/office/drawing/2014/main" id="{C98015E2-2ABE-9501-D225-53B186275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587" y="3786786"/>
            <a:ext cx="5664530" cy="2383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4382EE-804D-3C76-6B73-4719D09EA6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6117" y="1142654"/>
            <a:ext cx="2465239" cy="24652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1FE424D-BAD9-9E7C-6589-93990AAB9F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1041" y="3591552"/>
            <a:ext cx="3464148" cy="285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038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r/dataisbeautiful - The Office: Words Spoken by Episode [OC]">
            <a:extLst>
              <a:ext uri="{FF2B5EF4-FFF2-40B4-BE49-F238E27FC236}">
                <a16:creationId xmlns:a16="http://schemas.microsoft.com/office/drawing/2014/main" id="{6B4949D2-9E5E-7F81-C757-422258834D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2243" y="3561561"/>
            <a:ext cx="3349858" cy="3161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BAC6D-4803-C8F9-3836-EC4EC8F09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EB83F-23FC-4991-E37D-09B645D2E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859551"/>
            <a:ext cx="8229600" cy="729214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See Brightspace Discussion page and post your own example of one good and one bad visualization you find online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399CF-E44A-810A-DD86-BA29EF99F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62" y="63840"/>
            <a:ext cx="10515600" cy="1001559"/>
          </a:xfrm>
        </p:spPr>
        <p:txBody>
          <a:bodyPr/>
          <a:lstStyle/>
          <a:p>
            <a:r>
              <a:rPr lang="en-US" dirty="0"/>
              <a:t>Visualization Challenge!</a:t>
            </a:r>
          </a:p>
        </p:txBody>
      </p:sp>
      <p:pic>
        <p:nvPicPr>
          <p:cNvPr id="1026" name="Picture 2" descr="r/MapPorn - Lost in Translation? Not These 25 Countries!">
            <a:extLst>
              <a:ext uri="{FF2B5EF4-FFF2-40B4-BE49-F238E27FC236}">
                <a16:creationId xmlns:a16="http://schemas.microsoft.com/office/drawing/2014/main" id="{6FA00DF3-92AA-0E20-5035-BDEEA71AE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34" y="3149395"/>
            <a:ext cx="2286166" cy="2857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83DC2A-4E05-FBA8-3002-421220CA3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6777" y="1588765"/>
            <a:ext cx="3810000" cy="2451100"/>
          </a:xfrm>
          <a:prstGeom prst="rect">
            <a:avLst/>
          </a:prstGeom>
        </p:spPr>
      </p:pic>
      <p:pic>
        <p:nvPicPr>
          <p:cNvPr id="8" name="Picture 7" descr="A map of the united states&#10;&#10;AI-generated content may be incorrect.">
            <a:extLst>
              <a:ext uri="{FF2B5EF4-FFF2-40B4-BE49-F238E27FC236}">
                <a16:creationId xmlns:a16="http://schemas.microsoft.com/office/drawing/2014/main" id="{85DA42BA-3349-1E92-7F2C-0578929D9A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8143" y="1242127"/>
            <a:ext cx="3764438" cy="2451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056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F8B40F-1C96-9CD6-91EC-8398179B0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EDCFB-BD1D-4611-B5CB-DBE6E6628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2542" y="910151"/>
            <a:ext cx="5043458" cy="532245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Visualization is a challenging topic – very hard to do well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Many design decisions to make</a:t>
            </a:r>
          </a:p>
          <a:p>
            <a:pPr lvl="1">
              <a:lnSpc>
                <a:spcPct val="120000"/>
              </a:lnSpc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Visualization theory covers things like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do humans perceive well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to use marks, color, etc. </a:t>
            </a:r>
          </a:p>
          <a:p>
            <a:pPr marL="342900" lvl="1" indent="0">
              <a:lnSpc>
                <a:spcPct val="120000"/>
              </a:lnSpc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Start simple!  Basic building blocks of visualization: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Histograms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Boxplots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Scatterplots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9BF0AA-74C8-820A-2132-933C765F5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683" y="55347"/>
            <a:ext cx="8229600" cy="729214"/>
          </a:xfrm>
        </p:spPr>
        <p:txBody>
          <a:bodyPr/>
          <a:lstStyle/>
          <a:p>
            <a:r>
              <a:rPr lang="en-US" dirty="0"/>
              <a:t>Data Visualization</a:t>
            </a:r>
          </a:p>
        </p:txBody>
      </p:sp>
      <p:pic>
        <p:nvPicPr>
          <p:cNvPr id="5" name="Google Shape;194;p44">
            <a:extLst>
              <a:ext uri="{FF2B5EF4-FFF2-40B4-BE49-F238E27FC236}">
                <a16:creationId xmlns:a16="http://schemas.microsoft.com/office/drawing/2014/main" id="{F5E37316-968C-CDE0-8363-F27AAE80047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9916" y="2750632"/>
            <a:ext cx="3581359" cy="2307599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" name="Google Shape;189;p43">
            <a:extLst>
              <a:ext uri="{FF2B5EF4-FFF2-40B4-BE49-F238E27FC236}">
                <a16:creationId xmlns:a16="http://schemas.microsoft.com/office/drawing/2014/main" id="{0C5FC48C-8714-5F49-E2C7-00BE09D841E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596" b="4297"/>
          <a:stretch/>
        </p:blipFill>
        <p:spPr>
          <a:xfrm>
            <a:off x="6488289" y="1190961"/>
            <a:ext cx="3869599" cy="619824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495955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ADE2DD-80CE-9C23-DED3-A163CB3FD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12281-BB00-E1E4-5A8D-B9BF62A54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021899"/>
            <a:ext cx="8229600" cy="4814202"/>
          </a:xfrm>
        </p:spPr>
        <p:txBody>
          <a:bodyPr/>
          <a:lstStyle/>
          <a:p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Probably most used (and useful) way to present numeric data</a:t>
            </a:r>
          </a:p>
          <a:p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Frequency chart of binned data</a:t>
            </a:r>
          </a:p>
          <a:p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Histograms provide a view of the data and a quick view of:</a:t>
            </a:r>
          </a:p>
          <a:p>
            <a:pPr lvl="1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Range</a:t>
            </a:r>
          </a:p>
          <a:p>
            <a:pPr lvl="1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Distribution shape</a:t>
            </a:r>
          </a:p>
          <a:p>
            <a:pPr lvl="1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Outliers</a:t>
            </a:r>
          </a:p>
          <a:p>
            <a:pPr lvl="1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Trends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2F4FD4-D4EB-F0F3-AD71-4590900D3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48070"/>
            <a:ext cx="10515600" cy="1001559"/>
          </a:xfrm>
        </p:spPr>
        <p:txBody>
          <a:bodyPr>
            <a:normAutofit fontScale="90000"/>
          </a:bodyPr>
          <a:lstStyle/>
          <a:p>
            <a:r>
              <a:rPr lang="en-US" dirty="0"/>
              <a:t>Visualizing Numeric Data: Histograms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784347-A80F-B33F-8D20-979F0BEC765A}"/>
              </a:ext>
            </a:extLst>
          </p:cNvPr>
          <p:cNvSpPr txBox="1"/>
          <p:nvPr/>
        </p:nvSpPr>
        <p:spPr>
          <a:xfrm>
            <a:off x="3013275" y="6271337"/>
            <a:ext cx="1572883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Lending Club Data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84DBAD-D862-BD61-128F-547BB43FA0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3717" y="2786383"/>
            <a:ext cx="4572001" cy="34412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3FABC4-CD06-5ECF-D12F-B087CDC0CD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0427" y="2731622"/>
            <a:ext cx="3917731" cy="336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06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C2EB5-3D82-82F3-57AF-207006A03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25</a:t>
            </a:fld>
            <a:endParaRPr lang="en-US"/>
          </a:p>
        </p:txBody>
      </p:sp>
      <p:pic>
        <p:nvPicPr>
          <p:cNvPr id="7" name="Content Placeholder 6" descr="A graph of a graph of a graph of a graph of a graph of a graph of a graph of a graph of a graph of a graph of a graph of a graph of a graph of&#10;&#10;Description automatically generated">
            <a:extLst>
              <a:ext uri="{FF2B5EF4-FFF2-40B4-BE49-F238E27FC236}">
                <a16:creationId xmlns:a16="http://schemas.microsoft.com/office/drawing/2014/main" id="{6CE71C9B-C420-349E-301C-2EA2E8BFD6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93279" y="3368321"/>
            <a:ext cx="6276109" cy="333684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4C2D10-009E-55A9-3F78-DA6A4ECA4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101" y="134676"/>
            <a:ext cx="3976255" cy="729214"/>
          </a:xfrm>
        </p:spPr>
        <p:txBody>
          <a:bodyPr/>
          <a:lstStyle/>
          <a:p>
            <a:r>
              <a:rPr lang="en-US" dirty="0"/>
              <a:t>Histograms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C24998-CBC8-5932-307C-71D453951A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0600" y="236338"/>
            <a:ext cx="3257576" cy="31319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E4D5D8-A4CF-3EC6-BAD9-13534DE5ACF2}"/>
              </a:ext>
            </a:extLst>
          </p:cNvPr>
          <p:cNvSpPr txBox="1"/>
          <p:nvPr/>
        </p:nvSpPr>
        <p:spPr>
          <a:xfrm>
            <a:off x="890649" y="1402220"/>
            <a:ext cx="5490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Bin width can have a role in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2618025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5D06D-ECD5-FAD2-4C43-ADE7FC17F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9D08F-C570-DCD0-60C9-E0A4AE0D0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931239"/>
            <a:ext cx="10953997" cy="457430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Boxplot gives a quick visual of the key points of the data distribution:</a:t>
            </a: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5E5773-7BD3-2C5D-71CB-4864D9D7C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6994"/>
            <a:ext cx="10515600" cy="1001559"/>
          </a:xfrm>
        </p:spPr>
        <p:txBody>
          <a:bodyPr/>
          <a:lstStyle/>
          <a:p>
            <a:r>
              <a:rPr lang="en-US" dirty="0"/>
              <a:t>Numeric Data:  Boxplots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5D8996-A7BE-49B7-7E89-1D934E7B33C2}"/>
              </a:ext>
            </a:extLst>
          </p:cNvPr>
          <p:cNvSpPr txBox="1"/>
          <p:nvPr/>
        </p:nvSpPr>
        <p:spPr>
          <a:xfrm>
            <a:off x="7026737" y="4761371"/>
            <a:ext cx="1475853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l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25</a:t>
            </a:r>
            <a:r>
              <a:rPr lang="en-US" sz="1600" baseline="30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percentile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EC3BE8-2144-26BE-DCBB-40EDD40BDF2C}"/>
              </a:ext>
            </a:extLst>
          </p:cNvPr>
          <p:cNvSpPr txBox="1"/>
          <p:nvPr/>
        </p:nvSpPr>
        <p:spPr>
          <a:xfrm>
            <a:off x="7186208" y="4352714"/>
            <a:ext cx="846707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l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median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10FCCC-9611-C71A-8061-4F4269C3E680}"/>
              </a:ext>
            </a:extLst>
          </p:cNvPr>
          <p:cNvSpPr txBox="1"/>
          <p:nvPr/>
        </p:nvSpPr>
        <p:spPr>
          <a:xfrm>
            <a:off x="7046555" y="3801268"/>
            <a:ext cx="1475853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l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75</a:t>
            </a:r>
            <a:r>
              <a:rPr lang="en-US" sz="1600" baseline="30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percentile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C0DA32-7AF7-7AC8-01F6-21975C8A813E}"/>
              </a:ext>
            </a:extLst>
          </p:cNvPr>
          <p:cNvSpPr txBox="1"/>
          <p:nvPr/>
        </p:nvSpPr>
        <p:spPr>
          <a:xfrm>
            <a:off x="6960887" y="3107359"/>
            <a:ext cx="1304844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l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Upper range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E27EAC-4655-E66B-EEC4-7E626F5DCE37}"/>
              </a:ext>
            </a:extLst>
          </p:cNvPr>
          <p:cNvSpPr txBox="1"/>
          <p:nvPr/>
        </p:nvSpPr>
        <p:spPr>
          <a:xfrm>
            <a:off x="7026737" y="2368824"/>
            <a:ext cx="2031518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l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Suspected “Outliers”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428DB4-4019-40F8-1A95-3B1E51702321}"/>
              </a:ext>
            </a:extLst>
          </p:cNvPr>
          <p:cNvSpPr txBox="1"/>
          <p:nvPr/>
        </p:nvSpPr>
        <p:spPr>
          <a:xfrm>
            <a:off x="7003129" y="5591246"/>
            <a:ext cx="1309654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l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Lower range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3EC17B6-859C-A1AE-500C-125EA9E80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234" y="1976643"/>
            <a:ext cx="5872051" cy="4474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278388F-8744-1FBB-EF9E-2724FC659486}"/>
              </a:ext>
            </a:extLst>
          </p:cNvPr>
          <p:cNvCxnSpPr>
            <a:cxnSpLocks/>
            <a:stCxn id="18" idx="1"/>
          </p:cNvCxnSpPr>
          <p:nvPr/>
        </p:nvCxnSpPr>
        <p:spPr bwMode="auto">
          <a:xfrm flipH="1">
            <a:off x="4871046" y="2538101"/>
            <a:ext cx="2155691" cy="41587"/>
          </a:xfrm>
          <a:prstGeom prst="straightConnector1">
            <a:avLst/>
          </a:prstGeom>
          <a:noFill/>
          <a:ln w="25400" cap="flat" cmpd="sng" algn="ctr">
            <a:solidFill>
              <a:schemeClr val="accent1"/>
            </a:solidFill>
            <a:prstDash val="solid"/>
            <a:round/>
            <a:headEnd type="none" w="sm" len="lg"/>
            <a:tailEnd type="stealth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4FC72AE-248B-50CE-83FB-4B5D4CC65A30}"/>
              </a:ext>
            </a:extLst>
          </p:cNvPr>
          <p:cNvCxnSpPr>
            <a:cxnSpLocks/>
            <a:stCxn id="16" idx="1"/>
          </p:cNvCxnSpPr>
          <p:nvPr/>
        </p:nvCxnSpPr>
        <p:spPr bwMode="auto">
          <a:xfrm flipH="1" flipV="1">
            <a:off x="4999839" y="2894202"/>
            <a:ext cx="1961048" cy="382434"/>
          </a:xfrm>
          <a:prstGeom prst="straightConnector1">
            <a:avLst/>
          </a:prstGeom>
          <a:noFill/>
          <a:ln w="25400" cap="flat" cmpd="sng" algn="ctr">
            <a:solidFill>
              <a:schemeClr val="accent1"/>
            </a:solidFill>
            <a:prstDash val="solid"/>
            <a:round/>
            <a:headEnd type="none" w="sm" len="lg"/>
            <a:tailEnd type="stealth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90B55C4-DEA9-A939-4842-977B5E291C1D}"/>
              </a:ext>
            </a:extLst>
          </p:cNvPr>
          <p:cNvCxnSpPr>
            <a:cxnSpLocks/>
            <a:stCxn id="7" idx="1"/>
          </p:cNvCxnSpPr>
          <p:nvPr/>
        </p:nvCxnSpPr>
        <p:spPr bwMode="auto">
          <a:xfrm flipH="1" flipV="1">
            <a:off x="4973773" y="4675669"/>
            <a:ext cx="2052964" cy="254979"/>
          </a:xfrm>
          <a:prstGeom prst="straightConnector1">
            <a:avLst/>
          </a:prstGeom>
          <a:noFill/>
          <a:ln w="25400" cap="flat" cmpd="sng" algn="ctr">
            <a:solidFill>
              <a:schemeClr val="accent1"/>
            </a:solidFill>
            <a:prstDash val="solid"/>
            <a:round/>
            <a:headEnd type="none" w="sm" len="lg"/>
            <a:tailEnd type="stealth"/>
          </a:ln>
          <a:effectLst/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A70E048-145B-167D-D6A3-E413CE75D834}"/>
              </a:ext>
            </a:extLst>
          </p:cNvPr>
          <p:cNvCxnSpPr>
            <a:cxnSpLocks/>
            <a:stCxn id="10" idx="1"/>
          </p:cNvCxnSpPr>
          <p:nvPr/>
        </p:nvCxnSpPr>
        <p:spPr bwMode="auto">
          <a:xfrm flipH="1" flipV="1">
            <a:off x="4985726" y="4338087"/>
            <a:ext cx="2200482" cy="183904"/>
          </a:xfrm>
          <a:prstGeom prst="straightConnector1">
            <a:avLst/>
          </a:prstGeom>
          <a:noFill/>
          <a:ln w="25400" cap="flat" cmpd="sng" algn="ctr">
            <a:solidFill>
              <a:schemeClr val="accent1"/>
            </a:solidFill>
            <a:prstDash val="solid"/>
            <a:round/>
            <a:headEnd type="none" w="sm" len="lg"/>
            <a:tailEnd type="stealth"/>
          </a:ln>
          <a:effectLst/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189E4C7-582B-0F0B-F883-8473248B4CFB}"/>
              </a:ext>
            </a:extLst>
          </p:cNvPr>
          <p:cNvCxnSpPr>
            <a:cxnSpLocks/>
            <a:stCxn id="12" idx="1"/>
          </p:cNvCxnSpPr>
          <p:nvPr/>
        </p:nvCxnSpPr>
        <p:spPr bwMode="auto">
          <a:xfrm flipH="1" flipV="1">
            <a:off x="4985726" y="3893741"/>
            <a:ext cx="2060829" cy="76804"/>
          </a:xfrm>
          <a:prstGeom prst="straightConnector1">
            <a:avLst/>
          </a:prstGeom>
          <a:noFill/>
          <a:ln w="25400" cap="flat" cmpd="sng" algn="ctr">
            <a:solidFill>
              <a:schemeClr val="accent1"/>
            </a:solidFill>
            <a:prstDash val="solid"/>
            <a:round/>
            <a:headEnd type="none" w="sm" len="lg"/>
            <a:tailEnd type="stealth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23CC6E8-7EAB-1F59-6F37-A85CF4B2C5ED}"/>
              </a:ext>
            </a:extLst>
          </p:cNvPr>
          <p:cNvCxnSpPr>
            <a:cxnSpLocks/>
            <a:stCxn id="20" idx="1"/>
          </p:cNvCxnSpPr>
          <p:nvPr/>
        </p:nvCxnSpPr>
        <p:spPr bwMode="auto">
          <a:xfrm flipH="1" flipV="1">
            <a:off x="5008228" y="5757484"/>
            <a:ext cx="1994901" cy="3039"/>
          </a:xfrm>
          <a:prstGeom prst="straightConnector1">
            <a:avLst/>
          </a:prstGeom>
          <a:noFill/>
          <a:ln w="25400" cap="flat" cmpd="sng" algn="ctr">
            <a:solidFill>
              <a:schemeClr val="accent1"/>
            </a:solidFill>
            <a:prstDash val="solid"/>
            <a:round/>
            <a:headEnd type="none" w="sm" len="lg"/>
            <a:tailEnd type="stealth"/>
          </a:ln>
          <a:effectLst/>
        </p:spPr>
      </p:cxnSp>
      <p:sp>
        <p:nvSpPr>
          <p:cNvPr id="46" name="Right Brace 45">
            <a:extLst>
              <a:ext uri="{FF2B5EF4-FFF2-40B4-BE49-F238E27FC236}">
                <a16:creationId xmlns:a16="http://schemas.microsoft.com/office/drawing/2014/main" id="{195B7FB8-E961-FD24-C434-59BD30F6E0D7}"/>
              </a:ext>
            </a:extLst>
          </p:cNvPr>
          <p:cNvSpPr/>
          <p:nvPr/>
        </p:nvSpPr>
        <p:spPr>
          <a:xfrm>
            <a:off x="8808440" y="3970545"/>
            <a:ext cx="545285" cy="96010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A484588-5CDA-F274-00BC-D06DA4F121C8}"/>
              </a:ext>
            </a:extLst>
          </p:cNvPr>
          <p:cNvSpPr txBox="1"/>
          <p:nvPr/>
        </p:nvSpPr>
        <p:spPr>
          <a:xfrm>
            <a:off x="9500104" y="4252385"/>
            <a:ext cx="1341201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l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“Middle half”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5ACE11E-0236-7F86-B9B7-AB83BDA7BD3B}"/>
              </a:ext>
            </a:extLst>
          </p:cNvPr>
          <p:cNvSpPr txBox="1"/>
          <p:nvPr/>
        </p:nvSpPr>
        <p:spPr>
          <a:xfrm>
            <a:off x="9527168" y="1707104"/>
            <a:ext cx="2265028" cy="13234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Note: Boxplots are a good choice to show difference of numeric feature across values of a categorical</a:t>
            </a:r>
          </a:p>
        </p:txBody>
      </p:sp>
    </p:spTree>
    <p:extLst>
      <p:ext uri="{BB962C8B-B14F-4D97-AF65-F5344CB8AC3E}">
        <p14:creationId xmlns:p14="http://schemas.microsoft.com/office/powerpoint/2010/main" val="3940429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2" grpId="0" animBg="1"/>
      <p:bldP spid="16" grpId="0" animBg="1"/>
      <p:bldP spid="18" grpId="0" animBg="1"/>
      <p:bldP spid="20" grpId="0" animBg="1"/>
      <p:bldP spid="46" grpId="0" animBg="1"/>
      <p:bldP spid="4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7EBCF-DA24-FB10-BFCC-FE9DAD045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27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91FF0-A45A-38DC-78A3-566D0D259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309" y="1071133"/>
            <a:ext cx="10515600" cy="457430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Side by side boxplots allow you to compare numeric distributions across variables which are categorical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0E737D-281D-A656-4222-A066C88FB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9574"/>
            <a:ext cx="10515600" cy="1001559"/>
          </a:xfrm>
        </p:spPr>
        <p:txBody>
          <a:bodyPr>
            <a:normAutofit/>
          </a:bodyPr>
          <a:lstStyle/>
          <a:p>
            <a:r>
              <a:rPr lang="en-US" sz="3200" dirty="0"/>
              <a:t>Combining Categorical and Numeric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EE0B18-70EC-27D8-C77F-5F600F298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339" y="2214119"/>
            <a:ext cx="5553516" cy="45743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730268-8903-7ABB-7A62-2BF335F8734B}"/>
              </a:ext>
            </a:extLst>
          </p:cNvPr>
          <p:cNvSpPr txBox="1"/>
          <p:nvPr/>
        </p:nvSpPr>
        <p:spPr>
          <a:xfrm>
            <a:off x="1392268" y="3189392"/>
            <a:ext cx="1635063" cy="12249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S&amp;P 500 data</a:t>
            </a:r>
          </a:p>
          <a:p>
            <a:pPr algn="l">
              <a:buNone/>
            </a:pP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Price/Sales ratio</a:t>
            </a:r>
          </a:p>
          <a:p>
            <a:pPr algn="l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Sector</a:t>
            </a:r>
          </a:p>
        </p:txBody>
      </p:sp>
    </p:spTree>
    <p:extLst>
      <p:ext uri="{BB962C8B-B14F-4D97-AF65-F5344CB8AC3E}">
        <p14:creationId xmlns:p14="http://schemas.microsoft.com/office/powerpoint/2010/main" val="36145936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21ACE2-9242-17EF-5975-A59F37942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59668" y="6404250"/>
            <a:ext cx="2133600" cy="476250"/>
          </a:xfrm>
        </p:spPr>
        <p:txBody>
          <a:bodyPr/>
          <a:lstStyle/>
          <a:p>
            <a:fld id="{ABBEE3BA-F264-1746-880E-39AD601DF2B1}" type="slidenum">
              <a:rPr lang="en-US" smtClean="0"/>
              <a:t>28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C1F65-FBBF-B57A-8879-3F44742D7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862259"/>
            <a:ext cx="8229600" cy="729214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Three different ways of presenting contingency tables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Titanic passenger data: age vs survival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5B173E-FEDF-C6E3-3D37-CBCFBB537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66" y="0"/>
            <a:ext cx="8600918" cy="729214"/>
          </a:xfrm>
        </p:spPr>
        <p:txBody>
          <a:bodyPr>
            <a:normAutofit fontScale="90000"/>
          </a:bodyPr>
          <a:lstStyle/>
          <a:p>
            <a:r>
              <a:rPr lang="en-US" dirty="0"/>
              <a:t>Multiple Variables: Categorical</a:t>
            </a:r>
          </a:p>
        </p:txBody>
      </p:sp>
      <p:pic>
        <p:nvPicPr>
          <p:cNvPr id="5" name="Picture 4" descr="A graph of different age groups&#10;&#10;Description automatically generated">
            <a:extLst>
              <a:ext uri="{FF2B5EF4-FFF2-40B4-BE49-F238E27FC236}">
                <a16:creationId xmlns:a16="http://schemas.microsoft.com/office/drawing/2014/main" id="{032E8722-E5CA-F1AB-DD94-3035CF3E4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519" y="2153317"/>
            <a:ext cx="7246669" cy="43577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501257-80FD-DBDF-ACBB-BA9E90095107}"/>
              </a:ext>
            </a:extLst>
          </p:cNvPr>
          <p:cNvSpPr txBox="1"/>
          <p:nvPr/>
        </p:nvSpPr>
        <p:spPr>
          <a:xfrm>
            <a:off x="3834925" y="1832948"/>
            <a:ext cx="12504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Stacked bar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64A40F-15E7-CB65-FEBD-56558CC52D95}"/>
              </a:ext>
            </a:extLst>
          </p:cNvPr>
          <p:cNvSpPr txBox="1"/>
          <p:nvPr/>
        </p:nvSpPr>
        <p:spPr>
          <a:xfrm>
            <a:off x="7032866" y="1839204"/>
            <a:ext cx="16471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Side-by-side bar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F81054-DD56-2E96-90F2-6764717D1B93}"/>
              </a:ext>
            </a:extLst>
          </p:cNvPr>
          <p:cNvSpPr txBox="1"/>
          <p:nvPr/>
        </p:nvSpPr>
        <p:spPr>
          <a:xfrm>
            <a:off x="5559503" y="6341752"/>
            <a:ext cx="17134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Standardized bar</a:t>
            </a:r>
          </a:p>
        </p:txBody>
      </p:sp>
    </p:spTree>
    <p:extLst>
      <p:ext uri="{BB962C8B-B14F-4D97-AF65-F5344CB8AC3E}">
        <p14:creationId xmlns:p14="http://schemas.microsoft.com/office/powerpoint/2010/main" val="22508530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0AE6D-3B28-E2C3-79D4-A204E03BE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40BD1-D1DE-B40C-EB88-CB6C45298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3717" y="1136235"/>
            <a:ext cx="10515600" cy="4574305"/>
          </a:xfrm>
        </p:spPr>
        <p:txBody>
          <a:bodyPr>
            <a:noAutofit/>
          </a:bodyPr>
          <a:lstStyle/>
          <a:p>
            <a:r>
              <a:rPr lang="en-US" sz="1800" dirty="0"/>
              <a:t>Many design decisions go into data visualization</a:t>
            </a:r>
          </a:p>
          <a:p>
            <a:pPr lvl="1"/>
            <a:r>
              <a:rPr lang="en-US" sz="1800" dirty="0"/>
              <a:t>Takes careful thought as to the message you are trying to convey</a:t>
            </a:r>
          </a:p>
          <a:p>
            <a:r>
              <a:rPr lang="en-US" sz="1800" dirty="0"/>
              <a:t>Example Data : Customer Purchase data (n=200)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cseg_df</a:t>
            </a: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1400" dirty="0">
              <a:solidFill>
                <a:srgbClr val="21212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   Index |   </a:t>
            </a:r>
            <a:r>
              <a:rPr lang="en-US" sz="1400" dirty="0" err="1">
                <a:solidFill>
                  <a:srgbClr val="2121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CustomerID</a:t>
            </a:r>
            <a:r>
              <a:rPr lang="en-US" sz="1400" dirty="0">
                <a:solidFill>
                  <a:srgbClr val="2121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| Age Group   | Product Category   | Purchase Frequency   |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|--------:|-------------:|:------------|:-------------------|:---------------------|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       1 |       674852 | 26-35       | Home &amp; Kitchen     | Low                  |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       2 |       900795 | 60+         | Electronics        | High                 |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       3 |       107026 | 46-60       | Electronics        | Medium               |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       4 |       336542 | 36-45       | Sports &amp; Outdoors  | High                 |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       5 |       871414 | 18-25       | Home &amp; Kitchen     | Low                  |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       6 |       519718 | 18-25       | Clothing           | High                 |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       7 |       373993 | 18-25       | Electronics        | Low                  |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       8 |       819752 | 46-60       | Home &amp; Kitchen     | Low                  |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       9 |       668056 | 36-45       | Electronics        | High                 |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      10 |       621755 | 46-60       | Books              | Low                  |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FF70635-881B-9B22-CAD9-A5B5E942337E}"/>
              </a:ext>
            </a:extLst>
          </p:cNvPr>
          <p:cNvSpPr txBox="1">
            <a:spLocks/>
          </p:cNvSpPr>
          <p:nvPr/>
        </p:nvSpPr>
        <p:spPr>
          <a:xfrm>
            <a:off x="79066" y="0"/>
            <a:ext cx="8600918" cy="72921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1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Multiple Variables: Categorical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6621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324697-A42A-59E9-F51F-86EC930BE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30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D5C40C1-EC2F-B6B3-5BB7-585E53EB3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361" y="162321"/>
            <a:ext cx="4572000" cy="3104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10E0AAA-8248-1C21-40DB-7A56533A7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7268" y="230083"/>
            <a:ext cx="4599046" cy="3104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ar chart with different colored bars&#10;&#10;Description automatically generated">
            <a:extLst>
              <a:ext uri="{FF2B5EF4-FFF2-40B4-BE49-F238E27FC236}">
                <a16:creationId xmlns:a16="http://schemas.microsoft.com/office/drawing/2014/main" id="{D71F10F0-12E7-7479-65C7-EF6E8AD296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2477" y="3360456"/>
            <a:ext cx="4887045" cy="336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6047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324697-A42A-59E9-F51F-86EC930BE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31</a:t>
            </a:fld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C369A1B-FD3B-9A14-376E-ADD504350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102" y="134676"/>
            <a:ext cx="4124493" cy="3104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DB1352D0-EE90-2D87-861D-D5C547206A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5121" y="152614"/>
            <a:ext cx="4124494" cy="3086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F51C2FA8-B2A0-9D4C-BDFC-54D96858C5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2138" y="3323384"/>
            <a:ext cx="4547723" cy="353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3602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69C036-F66D-99E2-FCF6-AA0974973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32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21C01EB-261C-35FA-C2E1-28569D6A5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01626"/>
            <a:ext cx="9144000" cy="6253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78764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9083C2-FC47-A65F-1735-334093A2D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33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0E737D-281D-A656-4222-A066C88FB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683" y="0"/>
            <a:ext cx="9975273" cy="1001559"/>
          </a:xfrm>
        </p:spPr>
        <p:txBody>
          <a:bodyPr>
            <a:normAutofit/>
          </a:bodyPr>
          <a:lstStyle/>
          <a:p>
            <a:r>
              <a:rPr lang="en-US" dirty="0"/>
              <a:t>Scatterplot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FA2A86-BFD8-FF75-E932-F2E30F19F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354" y="1034615"/>
            <a:ext cx="5336098" cy="4849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90000"/>
              </a:lnSpc>
              <a:buClrTx/>
            </a:pPr>
            <a:r>
              <a:rPr lang="en-US" altLang="en-US" sz="2000" kern="0" dirty="0">
                <a:ea typeface="ＭＳ Ｐゴシック" panose="020B0600070205080204" pitchFamily="34" charset="-128"/>
              </a:rPr>
              <a:t>Scatterplot is the standard tool to display relation between 2 variables</a:t>
            </a:r>
          </a:p>
          <a:p>
            <a:pPr lvl="1">
              <a:lnSpc>
                <a:spcPct val="90000"/>
              </a:lnSpc>
              <a:buClrTx/>
            </a:pPr>
            <a:r>
              <a:rPr lang="en-US" altLang="en-US" sz="1800" kern="0" dirty="0">
                <a:ea typeface="ＭＳ Ｐゴシック" panose="020B0600070205080204" pitchFamily="34" charset="-128"/>
              </a:rPr>
              <a:t>e.g. y-axis = response, x-axis = suspected indicator</a:t>
            </a:r>
          </a:p>
          <a:p>
            <a:pPr>
              <a:lnSpc>
                <a:spcPct val="90000"/>
              </a:lnSpc>
              <a:buClrTx/>
            </a:pPr>
            <a:endParaRPr lang="en-US" altLang="en-US" sz="2000" kern="0" dirty="0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ClrTx/>
            </a:pPr>
            <a:r>
              <a:rPr lang="en-US" altLang="en-US" sz="2000" kern="0" dirty="0">
                <a:ea typeface="ＭＳ Ｐゴシック" panose="020B0600070205080204" pitchFamily="34" charset="-128"/>
              </a:rPr>
              <a:t>Useful to answer:</a:t>
            </a:r>
          </a:p>
          <a:p>
            <a:pPr lvl="1">
              <a:lnSpc>
                <a:spcPct val="90000"/>
              </a:lnSpc>
              <a:buClrTx/>
            </a:pPr>
            <a:r>
              <a:rPr lang="en-US" altLang="en-US" sz="1800" kern="0" dirty="0">
                <a:ea typeface="ＭＳ Ｐゴシック" panose="020B0600070205080204" pitchFamily="34" charset="-128"/>
              </a:rPr>
              <a:t>Are </a:t>
            </a:r>
            <a:r>
              <a:rPr lang="en-US" altLang="en-US" sz="1800" kern="0" dirty="0" err="1">
                <a:ea typeface="ＭＳ Ｐゴシック" panose="020B0600070205080204" pitchFamily="34" charset="-128"/>
              </a:rPr>
              <a:t>x,y</a:t>
            </a:r>
            <a:r>
              <a:rPr lang="en-US" altLang="en-US" sz="1800" kern="0" dirty="0">
                <a:ea typeface="ＭＳ Ｐゴシック" panose="020B0600070205080204" pitchFamily="34" charset="-128"/>
              </a:rPr>
              <a:t> related?</a:t>
            </a:r>
          </a:p>
          <a:p>
            <a:pPr lvl="2">
              <a:lnSpc>
                <a:spcPct val="90000"/>
              </a:lnSpc>
              <a:buClrTx/>
            </a:pPr>
            <a:r>
              <a:rPr lang="en-US" altLang="en-US" sz="1600" kern="0" dirty="0">
                <a:ea typeface="ＭＳ Ｐゴシック" panose="020B0600070205080204" pitchFamily="34" charset="-128"/>
              </a:rPr>
              <a:t>Linear correlation</a:t>
            </a:r>
          </a:p>
          <a:p>
            <a:pPr lvl="1">
              <a:lnSpc>
                <a:spcPct val="90000"/>
              </a:lnSpc>
              <a:buClrTx/>
            </a:pPr>
            <a:r>
              <a:rPr lang="en-US" altLang="en-US" sz="1800" kern="0" dirty="0">
                <a:ea typeface="ＭＳ Ｐゴシック" panose="020B0600070205080204" pitchFamily="34" charset="-128"/>
              </a:rPr>
              <a:t>Strange patterns?</a:t>
            </a:r>
          </a:p>
          <a:p>
            <a:pPr lvl="1">
              <a:lnSpc>
                <a:spcPct val="90000"/>
              </a:lnSpc>
              <a:buClrTx/>
            </a:pPr>
            <a:r>
              <a:rPr lang="en-US" altLang="en-US" sz="1800" kern="0" dirty="0">
                <a:ea typeface="ＭＳ Ｐゴシック" panose="020B0600070205080204" pitchFamily="34" charset="-128"/>
              </a:rPr>
              <a:t>outliers present?</a:t>
            </a:r>
          </a:p>
          <a:p>
            <a:pPr lvl="1">
              <a:lnSpc>
                <a:spcPct val="90000"/>
              </a:lnSpc>
              <a:buClrTx/>
            </a:pPr>
            <a:endParaRPr lang="en-US" altLang="en-US" sz="1800" kern="0" dirty="0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ClrTx/>
            </a:pPr>
            <a:r>
              <a:rPr lang="en-US" altLang="en-US" sz="2100" kern="0" dirty="0">
                <a:ea typeface="ＭＳ Ｐゴシック" panose="020B0600070205080204" pitchFamily="34" charset="-128"/>
              </a:rPr>
              <a:t>Use “alpha blending” (transparency) or heat maps for overplotting</a:t>
            </a:r>
          </a:p>
          <a:p>
            <a:pPr>
              <a:lnSpc>
                <a:spcPct val="90000"/>
              </a:lnSpc>
              <a:buClrTx/>
            </a:pPr>
            <a:endParaRPr lang="en-US" altLang="en-US" sz="2100" kern="0" dirty="0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ClrTx/>
            </a:pPr>
            <a:endParaRPr lang="en-US" altLang="en-US" sz="2000" kern="0" dirty="0">
              <a:ea typeface="ＭＳ Ｐゴシック" panose="020B0600070205080204" pitchFamily="34" charset="-128"/>
            </a:endParaRPr>
          </a:p>
        </p:txBody>
      </p:sp>
      <p:sp>
        <p:nvSpPr>
          <p:cNvPr id="5" name="Content Placeholder 16">
            <a:extLst>
              <a:ext uri="{FF2B5EF4-FFF2-40B4-BE49-F238E27FC236}">
                <a16:creationId xmlns:a16="http://schemas.microsoft.com/office/drawing/2014/main" id="{3C273198-5EAF-2187-643B-D66BDEA1DC71}"/>
              </a:ext>
            </a:extLst>
          </p:cNvPr>
          <p:cNvSpPr txBox="1">
            <a:spLocks/>
          </p:cNvSpPr>
          <p:nvPr/>
        </p:nvSpPr>
        <p:spPr>
          <a:xfrm>
            <a:off x="6516756" y="1159565"/>
            <a:ext cx="3810000" cy="4724400"/>
          </a:xfrm>
          <a:prstGeom prst="rect">
            <a:avLst/>
          </a:prstGeom>
        </p:spPr>
        <p:txBody>
          <a:bodyPr/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buClrTx/>
            </a:pPr>
            <a:endParaRPr lang="en-US" altLang="en-US" kern="0" dirty="0">
              <a:ea typeface="ＭＳ Ｐゴシック" panose="020B0600070205080204" pitchFamily="34" charset="-128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897946F-0F7F-1E25-295C-6F4CBF86C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057" y="426311"/>
            <a:ext cx="4260088" cy="243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F940A27-8F25-90F0-4538-09072C900D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84" y="3127640"/>
            <a:ext cx="3987389" cy="2658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BF1F005F-FD3F-F4C8-1173-5DC7EC96E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0813" y="4884289"/>
            <a:ext cx="2490540" cy="1884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4039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1A0601-6FF9-52A2-B58C-8FEE12DE3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34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78B34-3BE7-76BE-6CF5-5E40E5CA25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620354"/>
            <a:ext cx="12192000" cy="914400"/>
          </a:xfrm>
          <a:solidFill>
            <a:schemeClr val="accent2"/>
          </a:solidFill>
        </p:spPr>
        <p:txBody>
          <a:bodyPr anchor="ctr"/>
          <a:lstStyle/>
          <a:p>
            <a:r>
              <a:rPr lang="en-US" dirty="0"/>
              <a:t>Python Visualizations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7E3059-0FE4-571F-694F-E6FAC2DCDF83}"/>
              </a:ext>
            </a:extLst>
          </p:cNvPr>
          <p:cNvSpPr txBox="1"/>
          <p:nvPr/>
        </p:nvSpPr>
        <p:spPr>
          <a:xfrm>
            <a:off x="4177748" y="3028890"/>
            <a:ext cx="2441694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T3_DataViz.ipynb</a:t>
            </a:r>
          </a:p>
        </p:txBody>
      </p:sp>
    </p:spTree>
    <p:extLst>
      <p:ext uri="{BB962C8B-B14F-4D97-AF65-F5344CB8AC3E}">
        <p14:creationId xmlns:p14="http://schemas.microsoft.com/office/powerpoint/2010/main" val="686714297"/>
      </p:ext>
    </p:extLst>
  </p:cSld>
  <p:clrMapOvr>
    <a:masterClrMapping/>
  </p:clrMapOvr>
</p:sld>
</file>

<file path=ppt/theme/theme1.xml><?xml version="1.0" encoding="utf-8"?>
<a:theme xmlns:a="http://schemas.openxmlformats.org/drawingml/2006/main" name="LSL_PowerPoint_Template">
  <a:themeElements>
    <a:clrScheme name="Stern Color Palette">
      <a:dk1>
        <a:srgbClr val="000000"/>
      </a:dk1>
      <a:lt1>
        <a:srgbClr val="FFFFFF"/>
      </a:lt1>
      <a:dk2>
        <a:srgbClr val="0E2841"/>
      </a:dk2>
      <a:lt2>
        <a:srgbClr val="EEE6F3"/>
      </a:lt2>
      <a:accent1>
        <a:srgbClr val="57068C"/>
      </a:accent1>
      <a:accent2>
        <a:srgbClr val="8900E1"/>
      </a:accent2>
      <a:accent3>
        <a:srgbClr val="330661"/>
      </a:accent3>
      <a:accent4>
        <a:srgbClr val="702B9D"/>
      </a:accent4>
      <a:accent5>
        <a:srgbClr val="A02B93"/>
      </a:accent5>
      <a:accent6>
        <a:srgbClr val="7B59A6"/>
      </a:accent6>
      <a:hlink>
        <a:srgbClr val="009B8A"/>
      </a:hlink>
      <a:folHlink>
        <a:srgbClr val="FB0F78"/>
      </a:folHlink>
    </a:clrScheme>
    <a:fontScheme name="LSL Template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2400" dirty="0" smtClean="0">
            <a:latin typeface="Montserra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0" id="{ACC7422F-3606-274F-ABB7-ED2F8DCE1E1A}" vid="{E95C4527-934B-7244-BD5D-1B83793A7BC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LSL_PowerPoint_Template</Template>
  <TotalTime>75836</TotalTime>
  <Words>2246</Words>
  <Application>Microsoft Macintosh PowerPoint</Application>
  <PresentationFormat>Widescreen</PresentationFormat>
  <Paragraphs>396</Paragraphs>
  <Slides>34</Slides>
  <Notes>27</Notes>
  <HiddenSlides>3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4" baseType="lpstr">
      <vt:lpstr>ＭＳ Ｐゴシック</vt:lpstr>
      <vt:lpstr>Arial</vt:lpstr>
      <vt:lpstr>Calibri</vt:lpstr>
      <vt:lpstr>Consolas</vt:lpstr>
      <vt:lpstr>Lucida Console</vt:lpstr>
      <vt:lpstr>Montserrat</vt:lpstr>
      <vt:lpstr>Montserrat SemiBold</vt:lpstr>
      <vt:lpstr>Tahoma</vt:lpstr>
      <vt:lpstr>Wingdings</vt:lpstr>
      <vt:lpstr>LSL_PowerPoint_Template</vt:lpstr>
      <vt:lpstr>Topic 3 – Exploratory Data Analysis</vt:lpstr>
      <vt:lpstr>PowerPoint Presentation</vt:lpstr>
      <vt:lpstr>Data Science: Reality</vt:lpstr>
      <vt:lpstr>Where to Find Data</vt:lpstr>
      <vt:lpstr>Reading data into Python</vt:lpstr>
      <vt:lpstr>Exploring data through EDA</vt:lpstr>
      <vt:lpstr>Feature Types</vt:lpstr>
      <vt:lpstr>Things can get messy</vt:lpstr>
      <vt:lpstr>Exploring data in python</vt:lpstr>
      <vt:lpstr>Encoding Categorical Variables (python)</vt:lpstr>
      <vt:lpstr>Categorical Variables</vt:lpstr>
      <vt:lpstr>Outliers</vt:lpstr>
      <vt:lpstr>Outliers: Remove or no? </vt:lpstr>
      <vt:lpstr>Skewed Data</vt:lpstr>
      <vt:lpstr>Missing Data</vt:lpstr>
      <vt:lpstr>Strategies for Missing Data</vt:lpstr>
      <vt:lpstr>Data Visualization</vt:lpstr>
      <vt:lpstr>PowerPoint Presentation</vt:lpstr>
      <vt:lpstr>PowerPoint Presentation</vt:lpstr>
      <vt:lpstr>Data Viz: Good examples</vt:lpstr>
      <vt:lpstr>Data Viz: Bad Examples</vt:lpstr>
      <vt:lpstr>Visualization Challenge!</vt:lpstr>
      <vt:lpstr>Data Visualization</vt:lpstr>
      <vt:lpstr>Visualizing Numeric Data: Histograms</vt:lpstr>
      <vt:lpstr>Histograms</vt:lpstr>
      <vt:lpstr>Numeric Data:  Boxplots</vt:lpstr>
      <vt:lpstr>Combining Categorical and Numeric</vt:lpstr>
      <vt:lpstr>Multiple Variables: Categorical</vt:lpstr>
      <vt:lpstr>PowerPoint Presentation</vt:lpstr>
      <vt:lpstr>PowerPoint Presentation</vt:lpstr>
      <vt:lpstr>PowerPoint Presentation</vt:lpstr>
      <vt:lpstr>PowerPoint Presentation</vt:lpstr>
      <vt:lpstr>Scatterplot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 volinsky</dc:creator>
  <cp:lastModifiedBy>chris volinsky</cp:lastModifiedBy>
  <cp:revision>74</cp:revision>
  <dcterms:created xsi:type="dcterms:W3CDTF">2023-07-07T20:20:38Z</dcterms:created>
  <dcterms:modified xsi:type="dcterms:W3CDTF">2025-12-19T18:11:59Z</dcterms:modified>
</cp:coreProperties>
</file>