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42"/>
  </p:notesMasterIdLst>
  <p:sldIdLst>
    <p:sldId id="256" r:id="rId2"/>
    <p:sldId id="917" r:id="rId3"/>
    <p:sldId id="1033" r:id="rId4"/>
    <p:sldId id="958" r:id="rId5"/>
    <p:sldId id="959" r:id="rId6"/>
    <p:sldId id="960" r:id="rId7"/>
    <p:sldId id="961" r:id="rId8"/>
    <p:sldId id="1011" r:id="rId9"/>
    <p:sldId id="619" r:id="rId10"/>
    <p:sldId id="264" r:id="rId11"/>
    <p:sldId id="962" r:id="rId12"/>
    <p:sldId id="1010" r:id="rId13"/>
    <p:sldId id="966" r:id="rId14"/>
    <p:sldId id="1022" r:id="rId15"/>
    <p:sldId id="1023" r:id="rId16"/>
    <p:sldId id="1031" r:id="rId17"/>
    <p:sldId id="992" r:id="rId18"/>
    <p:sldId id="993" r:id="rId19"/>
    <p:sldId id="920" r:id="rId20"/>
    <p:sldId id="974" r:id="rId21"/>
    <p:sldId id="975" r:id="rId22"/>
    <p:sldId id="976" r:id="rId23"/>
    <p:sldId id="941" r:id="rId24"/>
    <p:sldId id="977" r:id="rId25"/>
    <p:sldId id="1026" r:id="rId26"/>
    <p:sldId id="1024" r:id="rId27"/>
    <p:sldId id="705" r:id="rId28"/>
    <p:sldId id="538" r:id="rId29"/>
    <p:sldId id="945" r:id="rId30"/>
    <p:sldId id="703" r:id="rId31"/>
    <p:sldId id="943" r:id="rId32"/>
    <p:sldId id="942" r:id="rId33"/>
    <p:sldId id="1027" r:id="rId34"/>
    <p:sldId id="1028" r:id="rId35"/>
    <p:sldId id="978" r:id="rId36"/>
    <p:sldId id="979" r:id="rId37"/>
    <p:sldId id="980" r:id="rId38"/>
    <p:sldId id="1034" r:id="rId39"/>
    <p:sldId id="1013" r:id="rId40"/>
    <p:sldId id="989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616"/>
    <p:restoredTop sz="72468"/>
  </p:normalViewPr>
  <p:slideViewPr>
    <p:cSldViewPr snapToGrid="0">
      <p:cViewPr varScale="1">
        <p:scale>
          <a:sx n="82" d="100"/>
          <a:sy n="82" d="100"/>
        </p:scale>
        <p:origin x="55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3ED7A-E0CC-A14D-8702-3DBB30C4345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12B09-6666-2149-A7EC-89A035875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1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99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69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8217B2-C077-ED46-91D8-461D080DB4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97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64.78 - 85.1x.62 = 12.02</a:t>
            </a:r>
          </a:p>
          <a:p>
            <a:endParaRPr lang="en-US" dirty="0"/>
          </a:p>
          <a:p>
            <a:r>
              <a:rPr lang="en-US" dirty="0"/>
              <a:t>Allows you to make a prediction for something you haven’t seen yet.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27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8217B2-C077-ED46-91D8-461D080DB4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463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Advertising in different markets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8217B2-C077-ED46-91D8-461D080DB4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74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prediction for a market that spends 10k on each</a:t>
            </a:r>
          </a:p>
          <a:p>
            <a:endParaRPr lang="en-US" dirty="0"/>
          </a:p>
          <a:p>
            <a:r>
              <a:rPr lang="en-US" dirty="0"/>
              <a:t>2.94 + 0.46+1.89 – 0.01 = 5.28 k units sold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63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equation???</a:t>
            </a:r>
          </a:p>
          <a:p>
            <a:endParaRPr lang="en-US" dirty="0"/>
          </a:p>
          <a:p>
            <a:r>
              <a:rPr lang="en-US" dirty="0"/>
              <a:t>What is the prediction for a market that spends 10k on each</a:t>
            </a:r>
          </a:p>
          <a:p>
            <a:endParaRPr lang="en-US" dirty="0"/>
          </a:p>
          <a:p>
            <a:r>
              <a:rPr lang="en-US" dirty="0"/>
              <a:t>2.94 + 0.46+1.89 – 0.01 = 5.28 k units sold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49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fit any model perfectly </a:t>
            </a:r>
          </a:p>
          <a:p>
            <a:endParaRPr lang="en-US" dirty="0"/>
          </a:p>
          <a:p>
            <a:r>
              <a:rPr lang="en-US" dirty="0"/>
              <a:t>Think about age vs performance…</a:t>
            </a:r>
          </a:p>
          <a:p>
            <a:r>
              <a:rPr lang="en-US" dirty="0"/>
              <a:t>Income vs. success…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042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</a:t>
            </a:r>
            <a:r>
              <a:rPr lang="en-US" dirty="0" err="1"/>
              <a:t>advertsing</a:t>
            </a:r>
            <a:r>
              <a:rPr lang="en-US" dirty="0"/>
              <a:t> on radio helps make the TV advertising even more effective because of the awareness….</a:t>
            </a:r>
          </a:p>
          <a:p>
            <a:r>
              <a:rPr lang="en-US" dirty="0"/>
              <a:t>OR…maybe advertising on radio makes TV less effective.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56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C023B-7B1F-B99D-8B88-33279264A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9A849-A1BB-6359-C42E-7ADBE8472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CBD832-C797-B9BA-83DB-750973199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974A4-0266-7CD2-4936-72FC130BE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92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Its hard to fit a model that just “stops” at 0 or 1, so logistic regression was a mathematical trick invented to allow the model to estimate a number that can take on any value, but map it to a probability.   </a:t>
            </a:r>
          </a:p>
          <a:p>
            <a:endParaRPr lang="en-US" dirty="0"/>
          </a:p>
          <a:p>
            <a:r>
              <a:rPr lang="en-US" dirty="0" err="1"/>
              <a:t>Beta_i</a:t>
            </a:r>
            <a:r>
              <a:rPr lang="en-US" dirty="0"/>
              <a:t> is NOT interpreted as a change in Y for every unit change in X.  Technically beta refers to the “log-odds” of the feature, which is the ration of the log(prob(Y=1)/prob(Y=0)) </a:t>
            </a:r>
          </a:p>
          <a:p>
            <a:endParaRPr lang="en-US" dirty="0"/>
          </a:p>
          <a:p>
            <a:r>
              <a:rPr lang="en-US" dirty="0"/>
              <a:t>Logistic regression is a workhorse in data science…not the best model but has easy </a:t>
            </a:r>
            <a:r>
              <a:rPr lang="en-US" dirty="0" err="1"/>
              <a:t>intepretations</a:t>
            </a:r>
            <a:r>
              <a:rPr lang="en-US" dirty="0"/>
              <a:t>…</a:t>
            </a:r>
          </a:p>
          <a:p>
            <a:r>
              <a:rPr lang="en-US" dirty="0"/>
              <a:t>@SSAC – super bowl squared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927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78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22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Predicting who is going to click on an ad…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579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63EAD-0F58-491E-ED63-C9D74DCC8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3594F-27FC-86D2-A51B-B425D8B70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A67AD-5C67-A339-464F-5E7F55708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824E5-EDD5-3882-22C6-7EC5E8E7A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819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386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Doesn’t use an arbitrary p&gt;0.05 level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749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may have a bunch of features which are correlated or are getting at the same thing.  </a:t>
            </a:r>
          </a:p>
          <a:p>
            <a:r>
              <a:rPr lang="en-US" dirty="0"/>
              <a:t>Advertising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550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392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439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EEDE-61DB-C1FE-7327-00797593B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B2D37-EF21-FEFD-1CDA-2D4865E25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DDFC9-EA38-B0DF-43FA-871678F8F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03FD3-EEA9-A461-D71A-8481BFF1B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678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109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659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35968-C2E0-B9F9-BFE2-7C24E0323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03034-036B-F589-9753-B46F65889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256DD-A692-3F51-8A7D-292ACF59B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15EAA-C3A5-3015-50D3-95FE9ACEC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469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Stabilizes the matrix</a:t>
            </a:r>
          </a:p>
          <a:p>
            <a:endParaRPr lang="en-US" dirty="0"/>
          </a:p>
          <a:p>
            <a:r>
              <a:rPr lang="en-US" dirty="0"/>
              <a:t>ML engineers love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375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37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9F43C82-9B9B-AC4F-98CD-0ADC587116F3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254946" y="3467480"/>
            <a:ext cx="6912587" cy="1402207"/>
          </a:xfrm>
        </p:spPr>
        <p:txBody>
          <a:bodyPr lIns="91440" anchor="t">
            <a:noAutofit/>
          </a:bodyPr>
          <a:lstStyle>
            <a:lvl1pPr marL="0" indent="0" algn="l">
              <a:buNone/>
              <a:defRPr sz="2800" b="1" i="0">
                <a:solidFill>
                  <a:schemeClr val="bg2"/>
                </a:solidFill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Data Science and AI for Business</a:t>
            </a:r>
          </a:p>
          <a:p>
            <a:r>
              <a:rPr lang="en-US" dirty="0"/>
              <a:t>Prof: Chris Volinsky</a:t>
            </a:r>
          </a:p>
          <a:p>
            <a:r>
              <a:rPr lang="en-US" dirty="0"/>
              <a:t>Fall 2025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4254946" y="567189"/>
            <a:ext cx="6912587" cy="2387600"/>
          </a:xfrm>
          <a:noFill/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Topic X – Topic Name</a:t>
            </a:r>
          </a:p>
        </p:txBody>
      </p:sp>
    </p:spTree>
    <p:extLst>
      <p:ext uri="{BB962C8B-B14F-4D97-AF65-F5344CB8AC3E}">
        <p14:creationId xmlns:p14="http://schemas.microsoft.com/office/powerpoint/2010/main" val="1923335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Gou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stairs and people walking&#10;&#10;AI-generated content may be incorrect.">
            <a:extLst>
              <a:ext uri="{FF2B5EF4-FFF2-40B4-BE49-F238E27FC236}">
                <a16:creationId xmlns:a16="http://schemas.microsoft.com/office/drawing/2014/main" id="{10B997DA-7AA6-CF7E-FDED-D6EF7D28E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">
            <a:extLst>
              <a:ext uri="{FF2B5EF4-FFF2-40B4-BE49-F238E27FC236}">
                <a16:creationId xmlns:a16="http://schemas.microsoft.com/office/drawing/2014/main" id="{5BF72350-7C98-FBEB-2F3B-2484C594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10/27/25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E8AD11E-DA5D-22C0-7E98-72840ACE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5F3E7FD-E179-CFF4-29F5-C801F3EC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D0F66A68-CFCE-76B6-AA53-FDBE844F5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37651"/>
            <a:ext cx="5872095" cy="587375"/>
          </a:xfrm>
          <a:solidFill>
            <a:schemeClr val="accent6"/>
          </a:solidFill>
        </p:spPr>
        <p:txBody>
          <a:bodyPr lIns="82296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image caption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B02C69-13B3-AF45-CE38-55FAC6F83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01609"/>
            <a:ext cx="6171117" cy="836754"/>
          </a:xfrm>
          <a:solidFill>
            <a:schemeClr val="accent1"/>
          </a:solidFill>
        </p:spPr>
        <p:txBody>
          <a:bodyPr lIns="822960">
            <a:noAutofit/>
          </a:bodyPr>
          <a:lstStyle>
            <a:lvl1pPr>
              <a:defRPr sz="3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image title</a:t>
            </a:r>
          </a:p>
        </p:txBody>
      </p:sp>
    </p:spTree>
    <p:extLst>
      <p:ext uri="{BB962C8B-B14F-4D97-AF65-F5344CB8AC3E}">
        <p14:creationId xmlns:p14="http://schemas.microsoft.com/office/powerpoint/2010/main" val="6097647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stairs and people walking&#10;&#10;AI-generated content may be incorrect.">
            <a:extLst>
              <a:ext uri="{FF2B5EF4-FFF2-40B4-BE49-F238E27FC236}">
                <a16:creationId xmlns:a16="http://schemas.microsoft.com/office/drawing/2014/main" id="{F9871B73-938C-45E7-7799-A9A5443705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8E9548-3B4B-2F9B-6B67-2F904307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063296"/>
            <a:ext cx="10515600" cy="1001559"/>
          </a:xfr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C5894B-C677-E349-FCAF-7A2C8488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19CEAD-DE05-890A-43F5-E308410E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C1DE4-B54C-87DD-FB01-5F894157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9085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47533-C89B-7F4F-A98B-2DD0B0DD654B}" type="datetimeFigureOut">
              <a:rPr lang="en-US" smtClean="0"/>
              <a:t>10/27/25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SzPct val="75000"/>
              <a:buFont typeface="Wingdings" pitchFamily="2" charset="2"/>
              <a:buChar char="§"/>
              <a:defRPr/>
            </a:lvl2pPr>
            <a:lvl3pPr marL="1143000" indent="-228600">
              <a:lnSpc>
                <a:spcPct val="100000"/>
              </a:lnSpc>
              <a:spcBef>
                <a:spcPts val="600"/>
              </a:spcBef>
              <a:buSzPct val="60000"/>
              <a:buFont typeface="Wingdings" pitchFamily="2" charset="2"/>
              <a:buChar char="v"/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84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3BC7800-B276-A64A-8AB0-19972C98F17B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1674006" y="3447259"/>
            <a:ext cx="8160774" cy="1500187"/>
          </a:xfrm>
        </p:spPr>
        <p:txBody>
          <a:bodyPr lIns="9144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74006" y="1555276"/>
            <a:ext cx="8160774" cy="1864995"/>
          </a:xfrm>
          <a:noFill/>
        </p:spPr>
        <p:txBody>
          <a:bodyPr anchor="b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6017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1BC2-7DC9-274F-9AA5-41AD410B73E8}" type="datetime1">
              <a:rPr lang="en-US" smtClean="0"/>
              <a:t>10/27/25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6172200" y="1602658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838200" y="1602658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63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541A-B732-0842-A74F-0C72DB237063}" type="datetime1">
              <a:rPr lang="en-US" smtClean="0"/>
              <a:t>10/27/25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2"/>
          <p:cNvSpPr>
            <a:spLocks noGrp="1"/>
          </p:cNvSpPr>
          <p:nvPr>
            <p:ph sz="quarter" idx="4"/>
          </p:nvPr>
        </p:nvSpPr>
        <p:spPr>
          <a:xfrm>
            <a:off x="6172200" y="2424112"/>
            <a:ext cx="5183188" cy="3765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Heading 2"/>
          <p:cNvSpPr>
            <a:spLocks noGrp="1"/>
          </p:cNvSpPr>
          <p:nvPr>
            <p:ph type="body" sz="quarter" idx="3"/>
          </p:nvPr>
        </p:nvSpPr>
        <p:spPr>
          <a:xfrm>
            <a:off x="6172200" y="16002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1"/>
          <p:cNvSpPr>
            <a:spLocks noGrp="1"/>
          </p:cNvSpPr>
          <p:nvPr>
            <p:ph sz="half" idx="2"/>
          </p:nvPr>
        </p:nvSpPr>
        <p:spPr>
          <a:xfrm>
            <a:off x="839788" y="2424112"/>
            <a:ext cx="5157787" cy="3765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Heading 1"/>
          <p:cNvSpPr>
            <a:spLocks noGrp="1"/>
          </p:cNvSpPr>
          <p:nvPr>
            <p:ph type="body" idx="1"/>
          </p:nvPr>
        </p:nvSpPr>
        <p:spPr>
          <a:xfrm>
            <a:off x="839788" y="16002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05840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224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BA72-28C9-9A46-8637-8A409BF0CACF}" type="datetime1">
              <a:rPr lang="en-US" smtClean="0"/>
              <a:t>10/27/25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72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10/27/25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Hidden Title">
            <a:extLst>
              <a:ext uri="{FF2B5EF4-FFF2-40B4-BE49-F238E27FC236}">
                <a16:creationId xmlns:a16="http://schemas.microsoft.com/office/drawing/2014/main" id="{2BFCB23C-FD7A-DDAB-2F31-3EA040396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-1139584"/>
            <a:ext cx="10515600" cy="1001559"/>
          </a:xfrm>
        </p:spPr>
        <p:txBody>
          <a:bodyPr/>
          <a:lstStyle/>
          <a:p>
            <a:r>
              <a:rPr lang="en-US" dirty="0"/>
              <a:t>Click to edit title (this will display for screen readers and outlines)</a:t>
            </a:r>
          </a:p>
        </p:txBody>
      </p:sp>
    </p:spTree>
    <p:extLst>
      <p:ext uri="{BB962C8B-B14F-4D97-AF65-F5344CB8AC3E}">
        <p14:creationId xmlns:p14="http://schemas.microsoft.com/office/powerpoint/2010/main" val="303659661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10/27/25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tIns="18288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F7BEC92A-23B7-BAAB-4CE5-D6D7A6417B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0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77697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10/27/25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tIns="18288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7D76AD61-182C-13DD-7E32-DAED6ED8C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1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32641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8AE4-2A10-5F42-AC8C-4BD01A79A0D1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359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C519-8308-2748-8B0B-F7B055AE4297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tIns="182880" bIns="18288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489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ographic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E0315FA0-DFBB-0494-15F4-F94FA37B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10/27/25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248D3A38-8D3E-6EB0-FE34-FBB6F9AF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331D1D9-60E1-36A2-EDA8-C31A7ED8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C4533C5-D85B-5D93-12B0-136A51D73C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84088" y="565150"/>
            <a:ext cx="5672170" cy="5511800"/>
          </a:xfrm>
          <a:solidFill>
            <a:schemeClr val="bg2"/>
          </a:solidFill>
        </p:spPr>
        <p:txBody>
          <a:bodyPr lIns="365760" tIns="45720" rIns="36576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F52A58E-1F73-C381-F411-54304E513F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6923" y="5453949"/>
            <a:ext cx="3868300" cy="622409"/>
          </a:xfrm>
        </p:spPr>
        <p:txBody>
          <a:bodyPr tIns="9144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DF94145-6C3C-7197-F652-4095F3D46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6923" y="4557832"/>
            <a:ext cx="3867807" cy="896117"/>
          </a:xfrm>
        </p:spPr>
        <p:txBody>
          <a:bodyPr lIns="91440" anchor="ctr">
            <a:no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4" name="Biographical Portrait">
            <a:extLst>
              <a:ext uri="{FF2B5EF4-FFF2-40B4-BE49-F238E27FC236}">
                <a16:creationId xmlns:a16="http://schemas.microsoft.com/office/drawing/2014/main" id="{C01C33A2-E0D6-52C6-B10A-B3D8B056EA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26923" y="490278"/>
            <a:ext cx="3867808" cy="4022020"/>
          </a:xfrm>
          <a:custGeom>
            <a:avLst/>
            <a:gdLst>
              <a:gd name="connsiteX0" fmla="*/ 1933904 w 3867808"/>
              <a:gd name="connsiteY0" fmla="*/ 0 h 4022020"/>
              <a:gd name="connsiteX1" fmla="*/ 3867808 w 3867808"/>
              <a:gd name="connsiteY1" fmla="*/ 2011366 h 4022020"/>
              <a:gd name="connsiteX2" fmla="*/ 2131635 w 3867808"/>
              <a:gd name="connsiteY2" fmla="*/ 4012348 h 4022020"/>
              <a:gd name="connsiteX3" fmla="*/ 1947462 w 3867808"/>
              <a:gd name="connsiteY3" fmla="*/ 4022020 h 4022020"/>
              <a:gd name="connsiteX4" fmla="*/ 1920347 w 3867808"/>
              <a:gd name="connsiteY4" fmla="*/ 4022020 h 4022020"/>
              <a:gd name="connsiteX5" fmla="*/ 1736174 w 3867808"/>
              <a:gd name="connsiteY5" fmla="*/ 4012348 h 4022020"/>
              <a:gd name="connsiteX6" fmla="*/ 0 w 3867808"/>
              <a:gd name="connsiteY6" fmla="*/ 2011366 h 4022020"/>
              <a:gd name="connsiteX7" fmla="*/ 1933904 w 3867808"/>
              <a:gd name="connsiteY7" fmla="*/ 0 h 40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808" h="4022020">
                <a:moveTo>
                  <a:pt x="1933904" y="0"/>
                </a:moveTo>
                <a:cubicBezTo>
                  <a:pt x="3001970" y="0"/>
                  <a:pt x="3867808" y="900519"/>
                  <a:pt x="3867808" y="2011366"/>
                </a:cubicBezTo>
                <a:cubicBezTo>
                  <a:pt x="3867808" y="3052785"/>
                  <a:pt x="3106818" y="3909346"/>
                  <a:pt x="2131635" y="4012348"/>
                </a:cubicBezTo>
                <a:lnTo>
                  <a:pt x="1947462" y="4022020"/>
                </a:lnTo>
                <a:lnTo>
                  <a:pt x="1920347" y="4022020"/>
                </a:lnTo>
                <a:lnTo>
                  <a:pt x="1736174" y="4012348"/>
                </a:lnTo>
                <a:cubicBezTo>
                  <a:pt x="760991" y="3909346"/>
                  <a:pt x="0" y="3052785"/>
                  <a:pt x="0" y="2011366"/>
                </a:cubicBezTo>
                <a:cubicBezTo>
                  <a:pt x="0" y="900519"/>
                  <a:pt x="865838" y="0"/>
                  <a:pt x="19339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57078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Upper Right Background">
            <a:extLst>
              <a:ext uri="{FF2B5EF4-FFF2-40B4-BE49-F238E27FC236}">
                <a16:creationId xmlns:a16="http://schemas.microsoft.com/office/drawing/2014/main" id="{741348CF-8AE0-CDA7-6AF8-73CBD508D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1362456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Lower Left Background">
            <a:extLst>
              <a:ext uri="{FF2B5EF4-FFF2-40B4-BE49-F238E27FC236}">
                <a16:creationId xmlns:a16="http://schemas.microsoft.com/office/drawing/2014/main" id="{7A022FAC-8470-0247-48BA-724E9DA0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6879" y="3664139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Vertical Divider">
            <a:extLst>
              <a:ext uri="{FF2B5EF4-FFF2-40B4-BE49-F238E27FC236}">
                <a16:creationId xmlns:a16="http://schemas.microsoft.com/office/drawing/2014/main" id="{56653F9A-22F3-01A3-08FE-B872A42C7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1362456"/>
            <a:ext cx="0" cy="4572000"/>
          </a:xfrm>
          <a:prstGeom prst="line">
            <a:avLst/>
          </a:prstGeom>
          <a:ln w="28575">
            <a:solidFill>
              <a:srgbClr val="3306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Horizontal Divider">
            <a:extLst>
              <a:ext uri="{FF2B5EF4-FFF2-40B4-BE49-F238E27FC236}">
                <a16:creationId xmlns:a16="http://schemas.microsoft.com/office/drawing/2014/main" id="{FD96D644-BABC-710D-9181-F5F1CFE25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06880" y="3648456"/>
            <a:ext cx="877824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e">
            <a:extLst>
              <a:ext uri="{FF2B5EF4-FFF2-40B4-BE49-F238E27FC236}">
                <a16:creationId xmlns:a16="http://schemas.microsoft.com/office/drawing/2014/main" id="{8C45C620-8DCA-F412-3FAF-615D5BE6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10/27/25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01FB36B0-30B4-5161-4F34-C0DB33DF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0834D6B-037D-B08E-B56B-6F63524B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Lower Right Content">
            <a:extLst>
              <a:ext uri="{FF2B5EF4-FFF2-40B4-BE49-F238E27FC236}">
                <a16:creationId xmlns:a16="http://schemas.microsoft.com/office/drawing/2014/main" id="{59A8F6BE-E970-A0F4-7DDA-8524CD5C332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095840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Lower Right Label 2">
            <a:extLst>
              <a:ext uri="{FF2B5EF4-FFF2-40B4-BE49-F238E27FC236}">
                <a16:creationId xmlns:a16="http://schemas.microsoft.com/office/drawing/2014/main" id="{CFD30BF1-A505-9ACC-025A-469B5F0297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03409" y="4654295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7" name="Lower Right Label 1">
            <a:extLst>
              <a:ext uri="{FF2B5EF4-FFF2-40B4-BE49-F238E27FC236}">
                <a16:creationId xmlns:a16="http://schemas.microsoft.com/office/drawing/2014/main" id="{C1877750-E333-F03B-47EC-F2033B802A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524" y="5962966"/>
            <a:ext cx="4389117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7" name="Lower Left Content">
            <a:extLst>
              <a:ext uri="{FF2B5EF4-FFF2-40B4-BE49-F238E27FC236}">
                <a16:creationId xmlns:a16="http://schemas.microsoft.com/office/drawing/2014/main" id="{6EB568C5-C36C-C3B6-B84E-33585ED25B1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706563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Lower Left Label 2">
            <a:extLst>
              <a:ext uri="{FF2B5EF4-FFF2-40B4-BE49-F238E27FC236}">
                <a16:creationId xmlns:a16="http://schemas.microsoft.com/office/drawing/2014/main" id="{837C4CC4-7EAF-DC30-D4DD-8B9A27E114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1168" y="4654295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6" name="Lower Left Label 1">
            <a:extLst>
              <a:ext uri="{FF2B5EF4-FFF2-40B4-BE49-F238E27FC236}">
                <a16:creationId xmlns:a16="http://schemas.microsoft.com/office/drawing/2014/main" id="{4B5B599D-1D6D-2F42-226C-68559DBA7D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6406" y="5962966"/>
            <a:ext cx="4389119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6" name="Upper Right Content">
            <a:extLst>
              <a:ext uri="{FF2B5EF4-FFF2-40B4-BE49-F238E27FC236}">
                <a16:creationId xmlns:a16="http://schemas.microsoft.com/office/drawing/2014/main" id="{C9BA5D50-354F-362B-0D00-D2581CEB93A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95840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Upper Right Label 2">
            <a:extLst>
              <a:ext uri="{FF2B5EF4-FFF2-40B4-BE49-F238E27FC236}">
                <a16:creationId xmlns:a16="http://schemas.microsoft.com/office/drawing/2014/main" id="{95D7251D-C3E9-D88C-6B59-37FDF825BC9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3409" y="2176811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5" name="Upper Right Label 1">
            <a:extLst>
              <a:ext uri="{FF2B5EF4-FFF2-40B4-BE49-F238E27FC236}">
                <a16:creationId xmlns:a16="http://schemas.microsoft.com/office/drawing/2014/main" id="{01DC97BE-4E44-4321-55D1-58467CA8CD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524" y="904718"/>
            <a:ext cx="4389117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5" name="Upper Left Content">
            <a:extLst>
              <a:ext uri="{FF2B5EF4-FFF2-40B4-BE49-F238E27FC236}">
                <a16:creationId xmlns:a16="http://schemas.microsoft.com/office/drawing/2014/main" id="{34ADB10B-DD8F-366C-2FE7-EB6B19010DC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706563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Upper Left Label 2">
            <a:extLst>
              <a:ext uri="{FF2B5EF4-FFF2-40B4-BE49-F238E27FC236}">
                <a16:creationId xmlns:a16="http://schemas.microsoft.com/office/drawing/2014/main" id="{A2A1B410-A6E6-1BF0-054A-670E8ED31F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168" y="2176811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4" name="Upper Left Label 1">
            <a:extLst>
              <a:ext uri="{FF2B5EF4-FFF2-40B4-BE49-F238E27FC236}">
                <a16:creationId xmlns:a16="http://schemas.microsoft.com/office/drawing/2014/main" id="{49583889-99E8-7796-E87C-F99F6EE72D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06406" y="904718"/>
            <a:ext cx="4389119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C5C5A4C-3D9C-8F95-687D-4440AD423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54273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9961950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BF72350-7C98-FBEB-2F3B-2484C594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10/27/25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E8AD11E-DA5D-22C0-7E98-72840ACE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5F3E7FD-E179-CFF4-29F5-C801F3EC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924D0665-6B62-D94C-6BB9-A5F32444BAF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tIns="27432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picture. Resize to fill screen if necessary.</a:t>
            </a: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D0F66A68-CFCE-76B6-AA53-FDBE844F5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37651"/>
            <a:ext cx="5872095" cy="587375"/>
          </a:xfrm>
          <a:solidFill>
            <a:schemeClr val="accent6"/>
          </a:solidFill>
        </p:spPr>
        <p:txBody>
          <a:bodyPr lIns="82296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image caption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B02C69-13B3-AF45-CE38-55FAC6F83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01609"/>
            <a:ext cx="6171117" cy="836754"/>
          </a:xfrm>
          <a:solidFill>
            <a:schemeClr val="accent1"/>
          </a:solidFill>
        </p:spPr>
        <p:txBody>
          <a:bodyPr lIns="822960">
            <a:noAutofit/>
          </a:bodyPr>
          <a:lstStyle>
            <a:lvl1pPr>
              <a:defRPr sz="3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image title</a:t>
            </a:r>
          </a:p>
        </p:txBody>
      </p:sp>
    </p:spTree>
    <p:extLst>
      <p:ext uri="{BB962C8B-B14F-4D97-AF65-F5344CB8AC3E}">
        <p14:creationId xmlns:p14="http://schemas.microsoft.com/office/powerpoint/2010/main" val="52612960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345CF1A-4C10-1E0A-F359-242D961D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10/27/25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F89A3E1-10E8-DF5C-ADA7-7AA1AC18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A5217EA-2F5D-8BD3-F6A4-7D27B940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28B89F34-6ED0-DAD7-D81D-47BF20B8B6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5640428"/>
            <a:ext cx="10515601" cy="592656"/>
          </a:xfrm>
        </p:spPr>
        <p:txBody>
          <a:bodyPr/>
          <a:lstStyle>
            <a:lvl1pPr marL="0" indent="0" algn="ctr">
              <a:buNone/>
              <a:defRPr sz="2000" i="1"/>
            </a:lvl1pPr>
          </a:lstStyle>
          <a:p>
            <a:pPr lvl="0"/>
            <a:r>
              <a:rPr lang="en-US" dirty="0"/>
              <a:t>Click to add an image caption</a:t>
            </a:r>
          </a:p>
        </p:txBody>
      </p:sp>
      <p:sp>
        <p:nvSpPr>
          <p:cNvPr id="13" name="Picture or Content">
            <a:extLst>
              <a:ext uri="{FF2B5EF4-FFF2-40B4-BE49-F238E27FC236}">
                <a16:creationId xmlns:a16="http://schemas.microsoft.com/office/drawing/2014/main" id="{CD1EE5D5-5FAF-B62D-975C-50CD0639937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377023"/>
            <a:ext cx="10515600" cy="42530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EDF3277-C373-C98B-51F8-11BE6680E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872943514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10/27/25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lumn 3 Content">
            <a:extLst>
              <a:ext uri="{FF2B5EF4-FFF2-40B4-BE49-F238E27FC236}">
                <a16:creationId xmlns:a16="http://schemas.microsoft.com/office/drawing/2014/main" id="{05C1C30C-0CDC-3433-354D-EE9FD3483F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53399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lumn 3 Header">
            <a:extLst>
              <a:ext uri="{FF2B5EF4-FFF2-40B4-BE49-F238E27FC236}">
                <a16:creationId xmlns:a16="http://schemas.microsoft.com/office/drawing/2014/main" id="{EAD20429-72EA-1AA7-5960-5D9EC8A91A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534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lumn 2 Content">
            <a:extLst>
              <a:ext uri="{FF2B5EF4-FFF2-40B4-BE49-F238E27FC236}">
                <a16:creationId xmlns:a16="http://schemas.microsoft.com/office/drawing/2014/main" id="{D0A545A4-8A49-4146-D78B-41174161D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5799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lumn 2 Header">
            <a:extLst>
              <a:ext uri="{FF2B5EF4-FFF2-40B4-BE49-F238E27FC236}">
                <a16:creationId xmlns:a16="http://schemas.microsoft.com/office/drawing/2014/main" id="{9314D649-A64C-6E34-2130-1BDF8C873E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58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8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506132602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10/27/25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lumn 4 Content">
            <a:extLst>
              <a:ext uri="{FF2B5EF4-FFF2-40B4-BE49-F238E27FC236}">
                <a16:creationId xmlns:a16="http://schemas.microsoft.com/office/drawing/2014/main" id="{34C4BCE7-4191-F2A9-F80D-F627E9EA077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39198" y="2743198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lumn 4 Header">
            <a:extLst>
              <a:ext uri="{FF2B5EF4-FFF2-40B4-BE49-F238E27FC236}">
                <a16:creationId xmlns:a16="http://schemas.microsoft.com/office/drawing/2014/main" id="{1B8965D5-7659-2A00-C376-DD8B3ACA71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39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lumn 3 Content">
            <a:extLst>
              <a:ext uri="{FF2B5EF4-FFF2-40B4-BE49-F238E27FC236}">
                <a16:creationId xmlns:a16="http://schemas.microsoft.com/office/drawing/2014/main" id="{E901D810-CC36-C6AA-9EDE-FB64CCF9EA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79166" y="2743198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lumn 3 Header">
            <a:extLst>
              <a:ext uri="{FF2B5EF4-FFF2-40B4-BE49-F238E27FC236}">
                <a16:creationId xmlns:a16="http://schemas.microsoft.com/office/drawing/2014/main" id="{303B94A8-CAE7-3320-55C2-EC5B8724067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lumn 2 Content">
            <a:extLst>
              <a:ext uri="{FF2B5EF4-FFF2-40B4-BE49-F238E27FC236}">
                <a16:creationId xmlns:a16="http://schemas.microsoft.com/office/drawing/2014/main" id="{CB09BE5E-E412-C4BE-23E6-1B9E9E610C0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8230" y="2743199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lumn 2 Header">
            <a:extLst>
              <a:ext uri="{FF2B5EF4-FFF2-40B4-BE49-F238E27FC236}">
                <a16:creationId xmlns:a16="http://schemas.microsoft.com/office/drawing/2014/main" id="{FE4E8193-CA60-39C5-BF2A-642510ED2A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05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8" y="2743199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22685407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BC7800-B276-A64A-8AB0-19972C98F17B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5375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2"/>
          </p:nvPr>
        </p:nvSpPr>
        <p:spPr>
          <a:xfrm>
            <a:off x="6927794" y="6356350"/>
            <a:ext cx="13709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BC7800-B276-A64A-8AB0-19972C98F17B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25011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510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8200" y="1602658"/>
            <a:ext cx="10515600" cy="4574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15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466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Wingdings" pitchFamily="2" charset="2"/>
        <a:buChar char="§"/>
        <a:defRPr sz="2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v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§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§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c-QGn8zJiGjTjX15h2wzHLnA-7L3NssiDSzB4mB1IcRB7rNA/viewform?usp=sharing&amp;ouid=116038002539079793200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4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00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3.png"/><Relationship Id="rId4" Type="http://schemas.openxmlformats.org/officeDocument/2006/relationships/image" Target="../media/image50.sv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6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6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F9755-800C-BAA7-9886-5018A613A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75E86-3AC1-27FE-A80E-914C9B6378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Data Science for Business – Fall 2025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FFC07-3828-6FDB-8B93-EA871DD29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901609"/>
            <a:ext cx="10455965" cy="836754"/>
          </a:xfrm>
        </p:spPr>
        <p:txBody>
          <a:bodyPr>
            <a:normAutofit/>
          </a:bodyPr>
          <a:lstStyle/>
          <a:p>
            <a:r>
              <a:rPr lang="en-US" dirty="0"/>
              <a:t>Topic 6 – Regression </a:t>
            </a:r>
            <a:r>
              <a:rPr lang="en-US"/>
              <a:t>and Regularization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828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96D95-BB9B-4C2A-5147-3AFB11D1E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2EE86-121E-9E89-2BFA-D190FF9D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20" y="807167"/>
            <a:ext cx="10806966" cy="4961809"/>
          </a:xfrm>
        </p:spPr>
        <p:txBody>
          <a:bodyPr>
            <a:normAutofit/>
          </a:bodyPr>
          <a:lstStyle/>
          <a:p>
            <a:r>
              <a:rPr lang="en-US" dirty="0"/>
              <a:t>Linear Regression is a mathematical optimization model to predict a numeric variable from one or multiple other features</a:t>
            </a:r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Simple Linear Regression (SLR)</a:t>
            </a:r>
          </a:p>
          <a:p>
            <a:pPr lvl="1"/>
            <a:r>
              <a:rPr lang="en-US" dirty="0"/>
              <a:t>Only one explanatory variable (attributes)</a:t>
            </a:r>
          </a:p>
          <a:p>
            <a:r>
              <a:rPr lang="en-US" dirty="0"/>
              <a:t>Multiple Linear Regression (MLR)</a:t>
            </a:r>
          </a:p>
          <a:p>
            <a:pPr lvl="1"/>
            <a:r>
              <a:rPr lang="en-US" dirty="0"/>
              <a:t>Multiple explanatory variables (attributes)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Simple, mathematically rigorous, surprisingly effective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CFB1C-9E36-56D4-DEA1-EA37ACD39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20" y="48459"/>
            <a:ext cx="8229600" cy="729214"/>
          </a:xfrm>
        </p:spPr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F6A661-53F4-FBCC-49F0-AD58020940B6}"/>
              </a:ext>
            </a:extLst>
          </p:cNvPr>
          <p:cNvSpPr txBox="1"/>
          <p:nvPr/>
        </p:nvSpPr>
        <p:spPr>
          <a:xfrm>
            <a:off x="2911204" y="5928215"/>
            <a:ext cx="6232796" cy="63402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from </a:t>
            </a:r>
            <a:r>
              <a:rPr lang="en-US" sz="1600" dirty="0" err="1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sklearn.linear_model</a:t>
            </a:r>
            <a:r>
              <a:rPr lang="en-US" sz="1600" dirty="0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import </a:t>
            </a:r>
            <a:r>
              <a:rPr lang="en-US" sz="1600" dirty="0" err="1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LinearRegression</a:t>
            </a:r>
            <a:endParaRPr lang="en-US" sz="1600" dirty="0"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1600" dirty="0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import </a:t>
            </a:r>
            <a:r>
              <a:rPr lang="en-US" sz="1600" dirty="0" err="1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statsmodels.formula.api</a:t>
            </a:r>
            <a:r>
              <a:rPr lang="en-US" sz="1600" dirty="0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as </a:t>
            </a:r>
            <a:r>
              <a:rPr lang="en-US" sz="1600" dirty="0" err="1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sm</a:t>
            </a:r>
            <a:endParaRPr lang="en-US" sz="1600" dirty="0"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/DataScienceMemes - It’s all regression">
            <a:extLst>
              <a:ext uri="{FF2B5EF4-FFF2-40B4-BE49-F238E27FC236}">
                <a16:creationId xmlns:a16="http://schemas.microsoft.com/office/drawing/2014/main" id="{4E5EA5B0-2AC0-ABCF-C3BD-D7EBCE592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498" y="2157265"/>
            <a:ext cx="2817689" cy="1730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838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83CA2E-EC4D-7711-9EF9-7353A248E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017A5-3732-7ECD-8EC7-B5D69691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Regression Knowledge Test: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64C3BF-5E5C-98B7-AA1C-EA85DB5FF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your </a:t>
            </a:r>
            <a:r>
              <a:rPr lang="en-US" dirty="0" err="1"/>
              <a:t>knowlege</a:t>
            </a:r>
            <a:endParaRPr lang="en-US" dirty="0"/>
          </a:p>
        </p:txBody>
      </p:sp>
      <p:pic>
        <p:nvPicPr>
          <p:cNvPr id="6" name="Picture 5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589B7F5D-3EB9-5B68-F48E-2D834778A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630" y="1366684"/>
            <a:ext cx="4114800" cy="411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CE5A57-3523-4AEF-9572-32EC53D77AD0}"/>
              </a:ext>
            </a:extLst>
          </p:cNvPr>
          <p:cNvSpPr txBox="1"/>
          <p:nvPr/>
        </p:nvSpPr>
        <p:spPr>
          <a:xfrm>
            <a:off x="6871475" y="5598391"/>
            <a:ext cx="2129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  <a:hlinkClick r:id="rId3"/>
              </a:rPr>
              <a:t>Or Click Link</a:t>
            </a:r>
            <a:endParaRPr lang="en-US" sz="24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16729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0BCD332-9B8E-F06E-B12C-44CD976059D0}"/>
              </a:ext>
            </a:extLst>
          </p:cNvPr>
          <p:cNvSpPr txBox="1"/>
          <p:nvPr/>
        </p:nvSpPr>
        <p:spPr>
          <a:xfrm>
            <a:off x="722120" y="5342898"/>
            <a:ext cx="3455581" cy="76944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Regression Line Equation:</a:t>
            </a:r>
          </a:p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2D0BD-49E0-32A2-6407-A65840A90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972941"/>
            <a:ext cx="8229600" cy="9876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Any line is mathematically expressed as an equation with a slope and an intercept (you may have seen </a:t>
            </a:r>
            <a:r>
              <a:rPr lang="en-US" i="1" dirty="0"/>
              <a:t>y=</a:t>
            </a:r>
            <a:r>
              <a:rPr lang="en-US" i="1" dirty="0" err="1"/>
              <a:t>mx+b</a:t>
            </a:r>
            <a:r>
              <a:rPr lang="en-US" i="1" dirty="0"/>
              <a:t> </a:t>
            </a:r>
            <a:r>
              <a:rPr lang="en-US" dirty="0"/>
              <a:t>in algebra)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CF455E-57C0-40E7-BB0B-D1C707BB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471"/>
            <a:ext cx="10515600" cy="1001559"/>
          </a:xfrm>
        </p:spPr>
        <p:txBody>
          <a:bodyPr/>
          <a:lstStyle/>
          <a:p>
            <a:r>
              <a:rPr lang="en-US" dirty="0"/>
              <a:t>Defining the Regression 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7DF27B-7A61-5160-CAE2-76A811A34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14" y="2488119"/>
            <a:ext cx="3352610" cy="26160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08325F-D436-CAC8-6DD2-CD573C7170EC}"/>
                  </a:ext>
                </a:extLst>
              </p:cNvPr>
              <p:cNvSpPr txBox="1"/>
              <p:nvPr/>
            </p:nvSpPr>
            <p:spPr>
              <a:xfrm>
                <a:off x="1402081" y="5694137"/>
                <a:ext cx="146219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 panose="020B060403050404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 panose="020B060403050404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</a:t>
                </a:r>
                <a:endParaRPr lang="en-US" sz="20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08325F-D436-CAC8-6DD2-CD573C717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81" y="5694137"/>
                <a:ext cx="1462195" cy="307777"/>
              </a:xfrm>
              <a:prstGeom prst="rect">
                <a:avLst/>
              </a:prstGeom>
              <a:blipFill>
                <a:blip r:embed="rId4"/>
                <a:stretch>
                  <a:fillRect l="-6034" t="-24000" r="-9483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E4D5E8-415F-ACC1-28D7-068B0F5FD9D2}"/>
                  </a:ext>
                </a:extLst>
              </p:cNvPr>
              <p:cNvSpPr txBox="1"/>
              <p:nvPr/>
            </p:nvSpPr>
            <p:spPr>
              <a:xfrm>
                <a:off x="5257800" y="1741817"/>
                <a:ext cx="6779583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None/>
                </a:pPr>
                <a:r>
                  <a:rPr lang="en-US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Example:</a:t>
                </a:r>
              </a:p>
              <a:p>
                <a:pPr>
                  <a:buNone/>
                </a:pPr>
                <a:endPara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buNone/>
                </a:pPr>
                <a:r>
                  <a:rPr lang="en-US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Predicting Statewide %Poverty from %HS graduation rate</a:t>
                </a:r>
              </a:p>
              <a:p>
                <a:pPr>
                  <a:buNone/>
                </a:pPr>
                <a:endPara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342900" indent="-342900"/>
                <a:r>
                  <a:rPr lang="en-US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Y = %Poverty</a:t>
                </a:r>
              </a:p>
              <a:p>
                <a:pPr marL="342900" indent="-342900"/>
                <a:r>
                  <a:rPr lang="en-US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 = % HS Grad Rate</a:t>
                </a:r>
              </a:p>
              <a:p>
                <a:pPr marL="342900" indent="-342900"/>
                <a:endPara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342900" indent="-342900"/>
                <a:r>
                  <a:rPr lang="en-US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Regression Line</a:t>
                </a:r>
              </a:p>
              <a:p>
                <a:pPr marL="800100" lvl="1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 panose="020B060403050404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= slope of line = -0.62</a:t>
                </a:r>
              </a:p>
              <a:p>
                <a:pPr marL="800100" lvl="1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 panose="020B060403050404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= Y-intercept = 64.78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E4D5E8-415F-ACC1-28D7-068B0F5FD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1741817"/>
                <a:ext cx="6779583" cy="3170099"/>
              </a:xfrm>
              <a:prstGeom prst="rect">
                <a:avLst/>
              </a:prstGeom>
              <a:blipFill>
                <a:blip r:embed="rId5"/>
                <a:stretch>
                  <a:fillRect l="-1121" t="-1200" b="-2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1F8C7CB5-13CD-7696-74CA-AEDB8410F99D}"/>
              </a:ext>
            </a:extLst>
          </p:cNvPr>
          <p:cNvGrpSpPr/>
          <p:nvPr/>
        </p:nvGrpSpPr>
        <p:grpSpPr>
          <a:xfrm>
            <a:off x="5508123" y="5076099"/>
            <a:ext cx="3611693" cy="1115207"/>
            <a:chOff x="3528047" y="5552126"/>
            <a:chExt cx="3611693" cy="11152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5618A97-9846-02E5-BCC2-2B6310EFB7EE}"/>
                </a:ext>
              </a:extLst>
            </p:cNvPr>
            <p:cNvSpPr/>
            <p:nvPr/>
          </p:nvSpPr>
          <p:spPr bwMode="auto">
            <a:xfrm>
              <a:off x="3528047" y="5552126"/>
              <a:ext cx="3611693" cy="1115207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2ECF84-41A2-74DC-C6F2-C44DC7298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17287" y="6273913"/>
              <a:ext cx="3252745" cy="26944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4FA9EFE-DEE8-D075-B5E7-40CCC76677F5}"/>
                    </a:ext>
                  </a:extLst>
                </p:cNvPr>
                <p:cNvSpPr txBox="1"/>
                <p:nvPr/>
              </p:nvSpPr>
              <p:spPr>
                <a:xfrm>
                  <a:off x="4220019" y="5748739"/>
                  <a:ext cx="2247282" cy="307777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buNone/>
                  </a:pP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𝑌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=64.78 − 0.62</m:t>
                      </m:r>
                    </m:oMath>
                  </a14:m>
                  <a:r>
                    <a:rPr lang="en-US" sz="2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X</a:t>
                  </a:r>
                  <a:endParaRPr lang="en-US" sz="2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4FA9EFE-DEE8-D075-B5E7-40CCC76677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0019" y="5748739"/>
                  <a:ext cx="2247282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3933" t="-23077" r="-5618" b="-461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D4E022-9853-46C6-40EC-923CCBFEF6A1}"/>
              </a:ext>
            </a:extLst>
          </p:cNvPr>
          <p:cNvCxnSpPr/>
          <p:nvPr/>
        </p:nvCxnSpPr>
        <p:spPr bwMode="auto">
          <a:xfrm>
            <a:off x="1402081" y="2763015"/>
            <a:ext cx="2400300" cy="158641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DDD67D6-9936-3516-E624-44DAE945BC2F}"/>
              </a:ext>
            </a:extLst>
          </p:cNvPr>
          <p:cNvSpPr txBox="1"/>
          <p:nvPr/>
        </p:nvSpPr>
        <p:spPr>
          <a:xfrm>
            <a:off x="9158193" y="5255647"/>
            <a:ext cx="1631726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negative slope= negative relationship =negative correlation</a:t>
            </a:r>
          </a:p>
        </p:txBody>
      </p:sp>
    </p:spTree>
    <p:extLst>
      <p:ext uri="{BB962C8B-B14F-4D97-AF65-F5344CB8AC3E}">
        <p14:creationId xmlns:p14="http://schemas.microsoft.com/office/powerpoint/2010/main" val="336468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7" grpId="0"/>
      <p:bldP spid="9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F3DB0-6D78-D8F9-DB47-47207CA4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001" y="1713169"/>
            <a:ext cx="8725135" cy="1001559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The high school graduation rate in Georgia is 85.1%. What poverty level does the model predict for this state?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9E0F6E-13AD-D553-D4E5-E6E17F4DA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186436"/>
            <a:ext cx="10515600" cy="1001559"/>
          </a:xfrm>
        </p:spPr>
        <p:txBody>
          <a:bodyPr/>
          <a:lstStyle/>
          <a:p>
            <a:r>
              <a:rPr lang="en-US" dirty="0"/>
              <a:t>Regression line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527BA1-A4D0-2326-F2F0-E4240ABE40B8}"/>
              </a:ext>
            </a:extLst>
          </p:cNvPr>
          <p:cNvGrpSpPr/>
          <p:nvPr/>
        </p:nvGrpSpPr>
        <p:grpSpPr>
          <a:xfrm>
            <a:off x="6271131" y="3842235"/>
            <a:ext cx="3631223" cy="918594"/>
            <a:chOff x="3528047" y="5748739"/>
            <a:chExt cx="3631223" cy="918594"/>
          </a:xfrm>
          <a:solidFill>
            <a:schemeClr val="bg2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0A9960-90F9-D479-18D6-A3BCC57B3657}"/>
                </a:ext>
              </a:extLst>
            </p:cNvPr>
            <p:cNvSpPr/>
            <p:nvPr/>
          </p:nvSpPr>
          <p:spPr bwMode="auto">
            <a:xfrm>
              <a:off x="3528047" y="5748739"/>
              <a:ext cx="3631223" cy="918594"/>
            </a:xfrm>
            <a:prstGeom prst="rect">
              <a:avLst/>
            </a:prstGeom>
            <a:grp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18A51C5-90D8-2A8D-1712-55D535F1A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7287" y="6273913"/>
              <a:ext cx="3252745" cy="269441"/>
            </a:xfrm>
            <a:prstGeom prst="rect">
              <a:avLst/>
            </a:prstGeom>
            <a:grpFill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CD677BE-22DD-A78A-BF45-62E8204AE869}"/>
                    </a:ext>
                  </a:extLst>
                </p:cNvPr>
                <p:cNvSpPr txBox="1"/>
                <p:nvPr/>
              </p:nvSpPr>
              <p:spPr>
                <a:xfrm>
                  <a:off x="4220019" y="5748739"/>
                  <a:ext cx="2247282" cy="307777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buNone/>
                  </a:pP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𝑌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=64.78 − 0.62</m:t>
                      </m:r>
                    </m:oMath>
                  </a14:m>
                  <a:r>
                    <a:rPr lang="en-US" sz="2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X</a:t>
                  </a:r>
                  <a:endParaRPr lang="en-US" sz="2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CD677BE-22DD-A78A-BF45-62E8204AE8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0019" y="5748739"/>
                  <a:ext cx="2247282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3933" t="-24000" r="-5618" b="-4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1474F9D-11F5-D449-40AB-834A5E6B67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43" y="3158986"/>
            <a:ext cx="3932408" cy="35125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0B137C-D43D-EBD8-B0C0-C81F2E9894AD}"/>
              </a:ext>
            </a:extLst>
          </p:cNvPr>
          <p:cNvSpPr txBox="1"/>
          <p:nvPr/>
        </p:nvSpPr>
        <p:spPr>
          <a:xfrm>
            <a:off x="5492496" y="5560541"/>
            <a:ext cx="54200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latin typeface="Montserrat" pitchFamily="2" charset="77"/>
              </a:rPr>
              <a:t>Poverty = 64.78 – 0.62 x 85.1 = 12.02</a:t>
            </a:r>
          </a:p>
        </p:txBody>
      </p:sp>
    </p:spTree>
    <p:extLst>
      <p:ext uri="{BB962C8B-B14F-4D97-AF65-F5344CB8AC3E}">
        <p14:creationId xmlns:p14="http://schemas.microsoft.com/office/powerpoint/2010/main" val="2697323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67E012-4825-EED2-A1AD-8B84196E4F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6186" y="1021899"/>
                <a:ext cx="7325317" cy="558112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There are many lines that </a:t>
                </a:r>
                <a:r>
                  <a:rPr lang="en-US" i="1" dirty="0"/>
                  <a:t>could be </a:t>
                </a:r>
                <a:r>
                  <a:rPr lang="en-US" dirty="0"/>
                  <a:t>a good fit for these data</a:t>
                </a:r>
              </a:p>
              <a:p>
                <a:r>
                  <a:rPr lang="en-US" dirty="0"/>
                  <a:t>How do we know which one is the best one (or perhaps better than others)?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We need a criteria for “goodness” and then find the line with the most goodness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Use residuals</a:t>
                </a:r>
              </a:p>
              <a:p>
                <a:pPr lvl="1"/>
                <a:r>
                  <a:rPr lang="en-US" dirty="0"/>
                  <a:t>Residuals are the errors from the model fit</a:t>
                </a:r>
              </a:p>
              <a:p>
                <a:pPr lvl="1"/>
                <a:r>
                  <a:rPr lang="en-US" dirty="0"/>
                  <a:t>Residual = </a:t>
                </a:r>
              </a:p>
              <a:p>
                <a:pPr lvl="2"/>
                <a:r>
                  <a:rPr lang="en-US" dirty="0"/>
                  <a:t>Actual value - predicted value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% living in poverty in DC is 5.44% more than predicted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67E012-4825-EED2-A1AD-8B84196E4F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6186" y="1021899"/>
                <a:ext cx="7325317" cy="5581124"/>
              </a:xfrm>
              <a:blipFill>
                <a:blip r:embed="rId3"/>
                <a:stretch>
                  <a:fillRect l="-1211" t="-1818" r="-2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D835D07-5B78-DB99-8853-46DDA36E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940"/>
            <a:ext cx="10515600" cy="1001559"/>
          </a:xfrm>
        </p:spPr>
        <p:txBody>
          <a:bodyPr/>
          <a:lstStyle/>
          <a:p>
            <a:r>
              <a:rPr lang="en-US" dirty="0"/>
              <a:t>Finding the Right Regression Line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6D6F5B-3F14-BF37-5F7D-F580B49254E5}"/>
              </a:ext>
            </a:extLst>
          </p:cNvPr>
          <p:cNvGrpSpPr/>
          <p:nvPr/>
        </p:nvGrpSpPr>
        <p:grpSpPr>
          <a:xfrm>
            <a:off x="7806736" y="1021899"/>
            <a:ext cx="3352610" cy="2616052"/>
            <a:chOff x="5556330" y="1444206"/>
            <a:chExt cx="3352610" cy="261605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41B3733-1A64-829A-F7E8-059DA5047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56330" y="1444206"/>
              <a:ext cx="3352610" cy="2616052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477C74A-783A-E030-0632-76387BB12D1B}"/>
                </a:ext>
              </a:extLst>
            </p:cNvPr>
            <p:cNvCxnSpPr/>
            <p:nvPr/>
          </p:nvCxnSpPr>
          <p:spPr bwMode="auto">
            <a:xfrm>
              <a:off x="6163408" y="1701904"/>
              <a:ext cx="2400300" cy="1586419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478610A-48DC-A83E-8A5E-1BEBE1D498D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163408" y="2092569"/>
              <a:ext cx="2400300" cy="747346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8852DF0-5712-428A-DC99-3344BD09B9B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224954" y="1962878"/>
              <a:ext cx="2338754" cy="994403"/>
            </a:xfrm>
            <a:prstGeom prst="line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E75735FE-05E8-2395-4942-1B207C2E6B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7266" y="3895649"/>
            <a:ext cx="3292080" cy="256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8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8E097-4E40-083A-A3A6-AB7CAD9D2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181" y="1161349"/>
            <a:ext cx="8229600" cy="4814202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i="1" dirty="0">
                <a:solidFill>
                  <a:srgbClr val="FF0000"/>
                </a:solidFill>
              </a:rPr>
              <a:t>least squares regression line </a:t>
            </a:r>
            <a:r>
              <a:rPr lang="en-US" dirty="0"/>
              <a:t>is the line that minimizes the sum of the </a:t>
            </a:r>
            <a:r>
              <a:rPr lang="en-US" b="1" dirty="0"/>
              <a:t>squared</a:t>
            </a:r>
            <a:r>
              <a:rPr lang="en-US" dirty="0"/>
              <a:t> residuals</a:t>
            </a:r>
            <a:endParaRPr lang="en-US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B13F8C-21E3-C477-8012-8BD45DB11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61880"/>
            <a:ext cx="9439055" cy="729214"/>
          </a:xfrm>
        </p:spPr>
        <p:txBody>
          <a:bodyPr>
            <a:normAutofit/>
          </a:bodyPr>
          <a:lstStyle/>
          <a:p>
            <a:r>
              <a:rPr lang="en-US" dirty="0"/>
              <a:t>Least Squares Regression 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C233CA-35D1-78FB-BCC9-2F174C270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1974" y="129498"/>
            <a:ext cx="1952052" cy="15231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FBF491-6EB1-16C2-D463-DCFA9B57F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786" y="2489784"/>
            <a:ext cx="2246923" cy="3363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7A0628-D819-A10C-C392-2CC0DD016053}"/>
              </a:ext>
            </a:extLst>
          </p:cNvPr>
          <p:cNvSpPr txBox="1"/>
          <p:nvPr/>
        </p:nvSpPr>
        <p:spPr>
          <a:xfrm>
            <a:off x="7687248" y="2572039"/>
            <a:ext cx="2057400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Squares?  This makes sure errors don’t cancel out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0576F475-5B3A-2D5D-C19E-B43B3425A04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003877" y="4349300"/>
                <a:ext cx="6044903" cy="111075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57175" indent="-25717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  <a:lvl2pPr marL="557213" indent="-2143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2pPr>
                <a:lvl3pPr marL="8572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3pPr>
                <a:lvl4pPr marL="12001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5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4pPr>
                <a:lvl5pPr marL="15430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5pPr>
                <a:lvl6pPr marL="18859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2288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25717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29146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>
                  <a:buClrTx/>
                </a:pPr>
                <a:r>
                  <a:rPr lang="en-US" sz="1800" kern="0" dirty="0"/>
                  <a:t>Regression functions mathematically find the line that minimizes sum of squared residuals</a:t>
                </a:r>
              </a:p>
              <a:p>
                <a:pPr>
                  <a:buClrTx/>
                </a:pPr>
                <a:r>
                  <a:rPr lang="en-US" sz="1800" kern="0" dirty="0"/>
                  <a:t>Return 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kern="0">
                        <a:latin typeface="Cambria Math" panose="02040503050406030204" pitchFamily="18" charset="0"/>
                      </a:rPr>
                      <m:t>and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800" kern="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0576F475-5B3A-2D5D-C19E-B43B3425A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3877" y="4349300"/>
                <a:ext cx="6044903" cy="1110758"/>
              </a:xfrm>
              <a:prstGeom prst="rect">
                <a:avLst/>
              </a:prstGeom>
              <a:blipFill>
                <a:blip r:embed="rId4"/>
                <a:stretch>
                  <a:fillRect l="-839" t="-22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BD67DA-4D0B-A143-B6FB-C5B8AD35F834}"/>
                  </a:ext>
                </a:extLst>
              </p:cNvPr>
              <p:cNvSpPr txBox="1"/>
              <p:nvPr/>
            </p:nvSpPr>
            <p:spPr>
              <a:xfrm>
                <a:off x="4647043" y="5823103"/>
                <a:ext cx="224728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=64.78 − 0.62</m:t>
                    </m:r>
                  </m:oMath>
                </a14:m>
                <a:r>
                  <a:rPr lang="en-US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X</a:t>
                </a:r>
                <a:endParaRPr lang="en-US" sz="20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BD67DA-4D0B-A143-B6FB-C5B8AD35F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043" y="5823103"/>
                <a:ext cx="2247282" cy="307777"/>
              </a:xfrm>
              <a:prstGeom prst="rect">
                <a:avLst/>
              </a:prstGeom>
              <a:blipFill>
                <a:blip r:embed="rId5"/>
                <a:stretch>
                  <a:fillRect l="-3371" t="-24000" r="-6180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6F79F6-04C3-898D-9E76-575564338C25}"/>
                  </a:ext>
                </a:extLst>
              </p:cNvPr>
              <p:cNvSpPr txBox="1"/>
              <p:nvPr/>
            </p:nvSpPr>
            <p:spPr>
              <a:xfrm>
                <a:off x="5157849" y="6130880"/>
                <a:ext cx="523670" cy="4168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000" i="1" ker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6F79F6-04C3-898D-9E76-575564338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849" y="6130880"/>
                <a:ext cx="523670" cy="416845"/>
              </a:xfrm>
              <a:prstGeom prst="rect">
                <a:avLst/>
              </a:prstGeom>
              <a:blipFill>
                <a:blip r:embed="rId6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A6A095-03DE-0D69-7EB3-C97C8B92E16B}"/>
                  </a:ext>
                </a:extLst>
              </p:cNvPr>
              <p:cNvSpPr txBox="1"/>
              <p:nvPr/>
            </p:nvSpPr>
            <p:spPr>
              <a:xfrm>
                <a:off x="6192325" y="6130879"/>
                <a:ext cx="517706" cy="4168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0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A6A095-03DE-0D69-7EB3-C97C8B92E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2325" y="6130879"/>
                <a:ext cx="517706" cy="416845"/>
              </a:xfrm>
              <a:prstGeom prst="rect">
                <a:avLst/>
              </a:prstGeom>
              <a:blipFill>
                <a:blip r:embed="rId7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DBA877C-F388-511F-31A8-4F90CF01E79A}"/>
              </a:ext>
            </a:extLst>
          </p:cNvPr>
          <p:cNvSpPr txBox="1"/>
          <p:nvPr/>
        </p:nvSpPr>
        <p:spPr>
          <a:xfrm>
            <a:off x="4218821" y="3218370"/>
            <a:ext cx="2716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aka: mean squared error</a:t>
            </a:r>
          </a:p>
        </p:txBody>
      </p:sp>
    </p:spTree>
    <p:extLst>
      <p:ext uri="{BB962C8B-B14F-4D97-AF65-F5344CB8AC3E}">
        <p14:creationId xmlns:p14="http://schemas.microsoft.com/office/powerpoint/2010/main" val="396993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8" grpId="0" animBg="1"/>
      <p:bldP spid="7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F21C0-B296-CEBA-835A-D2D0E604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8</a:t>
            </a:fld>
            <a:endParaRPr lang="en-US"/>
          </a:p>
        </p:txBody>
      </p:sp>
      <p:pic>
        <p:nvPicPr>
          <p:cNvPr id="6" name="Content Placeholder 5" descr="A table with numbers and a couple of speech bubbles&#10;&#10;Description automatically generated">
            <a:extLst>
              <a:ext uri="{FF2B5EF4-FFF2-40B4-BE49-F238E27FC236}">
                <a16:creationId xmlns:a16="http://schemas.microsoft.com/office/drawing/2014/main" id="{D4C443AD-48E4-D94A-140A-FA51D82561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56538" y="1485089"/>
            <a:ext cx="7208321" cy="3887821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CE28E6-2FD9-D737-E2E3-A25ED9207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24" y="200966"/>
            <a:ext cx="10515600" cy="1001559"/>
          </a:xfrm>
        </p:spPr>
        <p:txBody>
          <a:bodyPr>
            <a:normAutofit/>
          </a:bodyPr>
          <a:lstStyle/>
          <a:p>
            <a:r>
              <a:rPr lang="en-US" dirty="0"/>
              <a:t>Multiple Regression: 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E96F5-4053-85E3-1993-085C6B81FEE8}"/>
              </a:ext>
            </a:extLst>
          </p:cNvPr>
          <p:cNvSpPr txBox="1"/>
          <p:nvPr/>
        </p:nvSpPr>
        <p:spPr>
          <a:xfrm>
            <a:off x="8186057" y="6613753"/>
            <a:ext cx="21788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Courtesy: Harvard IASC CS109A </a:t>
            </a:r>
            <a:r>
              <a:rPr lang="en-US" sz="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Protopapas</a:t>
            </a:r>
            <a:endParaRPr lang="en-US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7CFA71-6938-FE49-C840-2A0B8BE0DE8D}"/>
              </a:ext>
            </a:extLst>
          </p:cNvPr>
          <p:cNvSpPr txBox="1"/>
          <p:nvPr/>
        </p:nvSpPr>
        <p:spPr>
          <a:xfrm>
            <a:off x="5211652" y="5489481"/>
            <a:ext cx="30980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X: thousands of $$</a:t>
            </a: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Y: thousands of units sold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7FB00C-7D5F-A562-B588-4C10A530E53A}"/>
              </a:ext>
            </a:extLst>
          </p:cNvPr>
          <p:cNvSpPr txBox="1"/>
          <p:nvPr/>
        </p:nvSpPr>
        <p:spPr>
          <a:xfrm>
            <a:off x="344424" y="3123309"/>
            <a:ext cx="25223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ontserrat" pitchFamily="2" charset="77"/>
              </a:rPr>
              <a:t>Advertising vs. Sales for three different ad channels</a:t>
            </a:r>
          </a:p>
        </p:txBody>
      </p:sp>
    </p:spTree>
    <p:extLst>
      <p:ext uri="{BB962C8B-B14F-4D97-AF65-F5344CB8AC3E}">
        <p14:creationId xmlns:p14="http://schemas.microsoft.com/office/powerpoint/2010/main" val="4217015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AA29CC1-4E79-CF07-F91D-D6E06E1D8B94}"/>
              </a:ext>
            </a:extLst>
          </p:cNvPr>
          <p:cNvSpPr txBox="1"/>
          <p:nvPr/>
        </p:nvSpPr>
        <p:spPr>
          <a:xfrm>
            <a:off x="4244685" y="2663785"/>
            <a:ext cx="57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</a:t>
            </a:r>
          </a:p>
        </p:txBody>
      </p:sp>
      <p:pic>
        <p:nvPicPr>
          <p:cNvPr id="10" name="Content Placeholder 9" descr="A graph showing a number of dots&#10;&#10;Description automatically generated">
            <a:extLst>
              <a:ext uri="{FF2B5EF4-FFF2-40B4-BE49-F238E27FC236}">
                <a16:creationId xmlns:a16="http://schemas.microsoft.com/office/drawing/2014/main" id="{8234F8F5-D83B-9F63-0583-435940B46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11437" y="883764"/>
            <a:ext cx="2369127" cy="364114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9E917D-E3EB-D28E-F9FF-AC10FA79E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22" y="0"/>
            <a:ext cx="11631168" cy="1131125"/>
          </a:xfrm>
        </p:spPr>
        <p:txBody>
          <a:bodyPr>
            <a:normAutofit fontScale="90000"/>
          </a:bodyPr>
          <a:lstStyle/>
          <a:p>
            <a:r>
              <a:rPr lang="en-US" dirty="0"/>
              <a:t>Regression Example – Advertising v Sales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9E3224-BA22-1B87-8BCA-1DB2A399B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8568" y="865739"/>
            <a:ext cx="7145481" cy="361975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7E74A27-64E7-9BC1-3821-86137777EFF7}"/>
              </a:ext>
            </a:extLst>
          </p:cNvPr>
          <p:cNvSpPr txBox="1">
            <a:spLocks/>
          </p:cNvSpPr>
          <p:nvPr/>
        </p:nvSpPr>
        <p:spPr bwMode="auto">
          <a:xfrm>
            <a:off x="493776" y="4844025"/>
            <a:ext cx="5950093" cy="1778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ClrTx/>
            </a:pPr>
            <a:r>
              <a:rPr lang="en-US" sz="1800" kern="0" dirty="0"/>
              <a:t>Is there a relationship between advertising and sales?</a:t>
            </a:r>
          </a:p>
          <a:p>
            <a:pPr>
              <a:buClrTx/>
            </a:pPr>
            <a:r>
              <a:rPr lang="en-US" sz="1800" kern="0" dirty="0"/>
              <a:t>How strong is the relationship between different types of advertising and sales?</a:t>
            </a:r>
          </a:p>
          <a:p>
            <a:pPr>
              <a:buClrTx/>
            </a:pPr>
            <a:r>
              <a:rPr lang="en-US" sz="1800" kern="0" dirty="0"/>
              <a:t>How accurately can we predict future sales?</a:t>
            </a:r>
          </a:p>
          <a:p>
            <a:pPr>
              <a:buClrTx/>
            </a:pPr>
            <a:r>
              <a:rPr lang="en-US" sz="1800" kern="0" dirty="0"/>
              <a:t>Which media has the strongest connection to sales</a:t>
            </a:r>
          </a:p>
          <a:p>
            <a:pPr>
              <a:buClrTx/>
            </a:pPr>
            <a:endParaRPr lang="en-US" sz="1800" kern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D864786-63C5-4104-93AE-73460B418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2923" y="969065"/>
            <a:ext cx="7496769" cy="37977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B7691D-3C50-2C5A-1B8E-9E3FE1C9A3E8}"/>
              </a:ext>
            </a:extLst>
          </p:cNvPr>
          <p:cNvSpPr txBox="1"/>
          <p:nvPr/>
        </p:nvSpPr>
        <p:spPr>
          <a:xfrm>
            <a:off x="6443869" y="4520549"/>
            <a:ext cx="3193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$k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94070B-66D7-072B-89C9-AAEE90C486EC}"/>
              </a:ext>
            </a:extLst>
          </p:cNvPr>
          <p:cNvSpPr txBox="1"/>
          <p:nvPr/>
        </p:nvSpPr>
        <p:spPr>
          <a:xfrm rot="16200000">
            <a:off x="1903860" y="2166689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 units sold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135E9B-9D2F-07F5-CD6A-872E1F12F10C}"/>
              </a:ext>
            </a:extLst>
          </p:cNvPr>
          <p:cNvSpPr txBox="1">
            <a:spLocks/>
          </p:cNvSpPr>
          <p:nvPr/>
        </p:nvSpPr>
        <p:spPr bwMode="auto">
          <a:xfrm>
            <a:off x="6763187" y="5138011"/>
            <a:ext cx="4120716" cy="750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ClrTx/>
            </a:pPr>
            <a:r>
              <a:rPr lang="en-US" sz="1800" kern="0" dirty="0"/>
              <a:t>Can do a simple regression for each one, or combine them into a multiple regression</a:t>
            </a:r>
          </a:p>
        </p:txBody>
      </p:sp>
    </p:spTree>
    <p:extLst>
      <p:ext uri="{BB962C8B-B14F-4D97-AF65-F5344CB8AC3E}">
        <p14:creationId xmlns:p14="http://schemas.microsoft.com/office/powerpoint/2010/main" val="311829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3CAE5-C327-6A84-6D6C-EAD1E5B5A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6017" y="828667"/>
            <a:ext cx="7656576" cy="132564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Regression line equation defines the relationship between the features and target: </a:t>
            </a:r>
          </a:p>
          <a:p>
            <a:endParaRPr lang="en-US" dirty="0"/>
          </a:p>
          <a:p>
            <a:endParaRPr lang="en-US" dirty="0"/>
          </a:p>
          <a:p>
            <a:pPr marL="3429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705ABD-0D7C-DE78-E0D8-9E4A861E9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27" y="99453"/>
            <a:ext cx="8229600" cy="729214"/>
          </a:xfrm>
        </p:spPr>
        <p:txBody>
          <a:bodyPr/>
          <a:lstStyle/>
          <a:p>
            <a:r>
              <a:rPr lang="en-US" dirty="0"/>
              <a:t>Multiple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C09201-0C42-C869-8D13-DAD3465CAC66}"/>
                  </a:ext>
                </a:extLst>
              </p:cNvPr>
              <p:cNvSpPr txBox="1"/>
              <p:nvPr/>
            </p:nvSpPr>
            <p:spPr>
              <a:xfrm>
                <a:off x="3502630" y="1862612"/>
                <a:ext cx="518674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𝑌</m:t>
                    </m:r>
                    <m:r>
                      <a:rPr lang="en-US" sz="280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 panose="020B060403050404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 panose="020B060403050404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</a:t>
                </a:r>
                <a:r>
                  <a:rPr lang="en-US" sz="2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</a:t>
                </a:r>
                <a:r>
                  <a:rPr lang="en-US" sz="2800" dirty="0"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 panose="020B060403050404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</a:t>
                </a:r>
                <a:r>
                  <a:rPr lang="en-US" sz="2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2</a:t>
                </a:r>
                <a:r>
                  <a:rPr lang="en-US" sz="2800" dirty="0"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 panose="020B060403050404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 panose="020B060403050404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</a:t>
                </a:r>
                <a:r>
                  <a:rPr lang="en-US" sz="2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3</a:t>
                </a:r>
                <a:r>
                  <a:rPr lang="en-US" sz="2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+ …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C09201-0C42-C869-8D13-DAD3465CA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630" y="1862612"/>
                <a:ext cx="5186741" cy="430887"/>
              </a:xfrm>
              <a:prstGeom prst="rect">
                <a:avLst/>
              </a:prstGeom>
              <a:blipFill>
                <a:blip r:embed="rId3"/>
                <a:stretch>
                  <a:fillRect l="-2696" t="-28571" r="-3676" b="-4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C517DD3-574E-FD9B-CD9A-3C62296152B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687882" y="2657663"/>
                <a:ext cx="3257500" cy="237755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57175" indent="-25717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  <a:lvl2pPr marL="557213" indent="-2143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2pPr>
                <a:lvl3pPr marL="8572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3pPr>
                <a:lvl4pPr marL="12001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5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4pPr>
                <a:lvl5pPr marL="15430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5pPr>
                <a:lvl6pPr marL="18859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2288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25717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29146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>
                  <a:buClrTx/>
                  <a:buNone/>
                </a:pPr>
                <a:r>
                  <a:rPr lang="en-US" kern="0" dirty="0"/>
                  <a:t>Advertising = </a:t>
                </a:r>
              </a:p>
              <a:p>
                <a:pPr marL="0" indent="0">
                  <a:buClrTx/>
                  <a:buNone/>
                </a:pPr>
                <a:r>
                  <a:rPr lang="en-US" kern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ClrTx/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kern="0" dirty="0"/>
                  <a:t> x TV +</a:t>
                </a:r>
              </a:p>
              <a:p>
                <a:pPr marL="0" indent="0">
                  <a:buClrTx/>
                  <a:buNone/>
                </a:pPr>
                <a:r>
                  <a:rPr lang="en-US" kern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kern="0" dirty="0"/>
                  <a:t> x radio +</a:t>
                </a:r>
              </a:p>
              <a:p>
                <a:pPr marL="0" indent="0">
                  <a:buClrTx/>
                  <a:buNone/>
                </a:pPr>
                <a:r>
                  <a:rPr lang="en-US" kern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kern="0" dirty="0"/>
                  <a:t> x newspaper </a:t>
                </a:r>
              </a:p>
              <a:p>
                <a:pPr marL="0" indent="0">
                  <a:buClrTx/>
                  <a:buNone/>
                </a:pPr>
                <a:endParaRPr lang="en-US" kern="0" dirty="0"/>
              </a:p>
              <a:p>
                <a:pPr marL="0" indent="0">
                  <a:buClrTx/>
                  <a:buNone/>
                </a:pPr>
                <a:r>
                  <a:rPr lang="en-US" kern="0" dirty="0"/>
                  <a:t>	</a:t>
                </a:r>
              </a:p>
              <a:p>
                <a:pPr>
                  <a:buClrTx/>
                </a:pPr>
                <a:endParaRPr lang="en-US" kern="0" dirty="0"/>
              </a:p>
              <a:p>
                <a:pPr>
                  <a:buClrTx/>
                </a:pPr>
                <a:endParaRPr lang="en-US" kern="0" dirty="0"/>
              </a:p>
              <a:p>
                <a:pPr marL="342900" lvl="1" indent="0">
                  <a:buClrTx/>
                  <a:buNone/>
                </a:pPr>
                <a:endParaRPr lang="en-US" kern="0" dirty="0"/>
              </a:p>
              <a:p>
                <a:pPr marL="0" indent="0">
                  <a:buClrTx/>
                  <a:buNone/>
                </a:pPr>
                <a:endParaRPr lang="en-US" kern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C517DD3-574E-FD9B-CD9A-3C6229615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87882" y="2657663"/>
                <a:ext cx="3257500" cy="2377556"/>
              </a:xfrm>
              <a:prstGeom prst="rect">
                <a:avLst/>
              </a:prstGeom>
              <a:blipFill>
                <a:blip r:embed="rId4"/>
                <a:stretch>
                  <a:fillRect l="-1946" t="-15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8E16817-9C96-8E64-07B3-0B73E068A857}"/>
              </a:ext>
            </a:extLst>
          </p:cNvPr>
          <p:cNvSpPr txBox="1">
            <a:spLocks/>
          </p:cNvSpPr>
          <p:nvPr/>
        </p:nvSpPr>
        <p:spPr bwMode="auto">
          <a:xfrm>
            <a:off x="2890279" y="5399384"/>
            <a:ext cx="6228053" cy="4255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ClrTx/>
              <a:buNone/>
            </a:pPr>
            <a:r>
              <a:rPr lang="en-US" sz="1800" kern="0" dirty="0"/>
              <a:t>Sales = 2.94 + 0.04  TV + 0.18 radio - 0.01 newspaper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07B6B1-9ED2-4669-08F9-644B566272E3}"/>
                  </a:ext>
                </a:extLst>
              </p:cNvPr>
              <p:cNvSpPr txBox="1"/>
              <p:nvPr/>
            </p:nvSpPr>
            <p:spPr>
              <a:xfrm>
                <a:off x="3765257" y="5824952"/>
                <a:ext cx="523670" cy="4168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000" i="1" ker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07B6B1-9ED2-4669-08F9-644B56627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257" y="5824952"/>
                <a:ext cx="523670" cy="416845"/>
              </a:xfrm>
              <a:prstGeom prst="rect">
                <a:avLst/>
              </a:prstGeom>
              <a:blipFill>
                <a:blip r:embed="rId5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B5DB17-970A-6BF6-33FE-42CBBB7A8E81}"/>
                  </a:ext>
                </a:extLst>
              </p:cNvPr>
              <p:cNvSpPr txBox="1"/>
              <p:nvPr/>
            </p:nvSpPr>
            <p:spPr>
              <a:xfrm>
                <a:off x="4590526" y="5824951"/>
                <a:ext cx="517706" cy="4168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0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B5DB17-970A-6BF6-33FE-42CBBB7A8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526" y="5824951"/>
                <a:ext cx="517706" cy="416845"/>
              </a:xfrm>
              <a:prstGeom prst="rect">
                <a:avLst/>
              </a:prstGeom>
              <a:blipFill>
                <a:blip r:embed="rId6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7626D7-3C88-11DD-00F7-00763F65ED24}"/>
                  </a:ext>
                </a:extLst>
              </p:cNvPr>
              <p:cNvSpPr txBox="1"/>
              <p:nvPr/>
            </p:nvSpPr>
            <p:spPr>
              <a:xfrm>
                <a:off x="5684564" y="5824952"/>
                <a:ext cx="523670" cy="4168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0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7626D7-3C88-11DD-00F7-00763F65E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564" y="5824952"/>
                <a:ext cx="523670" cy="416845"/>
              </a:xfrm>
              <a:prstGeom prst="rect">
                <a:avLst/>
              </a:prstGeom>
              <a:blipFill>
                <a:blip r:embed="rId7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FB2674-69CF-D0FF-CD3D-7E237B1311DF}"/>
                  </a:ext>
                </a:extLst>
              </p:cNvPr>
              <p:cNvSpPr txBox="1"/>
              <p:nvPr/>
            </p:nvSpPr>
            <p:spPr>
              <a:xfrm>
                <a:off x="6956050" y="5824951"/>
                <a:ext cx="523670" cy="4168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0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FB2674-69CF-D0FF-CD3D-7E237B131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050" y="5824951"/>
                <a:ext cx="523670" cy="416845"/>
              </a:xfrm>
              <a:prstGeom prst="rect">
                <a:avLst/>
              </a:prstGeom>
              <a:blipFill>
                <a:blip r:embed="rId8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09D8275A-B468-1396-C04A-19C0EBADFE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127" y="2498985"/>
            <a:ext cx="5667692" cy="28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47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7" grpId="0" uiExpand="1" build="p" animBg="1"/>
      <p:bldP spid="5" grpId="0" animBg="1"/>
      <p:bldP spid="5" grpId="1" animBg="1"/>
      <p:bldP spid="6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3686E-28F7-CCC1-DA0C-B03EB64A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11</a:t>
            </a:fld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8FD06171-EF50-3ABA-18D3-A657B5488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85168" y="1745830"/>
            <a:ext cx="6644186" cy="42329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575FE8-6E61-F9A9-2761-87DD77A6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41" y="75682"/>
            <a:ext cx="8229600" cy="729214"/>
          </a:xfrm>
        </p:spPr>
        <p:txBody>
          <a:bodyPr>
            <a:normAutofit fontScale="90000"/>
          </a:bodyPr>
          <a:lstStyle/>
          <a:p>
            <a:r>
              <a:rPr lang="en-US" dirty="0"/>
              <a:t>Regression output - python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BEF47F-659B-BC5F-9531-51D9A9343C3A}"/>
              </a:ext>
            </a:extLst>
          </p:cNvPr>
          <p:cNvSpPr txBox="1"/>
          <p:nvPr/>
        </p:nvSpPr>
        <p:spPr>
          <a:xfrm>
            <a:off x="4674104" y="930470"/>
            <a:ext cx="2582758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</a:t>
            </a:r>
            <a:r>
              <a:rPr lang="en-US" sz="2000" dirty="0" err="1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statsmodels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60E50D-393C-FA5C-4B05-F91999FE885E}"/>
              </a:ext>
            </a:extLst>
          </p:cNvPr>
          <p:cNvSpPr txBox="1"/>
          <p:nvPr/>
        </p:nvSpPr>
        <p:spPr>
          <a:xfrm>
            <a:off x="2331523" y="6123571"/>
            <a:ext cx="67394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use train/test, RMSE, and ROC, just like other models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C03C013-3519-4367-BFA2-15AE775983F4}"/>
              </a:ext>
            </a:extLst>
          </p:cNvPr>
          <p:cNvSpPr/>
          <p:nvPr/>
        </p:nvSpPr>
        <p:spPr bwMode="auto">
          <a:xfrm>
            <a:off x="2063015" y="3985353"/>
            <a:ext cx="4668252" cy="1068404"/>
          </a:xfrm>
          <a:prstGeom prst="round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CBF2A1-AA44-D2CA-5078-E57CE319EE40}"/>
              </a:ext>
            </a:extLst>
          </p:cNvPr>
          <p:cNvSpPr txBox="1"/>
          <p:nvPr/>
        </p:nvSpPr>
        <p:spPr>
          <a:xfrm>
            <a:off x="8329354" y="4763267"/>
            <a:ext cx="2133600" cy="107721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t-stat and the p-value tell us which features are most important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0D5C76-4F0E-B14D-236B-32CD1901902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374106" y="4731422"/>
            <a:ext cx="2955249" cy="49375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21BDE12-2BDE-25E4-12BE-5FA1842B5E5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226568" y="4378139"/>
            <a:ext cx="2060588" cy="841245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AC04470-CB93-A6A8-2CC4-B2214C15EC7E}"/>
              </a:ext>
            </a:extLst>
          </p:cNvPr>
          <p:cNvSpPr/>
          <p:nvPr/>
        </p:nvSpPr>
        <p:spPr bwMode="auto">
          <a:xfrm>
            <a:off x="5007262" y="2441253"/>
            <a:ext cx="3069939" cy="425722"/>
          </a:xfrm>
          <a:prstGeom prst="round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16D686-A9CB-47CE-BC01-667EFF21F330}"/>
              </a:ext>
            </a:extLst>
          </p:cNvPr>
          <p:cNvSpPr txBox="1"/>
          <p:nvPr/>
        </p:nvSpPr>
        <p:spPr>
          <a:xfrm>
            <a:off x="8298581" y="1841944"/>
            <a:ext cx="2042160" cy="107721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good is the model? You might be familiar with these but..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9DE113-76C5-CB7D-E0B1-5F4A292B1A62}"/>
              </a:ext>
            </a:extLst>
          </p:cNvPr>
          <p:cNvSpPr txBox="1"/>
          <p:nvPr/>
        </p:nvSpPr>
        <p:spPr>
          <a:xfrm>
            <a:off x="8298581" y="2996238"/>
            <a:ext cx="2042160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sz="1600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Adjusted R</a:t>
            </a:r>
            <a:r>
              <a:rPr lang="en-US" sz="1600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measures on the training set 😮</a:t>
            </a:r>
          </a:p>
        </p:txBody>
      </p:sp>
      <p:sp>
        <p:nvSpPr>
          <p:cNvPr id="11" name="&quot;No&quot; Symbol 10">
            <a:extLst>
              <a:ext uri="{FF2B5EF4-FFF2-40B4-BE49-F238E27FC236}">
                <a16:creationId xmlns:a16="http://schemas.microsoft.com/office/drawing/2014/main" id="{5B2C10F4-B136-6113-FE08-A728BA15C2C1}"/>
              </a:ext>
            </a:extLst>
          </p:cNvPr>
          <p:cNvSpPr/>
          <p:nvPr/>
        </p:nvSpPr>
        <p:spPr bwMode="auto">
          <a:xfrm>
            <a:off x="2331523" y="5219383"/>
            <a:ext cx="5520047" cy="573710"/>
          </a:xfrm>
          <a:prstGeom prst="noSmoking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75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7" grpId="0" animBg="1"/>
      <p:bldP spid="17" grpId="1" animBg="1"/>
      <p:bldP spid="18" grpId="0" animBg="1"/>
      <p:bldP spid="21" grpId="0" animBg="1"/>
      <p:bldP spid="11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1841-E175-13BB-04C0-311F673B4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1BD36-1429-D7A8-FB97-1B331412F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8380"/>
            <a:ext cx="10515600" cy="4574305"/>
          </a:xfrm>
        </p:spPr>
        <p:txBody>
          <a:bodyPr/>
          <a:lstStyle/>
          <a:p>
            <a:r>
              <a:rPr lang="en-US" dirty="0"/>
              <a:t>One simple way to balance complexity and performance in linear regression…</a:t>
            </a:r>
          </a:p>
          <a:p>
            <a:pPr lvl="1"/>
            <a:r>
              <a:rPr lang="en-US" dirty="0"/>
              <a:t>Simply remove the features that have significance p&lt;0.05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82C3B7-14B2-31C2-638B-FC32620E5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37" y="180257"/>
            <a:ext cx="10515600" cy="1001559"/>
          </a:xfrm>
        </p:spPr>
        <p:txBody>
          <a:bodyPr/>
          <a:lstStyle/>
          <a:p>
            <a:r>
              <a:rPr lang="en-US" dirty="0"/>
              <a:t>Regression – Complexity Control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A5F569CE-8FD3-7127-0E41-589A60657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9264" y="2414016"/>
            <a:ext cx="6235007" cy="397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CE6F9DF-6228-2460-7422-59C8C3821743}"/>
              </a:ext>
            </a:extLst>
          </p:cNvPr>
          <p:cNvSpPr/>
          <p:nvPr/>
        </p:nvSpPr>
        <p:spPr bwMode="auto">
          <a:xfrm>
            <a:off x="3027111" y="4439803"/>
            <a:ext cx="4668252" cy="1068404"/>
          </a:xfrm>
          <a:prstGeom prst="round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9857C9-0D8E-C19B-FBEB-F8899F9B06F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89304" y="5317436"/>
            <a:ext cx="2104146" cy="315249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EF2CB09-9299-C40B-D89F-F7AD8D0F5A86}"/>
              </a:ext>
            </a:extLst>
          </p:cNvPr>
          <p:cNvSpPr txBox="1"/>
          <p:nvPr/>
        </p:nvSpPr>
        <p:spPr>
          <a:xfrm>
            <a:off x="9332400" y="5508207"/>
            <a:ext cx="1246149" cy="70788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Remove and refit</a:t>
            </a:r>
          </a:p>
        </p:txBody>
      </p:sp>
    </p:spTree>
    <p:extLst>
      <p:ext uri="{BB962C8B-B14F-4D97-AF65-F5344CB8AC3E}">
        <p14:creationId xmlns:p14="http://schemas.microsoft.com/office/powerpoint/2010/main" val="160508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DBE2C-8B49-3FBF-1CCD-92C10BFD3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8C380-EC28-CBD1-3208-6F4AF0D3D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199" y="1171917"/>
            <a:ext cx="8108731" cy="72921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Linear regression is … </a:t>
            </a:r>
            <a:r>
              <a:rPr lang="en-US" i="1" dirty="0"/>
              <a:t>linear</a:t>
            </a:r>
            <a:r>
              <a:rPr lang="en-US" dirty="0"/>
              <a:t> in the features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BAB67-9D16-ECBD-D948-A39913CE2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0448"/>
            <a:ext cx="10515600" cy="1001559"/>
          </a:xfrm>
        </p:spPr>
        <p:txBody>
          <a:bodyPr>
            <a:noAutofit/>
          </a:bodyPr>
          <a:lstStyle/>
          <a:p>
            <a:r>
              <a:rPr lang="en-US" sz="3600" dirty="0"/>
              <a:t>Extending Regression:</a:t>
            </a:r>
            <a:br>
              <a:rPr lang="en-US" sz="3600" dirty="0"/>
            </a:br>
            <a:r>
              <a:rPr lang="en-US" sz="3600" dirty="0"/>
              <a:t>Non-linear regression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hlinkClick r:id="" action="ppaction://ole?verb=0"/>
                <a:extLst>
                  <a:ext uri="{FF2B5EF4-FFF2-40B4-BE49-F238E27FC236}">
                    <a16:creationId xmlns:a16="http://schemas.microsoft.com/office/drawing/2014/main" id="{2CADF552-CE90-E470-F23D-3BE596E0EC67}"/>
                  </a:ext>
                </a:extLst>
              </p:cNvPr>
              <p:cNvSpPr txBox="1"/>
              <p:nvPr/>
            </p:nvSpPr>
            <p:spPr bwMode="auto">
              <a:xfrm>
                <a:off x="2841010" y="1781831"/>
                <a:ext cx="6215063" cy="6524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Y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Object 4">
                <a:hlinkClick r:id="" action="ppaction://ole?verb=0"/>
                <a:extLst>
                  <a:ext uri="{FF2B5EF4-FFF2-40B4-BE49-F238E27FC236}">
                    <a16:creationId xmlns:a16="http://schemas.microsoft.com/office/drawing/2014/main" id="{2CADF552-CE90-E470-F23D-3BE596E0E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1010" y="1781831"/>
                <a:ext cx="6215063" cy="652463"/>
              </a:xfrm>
              <a:prstGeom prst="rect">
                <a:avLst/>
              </a:prstGeom>
              <a:blipFill>
                <a:blip r:embed="rId3"/>
                <a:stretch>
                  <a:fillRect l="-2037" t="-9615" b="-38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741D8E-D0C8-C94B-41A2-35C76F568BE9}"/>
              </a:ext>
            </a:extLst>
          </p:cNvPr>
          <p:cNvSpPr txBox="1">
            <a:spLocks/>
          </p:cNvSpPr>
          <p:nvPr/>
        </p:nvSpPr>
        <p:spPr bwMode="auto">
          <a:xfrm>
            <a:off x="1981199" y="2471820"/>
            <a:ext cx="9275806" cy="248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ClrTx/>
              <a:buNone/>
            </a:pPr>
            <a:r>
              <a:rPr lang="en-US" sz="2400" kern="0" dirty="0"/>
              <a:t>But maybe you have seen through exploratory analysis that the relationship does not seem to be linear</a:t>
            </a:r>
          </a:p>
          <a:p>
            <a:pPr>
              <a:buClrTx/>
            </a:pPr>
            <a:endParaRPr lang="en-US" sz="2400" kern="0" dirty="0"/>
          </a:p>
          <a:p>
            <a:pPr marL="0" indent="0">
              <a:buClrTx/>
              <a:buNone/>
            </a:pPr>
            <a:r>
              <a:rPr lang="en-US" sz="2400" kern="0" dirty="0"/>
              <a:t>One “trick” to do this, is to keep a linear model, but transform the predictor:</a:t>
            </a:r>
          </a:p>
          <a:p>
            <a:pPr lvl="1">
              <a:buClrTx/>
            </a:pPr>
            <a:r>
              <a:rPr lang="en-US" sz="2000" kern="0" dirty="0"/>
              <a:t>Logarithmic</a:t>
            </a:r>
          </a:p>
          <a:p>
            <a:pPr lvl="1">
              <a:buClrTx/>
            </a:pPr>
            <a:r>
              <a:rPr lang="en-US" sz="2000" kern="0" dirty="0"/>
              <a:t>Square or other polynomial</a:t>
            </a:r>
          </a:p>
          <a:p>
            <a:pPr marL="0" indent="0">
              <a:buClrTx/>
              <a:buNone/>
            </a:pPr>
            <a:endParaRPr lang="en-US" sz="2400" kern="0" dirty="0"/>
          </a:p>
          <a:p>
            <a:pPr>
              <a:buClrTx/>
            </a:pPr>
            <a:endParaRPr lang="en-US" sz="2400" kern="0" dirty="0"/>
          </a:p>
          <a:p>
            <a:pPr>
              <a:buClrTx/>
            </a:pPr>
            <a:endParaRPr lang="en-US" sz="24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4">
                <a:hlinkClick r:id="" action="ppaction://ole?verb=0"/>
                <a:extLst>
                  <a:ext uri="{FF2B5EF4-FFF2-40B4-BE49-F238E27FC236}">
                    <a16:creationId xmlns:a16="http://schemas.microsoft.com/office/drawing/2014/main" id="{0D10506D-3E7A-DC96-4A10-90DE25FF9B2B}"/>
                  </a:ext>
                </a:extLst>
              </p:cNvPr>
              <p:cNvSpPr txBox="1"/>
              <p:nvPr/>
            </p:nvSpPr>
            <p:spPr bwMode="auto">
              <a:xfrm>
                <a:off x="2633396" y="5359851"/>
                <a:ext cx="6215063" cy="6524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>
                  <a:buNone/>
                </a:pPr>
                <a:r>
                  <a:rPr lang="en-US" sz="2800" i="1" dirty="0">
                    <a:solidFill>
                      <a:srgbClr val="000000"/>
                    </a:solidFill>
                  </a:rPr>
                  <a:t>f </a:t>
                </a:r>
                <a:r>
                  <a:rPr lang="en-US" sz="2800" dirty="0">
                    <a:solidFill>
                      <a:srgbClr val="000000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0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Object 4">
                <a:hlinkClick r:id="" action="ppaction://ole?verb=0"/>
                <a:extLst>
                  <a:ext uri="{FF2B5EF4-FFF2-40B4-BE49-F238E27FC236}">
                    <a16:creationId xmlns:a16="http://schemas.microsoft.com/office/drawing/2014/main" id="{0D10506D-3E7A-DC96-4A10-90DE25FF9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3396" y="5359851"/>
                <a:ext cx="6215063" cy="652463"/>
              </a:xfrm>
              <a:prstGeom prst="rect">
                <a:avLst/>
              </a:prstGeom>
              <a:blipFill>
                <a:blip r:embed="rId4"/>
                <a:stretch>
                  <a:fillRect l="-1224" t="-150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946FE5F-BB92-4B4E-8C86-B17E7E296588}"/>
              </a:ext>
            </a:extLst>
          </p:cNvPr>
          <p:cNvSpPr txBox="1"/>
          <p:nvPr/>
        </p:nvSpPr>
        <p:spPr>
          <a:xfrm>
            <a:off x="2472426" y="604303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43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7B03B-23F1-78D3-16F8-E8BC1E14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04023-9754-A941-4E4C-7EB602363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127" y="1089496"/>
            <a:ext cx="7909191" cy="4367899"/>
          </a:xfrm>
        </p:spPr>
        <p:txBody>
          <a:bodyPr/>
          <a:lstStyle/>
          <a:p>
            <a:r>
              <a:rPr lang="en-US" dirty="0"/>
              <a:t>English Premier Soccer Data</a:t>
            </a:r>
          </a:p>
          <a:p>
            <a:r>
              <a:rPr lang="en-US" dirty="0"/>
              <a:t>Y = log(Market Value) vs. Age…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DF1AE-8E89-2724-97EA-6F151A6FF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5" y="46937"/>
            <a:ext cx="9683301" cy="651431"/>
          </a:xfrm>
        </p:spPr>
        <p:txBody>
          <a:bodyPr>
            <a:normAutofit fontScale="90000"/>
          </a:bodyPr>
          <a:lstStyle/>
          <a:p>
            <a:r>
              <a:rPr lang="en-US" dirty="0"/>
              <a:t>Add polynomials where needed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ED58AD3-C426-B549-4F7B-10C8CDAE5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820" y="2533133"/>
            <a:ext cx="3252273" cy="261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9BB014F5-04CF-CD22-F525-969A0D1D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593" y="2533133"/>
            <a:ext cx="3145542" cy="253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7A7646C0-EC79-460E-CD79-AB056469E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88" y="2533134"/>
            <a:ext cx="3145541" cy="253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95D2D8-2DB4-CA83-7BCE-4745416F8370}"/>
              </a:ext>
            </a:extLst>
          </p:cNvPr>
          <p:cNvSpPr txBox="1"/>
          <p:nvPr/>
        </p:nvSpPr>
        <p:spPr>
          <a:xfrm>
            <a:off x="2033080" y="6171683"/>
            <a:ext cx="7211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adds complexity to the model and should be done carefully…</a:t>
            </a:r>
          </a:p>
        </p:txBody>
      </p:sp>
    </p:spTree>
    <p:extLst>
      <p:ext uri="{BB962C8B-B14F-4D97-AF65-F5344CB8AC3E}">
        <p14:creationId xmlns:p14="http://schemas.microsoft.com/office/powerpoint/2010/main" val="602794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BF379-3BDF-22CF-94E8-6AD7AB1F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B95AD-8B1D-5489-436C-5485A7092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834"/>
            <a:ext cx="10515600" cy="476712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Linear regression model assumes that all effects are independent and linear</a:t>
            </a:r>
          </a:p>
          <a:p>
            <a:pPr lvl="1"/>
            <a:r>
              <a:rPr lang="en-US" dirty="0"/>
              <a:t>The effect of one feature does not depend on the value of another</a:t>
            </a:r>
          </a:p>
          <a:p>
            <a:pPr marL="0" indent="0">
              <a:buNone/>
            </a:pPr>
            <a:r>
              <a:rPr lang="en-US" dirty="0"/>
              <a:t>Not always true!  </a:t>
            </a:r>
          </a:p>
          <a:p>
            <a:pPr marL="0" indent="0">
              <a:buNone/>
            </a:pPr>
            <a:r>
              <a:rPr lang="en-US" dirty="0"/>
              <a:t>Interaction terms can account for these dependencies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E3BA93-E2C3-6780-DBFF-0BE68D5E1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32" y="180257"/>
            <a:ext cx="10515600" cy="1001559"/>
          </a:xfrm>
        </p:spPr>
        <p:txBody>
          <a:bodyPr/>
          <a:lstStyle/>
          <a:p>
            <a:r>
              <a:rPr lang="en-US" dirty="0"/>
              <a:t>Interaction Terms</a:t>
            </a:r>
          </a:p>
        </p:txBody>
      </p:sp>
      <p:pic>
        <p:nvPicPr>
          <p:cNvPr id="6" name="Picture 5" descr="A screenshot of a table&#10;&#10;Description automatically generated">
            <a:extLst>
              <a:ext uri="{FF2B5EF4-FFF2-40B4-BE49-F238E27FC236}">
                <a16:creationId xmlns:a16="http://schemas.microsoft.com/office/drawing/2014/main" id="{5B137E0A-EC4F-E012-30DD-A0DB9C345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911" y="4298723"/>
            <a:ext cx="7772400" cy="15711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1464DC-3165-EF92-C934-58F88BA6A119}"/>
              </a:ext>
            </a:extLst>
          </p:cNvPr>
          <p:cNvSpPr txBox="1"/>
          <p:nvPr/>
        </p:nvSpPr>
        <p:spPr>
          <a:xfrm>
            <a:off x="3845263" y="3875014"/>
            <a:ext cx="4773762" cy="27315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ad[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urier New" panose="02070309020205020404" pitchFamily="49" charset="0"/>
              </a:rPr>
              <a:t>TV_Radio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] = ad[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"TV"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] * ad[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"radio"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D2AFE5-AA18-0E5F-AFAC-D7D41AC63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944" y="5729218"/>
            <a:ext cx="5232400" cy="368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F0BD86-E889-5031-6DF3-4B5BB3421F9B}"/>
              </a:ext>
            </a:extLst>
          </p:cNvPr>
          <p:cNvSpPr txBox="1"/>
          <p:nvPr/>
        </p:nvSpPr>
        <p:spPr>
          <a:xfrm>
            <a:off x="1863544" y="6204926"/>
            <a:ext cx="8737200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complexity!  Adding interactions can really explode your feature space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8494EF-1BED-71F0-49A0-E034337DC7CF}"/>
              </a:ext>
            </a:extLst>
          </p:cNvPr>
          <p:cNvSpPr txBox="1"/>
          <p:nvPr/>
        </p:nvSpPr>
        <p:spPr>
          <a:xfrm>
            <a:off x="250535" y="5360919"/>
            <a:ext cx="1800687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Interaction term =&gt;</a:t>
            </a:r>
          </a:p>
        </p:txBody>
      </p:sp>
    </p:spTree>
    <p:extLst>
      <p:ext uri="{BB962C8B-B14F-4D97-AF65-F5344CB8AC3E}">
        <p14:creationId xmlns:p14="http://schemas.microsoft.com/office/powerpoint/2010/main" val="94482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12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7ECF6-3853-E499-98D1-5863B1683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C4F7C9-5BB5-D6A2-C9A3-054AFCBC6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063296"/>
            <a:ext cx="11406608" cy="1001559"/>
          </a:xfrm>
        </p:spPr>
        <p:txBody>
          <a:bodyPr>
            <a:normAutofit/>
          </a:bodyPr>
          <a:lstStyle/>
          <a:p>
            <a:r>
              <a:rPr lang="en-US" dirty="0"/>
              <a:t>Logistic Regression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70D2B6-01B4-71B7-9FCA-5D649C30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4A01C-7620-F191-207D-A8DDF1DB1F9F}"/>
              </a:ext>
            </a:extLst>
          </p:cNvPr>
          <p:cNvSpPr txBox="1"/>
          <p:nvPr/>
        </p:nvSpPr>
        <p:spPr>
          <a:xfrm>
            <a:off x="7525408" y="21336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947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0194B-A475-4916-C4A7-57A758E38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4932C-C946-88B3-8F6B-27EE663E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BB5DA-8B17-2119-2E66-4F70E0E8D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3" y="1021899"/>
            <a:ext cx="7251356" cy="5452473"/>
          </a:xfrm>
        </p:spPr>
        <p:txBody>
          <a:bodyPr>
            <a:normAutofit/>
          </a:bodyPr>
          <a:lstStyle/>
          <a:p>
            <a:r>
              <a:rPr lang="en-US" dirty="0"/>
              <a:t>Logistic Regression is a bit of a misnomer</a:t>
            </a:r>
          </a:p>
          <a:p>
            <a:pPr lvl="1"/>
            <a:r>
              <a:rPr lang="en-US" dirty="0"/>
              <a:t>It is a model for classification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It uses the same framework as linear regression, but in order to predict probabilities it uses a clever transformation of a (0,1) target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Used for binary prediction and estimating probabilities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30CC60-7AE9-07F2-F6C7-D17F83988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" y="134460"/>
            <a:ext cx="10515600" cy="1001559"/>
          </a:xfrm>
        </p:spPr>
        <p:txBody>
          <a:bodyPr/>
          <a:lstStyle/>
          <a:p>
            <a:r>
              <a:rPr lang="en-US" dirty="0"/>
              <a:t>Logistic Regression </a:t>
            </a:r>
          </a:p>
        </p:txBody>
      </p:sp>
      <p:pic>
        <p:nvPicPr>
          <p:cNvPr id="1026" name="Picture 2" descr="Word Choice | YOU KEEP USING THAT WORD I DON'T THINK IT ...">
            <a:extLst>
              <a:ext uri="{FF2B5EF4-FFF2-40B4-BE49-F238E27FC236}">
                <a16:creationId xmlns:a16="http://schemas.microsoft.com/office/drawing/2014/main" id="{FCC1AC44-19C7-B23C-3ABF-4614C4B8F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149" y="1021899"/>
            <a:ext cx="3044454" cy="2626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F5CD10-E533-362D-AEB2-20BF4EDADB1D}"/>
              </a:ext>
            </a:extLst>
          </p:cNvPr>
          <p:cNvSpPr txBox="1"/>
          <p:nvPr/>
        </p:nvSpPr>
        <p:spPr>
          <a:xfrm>
            <a:off x="2784035" y="6259370"/>
            <a:ext cx="6623929" cy="33855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7020"/>
                </a:solidFill>
                <a:latin typeface="Lucida Console" panose="020B0609040504020204" pitchFamily="49" charset="0"/>
              </a:rPr>
              <a:t>from</a:t>
            </a:r>
            <a:r>
              <a:rPr lang="en-US" sz="1600" dirty="0">
                <a:latin typeface="Lucida Console" panose="020B0609040504020204" pitchFamily="49" charset="0"/>
              </a:rPr>
              <a:t> </a:t>
            </a:r>
            <a:r>
              <a:rPr lang="en-US" sz="1600" b="1" dirty="0" err="1">
                <a:solidFill>
                  <a:srgbClr val="0E84B5"/>
                </a:solidFill>
                <a:latin typeface="Lucida Console" panose="020B0609040504020204" pitchFamily="49" charset="0"/>
              </a:rPr>
              <a:t>sklearn.linear_model</a:t>
            </a:r>
            <a:r>
              <a:rPr lang="en-US" sz="1600" dirty="0">
                <a:latin typeface="Lucida Console" panose="020B0609040504020204" pitchFamily="49" charset="0"/>
              </a:rPr>
              <a:t> </a:t>
            </a:r>
            <a:r>
              <a:rPr lang="en-US" sz="1600" b="1" dirty="0">
                <a:solidFill>
                  <a:srgbClr val="007020"/>
                </a:solidFill>
                <a:latin typeface="Lucida Console" panose="020B0609040504020204" pitchFamily="49" charset="0"/>
              </a:rPr>
              <a:t>import</a:t>
            </a:r>
            <a:r>
              <a:rPr lang="en-US" sz="1600" dirty="0">
                <a:latin typeface="Lucida Console" panose="020B0609040504020204" pitchFamily="49" charset="0"/>
              </a:rPr>
              <a:t> </a:t>
            </a:r>
            <a:r>
              <a:rPr lang="en-US" sz="1600" dirty="0" err="1">
                <a:latin typeface="Lucida Console" panose="020B0609040504020204" pitchFamily="49" charset="0"/>
              </a:rPr>
              <a:t>LogisticRegression</a:t>
            </a:r>
            <a:endParaRPr lang="en-US" sz="2800" dirty="0"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38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45363-0A76-3091-99CD-F8251FD5B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784D5-C8AB-399D-C5C1-DB62D03E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27233C-0D43-2992-516E-15428857D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7198" y="978910"/>
            <a:ext cx="8229600" cy="18701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Logistic Regression directly predicts (a function of) the </a:t>
            </a:r>
            <a:r>
              <a:rPr lang="en-US" b="1" dirty="0"/>
              <a:t>probability</a:t>
            </a:r>
            <a:r>
              <a:rPr lang="en-US" dirty="0"/>
              <a:t> of a “success”: </a:t>
            </a:r>
          </a:p>
          <a:p>
            <a:endParaRPr lang="en-US" dirty="0"/>
          </a:p>
          <a:p>
            <a:r>
              <a:rPr lang="en-US" dirty="0"/>
              <a:t>Model: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C556563-47D5-F186-CE71-E73C8510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544"/>
            <a:ext cx="10515600" cy="1001559"/>
          </a:xfrm>
        </p:spPr>
        <p:txBody>
          <a:bodyPr/>
          <a:lstStyle/>
          <a:p>
            <a:r>
              <a:rPr lang="en-US" dirty="0"/>
              <a:t>Logistic Regression</a:t>
            </a:r>
          </a:p>
        </p:txBody>
      </p:sp>
      <p:pic>
        <p:nvPicPr>
          <p:cNvPr id="8" name="Picture 7" descr="A graph with red dots and numbers&#10;&#10;Description automatically generated">
            <a:extLst>
              <a:ext uri="{FF2B5EF4-FFF2-40B4-BE49-F238E27FC236}">
                <a16:creationId xmlns:a16="http://schemas.microsoft.com/office/drawing/2014/main" id="{2AB83A72-CD15-8CB2-6521-59475402A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720" y="3180620"/>
            <a:ext cx="4612080" cy="26685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4">
                <a:hlinkClick r:id="" action="ppaction://ole?verb=0"/>
                <a:extLst>
                  <a:ext uri="{FF2B5EF4-FFF2-40B4-BE49-F238E27FC236}">
                    <a16:creationId xmlns:a16="http://schemas.microsoft.com/office/drawing/2014/main" id="{9CBA597D-683F-1E31-3A0E-F05A0D2F4395}"/>
                  </a:ext>
                </a:extLst>
              </p:cNvPr>
              <p:cNvSpPr txBox="1"/>
              <p:nvPr/>
            </p:nvSpPr>
            <p:spPr bwMode="auto">
              <a:xfrm>
                <a:off x="3190577" y="2516130"/>
                <a:ext cx="6215063" cy="6524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800" i="1" dirty="0">
                    <a:solidFill>
                      <a:srgbClr val="000000"/>
                    </a:solidFill>
                  </a:rPr>
                  <a:t>Y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Object 4">
                <a:hlinkClick r:id="" action="ppaction://ole?verb=0"/>
                <a:extLst>
                  <a:ext uri="{FF2B5EF4-FFF2-40B4-BE49-F238E27FC236}">
                    <a16:creationId xmlns:a16="http://schemas.microsoft.com/office/drawing/2014/main" id="{9CBA597D-683F-1E31-3A0E-F05A0D2F4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0577" y="2516130"/>
                <a:ext cx="6215063" cy="652463"/>
              </a:xfrm>
              <a:prstGeom prst="rect">
                <a:avLst/>
              </a:prstGeom>
              <a:blipFill>
                <a:blip r:embed="rId4"/>
                <a:stretch>
                  <a:fillRect l="-2245" t="-11538" b="-57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5B090D-3DDC-95F8-E97E-4EEBC30E92FD}"/>
                  </a:ext>
                </a:extLst>
              </p:cNvPr>
              <p:cNvSpPr txBox="1"/>
              <p:nvPr/>
            </p:nvSpPr>
            <p:spPr>
              <a:xfrm>
                <a:off x="2134699" y="3691023"/>
                <a:ext cx="2922595" cy="544188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:r>
                  <a:rPr lang="en-US" sz="2000" i="1" dirty="0">
                    <a:ea typeface="Tahoma" panose="020B0604030504040204" pitchFamily="34" charset="0"/>
                    <a:cs typeface="Tahoma" panose="020B0604030504040204" pitchFamily="34" charset="0"/>
                  </a:rPr>
                  <a:t>Y=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𝑙𝑜𝑔𝑖𝑡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log</m:t>
                    </m:r>
                    <m:r>
                      <a:rPr lang="en-US" sz="200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⁡(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)</m:t>
                    </m:r>
                  </m:oMath>
                </a14:m>
                <a:endParaRPr lang="en-US" sz="20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5B090D-3DDC-95F8-E97E-4EEBC30E9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699" y="3691023"/>
                <a:ext cx="2922595" cy="544188"/>
              </a:xfrm>
              <a:prstGeom prst="rect">
                <a:avLst/>
              </a:prstGeom>
              <a:blipFill>
                <a:blip r:embed="rId5"/>
                <a:stretch>
                  <a:fillRect l="-2165"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A7BC633-37AA-C29E-3B60-D6E9B07192D5}"/>
              </a:ext>
            </a:extLst>
          </p:cNvPr>
          <p:cNvSpPr txBox="1"/>
          <p:nvPr/>
        </p:nvSpPr>
        <p:spPr>
          <a:xfrm>
            <a:off x="1817198" y="4985358"/>
            <a:ext cx="37815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Note:  </a:t>
            </a:r>
            <a:r>
              <a:rPr lang="en-US" sz="2000" dirty="0">
                <a:latin typeface="Symbol" pitchFamily="2" charset="2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US" sz="20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interpreted as a slope, now it it 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log-odds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D5AF33-2009-2B27-5A8C-57912195D914}"/>
              </a:ext>
            </a:extLst>
          </p:cNvPr>
          <p:cNvSpPr txBox="1"/>
          <p:nvPr/>
        </p:nvSpPr>
        <p:spPr>
          <a:xfrm>
            <a:off x="1099070" y="5909837"/>
            <a:ext cx="10254730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latin typeface="Montserrat" pitchFamily="2" charset="77"/>
              </a:rPr>
              <a:t>Logistic Regression is a common baseline model for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41231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" grpId="0"/>
      <p:bldP spid="3" grpId="0" animBg="1"/>
      <p:bldP spid="7" grpId="0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33E12C-517D-D162-7FFE-EB7BDCD2C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063296"/>
            <a:ext cx="11406608" cy="1001559"/>
          </a:xfrm>
        </p:spPr>
        <p:txBody>
          <a:bodyPr>
            <a:normAutofit fontScale="90000"/>
          </a:bodyPr>
          <a:lstStyle/>
          <a:p>
            <a:r>
              <a:rPr lang="en-US" dirty="0"/>
              <a:t>Complexity and Overfitting in Regression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41B998-8A0C-373A-1AB7-4EAAA5BC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73046-B1C8-A5DE-26CC-479B06901A60}"/>
              </a:ext>
            </a:extLst>
          </p:cNvPr>
          <p:cNvSpPr txBox="1"/>
          <p:nvPr/>
        </p:nvSpPr>
        <p:spPr>
          <a:xfrm>
            <a:off x="7525408" y="21336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554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79ADC-821C-4039-9EC4-EB3CB059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5F782-2326-B9E3-2A3A-8AB6A55C4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392" y="1446509"/>
            <a:ext cx="11128442" cy="1530145"/>
          </a:xfrm>
        </p:spPr>
        <p:txBody>
          <a:bodyPr>
            <a:normAutofit fontScale="92500"/>
          </a:bodyPr>
          <a:lstStyle/>
          <a:p>
            <a:r>
              <a:rPr lang="en-US" dirty="0"/>
              <a:t>Remember the complexity balance</a:t>
            </a:r>
          </a:p>
          <a:p>
            <a:pPr lvl="1"/>
            <a:r>
              <a:rPr lang="en-US" dirty="0"/>
              <a:t>More complexity allows us more freedom and flexibility to fit the messy realities</a:t>
            </a:r>
          </a:p>
          <a:p>
            <a:pPr lvl="1"/>
            <a:r>
              <a:rPr lang="en-US" dirty="0"/>
              <a:t>BUT higher complexity runs the risk of overfitting data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7DF735-BFF4-0B17-F018-B689A2B4E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30" y="197393"/>
            <a:ext cx="10515600" cy="1001559"/>
          </a:xfrm>
        </p:spPr>
        <p:txBody>
          <a:bodyPr/>
          <a:lstStyle/>
          <a:p>
            <a:r>
              <a:rPr lang="en-US" dirty="0"/>
              <a:t>Complexity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356E29-5C93-D0FB-ED95-1080ACE11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3224212"/>
            <a:ext cx="6680200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0828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6AAF5-DDBD-8470-06E4-7F1E3885F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9B043-D3CF-32E5-1DBA-A83A80608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892931"/>
            <a:ext cx="11100816" cy="27723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For regression models, complexity comes in multiple forms – often called the “dimensionality” of the model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Number of attributes</a:t>
            </a:r>
          </a:p>
          <a:p>
            <a:pPr lvl="1"/>
            <a:r>
              <a:rPr lang="en-US" sz="1800" dirty="0"/>
              <a:t>More attributes means more complex relationships</a:t>
            </a:r>
          </a:p>
          <a:p>
            <a:pPr lvl="1"/>
            <a:r>
              <a:rPr lang="en-US" sz="1800" dirty="0"/>
              <a:t>Categorical variables can explode dimensionality (remember one-hot encoding) </a:t>
            </a:r>
          </a:p>
          <a:p>
            <a:r>
              <a:rPr lang="en-US" sz="2400" dirty="0"/>
              <a:t>Functional form of the regression</a:t>
            </a:r>
          </a:p>
          <a:p>
            <a:pPr lvl="1"/>
            <a:r>
              <a:rPr lang="en-US" sz="1800" dirty="0"/>
              <a:t>Degree of polynomial</a:t>
            </a:r>
          </a:p>
          <a:p>
            <a:pPr lvl="1"/>
            <a:r>
              <a:rPr lang="en-US" sz="1800" dirty="0"/>
              <a:t>Interaction between features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FBEE6-1BB5-9BC1-3993-2D5184172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39" y="61565"/>
            <a:ext cx="10515600" cy="1001559"/>
          </a:xfrm>
        </p:spPr>
        <p:txBody>
          <a:bodyPr/>
          <a:lstStyle/>
          <a:p>
            <a:r>
              <a:rPr lang="en-US" dirty="0"/>
              <a:t>Complexity in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BAC06E-D328-DDAF-BC9F-B00C1DD4FA1E}"/>
              </a:ext>
            </a:extLst>
          </p:cNvPr>
          <p:cNvSpPr txBox="1"/>
          <p:nvPr/>
        </p:nvSpPr>
        <p:spPr>
          <a:xfrm>
            <a:off x="7141500" y="3665265"/>
            <a:ext cx="3200120" cy="236988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general we want to follow “Occam’s Razor”</a:t>
            </a:r>
          </a:p>
          <a:p>
            <a:pPr algn="ctr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Keep the model as simple as possible while maintaining predictive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63B8D5-C822-7D8B-0CF7-D2674533AEA2}"/>
              </a:ext>
            </a:extLst>
          </p:cNvPr>
          <p:cNvSpPr txBox="1"/>
          <p:nvPr/>
        </p:nvSpPr>
        <p:spPr>
          <a:xfrm>
            <a:off x="1850380" y="5653170"/>
            <a:ext cx="1792013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Adding attributes might make our model better!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530D78-9809-9C1E-DDA1-2F57F1643906}"/>
              </a:ext>
            </a:extLst>
          </p:cNvPr>
          <p:cNvSpPr txBox="1"/>
          <p:nvPr/>
        </p:nvSpPr>
        <p:spPr>
          <a:xfrm>
            <a:off x="4199441" y="5675294"/>
            <a:ext cx="2390825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 now we’ve added complexity and might be overfitting</a:t>
            </a:r>
          </a:p>
        </p:txBody>
      </p:sp>
      <p:pic>
        <p:nvPicPr>
          <p:cNvPr id="9" name="Picture 8" descr="A close up of a toy&#10;&#10;Description automatically generated">
            <a:extLst>
              <a:ext uri="{FF2B5EF4-FFF2-40B4-BE49-F238E27FC236}">
                <a16:creationId xmlns:a16="http://schemas.microsoft.com/office/drawing/2014/main" id="{A5E9226D-C4E7-7704-28CF-1F1AAD51B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894" y="4496633"/>
            <a:ext cx="961916" cy="1061955"/>
          </a:xfrm>
          <a:prstGeom prst="rect">
            <a:avLst/>
          </a:prstGeom>
        </p:spPr>
      </p:pic>
      <p:pic>
        <p:nvPicPr>
          <p:cNvPr id="11" name="Picture 10" descr="A close up of a cartoon head&#10;&#10;Description automatically generated">
            <a:extLst>
              <a:ext uri="{FF2B5EF4-FFF2-40B4-BE49-F238E27FC236}">
                <a16:creationId xmlns:a16="http://schemas.microsoft.com/office/drawing/2014/main" id="{F002A962-4A6C-0A5D-1EDC-7F9D27C0E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430" y="4496632"/>
            <a:ext cx="944976" cy="104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2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0DDF8-F881-D2BC-3EC3-B5CC061B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4B40E-2CB5-93FB-E34F-D931B4AE5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real-world scenarios where we may want to explore hundreds, thousands, even MILLIONS of attributes </a:t>
            </a:r>
          </a:p>
          <a:p>
            <a:pPr lvl="1"/>
            <a:r>
              <a:rPr lang="en-US" dirty="0"/>
              <a:t>Recommender Systems</a:t>
            </a:r>
          </a:p>
          <a:p>
            <a:pPr lvl="1"/>
            <a:r>
              <a:rPr lang="en-US" dirty="0"/>
              <a:t>Web-based marketing models</a:t>
            </a:r>
          </a:p>
          <a:p>
            <a:pPr lvl="1"/>
            <a:r>
              <a:rPr lang="en-US" dirty="0"/>
              <a:t>Financial models with time based attributes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B3AB32-529B-D8DD-8737-1EFFAAC2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in Regression</a:t>
            </a:r>
          </a:p>
        </p:txBody>
      </p:sp>
    </p:spTree>
    <p:extLst>
      <p:ext uri="{BB962C8B-B14F-4D97-AF65-F5344CB8AC3E}">
        <p14:creationId xmlns:p14="http://schemas.microsoft.com/office/powerpoint/2010/main" val="2590966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016" y="114459"/>
            <a:ext cx="8534400" cy="761682"/>
          </a:xfrm>
        </p:spPr>
        <p:txBody>
          <a:bodyPr>
            <a:normAutofit/>
          </a:bodyPr>
          <a:lstStyle/>
          <a:p>
            <a:r>
              <a:rPr lang="en-US" dirty="0"/>
              <a:t>Advertising Example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24000" y="121920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Left-Right Arrow 2"/>
          <p:cNvSpPr/>
          <p:nvPr/>
        </p:nvSpPr>
        <p:spPr>
          <a:xfrm>
            <a:off x="1752600" y="1714500"/>
            <a:ext cx="7543800" cy="742950"/>
          </a:xfrm>
          <a:prstGeom prst="left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prstClr val="white"/>
                </a:solidFill>
              </a:rPr>
              <a:t>10 Million Columns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9071621" y="3162955"/>
            <a:ext cx="2495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&lt;0.1%  Positives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96C59F1-BF70-F208-8CF8-FD7D8B408551}"/>
              </a:ext>
            </a:extLst>
          </p:cNvPr>
          <p:cNvGrpSpPr/>
          <p:nvPr/>
        </p:nvGrpSpPr>
        <p:grpSpPr>
          <a:xfrm>
            <a:off x="2897580" y="2826327"/>
            <a:ext cx="5612072" cy="3721133"/>
            <a:chOff x="2005949" y="3429000"/>
            <a:chExt cx="4979701" cy="3118459"/>
          </a:xfrm>
        </p:grpSpPr>
        <p:pic>
          <p:nvPicPr>
            <p:cNvPr id="6" name="Picture 5" descr="A diagram of a diagram of a customer&#10;&#10;AI-generated content may be incorrect.">
              <a:extLst>
                <a:ext uri="{FF2B5EF4-FFF2-40B4-BE49-F238E27FC236}">
                  <a16:creationId xmlns:a16="http://schemas.microsoft.com/office/drawing/2014/main" id="{10191670-DD78-1BD8-0B08-0DE06BDF1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9000"/>
            </a:blip>
            <a:stretch>
              <a:fillRect/>
            </a:stretch>
          </p:blipFill>
          <p:spPr>
            <a:xfrm>
              <a:off x="2005949" y="3429000"/>
              <a:ext cx="4979701" cy="3118459"/>
            </a:xfrm>
            <a:prstGeom prst="rect">
              <a:avLst/>
            </a:prstGeom>
          </p:spPr>
        </p:pic>
        <p:pic>
          <p:nvPicPr>
            <p:cNvPr id="8" name="Picture 7" descr="A person holding a phone&#10;&#10;AI-generated content may be incorrect.">
              <a:extLst>
                <a:ext uri="{FF2B5EF4-FFF2-40B4-BE49-F238E27FC236}">
                  <a16:creationId xmlns:a16="http://schemas.microsoft.com/office/drawing/2014/main" id="{9038190D-6D02-390A-C5F8-A7FF58592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92463" y="3469419"/>
              <a:ext cx="679537" cy="6271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3284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/>
      <p:bldP spid="4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136EA-EE09-5336-CAAF-E02E60D9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194CE-E217-A47F-AA4D-97BC398E3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Two ways to reduce complexity when you have a HUGE number of features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Reduce the number of attributes </a:t>
            </a:r>
          </a:p>
          <a:p>
            <a:pPr marL="757238" lvl="1" indent="-457200"/>
            <a:r>
              <a:rPr lang="en-US" dirty="0"/>
              <a:t>Variable Selection, clustering, principal components</a:t>
            </a:r>
          </a:p>
          <a:p>
            <a:pPr marL="757238" lvl="1" indent="-457200"/>
            <a:endParaRPr lang="en-US" dirty="0"/>
          </a:p>
          <a:p>
            <a:pPr marL="300038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2) Use a penalty in the objective function</a:t>
            </a:r>
          </a:p>
          <a:p>
            <a:pPr lvl="1"/>
            <a:r>
              <a:rPr lang="en-US" b="1" i="1" dirty="0"/>
              <a:t>regularization </a:t>
            </a:r>
            <a:r>
              <a:rPr lang="en-US" i="1" dirty="0"/>
              <a:t>: </a:t>
            </a:r>
            <a:r>
              <a:rPr lang="en-US" dirty="0"/>
              <a:t>One weird trick to address complexity</a:t>
            </a:r>
          </a:p>
          <a:p>
            <a:pPr marL="3429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1AC95-497B-C637-CF90-7558ABF0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in Regression</a:t>
            </a:r>
          </a:p>
        </p:txBody>
      </p:sp>
    </p:spTree>
    <p:extLst>
      <p:ext uri="{BB962C8B-B14F-4D97-AF65-F5344CB8AC3E}">
        <p14:creationId xmlns:p14="http://schemas.microsoft.com/office/powerpoint/2010/main" val="258462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9716D-E2E3-3454-A31B-2B0D29B1A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5AF200-DDF1-CCB3-5AE6-02DCD73C3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 Selection/Reduction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BE9A9F-17F2-7E2A-EDC5-175467B8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7E91A2-9C8D-DD48-0FC1-CABF82ACB766}"/>
              </a:ext>
            </a:extLst>
          </p:cNvPr>
          <p:cNvSpPr txBox="1"/>
          <p:nvPr/>
        </p:nvSpPr>
        <p:spPr>
          <a:xfrm>
            <a:off x="7525408" y="21336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Marie Kondo of linear regression models ...">
            <a:extLst>
              <a:ext uri="{FF2B5EF4-FFF2-40B4-BE49-F238E27FC236}">
                <a16:creationId xmlns:a16="http://schemas.microsoft.com/office/drawing/2014/main" id="{C0122E6E-6C8A-86E4-385B-E61872027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436" y="3643801"/>
            <a:ext cx="3989530" cy="2241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886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6CFDD-A083-E1D0-88A6-EBCE5660C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91C75-6192-E715-3423-45BAEE919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1900"/>
            <a:ext cx="9372600" cy="4159701"/>
          </a:xfrm>
        </p:spPr>
        <p:txBody>
          <a:bodyPr>
            <a:normAutofit/>
          </a:bodyPr>
          <a:lstStyle/>
          <a:p>
            <a:r>
              <a:rPr lang="en-US" dirty="0"/>
              <a:t>It is helpful to remove unimportant features from your modelling.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Why? </a:t>
            </a:r>
          </a:p>
          <a:p>
            <a:pPr lvl="1"/>
            <a:r>
              <a:rPr lang="en-US" dirty="0"/>
              <a:t>Model Accuracy</a:t>
            </a:r>
          </a:p>
          <a:p>
            <a:pPr lvl="1"/>
            <a:r>
              <a:rPr lang="en-US" dirty="0"/>
              <a:t>Overfitting</a:t>
            </a:r>
          </a:p>
          <a:p>
            <a:pPr lvl="1"/>
            <a:r>
              <a:rPr lang="en-US" dirty="0"/>
              <a:t>Efficiency – for fitting and use modes</a:t>
            </a:r>
          </a:p>
          <a:p>
            <a:pPr lvl="1"/>
            <a:r>
              <a:rPr lang="en-US" dirty="0"/>
              <a:t>Interpretability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47F8B-1E88-37AB-317D-8CDB16FC3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341"/>
            <a:ext cx="10515600" cy="1001559"/>
          </a:xfrm>
        </p:spPr>
        <p:txBody>
          <a:bodyPr/>
          <a:lstStyle/>
          <a:p>
            <a:r>
              <a:rPr lang="en-US" dirty="0"/>
              <a:t>Removing Unimportant Attributes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15975-1934-7EE4-593B-E7ABECE4465A}"/>
              </a:ext>
            </a:extLst>
          </p:cNvPr>
          <p:cNvSpPr txBox="1"/>
          <p:nvPr/>
        </p:nvSpPr>
        <p:spPr>
          <a:xfrm>
            <a:off x="2915921" y="5127833"/>
            <a:ext cx="7010399" cy="70788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some examples you might be handed (or can engineer) thousands, or even millions of attributes!</a:t>
            </a:r>
          </a:p>
        </p:txBody>
      </p:sp>
      <p:pic>
        <p:nvPicPr>
          <p:cNvPr id="7" name="Picture 2" descr="How Bayesian methods embody Occam's razor | by Felix Laumann | NeuralSpace  | Medium">
            <a:extLst>
              <a:ext uri="{FF2B5EF4-FFF2-40B4-BE49-F238E27FC236}">
                <a16:creationId xmlns:a16="http://schemas.microsoft.com/office/drawing/2014/main" id="{52B6A646-FC2B-2307-4F41-9CBB02B82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798" y="2558709"/>
            <a:ext cx="2466363" cy="1355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6A2D7E-9465-169D-A417-548CDCE8A352}"/>
              </a:ext>
            </a:extLst>
          </p:cNvPr>
          <p:cNvSpPr txBox="1"/>
          <p:nvPr/>
        </p:nvSpPr>
        <p:spPr>
          <a:xfrm>
            <a:off x="7879790" y="2297099"/>
            <a:ext cx="1098378" cy="2616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Occam’s Razor</a:t>
            </a:r>
          </a:p>
        </p:txBody>
      </p:sp>
    </p:spTree>
    <p:extLst>
      <p:ext uri="{BB962C8B-B14F-4D97-AF65-F5344CB8AC3E}">
        <p14:creationId xmlns:p14="http://schemas.microsoft.com/office/powerpoint/2010/main" val="48351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1363C-C614-08A9-E4D8-3260AE702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B93E3C-A660-38D3-ABE6-B754AC66AC4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662104" y="3151679"/>
            <a:ext cx="472053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i="1" dirty="0"/>
              <a:t>Backward elimination </a:t>
            </a:r>
            <a:r>
              <a:rPr lang="en-US" sz="1800" dirty="0"/>
              <a:t>:</a:t>
            </a:r>
            <a:endParaRPr lang="en-US" sz="1800" baseline="30000" dirty="0"/>
          </a:p>
          <a:p>
            <a:pPr marL="342900" indent="-342900"/>
            <a:r>
              <a:rPr lang="en-US" sz="1800" dirty="0"/>
              <a:t>Stepwise, at each step</a:t>
            </a:r>
          </a:p>
          <a:p>
            <a:pPr marL="642938" lvl="1" indent="-342900"/>
            <a:r>
              <a:rPr lang="en-US" sz="1600" dirty="0"/>
              <a:t>eliminate one variable at a time</a:t>
            </a:r>
          </a:p>
          <a:p>
            <a:pPr marL="642938" lvl="1" indent="-342900"/>
            <a:r>
              <a:rPr lang="en-US" sz="1600" dirty="0"/>
              <a:t>Re-fit model and assess RMSE</a:t>
            </a:r>
            <a:endParaRPr lang="en-US" sz="1600" baseline="30000" dirty="0"/>
          </a:p>
          <a:p>
            <a:pPr marL="642938" lvl="1" indent="-342900"/>
            <a:r>
              <a:rPr lang="en-US" sz="1600" dirty="0"/>
              <a:t>Stop when  model performance degrades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014158-2EC3-31AC-17DD-5A8D276D7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80048"/>
            <a:ext cx="11667744" cy="729214"/>
          </a:xfrm>
        </p:spPr>
        <p:txBody>
          <a:bodyPr>
            <a:normAutofit fontScale="90000"/>
          </a:bodyPr>
          <a:lstStyle/>
          <a:p>
            <a:r>
              <a:rPr lang="en-US" dirty="0"/>
              <a:t>Iterative Feature Selection by Subtraction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372F7-4046-D3A9-910C-15DB5A8AA531}"/>
              </a:ext>
            </a:extLst>
          </p:cNvPr>
          <p:cNvSpPr txBox="1"/>
          <p:nvPr/>
        </p:nvSpPr>
        <p:spPr>
          <a:xfrm>
            <a:off x="2507815" y="1092262"/>
            <a:ext cx="6881499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Steps:</a:t>
            </a:r>
          </a:p>
          <a:p>
            <a:pPr marL="457200" indent="-457200">
              <a:buAutoNum type="arabicParenR"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Fit a regression model with all features</a:t>
            </a:r>
          </a:p>
          <a:p>
            <a:pPr marL="457200" indent="-457200">
              <a:buAutoNum type="arabicParenR"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and remove “noise features” (p-value &gt; 0.05)</a:t>
            </a:r>
          </a:p>
          <a:p>
            <a:pPr marL="457200" indent="-457200">
              <a:buAutoNum type="arabicParenR"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Re-fit model and assess value</a:t>
            </a:r>
          </a:p>
        </p:txBody>
      </p:sp>
      <p:pic>
        <p:nvPicPr>
          <p:cNvPr id="8" name="Picture 7" descr="A table of numbers and symbols&#10;&#10;Description automatically generated">
            <a:extLst>
              <a:ext uri="{FF2B5EF4-FFF2-40B4-BE49-F238E27FC236}">
                <a16:creationId xmlns:a16="http://schemas.microsoft.com/office/drawing/2014/main" id="{25186C3A-5207-5253-50C2-CF83DC310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306" y="3074189"/>
            <a:ext cx="4720533" cy="23844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B38CE9-8696-86BC-E6D7-33365A94C85B}"/>
              </a:ext>
            </a:extLst>
          </p:cNvPr>
          <p:cNvSpPr txBox="1"/>
          <p:nvPr/>
        </p:nvSpPr>
        <p:spPr>
          <a:xfrm>
            <a:off x="1635306" y="3105428"/>
            <a:ext cx="1463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Credit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870C74-46F6-2868-5556-050E7A138DAF}"/>
              </a:ext>
            </a:extLst>
          </p:cNvPr>
          <p:cNvSpPr txBox="1"/>
          <p:nvPr/>
        </p:nvSpPr>
        <p:spPr>
          <a:xfrm>
            <a:off x="2140871" y="5742155"/>
            <a:ext cx="68814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Iterative removal is a bit more “careful” than block removal</a:t>
            </a:r>
          </a:p>
        </p:txBody>
      </p:sp>
    </p:spTree>
    <p:extLst>
      <p:ext uri="{BB962C8B-B14F-4D97-AF65-F5344CB8AC3E}">
        <p14:creationId xmlns:p14="http://schemas.microsoft.com/office/powerpoint/2010/main" val="4747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BB666-5F4E-8813-1867-29082E30B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FD47-6FAA-E954-B350-C24D8DBAE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5569" y="1504362"/>
            <a:ext cx="9300358" cy="158174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Principal Components Analysis (PCA)</a:t>
            </a:r>
          </a:p>
          <a:p>
            <a:pPr lvl="1"/>
            <a:r>
              <a:rPr lang="en-US" dirty="0"/>
              <a:t>One other possibility for dimension reduction when you have a lot of features </a:t>
            </a:r>
          </a:p>
          <a:p>
            <a:endParaRPr lang="en-US" dirty="0"/>
          </a:p>
          <a:p>
            <a:r>
              <a:rPr lang="en-US" dirty="0"/>
              <a:t>Mathematically: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43DA50-54B3-76BB-38DF-43F41F3A2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5848" cy="656775"/>
          </a:xfrm>
        </p:spPr>
        <p:txBody>
          <a:bodyPr>
            <a:normAutofit fontScale="90000"/>
          </a:bodyPr>
          <a:lstStyle/>
          <a:p>
            <a:r>
              <a:rPr lang="en-US" dirty="0"/>
              <a:t>Dimension Reduction – Principal Components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4AEB8A4-4AFF-7234-2C25-A591EA354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4160" y="4524751"/>
            <a:ext cx="1188720" cy="1188720"/>
          </a:xfrm>
          <a:prstGeom prst="rect">
            <a:avLst/>
          </a:prstGeom>
        </p:spPr>
      </p:pic>
      <p:sp>
        <p:nvSpPr>
          <p:cNvPr id="7" name="Cloud Callout 6">
            <a:extLst>
              <a:ext uri="{FF2B5EF4-FFF2-40B4-BE49-F238E27FC236}">
                <a16:creationId xmlns:a16="http://schemas.microsoft.com/office/drawing/2014/main" id="{3D60A8A5-D27B-72BD-F0D0-B3E73E080B07}"/>
              </a:ext>
            </a:extLst>
          </p:cNvPr>
          <p:cNvSpPr/>
          <p:nvPr/>
        </p:nvSpPr>
        <p:spPr bwMode="auto">
          <a:xfrm>
            <a:off x="4175760" y="2858395"/>
            <a:ext cx="4968240" cy="1581743"/>
          </a:xfrm>
          <a:prstGeom prst="cloudCallout">
            <a:avLst>
              <a:gd name="adj1" fmla="val -29422"/>
              <a:gd name="adj2" fmla="val 67639"/>
            </a:avLst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projection of numerical values from a high dimensional space into a smaller dimensional space while retaining the maximal amount of information in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4EA1C-360C-D60E-743D-84427E4BA43C}"/>
              </a:ext>
            </a:extLst>
          </p:cNvPr>
          <p:cNvSpPr txBox="1"/>
          <p:nvPr/>
        </p:nvSpPr>
        <p:spPr>
          <a:xfrm>
            <a:off x="7565721" y="5713472"/>
            <a:ext cx="1226618" cy="307777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ISL: Ch 6.3.1</a:t>
            </a:r>
          </a:p>
        </p:txBody>
      </p:sp>
    </p:spTree>
    <p:extLst>
      <p:ext uri="{BB962C8B-B14F-4D97-AF65-F5344CB8AC3E}">
        <p14:creationId xmlns:p14="http://schemas.microsoft.com/office/powerpoint/2010/main" val="21122192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6A74F-C2BB-65FF-947C-AA7B422E7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9855B-12E8-025F-9B4F-7E26AB7A3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256" y="1366684"/>
            <a:ext cx="7788117" cy="5216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PCA </a:t>
            </a:r>
            <a:r>
              <a:rPr lang="en-US" dirty="0">
                <a:solidFill>
                  <a:srgbClr val="444444"/>
                </a:solidFill>
              </a:rPr>
              <a:t>is a method to create a new set of features from the original ones:</a:t>
            </a:r>
          </a:p>
          <a:p>
            <a:pPr marL="0" indent="0">
              <a:buNone/>
            </a:pPr>
            <a:endParaRPr lang="en-US" dirty="0">
              <a:solidFill>
                <a:srgbClr val="444444"/>
              </a:solidFill>
            </a:endParaRPr>
          </a:p>
          <a:p>
            <a:pPr lvl="1"/>
            <a:r>
              <a:rPr lang="en-US" dirty="0">
                <a:solidFill>
                  <a:srgbClr val="444444"/>
                </a:solidFill>
              </a:rPr>
              <a:t>There are many less of them</a:t>
            </a:r>
          </a:p>
          <a:p>
            <a:pPr lvl="1"/>
            <a:r>
              <a:rPr lang="en-US" dirty="0">
                <a:solidFill>
                  <a:srgbClr val="444444"/>
                </a:solidFill>
              </a:rPr>
              <a:t>They are a linear combinations of the original features</a:t>
            </a:r>
          </a:p>
          <a:p>
            <a:pPr lvl="1"/>
            <a:r>
              <a:rPr lang="en-US" dirty="0">
                <a:solidFill>
                  <a:srgbClr val="444444"/>
                </a:solidFill>
              </a:rPr>
              <a:t>They capture the maximum amount of variance in the observed data.</a:t>
            </a:r>
          </a:p>
          <a:p>
            <a:pPr lvl="1"/>
            <a:r>
              <a:rPr lang="en-US" dirty="0"/>
              <a:t>Reduces redundancy and correlations in features</a:t>
            </a:r>
          </a:p>
          <a:p>
            <a:pPr lvl="2"/>
            <a:r>
              <a:rPr lang="en-US" dirty="0"/>
              <a:t>Advertising example: many features are low information or redundant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348A3-B068-1F04-96B1-20A3EE495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" y="136525"/>
            <a:ext cx="10515600" cy="1001559"/>
          </a:xfrm>
        </p:spPr>
        <p:txBody>
          <a:bodyPr/>
          <a:lstStyle/>
          <a:p>
            <a:r>
              <a:rPr lang="en-US" dirty="0"/>
              <a:t>Principal Components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FF767-F65B-CCFD-9026-49286FAFD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321" y="1720916"/>
            <a:ext cx="3458527" cy="3351286"/>
          </a:xfrm>
          <a:prstGeom prst="rect">
            <a:avLst/>
          </a:prstGeom>
        </p:spPr>
      </p:pic>
      <p:cxnSp>
        <p:nvCxnSpPr>
          <p:cNvPr id="6" name="Google Shape;283;p56">
            <a:extLst>
              <a:ext uri="{FF2B5EF4-FFF2-40B4-BE49-F238E27FC236}">
                <a16:creationId xmlns:a16="http://schemas.microsoft.com/office/drawing/2014/main" id="{49BF5B89-05A7-4A0B-EB92-F96BBB19D1AD}"/>
              </a:ext>
            </a:extLst>
          </p:cNvPr>
          <p:cNvCxnSpPr>
            <a:cxnSpLocks/>
          </p:cNvCxnSpPr>
          <p:nvPr/>
        </p:nvCxnSpPr>
        <p:spPr>
          <a:xfrm flipV="1">
            <a:off x="9012937" y="3015559"/>
            <a:ext cx="1387347" cy="826882"/>
          </a:xfrm>
          <a:prstGeom prst="straightConnector1">
            <a:avLst/>
          </a:prstGeom>
          <a:noFill/>
          <a:ln w="508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9373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DE1F0-DB7D-3F43-B785-5FBAF1B63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fld id="{22F27C8E-632E-435E-8D7A-E81F227BC0D3}" type="slidenum">
              <a:rPr lang="en-US" sz="1400" b="0"/>
              <a:pPr>
                <a:buNone/>
                <a:defRPr/>
              </a:pPr>
              <a:t>30</a:t>
            </a:fld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31C10-EAF0-B340-A4D6-5BA5FF4A7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3" y="2913552"/>
            <a:ext cx="11207919" cy="3807923"/>
          </a:xfrm>
        </p:spPr>
        <p:txBody>
          <a:bodyPr>
            <a:noAutofit/>
          </a:bodyPr>
          <a:lstStyle/>
          <a:p>
            <a:r>
              <a:rPr lang="en-US" sz="2000" dirty="0"/>
              <a:t>Expand this to many dimensions </a:t>
            </a:r>
          </a:p>
          <a:p>
            <a:pPr lvl="1"/>
            <a:r>
              <a:rPr lang="en-US" sz="1800" dirty="0"/>
              <a:t>You can take a high-dim data set and reduce it to something much smaller and not lose much information</a:t>
            </a:r>
          </a:p>
          <a:p>
            <a:r>
              <a:rPr lang="en-US" sz="2000" dirty="0"/>
              <a:t>Each PCA feature is a linear combination of ALL of the original features</a:t>
            </a:r>
          </a:p>
          <a:p>
            <a:r>
              <a:rPr lang="en-US" sz="2000" dirty="0"/>
              <a:t>Beware : variables should be standardized (mean=0, </a:t>
            </a:r>
            <a:r>
              <a:rPr lang="en-US" sz="2000" dirty="0" err="1"/>
              <a:t>sd</a:t>
            </a:r>
            <a:r>
              <a:rPr lang="en-US" sz="2000" dirty="0"/>
              <a:t>=1)  for PCA</a:t>
            </a:r>
          </a:p>
          <a:p>
            <a:r>
              <a:rPr lang="en-US" sz="2000" dirty="0"/>
              <a:t>Principal Components Regression</a:t>
            </a:r>
          </a:p>
          <a:p>
            <a:pPr lvl="1"/>
            <a:r>
              <a:rPr lang="en-US" sz="1600" dirty="0"/>
              <a:t>Fit regression on PC instead of original data</a:t>
            </a:r>
          </a:p>
          <a:p>
            <a:pPr lvl="1"/>
            <a:r>
              <a:rPr lang="en-US" sz="1600" dirty="0"/>
              <a:t>Method for complexity control</a:t>
            </a:r>
          </a:p>
          <a:p>
            <a:pPr lvl="1"/>
            <a:r>
              <a:rPr lang="en-US" sz="1600" dirty="0"/>
              <a:t>PC are ordered by importance (or “information)</a:t>
            </a:r>
          </a:p>
          <a:p>
            <a:pPr lvl="1"/>
            <a:r>
              <a:rPr lang="en-US" sz="1600" dirty="0"/>
              <a:t>Take original data and reduce to the top principal components</a:t>
            </a:r>
          </a:p>
          <a:p>
            <a:pPr lvl="2"/>
            <a:r>
              <a:rPr lang="en-US" sz="1600" dirty="0"/>
              <a:t>How many?  Can use Cross-validation to figure it out!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CA4E3-1528-DC48-A85B-D8F2E208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8229600" cy="729214"/>
          </a:xfrm>
        </p:spPr>
        <p:txBody>
          <a:bodyPr>
            <a:normAutofit/>
          </a:bodyPr>
          <a:lstStyle/>
          <a:p>
            <a:r>
              <a:rPr lang="en-US" dirty="0"/>
              <a:t>Principal Components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AC9A0F-AF96-5BBC-CDE7-B21D3F6BC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2080" y="365759"/>
            <a:ext cx="1188720" cy="11887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0B9D46-630E-4B1F-BC65-B28AFB1F2D93}"/>
              </a:ext>
            </a:extLst>
          </p:cNvPr>
          <p:cNvSpPr txBox="1"/>
          <p:nvPr/>
        </p:nvSpPr>
        <p:spPr>
          <a:xfrm>
            <a:off x="8918142" y="1554480"/>
            <a:ext cx="1226618" cy="307777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ISL: Ch 6.3.1</a:t>
            </a:r>
          </a:p>
        </p:txBody>
      </p:sp>
      <p:pic>
        <p:nvPicPr>
          <p:cNvPr id="12" name="Picture 11" descr="A graph with a line and arrows&#10;&#10;Description automatically generated">
            <a:extLst>
              <a:ext uri="{FF2B5EF4-FFF2-40B4-BE49-F238E27FC236}">
                <a16:creationId xmlns:a16="http://schemas.microsoft.com/office/drawing/2014/main" id="{EC7D9ADC-6622-05A7-912D-E09C1719E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3452" y="724812"/>
            <a:ext cx="2590101" cy="241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56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D28A8-D2FA-54DB-563E-D148719D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89E38-FD99-BEC5-D3BE-1D7FB2C0B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448" y="1021899"/>
            <a:ext cx="10332720" cy="5223326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10000"/>
              </a:lnSpc>
            </a:pPr>
            <a:r>
              <a:rPr lang="en-US" b="0" i="0" dirty="0">
                <a:effectLst/>
              </a:rPr>
              <a:t>PCA is </a:t>
            </a:r>
            <a:r>
              <a:rPr lang="en-US" b="1" i="0" dirty="0">
                <a:effectLst/>
              </a:rPr>
              <a:t>great</a:t>
            </a:r>
            <a:r>
              <a:rPr lang="en-US" b="0" i="0" dirty="0">
                <a:effectLst/>
              </a:rPr>
              <a:t> for:</a:t>
            </a:r>
          </a:p>
          <a:p>
            <a:pPr lvl="1">
              <a:lnSpc>
                <a:spcPct val="110000"/>
              </a:lnSpc>
              <a:buFont typeface="+mj-lt"/>
              <a:buAutoNum type="arabicPeriod"/>
            </a:pPr>
            <a:r>
              <a:rPr lang="en-US" b="0" i="0" dirty="0">
                <a:effectLst/>
              </a:rPr>
              <a:t>Reducing dimensionality in very high dimensional settings</a:t>
            </a:r>
            <a:r>
              <a:rPr lang="en-US" dirty="0"/>
              <a:t> (e.g. i</a:t>
            </a:r>
            <a:r>
              <a:rPr lang="en-US" b="0" i="0" dirty="0">
                <a:effectLst/>
              </a:rPr>
              <a:t>mage Compression)</a:t>
            </a:r>
          </a:p>
          <a:p>
            <a:pPr lvl="1">
              <a:lnSpc>
                <a:spcPct val="110000"/>
              </a:lnSpc>
              <a:buFont typeface="+mj-lt"/>
              <a:buAutoNum type="arabicPeriod"/>
            </a:pPr>
            <a:r>
              <a:rPr lang="en-US" b="0" i="0" dirty="0">
                <a:effectLst/>
              </a:rPr>
              <a:t>Speeding up the training of a model (by reducing size) without significantly decreasing the predictive ability.</a:t>
            </a:r>
          </a:p>
          <a:p>
            <a:pPr lvl="1">
              <a:lnSpc>
                <a:spcPct val="110000"/>
              </a:lnSpc>
              <a:buFont typeface="+mj-lt"/>
              <a:buAutoNum type="arabicPeriod"/>
            </a:pPr>
            <a:r>
              <a:rPr lang="en-US" b="0" i="0" dirty="0">
                <a:effectLst/>
              </a:rPr>
              <a:t>Reducing multicollinearity where it exists, improving computational stability </a:t>
            </a:r>
          </a:p>
          <a:p>
            <a:pPr lvl="1"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When you have many features with low (but positive) value (e.g. text) </a:t>
            </a:r>
          </a:p>
          <a:p>
            <a:pPr marL="342900" lvl="1" indent="0">
              <a:lnSpc>
                <a:spcPct val="110000"/>
              </a:lnSpc>
              <a:buNone/>
            </a:pPr>
            <a:endParaRPr lang="en-US" b="0" i="0" dirty="0">
              <a:effectLst/>
            </a:endParaRPr>
          </a:p>
          <a:p>
            <a:pPr algn="l">
              <a:lnSpc>
                <a:spcPct val="110000"/>
              </a:lnSpc>
            </a:pPr>
            <a:r>
              <a:rPr lang="en-US" b="0" i="0" dirty="0">
                <a:effectLst/>
              </a:rPr>
              <a:t>PCA is </a:t>
            </a:r>
            <a:r>
              <a:rPr lang="en-US" b="1" i="0" dirty="0">
                <a:effectLst/>
              </a:rPr>
              <a:t>not so good</a:t>
            </a:r>
            <a:r>
              <a:rPr lang="en-US" b="0" i="0" dirty="0">
                <a:effectLst/>
              </a:rPr>
              <a:t> in certain situations because:</a:t>
            </a:r>
          </a:p>
          <a:p>
            <a:pPr lvl="1">
              <a:lnSpc>
                <a:spcPct val="110000"/>
              </a:lnSpc>
              <a:buFont typeface="+mj-lt"/>
              <a:buAutoNum type="arabicPeriod"/>
            </a:pPr>
            <a:r>
              <a:rPr lang="en-US" b="0" i="0" dirty="0">
                <a:effectLst/>
              </a:rPr>
              <a:t>Interpretation of coefficients in PCA is lost.  Each PCA feature is a linear combination of ALL of the original features</a:t>
            </a:r>
          </a:p>
          <a:p>
            <a:pPr lvl="1">
              <a:lnSpc>
                <a:spcPct val="110000"/>
              </a:lnSpc>
              <a:buFont typeface="+mj-lt"/>
              <a:buAutoNum type="arabicPeriod"/>
            </a:pPr>
            <a:r>
              <a:rPr lang="en-US" b="0" i="0" dirty="0">
                <a:effectLst/>
              </a:rPr>
              <a:t>Requirement to normalize original features further reduces interpretability.</a:t>
            </a:r>
          </a:p>
          <a:p>
            <a:pPr lvl="1">
              <a:lnSpc>
                <a:spcPct val="110000"/>
              </a:lnSpc>
              <a:buFont typeface="+mj-lt"/>
              <a:buAutoNum type="arabicPeriod"/>
            </a:pPr>
            <a:r>
              <a:rPr lang="en-US" b="0" i="0" dirty="0">
                <a:effectLst/>
              </a:rPr>
              <a:t>Feature importance is important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DBAAF-C6BD-8972-C081-EE1E9E64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0340"/>
            <a:ext cx="10515600" cy="1001559"/>
          </a:xfrm>
        </p:spPr>
        <p:txBody>
          <a:bodyPr/>
          <a:lstStyle/>
          <a:p>
            <a:r>
              <a:rPr lang="en-US" dirty="0"/>
              <a:t>PCA – pros and cons</a:t>
            </a:r>
          </a:p>
        </p:txBody>
      </p:sp>
    </p:spTree>
    <p:extLst>
      <p:ext uri="{BB962C8B-B14F-4D97-AF65-F5344CB8AC3E}">
        <p14:creationId xmlns:p14="http://schemas.microsoft.com/office/powerpoint/2010/main" val="326040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D9B70-67EE-EE45-3956-5919403B9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629F0-D743-89C1-6157-E01DF4662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PNAS Facebook Paper – </a:t>
            </a:r>
            <a:r>
              <a:rPr lang="en-US" b="1" i="1" dirty="0"/>
              <a:t>read for next class</a:t>
            </a:r>
            <a:endParaRPr lang="en-US" b="1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EF3E39-B0AB-3712-14DA-EF909599E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" y="136525"/>
            <a:ext cx="10515600" cy="1001559"/>
          </a:xfrm>
        </p:spPr>
        <p:txBody>
          <a:bodyPr/>
          <a:lstStyle/>
          <a:p>
            <a:r>
              <a:rPr lang="en-US" dirty="0"/>
              <a:t>PCA in action</a:t>
            </a:r>
          </a:p>
        </p:txBody>
      </p:sp>
      <p:pic>
        <p:nvPicPr>
          <p:cNvPr id="6" name="Picture 5" descr="A diagram of different components&#10;&#10;Description automatically generated">
            <a:extLst>
              <a:ext uri="{FF2B5EF4-FFF2-40B4-BE49-F238E27FC236}">
                <a16:creationId xmlns:a16="http://schemas.microsoft.com/office/drawing/2014/main" id="{25764BF3-0E94-2095-971B-FCAB09510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1508507"/>
            <a:ext cx="7610168" cy="36422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4F0C14-E583-E706-C1A7-F883D8083D4A}"/>
              </a:ext>
            </a:extLst>
          </p:cNvPr>
          <p:cNvSpPr txBox="1"/>
          <p:nvPr/>
        </p:nvSpPr>
        <p:spPr>
          <a:xfrm>
            <a:off x="2364660" y="5655625"/>
            <a:ext cx="7104765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: Singular Value Decomposition = Principal Components</a:t>
            </a:r>
          </a:p>
        </p:txBody>
      </p:sp>
    </p:spTree>
    <p:extLst>
      <p:ext uri="{BB962C8B-B14F-4D97-AF65-F5344CB8AC3E}">
        <p14:creationId xmlns:p14="http://schemas.microsoft.com/office/powerpoint/2010/main" val="26746162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5D59C-9235-2F92-A51D-3217E0D8B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530310-10CB-B14B-6DC1-A5D0929A7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Regularization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5C1E73-44A8-2640-D3A5-4DDB1AF30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8FF97C-6DA6-56E9-D1AB-91A7BE2B9791}"/>
              </a:ext>
            </a:extLst>
          </p:cNvPr>
          <p:cNvSpPr txBox="1"/>
          <p:nvPr/>
        </p:nvSpPr>
        <p:spPr>
          <a:xfrm>
            <a:off x="7525408" y="21336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0362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AA63C-4033-F00F-5C26-848C4508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DDAE3-4D4A-A937-16F8-378401F6E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5376"/>
            <a:ext cx="5257800" cy="3722108"/>
          </a:xfrm>
        </p:spPr>
        <p:txBody>
          <a:bodyPr>
            <a:normAutofit/>
          </a:bodyPr>
          <a:lstStyle/>
          <a:p>
            <a:r>
              <a:rPr lang="en-US" dirty="0"/>
              <a:t>Regularization is another way of controlling complexity </a:t>
            </a:r>
          </a:p>
          <a:p>
            <a:endParaRPr lang="en-US" dirty="0"/>
          </a:p>
          <a:p>
            <a:r>
              <a:rPr lang="en-US" dirty="0"/>
              <a:t>Regularization means “penalizing” features with large coefficients.  This encourages simplicity, and reduces overfitting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A0928D-1865-8B4C-7FF7-83C96E08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32" y="136525"/>
            <a:ext cx="10515600" cy="1001559"/>
          </a:xfrm>
        </p:spPr>
        <p:txBody>
          <a:bodyPr/>
          <a:lstStyle/>
          <a:p>
            <a:r>
              <a:rPr lang="en-US" dirty="0"/>
              <a:t>Regularized Regression</a:t>
            </a:r>
          </a:p>
        </p:txBody>
      </p:sp>
      <p:pic>
        <p:nvPicPr>
          <p:cNvPr id="1026" name="Picture 2" descr="Time Series Forecasting with lasso regression (out-of-sample ...">
            <a:extLst>
              <a:ext uri="{FF2B5EF4-FFF2-40B4-BE49-F238E27FC236}">
                <a16:creationId xmlns:a16="http://schemas.microsoft.com/office/drawing/2014/main" id="{151635BD-A15F-2FC9-30A2-C8C301027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420" y="2014783"/>
            <a:ext cx="3572701" cy="3572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9033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2C758-29B1-FA16-E262-288546F1C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1E1B9-0F93-5ECE-0520-A7F0480A8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8953" y="1021900"/>
            <a:ext cx="8386179" cy="1784363"/>
          </a:xfrm>
        </p:spPr>
        <p:txBody>
          <a:bodyPr/>
          <a:lstStyle/>
          <a:p>
            <a:r>
              <a:rPr lang="en-US" dirty="0"/>
              <a:t>Recall how we find the best regression line</a:t>
            </a:r>
          </a:p>
          <a:p>
            <a:pPr lvl="1"/>
            <a:r>
              <a:rPr lang="en-US" kern="0" dirty="0"/>
              <a:t>The </a:t>
            </a:r>
            <a:r>
              <a:rPr lang="en-US" b="1" i="1" kern="0" dirty="0">
                <a:solidFill>
                  <a:srgbClr val="FF0000"/>
                </a:solidFill>
              </a:rPr>
              <a:t>least squares </a:t>
            </a:r>
            <a:r>
              <a:rPr lang="en-US" kern="0" dirty="0"/>
              <a:t>regression line is the line that minimizes the sum of the </a:t>
            </a:r>
            <a:r>
              <a:rPr lang="en-US" b="1" kern="0" dirty="0"/>
              <a:t>squared</a:t>
            </a:r>
            <a:r>
              <a:rPr lang="en-US" kern="0" dirty="0"/>
              <a:t> residuals</a:t>
            </a:r>
            <a:endParaRPr lang="en-US" b="1" kern="0" dirty="0"/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5D2BD-2810-DE36-B8C7-59B04A366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447" y="114826"/>
            <a:ext cx="10515600" cy="1001559"/>
          </a:xfrm>
        </p:spPr>
        <p:txBody>
          <a:bodyPr/>
          <a:lstStyle/>
          <a:p>
            <a:r>
              <a:rPr lang="en-US" dirty="0"/>
              <a:t>Regularized Regression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80B8B2-C14F-41DD-D649-87E691935FBA}"/>
              </a:ext>
            </a:extLst>
          </p:cNvPr>
          <p:cNvSpPr txBox="1">
            <a:spLocks/>
          </p:cNvSpPr>
          <p:nvPr/>
        </p:nvSpPr>
        <p:spPr bwMode="auto">
          <a:xfrm>
            <a:off x="1655884" y="1627335"/>
            <a:ext cx="5002824" cy="611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ClrTx/>
            </a:pPr>
            <a:endParaRPr lang="en-US" b="1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A50CF5-D1A8-309C-4E5D-2B4F12A66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895" y="2373172"/>
            <a:ext cx="2246923" cy="3363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A4A93E1-D06C-0745-346B-31C427404E6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243584" y="2775331"/>
                <a:ext cx="8541547" cy="1784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57175" indent="-25717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  <a:lvl2pPr marL="557213" indent="-2143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2pPr>
                <a:lvl3pPr marL="8572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3pPr>
                <a:lvl4pPr marL="12001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5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4pPr>
                <a:lvl5pPr marL="15430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5pPr>
                <a:lvl6pPr marL="18859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2288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25717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29146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>
                  <a:buClrTx/>
                </a:pPr>
                <a:r>
                  <a:rPr lang="en-US" sz="2400" kern="0" dirty="0"/>
                  <a:t>Another way of saying this is that regression optimizes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kern="0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sz="2400" kern="0" dirty="0">
                    <a:latin typeface="Symbol" pitchFamily="2" charset="2"/>
                  </a:rPr>
                  <a:t> </a:t>
                </a:r>
                <a:r>
                  <a:rPr lang="en-US" sz="2400" kern="0" dirty="0"/>
                  <a:t>that minimize the term:</a:t>
                </a:r>
              </a:p>
              <a:p>
                <a:pPr marL="0" indent="0">
                  <a:buClr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ker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i="1" ker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 ker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 sz="2400" ker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400" i="1" ker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 ker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 ker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 ker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 ker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 ker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ker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ker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 ker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ker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400" i="1" ker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2400" i="1" ker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 ker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sz="2400" i="1" ker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en-US" sz="2400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1" kern="0" dirty="0"/>
              </a:p>
              <a:p>
                <a:pPr lvl="1">
                  <a:buClrTx/>
                </a:pPr>
                <a:endParaRPr lang="en-US" sz="2000" kern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A4A93E1-D06C-0745-346B-31C42740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43584" y="2775331"/>
                <a:ext cx="8541547" cy="1784363"/>
              </a:xfrm>
              <a:prstGeom prst="rect">
                <a:avLst/>
              </a:prstGeom>
              <a:blipFill>
                <a:blip r:embed="rId3"/>
                <a:stretch>
                  <a:fillRect l="-1039" t="-24648" b="-1035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6552CAB-6E01-BB18-420E-0F901D93561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194035" y="4698988"/>
                <a:ext cx="7803931" cy="1784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57175" indent="-25717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  <a:lvl2pPr marL="557213" indent="-2143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2pPr>
                <a:lvl3pPr marL="8572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3pPr>
                <a:lvl4pPr marL="12001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5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4pPr>
                <a:lvl5pPr marL="15430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5pPr>
                <a:lvl6pPr marL="18859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2288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25717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29146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>
                  <a:buClrTx/>
                </a:pPr>
                <a:r>
                  <a:rPr lang="en-US" sz="2400" kern="0" dirty="0"/>
                  <a:t>Regularization adds a penalty term </a:t>
                </a:r>
              </a:p>
              <a:p>
                <a:pPr marL="0" indent="0">
                  <a:buClr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ker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i="1" ker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 ker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 sz="2400" ker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400" i="1" ker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 ker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 ker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 ker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 ker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 ker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ker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ker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 ker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ker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400" i="1" ker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2400" i="1" ker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 ker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sz="2400" i="1" ker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en-US" sz="2400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ctrlPr>
                                <a:rPr lang="en-US" sz="24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 ker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Sup>
                                    <m:sSubSupPr>
                                      <m:ctrlPr>
                                        <a:rPr lang="en-US" sz="2400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2400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2400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acc>
                            </m:e>
                          </m:nary>
                        </m:e>
                      </m:nary>
                    </m:oMath>
                  </m:oMathPara>
                </a14:m>
                <a:endParaRPr lang="en-US" sz="2400" b="1" kern="0" dirty="0"/>
              </a:p>
              <a:p>
                <a:pPr lvl="1">
                  <a:buClrTx/>
                </a:pPr>
                <a:endParaRPr lang="en-US" sz="2000" kern="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6552CAB-6E01-BB18-420E-0F901D935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4035" y="4698988"/>
                <a:ext cx="7803931" cy="1784363"/>
              </a:xfrm>
              <a:prstGeom prst="rect">
                <a:avLst/>
              </a:prstGeom>
              <a:blipFill>
                <a:blip r:embed="rId4"/>
                <a:stretch>
                  <a:fillRect l="-1136" t="-46099" b="-8297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phic 8">
            <a:extLst>
              <a:ext uri="{FF2B5EF4-FFF2-40B4-BE49-F238E27FC236}">
                <a16:creationId xmlns:a16="http://schemas.microsoft.com/office/drawing/2014/main" id="{EC044DCF-1D26-7BBB-71A6-C754E4560E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5859" y="1"/>
            <a:ext cx="1518543" cy="15185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1EB2F1-1846-4EED-9574-41C720EE1024}"/>
              </a:ext>
            </a:extLst>
          </p:cNvPr>
          <p:cNvSpPr txBox="1"/>
          <p:nvPr/>
        </p:nvSpPr>
        <p:spPr>
          <a:xfrm>
            <a:off x="9025859" y="4371856"/>
            <a:ext cx="2030681" cy="107721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Discourages extreme or overfit values in model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BA6F8A-5066-3E3C-8641-D700CDFFDF38}"/>
                  </a:ext>
                </a:extLst>
              </p:cNvPr>
              <p:cNvSpPr txBox="1"/>
              <p:nvPr/>
            </p:nvSpPr>
            <p:spPr>
              <a:xfrm>
                <a:off x="5683598" y="6435397"/>
                <a:ext cx="3009863" cy="30777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1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1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controls how much we discourage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BA6F8A-5066-3E3C-8641-D700CDFFD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598" y="6435397"/>
                <a:ext cx="3009863" cy="307777"/>
              </a:xfrm>
              <a:prstGeom prst="rect">
                <a:avLst/>
              </a:prstGeom>
              <a:blipFill>
                <a:blip r:embed="rId7"/>
                <a:stretch>
                  <a:fillRect t="-4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931506-ABE6-953E-1FD2-9C987357DC58}"/>
              </a:ext>
            </a:extLst>
          </p:cNvPr>
          <p:cNvCxnSpPr>
            <a:cxnSpLocks/>
          </p:cNvCxnSpPr>
          <p:nvPr/>
        </p:nvCxnSpPr>
        <p:spPr bwMode="auto">
          <a:xfrm flipV="1">
            <a:off x="6967728" y="5955634"/>
            <a:ext cx="365760" cy="47888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43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7" grpId="0"/>
      <p:bldP spid="8" grpId="0"/>
      <p:bldP spid="10" grpId="0" animBg="1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89728F5-5A6B-3D6A-6761-DF02E8E76EED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1089499" y="842025"/>
                <a:ext cx="9927342" cy="3329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57175" indent="-25717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  <a:lvl2pPr marL="557213" indent="-2143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2pPr>
                <a:lvl3pPr marL="8572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3pPr>
                <a:lvl4pPr marL="12001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5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4pPr>
                <a:lvl5pPr marL="15430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5pPr>
                <a:lvl6pPr marL="18859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2288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25717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29146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>
                  <a:buClrTx/>
                </a:pPr>
                <a:r>
                  <a:rPr lang="en-US" dirty="0"/>
                  <a:t>The penalty term can be one of two forms</a:t>
                </a:r>
              </a:p>
              <a:p>
                <a:pPr lvl="1"/>
                <a:endParaRPr lang="en-US" kern="0" dirty="0"/>
              </a:p>
              <a:p>
                <a:pPr lvl="1"/>
                <a:r>
                  <a:rPr lang="en-US" sz="2000" kern="0" dirty="0"/>
                  <a:t>If the penalties are squ</a:t>
                </a:r>
                <a:r>
                  <a:rPr lang="en-US" sz="2000" dirty="0"/>
                  <a:t>ared this is called </a:t>
                </a:r>
                <a:r>
                  <a:rPr lang="en-US" sz="2000" b="1" i="1" dirty="0"/>
                  <a:t>ridge regression, also L2 regression</a:t>
                </a:r>
                <a:endParaRPr lang="en-US" sz="2000" b="1" i="1" kern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acc>
                            </m:e>
                          </m:nary>
                        </m:e>
                      </m:nary>
                    </m:oMath>
                  </m:oMathPara>
                </a14:m>
                <a:endParaRPr lang="en-US" b="0" kern="0" dirty="0"/>
              </a:p>
              <a:p>
                <a:pPr lvl="1"/>
                <a:endParaRPr lang="en-US" kern="0" dirty="0"/>
              </a:p>
              <a:p>
                <a:pPr lvl="1"/>
                <a:r>
                  <a:rPr lang="en-US" sz="2000" kern="0" dirty="0"/>
                  <a:t>If the penalties are absolute value, this is called </a:t>
                </a:r>
                <a:r>
                  <a:rPr lang="en-US" sz="2000" b="1" i="1" kern="0" dirty="0"/>
                  <a:t>lasso regression</a:t>
                </a:r>
                <a:r>
                  <a:rPr lang="en-US" sz="2000" kern="0" dirty="0"/>
                  <a:t>, or </a:t>
                </a:r>
                <a:r>
                  <a:rPr lang="en-US" sz="2000" b="1" i="1" kern="0" dirty="0"/>
                  <a:t>L1 regression </a:t>
                </a:r>
              </a:p>
              <a:p>
                <a:pPr lvl="1"/>
                <a:endParaRPr lang="en-US" b="1" i="1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89728F5-5A6B-3D6A-6761-DF02E8E76EE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089499" y="842025"/>
                <a:ext cx="9927342" cy="3329384"/>
              </a:xfrm>
              <a:prstGeom prst="rect">
                <a:avLst/>
              </a:prstGeom>
              <a:blipFill>
                <a:blip r:embed="rId3"/>
                <a:stretch>
                  <a:fillRect l="-511" t="-1141" r="-383" b="-266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811ABAF1-9365-5B52-87BD-F61DC6382FCD}"/>
              </a:ext>
            </a:extLst>
          </p:cNvPr>
          <p:cNvSpPr/>
          <p:nvPr/>
        </p:nvSpPr>
        <p:spPr bwMode="auto">
          <a:xfrm>
            <a:off x="6658708" y="1807075"/>
            <a:ext cx="1387366" cy="1103587"/>
          </a:xfrm>
          <a:prstGeom prst="ellipse">
            <a:avLst/>
          </a:prstGeom>
          <a:solidFill>
            <a:schemeClr val="bg2">
              <a:lumMod val="90000"/>
              <a:alpha val="45105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F8BCB4-197A-7485-8AD0-AB8FC65E85B3}"/>
              </a:ext>
            </a:extLst>
          </p:cNvPr>
          <p:cNvSpPr/>
          <p:nvPr/>
        </p:nvSpPr>
        <p:spPr bwMode="auto">
          <a:xfrm>
            <a:off x="6545222" y="3829419"/>
            <a:ext cx="1387366" cy="1103587"/>
          </a:xfrm>
          <a:prstGeom prst="ellipse">
            <a:avLst/>
          </a:prstGeom>
          <a:solidFill>
            <a:schemeClr val="bg2">
              <a:lumMod val="90000"/>
              <a:alpha val="45105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 dirty="0">
              <a:cs typeface="Arial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2C758-29B1-FA16-E262-288546F1C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5D2BD-2810-DE36-B8C7-59B04A366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44" y="94627"/>
            <a:ext cx="10515600" cy="1001559"/>
          </a:xfrm>
        </p:spPr>
        <p:txBody>
          <a:bodyPr/>
          <a:lstStyle/>
          <a:p>
            <a:r>
              <a:rPr lang="en-US" dirty="0"/>
              <a:t>Regularized Regression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80B8B2-C14F-41DD-D649-87E691935FBA}"/>
              </a:ext>
            </a:extLst>
          </p:cNvPr>
          <p:cNvSpPr txBox="1">
            <a:spLocks/>
          </p:cNvSpPr>
          <p:nvPr/>
        </p:nvSpPr>
        <p:spPr bwMode="auto">
          <a:xfrm>
            <a:off x="1655884" y="1627335"/>
            <a:ext cx="5002824" cy="611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ClrTx/>
            </a:pPr>
            <a:endParaRPr lang="en-US" b="1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06F79C9E-970D-6D9D-C0FB-AF8E7177568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18439" y="3890158"/>
                <a:ext cx="8066690" cy="3329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57175" indent="-25717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  <a:lvl2pPr marL="557213" indent="-2143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2pPr>
                <a:lvl3pPr marL="8572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3pPr>
                <a:lvl4pPr marL="12001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5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4pPr>
                <a:lvl5pPr marL="15430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5pPr>
                <a:lvl6pPr marL="18859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2288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25717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2914650" indent="-1714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5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>
                  <a:buClr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i="1" ker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 ker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 ker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i="1" ker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ker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ker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ker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 ker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ker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ker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ker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ker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ker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 ker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 ker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ker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i="1" ker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en-US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ctrlPr>
                                <a:rPr lang="en-US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 ker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 ker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ker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i="1" ker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kern="0" dirty="0"/>
              </a:p>
              <a:p>
                <a:pPr lvl="1">
                  <a:buClrTx/>
                </a:pPr>
                <a:endParaRPr lang="en-US" kern="0" dirty="0"/>
              </a:p>
              <a:p>
                <a:pPr lvl="1">
                  <a:buClrTx/>
                </a:pPr>
                <a:endParaRPr lang="en-US" b="1" i="1" kern="0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06F79C9E-970D-6D9D-C0FB-AF8E71775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8439" y="3890158"/>
                <a:ext cx="8066690" cy="3329384"/>
              </a:xfrm>
              <a:prstGeom prst="rect">
                <a:avLst/>
              </a:prstGeom>
              <a:blipFill>
                <a:blip r:embed="rId4"/>
                <a:stretch>
                  <a:fillRect t="-292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86069B0-574C-D8C8-78A8-8A9061CBC86C}"/>
              </a:ext>
            </a:extLst>
          </p:cNvPr>
          <p:cNvSpPr txBox="1"/>
          <p:nvPr/>
        </p:nvSpPr>
        <p:spPr>
          <a:xfrm>
            <a:off x="8211886" y="2334280"/>
            <a:ext cx="1864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“ridge penalty”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5AD969-DAC0-0277-183D-8774BA1706B4}"/>
              </a:ext>
            </a:extLst>
          </p:cNvPr>
          <p:cNvSpPr txBox="1"/>
          <p:nvPr/>
        </p:nvSpPr>
        <p:spPr>
          <a:xfrm>
            <a:off x="8077201" y="4193139"/>
            <a:ext cx="18582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“lasso penalty”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8E499C-3AFC-9F42-3D8F-37E14FF8A111}"/>
              </a:ext>
            </a:extLst>
          </p:cNvPr>
          <p:cNvSpPr txBox="1"/>
          <p:nvPr/>
        </p:nvSpPr>
        <p:spPr>
          <a:xfrm>
            <a:off x="2163513" y="5250782"/>
            <a:ext cx="96644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typical result of the penalty is to “shrink” the </a:t>
            </a:r>
            <a:r>
              <a:rPr lang="en-US" sz="2000" dirty="0">
                <a:latin typeface="Symbol" pitchFamily="2" charset="2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parameters towards zero</a:t>
            </a:r>
          </a:p>
          <a:p>
            <a:pPr marL="285750" indent="-28575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shrinking of the coefficient value corrects for overfitting</a:t>
            </a:r>
          </a:p>
          <a:p>
            <a:pPr marL="742950" lvl="1" indent="-28575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be done – efficiently! - for up to millions of features!</a:t>
            </a:r>
          </a:p>
          <a:p>
            <a:pPr marL="285750" indent="-28575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Regularization is also often referred to as </a:t>
            </a:r>
            <a:r>
              <a:rPr lang="en-US" sz="20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shrinkage</a:t>
            </a:r>
          </a:p>
        </p:txBody>
      </p:sp>
    </p:spTree>
    <p:extLst>
      <p:ext uri="{BB962C8B-B14F-4D97-AF65-F5344CB8AC3E}">
        <p14:creationId xmlns:p14="http://schemas.microsoft.com/office/powerpoint/2010/main" val="121025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4" grpId="0" animBg="1"/>
      <p:bldP spid="15" grpId="0" animBg="1"/>
      <p:bldP spid="5" grpId="0" build="p"/>
      <p:bldP spid="13" grpId="0"/>
      <p:bldP spid="16" grpId="0"/>
      <p:bldP spid="18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0" descr="A yellow light bulb with black lines&#10;&#10;Description automatically generated">
            <a:extLst>
              <a:ext uri="{FF2B5EF4-FFF2-40B4-BE49-F238E27FC236}">
                <a16:creationId xmlns:a16="http://schemas.microsoft.com/office/drawing/2014/main" id="{0B5B7CEC-622B-2290-E366-AAC168164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1186809" y="62145"/>
            <a:ext cx="1113086" cy="11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462B6-237C-1C4B-3396-66CB0A90B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37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D905E93-3AC9-7FE0-B959-A71EB0DCA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61" y="1036870"/>
            <a:ext cx="11573641" cy="531948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Regularized regression can be used when you have many features (millions!)</a:t>
            </a:r>
          </a:p>
          <a:p>
            <a:endParaRPr lang="en-US" dirty="0"/>
          </a:p>
          <a:p>
            <a:r>
              <a:rPr lang="en-US" dirty="0"/>
              <a:t>Two types of regularization:</a:t>
            </a:r>
          </a:p>
          <a:p>
            <a:pPr lvl="1"/>
            <a:r>
              <a:rPr lang="en-US" dirty="0"/>
              <a:t>Ridge: uses squared penalty (L2)</a:t>
            </a:r>
          </a:p>
          <a:p>
            <a:pPr lvl="1"/>
            <a:r>
              <a:rPr lang="en-US" dirty="0"/>
              <a:t>Lasso: uses absolute penalty (L1) </a:t>
            </a:r>
          </a:p>
          <a:p>
            <a:pPr lvl="1"/>
            <a:endParaRPr lang="en-US" dirty="0"/>
          </a:p>
          <a:p>
            <a:r>
              <a:rPr lang="en-US" dirty="0"/>
              <a:t>Single parameter lambda (</a:t>
            </a:r>
            <a:r>
              <a:rPr lang="en-US" dirty="0">
                <a:latin typeface="Symbol" pitchFamily="2" charset="2"/>
              </a:rPr>
              <a:t>l</a:t>
            </a:r>
            <a:r>
              <a:rPr lang="en-US" dirty="0"/>
              <a:t>) determines the amount of regularization</a:t>
            </a:r>
          </a:p>
          <a:p>
            <a:pPr lvl="1"/>
            <a:r>
              <a:rPr lang="en-US" dirty="0">
                <a:latin typeface="Symbol" pitchFamily="2" charset="2"/>
              </a:rPr>
              <a:t>l = 0 </a:t>
            </a:r>
            <a:r>
              <a:rPr lang="en-US" dirty="0"/>
              <a:t>means no regularization</a:t>
            </a:r>
          </a:p>
          <a:p>
            <a:pPr lvl="1"/>
            <a:r>
              <a:rPr lang="en-US" dirty="0"/>
              <a:t>Larger</a:t>
            </a:r>
            <a:r>
              <a:rPr lang="en-US" dirty="0">
                <a:latin typeface="Symbol" pitchFamily="2" charset="2"/>
              </a:rPr>
              <a:t> l </a:t>
            </a:r>
            <a:r>
              <a:rPr lang="en-US" dirty="0"/>
              <a:t>is stronger penalty</a:t>
            </a:r>
          </a:p>
          <a:p>
            <a:pPr lvl="1"/>
            <a:r>
              <a:rPr lang="en-US" dirty="0">
                <a:latin typeface="Symbol" pitchFamily="2" charset="2"/>
              </a:rPr>
              <a:t>l </a:t>
            </a:r>
            <a:r>
              <a:rPr lang="en-US" dirty="0"/>
              <a:t>can be determined by test set or cross-validation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The more a </a:t>
            </a:r>
            <a:r>
              <a:rPr lang="en-US" dirty="0" err="1"/>
              <a:t>coef</a:t>
            </a:r>
            <a:r>
              <a:rPr lang="en-US" dirty="0"/>
              <a:t> is shrunk towards zero, the less important it is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Lasso has a special property: </a:t>
            </a:r>
            <a:r>
              <a:rPr lang="en-US" i="1" dirty="0"/>
              <a:t>it shrinks unneeded coefficients all the way to zero</a:t>
            </a:r>
          </a:p>
          <a:p>
            <a:pPr lvl="1"/>
            <a:r>
              <a:rPr lang="en-US" dirty="0"/>
              <a:t>Effectively, this is variable selection</a:t>
            </a:r>
          </a:p>
          <a:p>
            <a:pPr lvl="1"/>
            <a:r>
              <a:rPr lang="en-US" dirty="0"/>
              <a:t>Lasso is very popular and tends to be quite effective while creating a much simpler model. 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marL="3429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BBDFC-8761-1573-B9A9-D451E193E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682"/>
            <a:ext cx="11353800" cy="906329"/>
          </a:xfrm>
        </p:spPr>
        <p:txBody>
          <a:bodyPr>
            <a:normAutofit fontScale="90000"/>
          </a:bodyPr>
          <a:lstStyle/>
          <a:p>
            <a:r>
              <a:rPr lang="en-US" dirty="0"/>
              <a:t>Key points about Regularized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4EDA59-5B26-A5DB-2861-00C94329B439}"/>
              </a:ext>
            </a:extLst>
          </p:cNvPr>
          <p:cNvSpPr txBox="1"/>
          <p:nvPr/>
        </p:nvSpPr>
        <p:spPr>
          <a:xfrm>
            <a:off x="4094502" y="6205154"/>
            <a:ext cx="357880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details: ISL Chapter 6.2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DA6764-F298-2438-B866-372ADB85A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2235" y="1555731"/>
            <a:ext cx="2399765" cy="125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548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 bldLvl="2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19859-9ACA-C8BB-9F8D-232139921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46FE2-D248-0740-B62F-5F1A1A844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DE700-80C6-C498-7514-74F562D65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87" y="961901"/>
            <a:ext cx="11426832" cy="5283324"/>
          </a:xfrm>
        </p:spPr>
        <p:txBody>
          <a:bodyPr>
            <a:normAutofit fontScale="92500"/>
          </a:bodyPr>
          <a:lstStyle/>
          <a:p>
            <a:r>
              <a:rPr lang="en-US" dirty="0"/>
              <a:t>Linear Regression: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sklearn.linear_model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import Lasso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sklearn.linear_model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import Ridge</a:t>
            </a:r>
          </a:p>
          <a:p>
            <a:pPr marL="914400" lvl="2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lasso_model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Lasso(alpha=0.1) # note Python uses alpha instead of lambda 😡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Logistic Regression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logistic_model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LogisticRegression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(C=1)</a:t>
            </a:r>
          </a:p>
          <a:p>
            <a:pPr lvl="2"/>
            <a:r>
              <a:rPr lang="en-US" dirty="0"/>
              <a:t>“C” is the complexity parameter and = 1/lambda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😡 </a:t>
            </a:r>
            <a:endParaRPr lang="en-US" dirty="0"/>
          </a:p>
          <a:p>
            <a:pPr lvl="2"/>
            <a:r>
              <a:rPr lang="en-US" dirty="0"/>
              <a:t>Large C means no regularization (C=10000)</a:t>
            </a:r>
          </a:p>
          <a:p>
            <a:pPr lvl="2"/>
            <a:r>
              <a:rPr lang="en-US" dirty="0"/>
              <a:t>Small C means more </a:t>
            </a:r>
            <a:r>
              <a:rPr lang="en-US" dirty="0" err="1"/>
              <a:t>regularlization</a:t>
            </a:r>
            <a:endParaRPr lang="en-US" dirty="0"/>
          </a:p>
          <a:p>
            <a:pPr lvl="2"/>
            <a:r>
              <a:rPr lang="en-US" dirty="0"/>
              <a:t>Often : C = [0.01 , 0.1, 1, 10, 100]</a:t>
            </a:r>
          </a:p>
          <a:p>
            <a:pPr lvl="1"/>
            <a:r>
              <a:rPr lang="en-US" dirty="0"/>
              <a:t>For lasso use </a:t>
            </a:r>
            <a:r>
              <a:rPr lang="en-US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penalty=‘l1’</a:t>
            </a:r>
          </a:p>
          <a:p>
            <a:pPr lvl="2"/>
            <a:r>
              <a:rPr lang="en-US" dirty="0" err="1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logistic_model</a:t>
            </a:r>
            <a:r>
              <a:rPr lang="en-US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LogisticRegression</a:t>
            </a:r>
            <a:r>
              <a:rPr lang="en-US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(C=.1, penalty=‘l1’)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D2858-D806-72DF-08B5-12E272197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87" y="48114"/>
            <a:ext cx="10061643" cy="729214"/>
          </a:xfrm>
        </p:spPr>
        <p:txBody>
          <a:bodyPr>
            <a:normAutofit fontScale="90000"/>
          </a:bodyPr>
          <a:lstStyle/>
          <a:p>
            <a:r>
              <a:rPr lang="en-US" dirty="0"/>
              <a:t>Regularized Regression in Python</a:t>
            </a:r>
          </a:p>
        </p:txBody>
      </p:sp>
    </p:spTree>
    <p:extLst>
      <p:ext uri="{BB962C8B-B14F-4D97-AF65-F5344CB8AC3E}">
        <p14:creationId xmlns:p14="http://schemas.microsoft.com/office/powerpoint/2010/main" val="89240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86595-2EC2-5BAE-A053-C954FF7A2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D4187-A1AF-F8A9-2945-1578FC8A2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264" y="1882239"/>
            <a:ext cx="9215100" cy="44813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Regularization has many uses in data science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sz="2000" dirty="0"/>
              <a:t>Shrinks parameter values to avoid overfitting</a:t>
            </a:r>
          </a:p>
          <a:p>
            <a:pPr lvl="1"/>
            <a:r>
              <a:rPr lang="en-US" sz="2000" dirty="0"/>
              <a:t>Removes noise features by setting parameter value to 0 (lasso)</a:t>
            </a:r>
          </a:p>
          <a:p>
            <a:pPr lvl="1"/>
            <a:r>
              <a:rPr lang="en-US" sz="2000" dirty="0"/>
              <a:t>Can help deal with heavily correlated features (multicollinearity)</a:t>
            </a:r>
          </a:p>
          <a:p>
            <a:pPr lvl="1"/>
            <a:r>
              <a:rPr lang="en-US" sz="2000" dirty="0"/>
              <a:t>Can enable fitting massive amounts of features (high dimensionality)</a:t>
            </a:r>
          </a:p>
          <a:p>
            <a:pPr lvl="1"/>
            <a:r>
              <a:rPr lang="en-US" sz="2000" dirty="0"/>
              <a:t>Can fit models where you have more parameters than observations (p&gt;n)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CA9F7-2F64-9CEC-81E4-E19408EFD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64" y="136525"/>
            <a:ext cx="10515600" cy="1001559"/>
          </a:xfrm>
        </p:spPr>
        <p:txBody>
          <a:bodyPr/>
          <a:lstStyle/>
          <a:p>
            <a:r>
              <a:rPr lang="en-US" dirty="0"/>
              <a:t>Regularization Uses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A97F7E6-894B-8140-9E1C-044739ADC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3302" y="1882239"/>
            <a:ext cx="2447605" cy="309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12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41B998-8A0C-373A-1AB7-4EAAA5BC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40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F94CB2-872D-D2C9-8BE5-489461F6D79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063750"/>
            <a:ext cx="10515600" cy="1001713"/>
          </a:xfrm>
          <a:solidFill>
            <a:schemeClr val="accent2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Regularization Notebook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73046-B1C8-A5DE-26CC-479B06901A60}"/>
              </a:ext>
            </a:extLst>
          </p:cNvPr>
          <p:cNvSpPr txBox="1"/>
          <p:nvPr/>
        </p:nvSpPr>
        <p:spPr>
          <a:xfrm>
            <a:off x="7525408" y="21336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5B9DE-DC1E-79B8-F1D5-A63C641C4397}"/>
              </a:ext>
            </a:extLst>
          </p:cNvPr>
          <p:cNvSpPr txBox="1"/>
          <p:nvPr/>
        </p:nvSpPr>
        <p:spPr>
          <a:xfrm>
            <a:off x="4374778" y="3186613"/>
            <a:ext cx="4980851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T6_Regression_Regularization.ipynb</a:t>
            </a:r>
          </a:p>
        </p:txBody>
      </p:sp>
    </p:spTree>
    <p:extLst>
      <p:ext uri="{BB962C8B-B14F-4D97-AF65-F5344CB8AC3E}">
        <p14:creationId xmlns:p14="http://schemas.microsoft.com/office/powerpoint/2010/main" val="954324158"/>
      </p:ext>
    </p:extLst>
  </p:cSld>
  <p:clrMapOvr>
    <a:masterClrMapping/>
  </p:clrMapOvr>
</p:sld>
</file>

<file path=ppt/theme/theme1.xml><?xml version="1.0" encoding="utf-8"?>
<a:theme xmlns:a="http://schemas.openxmlformats.org/drawingml/2006/main" name="LSL_PowerPoint_Template">
  <a:themeElements>
    <a:clrScheme name="Stern Color Palette">
      <a:dk1>
        <a:srgbClr val="000000"/>
      </a:dk1>
      <a:lt1>
        <a:srgbClr val="FFFFFF"/>
      </a:lt1>
      <a:dk2>
        <a:srgbClr val="0E2841"/>
      </a:dk2>
      <a:lt2>
        <a:srgbClr val="EEE6F3"/>
      </a:lt2>
      <a:accent1>
        <a:srgbClr val="57068C"/>
      </a:accent1>
      <a:accent2>
        <a:srgbClr val="8900E1"/>
      </a:accent2>
      <a:accent3>
        <a:srgbClr val="330661"/>
      </a:accent3>
      <a:accent4>
        <a:srgbClr val="702B9D"/>
      </a:accent4>
      <a:accent5>
        <a:srgbClr val="A02B93"/>
      </a:accent5>
      <a:accent6>
        <a:srgbClr val="7B59A6"/>
      </a:accent6>
      <a:hlink>
        <a:srgbClr val="009B8A"/>
      </a:hlink>
      <a:folHlink>
        <a:srgbClr val="FB0F78"/>
      </a:folHlink>
    </a:clrScheme>
    <a:fontScheme name="LSL Template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SL_PowerPoint_Template" id="{21962180-B26F-4A46-B8B0-B7D5112C3D72}" vid="{BB355436-7ED7-E64D-88EB-D09D3F4BC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LSL_PowerPoint_Template</Template>
  <TotalTime>47789</TotalTime>
  <Words>2479</Words>
  <Application>Microsoft Macintosh PowerPoint</Application>
  <PresentationFormat>Widescreen</PresentationFormat>
  <Paragraphs>407</Paragraphs>
  <Slides>40</Slides>
  <Notes>28</Notes>
  <HiddenSlides>3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Arial</vt:lpstr>
      <vt:lpstr>Calibri</vt:lpstr>
      <vt:lpstr>Cambria Math</vt:lpstr>
      <vt:lpstr>Consolas</vt:lpstr>
      <vt:lpstr>Courier New</vt:lpstr>
      <vt:lpstr>Lucida Console</vt:lpstr>
      <vt:lpstr>Montserrat</vt:lpstr>
      <vt:lpstr>Montserrat SemiBold</vt:lpstr>
      <vt:lpstr>Symbol</vt:lpstr>
      <vt:lpstr>Tahoma</vt:lpstr>
      <vt:lpstr>Wingdings</vt:lpstr>
      <vt:lpstr>LSL_PowerPoint_Template</vt:lpstr>
      <vt:lpstr>Topic 6 – Regression and Regularization</vt:lpstr>
      <vt:lpstr>Linear Regression</vt:lpstr>
      <vt:lpstr>Test your knowlege</vt:lpstr>
      <vt:lpstr>Defining the Regression Line</vt:lpstr>
      <vt:lpstr>Regression line</vt:lpstr>
      <vt:lpstr>Finding the Right Regression Line</vt:lpstr>
      <vt:lpstr>Least Squares Regression Line</vt:lpstr>
      <vt:lpstr>Multiple Regression: Example</vt:lpstr>
      <vt:lpstr>Regression Example – Advertising v Sales</vt:lpstr>
      <vt:lpstr>Multiple Regression Model</vt:lpstr>
      <vt:lpstr>Regression output - python</vt:lpstr>
      <vt:lpstr>Regression – Complexity Control</vt:lpstr>
      <vt:lpstr>Extending Regression: Non-linear regression models</vt:lpstr>
      <vt:lpstr>Add polynomials where needed</vt:lpstr>
      <vt:lpstr>Interaction Terms</vt:lpstr>
      <vt:lpstr>Logistic Regression</vt:lpstr>
      <vt:lpstr>Logistic Regression </vt:lpstr>
      <vt:lpstr>Logistic Regression</vt:lpstr>
      <vt:lpstr>Complexity and Overfitting in Regression</vt:lpstr>
      <vt:lpstr>Complexity </vt:lpstr>
      <vt:lpstr>Complexity in Regression</vt:lpstr>
      <vt:lpstr>Complexity in Regression</vt:lpstr>
      <vt:lpstr>Advertising Example</vt:lpstr>
      <vt:lpstr>Complexity in Regression</vt:lpstr>
      <vt:lpstr>Feature Selection/Reduction</vt:lpstr>
      <vt:lpstr>Removing Unimportant Attributes</vt:lpstr>
      <vt:lpstr>Iterative Feature Selection by Subtraction</vt:lpstr>
      <vt:lpstr>Dimension Reduction – Principal Components</vt:lpstr>
      <vt:lpstr>Principal Components Analysis</vt:lpstr>
      <vt:lpstr>Principal Components</vt:lpstr>
      <vt:lpstr>PCA – pros and cons</vt:lpstr>
      <vt:lpstr>PCA in action</vt:lpstr>
      <vt:lpstr>Regularization</vt:lpstr>
      <vt:lpstr>Regularized Regression</vt:lpstr>
      <vt:lpstr>Regularized Regression</vt:lpstr>
      <vt:lpstr>Regularized Regression</vt:lpstr>
      <vt:lpstr>Key points about Regularized Regression</vt:lpstr>
      <vt:lpstr>Regularized Regression in Python</vt:lpstr>
      <vt:lpstr>Regularization Uses</vt:lpstr>
      <vt:lpstr>Regularization Notebook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volinsky</dc:creator>
  <cp:lastModifiedBy>chris volinsky</cp:lastModifiedBy>
  <cp:revision>100</cp:revision>
  <dcterms:created xsi:type="dcterms:W3CDTF">2023-07-07T20:20:38Z</dcterms:created>
  <dcterms:modified xsi:type="dcterms:W3CDTF">2025-10-28T18:13:48Z</dcterms:modified>
</cp:coreProperties>
</file>