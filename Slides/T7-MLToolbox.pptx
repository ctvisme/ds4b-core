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29"/>
  </p:notesMasterIdLst>
  <p:sldIdLst>
    <p:sldId id="256" r:id="rId2"/>
    <p:sldId id="852" r:id="rId3"/>
    <p:sldId id="995" r:id="rId4"/>
    <p:sldId id="258" r:id="rId5"/>
    <p:sldId id="1033" r:id="rId6"/>
    <p:sldId id="998" r:id="rId7"/>
    <p:sldId id="1000" r:id="rId8"/>
    <p:sldId id="1001" r:id="rId9"/>
    <p:sldId id="1004" r:id="rId10"/>
    <p:sldId id="1015" r:id="rId11"/>
    <p:sldId id="1016" r:id="rId12"/>
    <p:sldId id="1017" r:id="rId13"/>
    <p:sldId id="1019" r:id="rId14"/>
    <p:sldId id="1021" r:id="rId15"/>
    <p:sldId id="1020" r:id="rId16"/>
    <p:sldId id="973" r:id="rId17"/>
    <p:sldId id="968" r:id="rId18"/>
    <p:sldId id="969" r:id="rId19"/>
    <p:sldId id="970" r:id="rId20"/>
    <p:sldId id="267" r:id="rId21"/>
    <p:sldId id="268" r:id="rId22"/>
    <p:sldId id="787" r:id="rId23"/>
    <p:sldId id="1030" r:id="rId24"/>
    <p:sldId id="1032" r:id="rId25"/>
    <p:sldId id="1029" r:id="rId26"/>
    <p:sldId id="988" r:id="rId27"/>
    <p:sldId id="97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46"/>
    <p:restoredTop sz="82548"/>
  </p:normalViewPr>
  <p:slideViewPr>
    <p:cSldViewPr snapToGrid="0">
      <p:cViewPr varScale="1">
        <p:scale>
          <a:sx n="67" d="100"/>
          <a:sy n="67" d="100"/>
        </p:scale>
        <p:origin x="176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99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19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optimal SVM is the boundary that maximizes the margin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62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( Imagine separating h v l value</a:t>
            </a:r>
          </a:p>
          <a:p>
            <a:r>
              <a:rPr lang="en-US" dirty="0"/>
              <a:t>On age and income</a:t>
            </a:r>
          </a:p>
          <a:p>
            <a:r>
              <a:rPr lang="en-US" dirty="0"/>
              <a:t>H and V not separable, </a:t>
            </a:r>
          </a:p>
          <a:p>
            <a:r>
              <a:rPr lang="en-US" dirty="0"/>
              <a:t>But you can unlock a third feature, customer loyalty that allows one to separate.  </a:t>
            </a:r>
          </a:p>
          <a:p>
            <a:endParaRPr lang="en-US" dirty="0"/>
          </a:p>
          <a:p>
            <a:r>
              <a:rPr lang="en-US" dirty="0"/>
              <a:t>That is what the “kernel trick” </a:t>
            </a:r>
            <a:r>
              <a:rPr lang="en-US" dirty="0" err="1"/>
              <a:t>does.l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77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C6192-FBA6-155E-D338-C36D635ED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495BD-8F66-394E-6046-F5B197396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A7DDB-C8A5-7D53-210D-1241BB492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29C2F-64B1-D4C8-2507-8497F6183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73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- high sales in one month depletes stock and you get a dip in sales the next month. </a:t>
            </a:r>
          </a:p>
          <a:p>
            <a:endParaRPr lang="en-US" dirty="0"/>
          </a:p>
          <a:p>
            <a:r>
              <a:rPr lang="en-US" dirty="0"/>
              <a:t>poor sales stimulates offers which spike sales the next month.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86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20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2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F13041AB-3BF3-7FB4-D4A3-BAD1D9F13A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fld id="{409C9103-C2F1-8442-B10F-EB09A92BB4A3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070D623-C5FA-AC5B-5DA4-535D815923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0338" y="509588"/>
            <a:ext cx="4532312" cy="2549525"/>
          </a:xfrm>
          <a:solidFill>
            <a:srgbClr val="FFFFFF"/>
          </a:solidFill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89BD0DC-4D06-F9FF-4992-0F5204938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9913" tIns="44956" rIns="89913" bIns="44956"/>
          <a:lstStyle/>
          <a:p>
            <a:pPr eaLnBrk="1" hangingPunct="1"/>
            <a:endParaRPr lang="en-GB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C29570E7-7BA5-B634-77DF-F63984A26E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fld id="{727AE748-0D86-4B47-A587-11FEE7DA5947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6611E9B-8503-46B3-E323-BB79E17C4A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0338" y="509588"/>
            <a:ext cx="4532312" cy="2549525"/>
          </a:xfrm>
          <a:solidFill>
            <a:srgbClr val="FFFFFF"/>
          </a:solidFill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7476F39B-4D0C-89B4-A202-6ACA3C104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9913" tIns="44956" rIns="89913" bIns="44956"/>
          <a:lstStyle/>
          <a:p>
            <a:pPr eaLnBrk="1" hangingPunct="1"/>
            <a:endParaRPr lang="en-GB" altLang="en-US" sz="9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9DFC766B-0154-C9F7-49EF-E4C981F42C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fld id="{1DBCAE43-E155-8B48-8F23-41263FB2341F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EDEFB927-DE3D-5594-49EC-37F3526357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0338" y="509588"/>
            <a:ext cx="4532312" cy="2549525"/>
          </a:xfrm>
          <a:solidFill>
            <a:srgbClr val="FFFFFF"/>
          </a:solidFill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DAD892E-63CE-8800-F644-792D8501C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9913" tIns="44956" rIns="89913" bIns="44956"/>
          <a:lstStyle/>
          <a:p>
            <a:pPr eaLnBrk="1" hangingPunct="1"/>
            <a:endParaRPr lang="en-GB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88DCBFC6-B91C-B05C-5431-341A8E27A5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fld id="{C606AC52-7D53-FF47-B288-F9EF46140D50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DAE90E7-CA4C-7830-1006-3704891942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0338" y="509588"/>
            <a:ext cx="4532312" cy="2549525"/>
          </a:xfrm>
          <a:solidFill>
            <a:srgbClr val="FFFFFF"/>
          </a:solidFill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E089834-892C-7745-6303-9DF69C8E7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9913" tIns="44956" rIns="89913" bIns="44956"/>
          <a:lstStyle/>
          <a:p>
            <a:pPr eaLnBrk="1" hangingPunct="1"/>
            <a:endParaRPr lang="en-GB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3A95CD49-D940-8071-6ADA-CA4D16BD82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fld id="{5D49430E-89FA-FF4C-86D6-C424457ECA31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D1D98191-28CE-A64E-7F68-E43CE6F757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0338" y="509588"/>
            <a:ext cx="4532312" cy="2549525"/>
          </a:xfrm>
          <a:solidFill>
            <a:srgbClr val="FFFFFF"/>
          </a:solidFill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6E65A00-19F1-FE70-E2A0-A9E08D44C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9913" tIns="44956" rIns="89913" bIns="44956"/>
          <a:lstStyle/>
          <a:p>
            <a:pPr eaLnBrk="1" hangingPunct="1"/>
            <a:endParaRPr lang="en-GB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E605B-551B-DA66-198B-08189A7A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53F8A-185D-9F04-6A55-08B7315EF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02EBA-D270-5E25-9775-1332BCA74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44185-6424-993C-43E2-4F504B4CB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65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75B13-F0FF-6B31-FC7A-38146F50A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75CD0-C181-DDC2-D2F1-571E8A9F9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19308-D18F-2B09-0027-9DE5562BF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A19C0-628D-F69A-1141-F8878121C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3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4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F43C82-9B9B-AC4F-98CD-0ADC587116F3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54946" y="3467480"/>
            <a:ext cx="6912587" cy="1402207"/>
          </a:xfrm>
        </p:spPr>
        <p:txBody>
          <a:bodyPr lIns="91440" anchor="t">
            <a:noAutofit/>
          </a:bodyPr>
          <a:lstStyle>
            <a:lvl1pPr marL="0" indent="0" algn="l">
              <a:buNone/>
              <a:defRPr sz="2800" b="1" i="0">
                <a:solidFill>
                  <a:schemeClr val="bg2"/>
                </a:solidFill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Data Science and AI for Business</a:t>
            </a:r>
          </a:p>
          <a:p>
            <a:r>
              <a:rPr lang="en-US" dirty="0"/>
              <a:t>Prof: Chris Volinsky</a:t>
            </a:r>
          </a:p>
          <a:p>
            <a:r>
              <a:rPr lang="en-US" dirty="0"/>
              <a:t>Fall 2025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254946" y="567189"/>
            <a:ext cx="6912587" cy="2387600"/>
          </a:xfrm>
          <a:noFill/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Topic X – Topic Name</a:t>
            </a:r>
          </a:p>
        </p:txBody>
      </p:sp>
    </p:spTree>
    <p:extLst>
      <p:ext uri="{BB962C8B-B14F-4D97-AF65-F5344CB8AC3E}">
        <p14:creationId xmlns:p14="http://schemas.microsoft.com/office/powerpoint/2010/main" val="192333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ou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10B997DA-7AA6-CF7E-FDED-D6EF7D28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6097647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F9871B73-938C-45E7-7799-A9A5443705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8E9548-3B4B-2F9B-6B67-2F904307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063296"/>
            <a:ext cx="10515600" cy="1001559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C5894B-C677-E349-FCAF-7A2C8488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9CEAD-DE05-890A-43F5-E308410E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C1DE4-B54C-87DD-FB01-5F894157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9085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47533-C89B-7F4F-A98B-2DD0B0DD654B}" type="datetimeFigureOut">
              <a:rPr lang="en-US" smtClean="0"/>
              <a:t>11/3/25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/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1674006" y="3447259"/>
            <a:ext cx="8160774" cy="1500187"/>
          </a:xfrm>
        </p:spPr>
        <p:txBody>
          <a:bodyPr lIns="9144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74006" y="1555276"/>
            <a:ext cx="8160774" cy="1864995"/>
          </a:xfrm>
          <a:noFill/>
        </p:spPr>
        <p:txBody>
          <a:bodyPr anchor="b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017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1BC2-7DC9-274F-9AA5-41AD410B73E8}" type="datetime1">
              <a:rPr lang="en-US" smtClean="0"/>
              <a:t>11/3/25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6172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838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63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541A-B732-0842-A74F-0C72DB237063}" type="datetime1">
              <a:rPr lang="en-US" smtClean="0"/>
              <a:t>11/3/25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2"/>
          <p:cNvSpPr>
            <a:spLocks noGrp="1"/>
          </p:cNvSpPr>
          <p:nvPr>
            <p:ph sz="quarter" idx="4"/>
          </p:nvPr>
        </p:nvSpPr>
        <p:spPr>
          <a:xfrm>
            <a:off x="6172200" y="2424112"/>
            <a:ext cx="5183188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ing 2"/>
          <p:cNvSpPr>
            <a:spLocks noGrp="1"/>
          </p:cNvSpPr>
          <p:nvPr>
            <p:ph type="body" sz="quarter" idx="3"/>
          </p:nvPr>
        </p:nvSpPr>
        <p:spPr>
          <a:xfrm>
            <a:off x="6172200" y="16002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1"/>
          <p:cNvSpPr>
            <a:spLocks noGrp="1"/>
          </p:cNvSpPr>
          <p:nvPr>
            <p:ph sz="half" idx="2"/>
          </p:nvPr>
        </p:nvSpPr>
        <p:spPr>
          <a:xfrm>
            <a:off x="839788" y="2424112"/>
            <a:ext cx="5157787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Heading 1"/>
          <p:cNvSpPr>
            <a:spLocks noGrp="1"/>
          </p:cNvSpPr>
          <p:nvPr>
            <p:ph type="body" idx="1"/>
          </p:nvPr>
        </p:nvSpPr>
        <p:spPr>
          <a:xfrm>
            <a:off x="839788" y="16002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5840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224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BA72-28C9-9A46-8637-8A409BF0CACF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2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idden Title">
            <a:extLst>
              <a:ext uri="{FF2B5EF4-FFF2-40B4-BE49-F238E27FC236}">
                <a16:creationId xmlns:a16="http://schemas.microsoft.com/office/drawing/2014/main" id="{2BFCB23C-FD7A-DDAB-2F31-3EA040396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139584"/>
            <a:ext cx="10515600" cy="1001559"/>
          </a:xfrm>
        </p:spPr>
        <p:txBody>
          <a:bodyPr/>
          <a:lstStyle/>
          <a:p>
            <a:r>
              <a:rPr lang="en-US" dirty="0"/>
              <a:t>Click to edit title (this will display for screen readers and outlines)</a:t>
            </a:r>
          </a:p>
        </p:txBody>
      </p:sp>
    </p:spTree>
    <p:extLst>
      <p:ext uri="{BB962C8B-B14F-4D97-AF65-F5344CB8AC3E}">
        <p14:creationId xmlns:p14="http://schemas.microsoft.com/office/powerpoint/2010/main" val="303659661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tIns="18288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F7BEC92A-23B7-BAAB-4CE5-D6D7A6417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0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77697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tIns="18288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7D76AD61-182C-13DD-7E32-DAED6ED8C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1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3264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8AE4-2A10-5F42-AC8C-4BD01A79A0D1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59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C519-8308-2748-8B0B-F7B055AE4297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tIns="182880" bIns="18288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489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ographic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E0315FA0-DFBB-0494-15F4-F94FA37B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48D3A38-8D3E-6EB0-FE34-FBB6F9AF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331D1D9-60E1-36A2-EDA8-C31A7ED8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C4533C5-D85B-5D93-12B0-136A51D73C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4088" y="565150"/>
            <a:ext cx="5672170" cy="5511800"/>
          </a:xfrm>
          <a:solidFill>
            <a:schemeClr val="bg2"/>
          </a:solidFill>
        </p:spPr>
        <p:txBody>
          <a:bodyPr lIns="365760" tIns="45720" rIns="36576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52A58E-1F73-C381-F411-54304E513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6923" y="5453949"/>
            <a:ext cx="3868300" cy="622409"/>
          </a:xfrm>
        </p:spPr>
        <p:txBody>
          <a:bodyPr tIns="9144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F94145-6C3C-7197-F652-4095F3D46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923" y="4557832"/>
            <a:ext cx="3867807" cy="896117"/>
          </a:xfrm>
        </p:spPr>
        <p:txBody>
          <a:bodyPr lIns="91440" anchor="ctr">
            <a:no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4" name="Biographical Portrait">
            <a:extLst>
              <a:ext uri="{FF2B5EF4-FFF2-40B4-BE49-F238E27FC236}">
                <a16:creationId xmlns:a16="http://schemas.microsoft.com/office/drawing/2014/main" id="{C01C33A2-E0D6-52C6-B10A-B3D8B056EA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6923" y="490278"/>
            <a:ext cx="3867808" cy="4022020"/>
          </a:xfrm>
          <a:custGeom>
            <a:avLst/>
            <a:gdLst>
              <a:gd name="connsiteX0" fmla="*/ 1933904 w 3867808"/>
              <a:gd name="connsiteY0" fmla="*/ 0 h 4022020"/>
              <a:gd name="connsiteX1" fmla="*/ 3867808 w 3867808"/>
              <a:gd name="connsiteY1" fmla="*/ 2011366 h 4022020"/>
              <a:gd name="connsiteX2" fmla="*/ 2131635 w 3867808"/>
              <a:gd name="connsiteY2" fmla="*/ 4012348 h 4022020"/>
              <a:gd name="connsiteX3" fmla="*/ 1947462 w 3867808"/>
              <a:gd name="connsiteY3" fmla="*/ 4022020 h 4022020"/>
              <a:gd name="connsiteX4" fmla="*/ 1920347 w 3867808"/>
              <a:gd name="connsiteY4" fmla="*/ 4022020 h 4022020"/>
              <a:gd name="connsiteX5" fmla="*/ 1736174 w 3867808"/>
              <a:gd name="connsiteY5" fmla="*/ 4012348 h 4022020"/>
              <a:gd name="connsiteX6" fmla="*/ 0 w 3867808"/>
              <a:gd name="connsiteY6" fmla="*/ 2011366 h 4022020"/>
              <a:gd name="connsiteX7" fmla="*/ 1933904 w 3867808"/>
              <a:gd name="connsiteY7" fmla="*/ 0 h 40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808" h="4022020">
                <a:moveTo>
                  <a:pt x="1933904" y="0"/>
                </a:moveTo>
                <a:cubicBezTo>
                  <a:pt x="3001970" y="0"/>
                  <a:pt x="3867808" y="900519"/>
                  <a:pt x="3867808" y="2011366"/>
                </a:cubicBezTo>
                <a:cubicBezTo>
                  <a:pt x="3867808" y="3052785"/>
                  <a:pt x="3106818" y="3909346"/>
                  <a:pt x="2131635" y="4012348"/>
                </a:cubicBezTo>
                <a:lnTo>
                  <a:pt x="1947462" y="4022020"/>
                </a:lnTo>
                <a:lnTo>
                  <a:pt x="1920347" y="4022020"/>
                </a:lnTo>
                <a:lnTo>
                  <a:pt x="1736174" y="4012348"/>
                </a:lnTo>
                <a:cubicBezTo>
                  <a:pt x="760991" y="3909346"/>
                  <a:pt x="0" y="3052785"/>
                  <a:pt x="0" y="2011366"/>
                </a:cubicBezTo>
                <a:cubicBezTo>
                  <a:pt x="0" y="900519"/>
                  <a:pt x="865838" y="0"/>
                  <a:pt x="19339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57078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Upper Right Background">
            <a:extLst>
              <a:ext uri="{FF2B5EF4-FFF2-40B4-BE49-F238E27FC236}">
                <a16:creationId xmlns:a16="http://schemas.microsoft.com/office/drawing/2014/main" id="{741348CF-8AE0-CDA7-6AF8-73CBD508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362456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Lower Left Background">
            <a:extLst>
              <a:ext uri="{FF2B5EF4-FFF2-40B4-BE49-F238E27FC236}">
                <a16:creationId xmlns:a16="http://schemas.microsoft.com/office/drawing/2014/main" id="{7A022FAC-8470-0247-48BA-724E9DA0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6879" y="3664139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Vertical Divider">
            <a:extLst>
              <a:ext uri="{FF2B5EF4-FFF2-40B4-BE49-F238E27FC236}">
                <a16:creationId xmlns:a16="http://schemas.microsoft.com/office/drawing/2014/main" id="{56653F9A-22F3-01A3-08FE-B872A42C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1362456"/>
            <a:ext cx="0" cy="4572000"/>
          </a:xfrm>
          <a:prstGeom prst="line">
            <a:avLst/>
          </a:prstGeom>
          <a:ln w="28575">
            <a:solidFill>
              <a:srgbClr val="330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Horizontal Divider">
            <a:extLst>
              <a:ext uri="{FF2B5EF4-FFF2-40B4-BE49-F238E27FC236}">
                <a16:creationId xmlns:a16="http://schemas.microsoft.com/office/drawing/2014/main" id="{FD96D644-BABC-710D-9181-F5F1CFE2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06880" y="3648456"/>
            <a:ext cx="87782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8C45C620-8DCA-F412-3FAF-615D5BE6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1FB36B0-30B4-5161-4F34-C0DB33DF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0834D6B-037D-B08E-B56B-6F63524B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Lower Right Content">
            <a:extLst>
              <a:ext uri="{FF2B5EF4-FFF2-40B4-BE49-F238E27FC236}">
                <a16:creationId xmlns:a16="http://schemas.microsoft.com/office/drawing/2014/main" id="{59A8F6BE-E970-A0F4-7DDA-8524CD5C33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95840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Lower Right Label 2">
            <a:extLst>
              <a:ext uri="{FF2B5EF4-FFF2-40B4-BE49-F238E27FC236}">
                <a16:creationId xmlns:a16="http://schemas.microsoft.com/office/drawing/2014/main" id="{CFD30BF1-A505-9ACC-025A-469B5F0297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03409" y="4654295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7" name="Lower Right Label 1">
            <a:extLst>
              <a:ext uri="{FF2B5EF4-FFF2-40B4-BE49-F238E27FC236}">
                <a16:creationId xmlns:a16="http://schemas.microsoft.com/office/drawing/2014/main" id="{C1877750-E333-F03B-47EC-F2033B802A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524" y="5962966"/>
            <a:ext cx="4389117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7" name="Lower Left Content">
            <a:extLst>
              <a:ext uri="{FF2B5EF4-FFF2-40B4-BE49-F238E27FC236}">
                <a16:creationId xmlns:a16="http://schemas.microsoft.com/office/drawing/2014/main" id="{6EB568C5-C36C-C3B6-B84E-33585ED25B1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706563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Lower Left Label 2">
            <a:extLst>
              <a:ext uri="{FF2B5EF4-FFF2-40B4-BE49-F238E27FC236}">
                <a16:creationId xmlns:a16="http://schemas.microsoft.com/office/drawing/2014/main" id="{837C4CC4-7EAF-DC30-D4DD-8B9A27E114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" y="4654295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6" name="Lower Left Label 1">
            <a:extLst>
              <a:ext uri="{FF2B5EF4-FFF2-40B4-BE49-F238E27FC236}">
                <a16:creationId xmlns:a16="http://schemas.microsoft.com/office/drawing/2014/main" id="{4B5B599D-1D6D-2F42-226C-68559DBA7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6406" y="5962966"/>
            <a:ext cx="4389119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6" name="Upper Right Content">
            <a:extLst>
              <a:ext uri="{FF2B5EF4-FFF2-40B4-BE49-F238E27FC236}">
                <a16:creationId xmlns:a16="http://schemas.microsoft.com/office/drawing/2014/main" id="{C9BA5D50-354F-362B-0D00-D2581CEB93A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5840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Upper Right Label 2">
            <a:extLst>
              <a:ext uri="{FF2B5EF4-FFF2-40B4-BE49-F238E27FC236}">
                <a16:creationId xmlns:a16="http://schemas.microsoft.com/office/drawing/2014/main" id="{95D7251D-C3E9-D88C-6B59-37FDF825BC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409" y="2176811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5" name="Upper Right Label 1">
            <a:extLst>
              <a:ext uri="{FF2B5EF4-FFF2-40B4-BE49-F238E27FC236}">
                <a16:creationId xmlns:a16="http://schemas.microsoft.com/office/drawing/2014/main" id="{01DC97BE-4E44-4321-55D1-58467CA8C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524" y="904718"/>
            <a:ext cx="4389117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5" name="Upper Left Content">
            <a:extLst>
              <a:ext uri="{FF2B5EF4-FFF2-40B4-BE49-F238E27FC236}">
                <a16:creationId xmlns:a16="http://schemas.microsoft.com/office/drawing/2014/main" id="{34ADB10B-DD8F-366C-2FE7-EB6B19010D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706563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Upper Left Label 2">
            <a:extLst>
              <a:ext uri="{FF2B5EF4-FFF2-40B4-BE49-F238E27FC236}">
                <a16:creationId xmlns:a16="http://schemas.microsoft.com/office/drawing/2014/main" id="{A2A1B410-A6E6-1BF0-054A-670E8ED31F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168" y="2176811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4" name="Upper Left Label 1">
            <a:extLst>
              <a:ext uri="{FF2B5EF4-FFF2-40B4-BE49-F238E27FC236}">
                <a16:creationId xmlns:a16="http://schemas.microsoft.com/office/drawing/2014/main" id="{49583889-99E8-7796-E87C-F99F6EE72D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6406" y="904718"/>
            <a:ext cx="4389119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5C5A4C-3D9C-8F95-687D-4440AD423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4273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9961950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924D0665-6B62-D94C-6BB9-A5F32444BAF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tIns="27432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picture. Resize to fill screen if necessary.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52612960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345CF1A-4C10-1E0A-F359-242D961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F89A3E1-10E8-DF5C-ADA7-7AA1AC18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A5217EA-2F5D-8BD3-F6A4-7D27B940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28B89F34-6ED0-DAD7-D81D-47BF20B8B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5640428"/>
            <a:ext cx="10515601" cy="592656"/>
          </a:xfrm>
        </p:spPr>
        <p:txBody>
          <a:bodyPr/>
          <a:lstStyle>
            <a:lvl1pPr marL="0" indent="0" algn="ctr">
              <a:buNone/>
              <a:defRPr sz="2000" i="1"/>
            </a:lvl1pPr>
          </a:lstStyle>
          <a:p>
            <a:pPr lvl="0"/>
            <a:r>
              <a:rPr lang="en-US" dirty="0"/>
              <a:t>Click to add an image caption</a:t>
            </a:r>
          </a:p>
        </p:txBody>
      </p:sp>
      <p:sp>
        <p:nvSpPr>
          <p:cNvPr id="13" name="Picture or Content">
            <a:extLst>
              <a:ext uri="{FF2B5EF4-FFF2-40B4-BE49-F238E27FC236}">
                <a16:creationId xmlns:a16="http://schemas.microsoft.com/office/drawing/2014/main" id="{CD1EE5D5-5FAF-B62D-975C-50CD063993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377023"/>
            <a:ext cx="10515600" cy="4253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DF3277-C373-C98B-51F8-11BE6680E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87294351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lumn 3 Content">
            <a:extLst>
              <a:ext uri="{FF2B5EF4-FFF2-40B4-BE49-F238E27FC236}">
                <a16:creationId xmlns:a16="http://schemas.microsoft.com/office/drawing/2014/main" id="{05C1C30C-0CDC-3433-354D-EE9FD3483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3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lumn 3 Header">
            <a:extLst>
              <a:ext uri="{FF2B5EF4-FFF2-40B4-BE49-F238E27FC236}">
                <a16:creationId xmlns:a16="http://schemas.microsoft.com/office/drawing/2014/main" id="{EAD20429-72EA-1AA7-5960-5D9EC8A91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34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lumn 2 Content">
            <a:extLst>
              <a:ext uri="{FF2B5EF4-FFF2-40B4-BE49-F238E27FC236}">
                <a16:creationId xmlns:a16="http://schemas.microsoft.com/office/drawing/2014/main" id="{D0A545A4-8A49-4146-D78B-41174161D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7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lumn 2 Header">
            <a:extLst>
              <a:ext uri="{FF2B5EF4-FFF2-40B4-BE49-F238E27FC236}">
                <a16:creationId xmlns:a16="http://schemas.microsoft.com/office/drawing/2014/main" id="{9314D649-A64C-6E34-2130-1BDF8C873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58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506132602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lumn 4 Content">
            <a:extLst>
              <a:ext uri="{FF2B5EF4-FFF2-40B4-BE49-F238E27FC236}">
                <a16:creationId xmlns:a16="http://schemas.microsoft.com/office/drawing/2014/main" id="{34C4BCE7-4191-F2A9-F80D-F627E9EA07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9198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lumn 4 Header">
            <a:extLst>
              <a:ext uri="{FF2B5EF4-FFF2-40B4-BE49-F238E27FC236}">
                <a16:creationId xmlns:a16="http://schemas.microsoft.com/office/drawing/2014/main" id="{1B8965D5-7659-2A00-C376-DD8B3ACA71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39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lumn 3 Content">
            <a:extLst>
              <a:ext uri="{FF2B5EF4-FFF2-40B4-BE49-F238E27FC236}">
                <a16:creationId xmlns:a16="http://schemas.microsoft.com/office/drawing/2014/main" id="{E901D810-CC36-C6AA-9EDE-FB64CCF9EA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9166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lumn 3 Header">
            <a:extLst>
              <a:ext uri="{FF2B5EF4-FFF2-40B4-BE49-F238E27FC236}">
                <a16:creationId xmlns:a16="http://schemas.microsoft.com/office/drawing/2014/main" id="{303B94A8-CAE7-3320-55C2-EC5B8724067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lumn 2 Content">
            <a:extLst>
              <a:ext uri="{FF2B5EF4-FFF2-40B4-BE49-F238E27FC236}">
                <a16:creationId xmlns:a16="http://schemas.microsoft.com/office/drawing/2014/main" id="{CB09BE5E-E412-C4BE-23E6-1B9E9E610C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8230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lumn 2 Header">
            <a:extLst>
              <a:ext uri="{FF2B5EF4-FFF2-40B4-BE49-F238E27FC236}">
                <a16:creationId xmlns:a16="http://schemas.microsoft.com/office/drawing/2014/main" id="{FE4E8193-CA60-39C5-BF2A-642510ED2A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5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22685407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5375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6927794" y="6356350"/>
            <a:ext cx="137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BC7800-B276-A64A-8AB0-19972C98F17B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25011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510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8200" y="1602658"/>
            <a:ext cx="10515600" cy="457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46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v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prashant111/tutorial-time-series-forecasting-with-prophe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jpeg"/><Relationship Id="rId4" Type="http://schemas.openxmlformats.org/officeDocument/2006/relationships/hyperlink" Target="http://www.google.com/url?sa=i&amp;rct=j&amp;q=&amp;esrc=s&amp;source=images&amp;cd=&amp;cad=rja&amp;uact=8&amp;ved=0CAcQjRw&amp;url=http://wiki.bethanycrane.com/perceptron&amp;ei=LqzkVK6YB8yaNvKJgeAN&amp;bvm=bv.85970519,d.eXY&amp;psig=AFQjCNFUlAtlA5kc8XTKXrCm0sqBjPX7hw&amp;ust=1424358759883375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youtube.com/watch?v=aircAruvnKk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F9755-800C-BAA7-9886-5018A613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75E86-3AC1-27FE-A80E-914C9B6378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 Science for Business – Fall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FFC07-3828-6FDB-8B93-EA871DD2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901609"/>
            <a:ext cx="10455965" cy="836754"/>
          </a:xfrm>
        </p:spPr>
        <p:txBody>
          <a:bodyPr>
            <a:normAutofit/>
          </a:bodyPr>
          <a:lstStyle/>
          <a:p>
            <a:r>
              <a:rPr lang="en-US" dirty="0"/>
              <a:t>Topic 7 – Machine Learning Toolbox</a:t>
            </a:r>
          </a:p>
        </p:txBody>
      </p:sp>
    </p:spTree>
    <p:extLst>
      <p:ext uri="{BB962C8B-B14F-4D97-AF65-F5344CB8AC3E}">
        <p14:creationId xmlns:p14="http://schemas.microsoft.com/office/powerpoint/2010/main" val="194182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41B998-8A0C-373A-1AB7-4EAAA5BC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73046-B1C8-A5DE-26CC-479B06901A60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BF524D-3DDD-CFB2-6C81-903459559B17}"/>
              </a:ext>
            </a:extLst>
          </p:cNvPr>
          <p:cNvSpPr txBox="1"/>
          <p:nvPr/>
        </p:nvSpPr>
        <p:spPr>
          <a:xfrm>
            <a:off x="2869325" y="1838594"/>
            <a:ext cx="2150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Regression</a:t>
            </a:r>
          </a:p>
        </p:txBody>
      </p:sp>
      <p:pic>
        <p:nvPicPr>
          <p:cNvPr id="3" name="Picture 2" descr="Pin by Michael Hathaway on Tool Boxes | Mechanic life, Mechanic tool box,  Funny car memes">
            <a:extLst>
              <a:ext uri="{FF2B5EF4-FFF2-40B4-BE49-F238E27FC236}">
                <a16:creationId xmlns:a16="http://schemas.microsoft.com/office/drawing/2014/main" id="{E99F37C2-ABF3-2EE8-5C47-73BB37A8E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120" y="515868"/>
            <a:ext cx="3734634" cy="506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067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94B11-591A-CFEC-E9B4-6C8D84592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387051-6BA8-2AF5-B18A-D3ED310BC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ML Models …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9AA704-015A-91DC-86AD-630D59F7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85C63-9D63-9E17-9348-6E8CC99A7DB1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06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lide Number Placeholder 1">
            <a:extLst>
              <a:ext uri="{FF2B5EF4-FFF2-40B4-BE49-F238E27FC236}">
                <a16:creationId xmlns:a16="http://schemas.microsoft.com/office/drawing/2014/main" id="{A92A5891-7915-91E1-0714-5D06D2FB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5103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BBEE3BA-F264-1746-880E-39AD601DF2B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042796-2CDD-773A-E861-B8C6916A6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28"/>
          <a:stretch>
            <a:fillRect/>
          </a:stretch>
        </p:blipFill>
        <p:spPr bwMode="auto">
          <a:xfrm>
            <a:off x="6172200" y="1602658"/>
            <a:ext cx="5181600" cy="457430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C950-7FF0-248D-8C35-858827593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203" y="1602658"/>
            <a:ext cx="5681597" cy="45743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Tree models can also be used with a numeric outcome, called </a:t>
            </a:r>
            <a:r>
              <a:rPr lang="en-US" sz="1800" b="1" i="1" dirty="0"/>
              <a:t>Regression Trees</a:t>
            </a:r>
          </a:p>
          <a:p>
            <a:pPr>
              <a:lnSpc>
                <a:spcPct val="90000"/>
              </a:lnSpc>
            </a:pPr>
            <a:endParaRPr lang="en-US" sz="1800" b="1" i="1" dirty="0"/>
          </a:p>
          <a:p>
            <a:pPr>
              <a:lnSpc>
                <a:spcPct val="90000"/>
              </a:lnSpc>
            </a:pPr>
            <a:r>
              <a:rPr lang="en-US" sz="1800" i="1" dirty="0"/>
              <a:t>Purity</a:t>
            </a:r>
            <a:r>
              <a:rPr lang="en-US" sz="1800" dirty="0"/>
              <a:t> is measured by the variance in the nodes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Prediction accuracy is measured by (root) mean squared error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Fitting process is similar to Classification Trees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Example: Predicting the price of used Toyota Corollas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58FAF-DE1C-DE59-3506-E73985A4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75" y="136525"/>
            <a:ext cx="10515600" cy="1005840"/>
          </a:xfrm>
        </p:spPr>
        <p:txBody>
          <a:bodyPr anchor="ctr">
            <a:normAutofit/>
          </a:bodyPr>
          <a:lstStyle/>
          <a:p>
            <a:r>
              <a:rPr lang="en-US" sz="3200" dirty="0"/>
              <a:t>Regression: Regression Trees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18ADBA0-0B90-A462-1507-54C976F4A60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13510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BEE3BA-F264-1746-880E-39AD601DF2B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61A3AE-56CA-6184-C1D5-6E64CAF400B2}"/>
              </a:ext>
            </a:extLst>
          </p:cNvPr>
          <p:cNvSpPr txBox="1"/>
          <p:nvPr/>
        </p:nvSpPr>
        <p:spPr>
          <a:xfrm>
            <a:off x="4309656" y="6434108"/>
            <a:ext cx="2095638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Shmueli: Chapter 9.6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434AE4-D27E-4F19-43B4-69F209A3B34E}"/>
              </a:ext>
            </a:extLst>
          </p:cNvPr>
          <p:cNvSpPr txBox="1"/>
          <p:nvPr/>
        </p:nvSpPr>
        <p:spPr>
          <a:xfrm>
            <a:off x="1981201" y="5992261"/>
            <a:ext cx="4525983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sklearn.tree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import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DecisionTreeRegressor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84B34-5046-6721-67C8-F63EC5BF57B5}"/>
              </a:ext>
            </a:extLst>
          </p:cNvPr>
          <p:cNvSpPr txBox="1"/>
          <p:nvPr/>
        </p:nvSpPr>
        <p:spPr>
          <a:xfrm>
            <a:off x="6890700" y="203628"/>
            <a:ext cx="14756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effectLst/>
                <a:latin typeface="Helvetica Neue" panose="02000503000000020004" pitchFamily="2" charset="0"/>
              </a:rPr>
              <a:t>🧰</a:t>
            </a:r>
          </a:p>
        </p:txBody>
      </p:sp>
    </p:spTree>
    <p:extLst>
      <p:ext uri="{BB962C8B-B14F-4D97-AF65-F5344CB8AC3E}">
        <p14:creationId xmlns:p14="http://schemas.microsoft.com/office/powerpoint/2010/main" val="277032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B70EF-150A-65F7-B93A-989397BCD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678F4F-B0EE-A536-CD60-38F0C559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199821"/>
            <a:ext cx="10515600" cy="1001559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Linear Discriminant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BE8F14-D474-5083-C995-B69B57D16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492875"/>
            <a:ext cx="1351034" cy="365125"/>
          </a:xfrm>
        </p:spPr>
        <p:txBody>
          <a:bodyPr/>
          <a:lstStyle/>
          <a:p>
            <a:fld id="{ABBEE3BA-F264-1746-880E-39AD601DF2B1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76800-E3E9-A2A3-E6BE-240EC998F90C}"/>
              </a:ext>
            </a:extLst>
          </p:cNvPr>
          <p:cNvSpPr txBox="1"/>
          <p:nvPr/>
        </p:nvSpPr>
        <p:spPr>
          <a:xfrm>
            <a:off x="7525408" y="2270125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7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0624-77F4-B927-7816-8E8544858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ADA00-8AA3-B107-D180-7753B786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F3B01-F82D-3DBD-D98D-48086E91E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475" y="919198"/>
            <a:ext cx="4130565" cy="422082"/>
          </a:xfrm>
          <a:solidFill>
            <a:schemeClr val="bg2"/>
          </a:solidFill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Linear Discriminant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610D34-1F17-1A74-C5E7-22D1CBB41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04"/>
            <a:ext cx="10515600" cy="1001559"/>
          </a:xfrm>
        </p:spPr>
        <p:txBody>
          <a:bodyPr>
            <a:normAutofit/>
          </a:bodyPr>
          <a:lstStyle/>
          <a:p>
            <a:r>
              <a:rPr lang="en-US" sz="3600" dirty="0"/>
              <a:t>Classification: Linear Discriminants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A7F7800-EC81-68C7-EEAC-5FC690640074}"/>
              </a:ext>
            </a:extLst>
          </p:cNvPr>
          <p:cNvGrpSpPr/>
          <p:nvPr/>
        </p:nvGrpSpPr>
        <p:grpSpPr>
          <a:xfrm>
            <a:off x="6238503" y="1499738"/>
            <a:ext cx="4104290" cy="3045490"/>
            <a:chOff x="1676400" y="1371600"/>
            <a:chExt cx="5291100" cy="36576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8AD39A-DC5F-0E75-0B12-7C6753236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2692"/>
            <a:stretch/>
          </p:blipFill>
          <p:spPr>
            <a:xfrm>
              <a:off x="1676400" y="1371600"/>
              <a:ext cx="5291100" cy="3657600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94B9FF2-0930-70E3-ED6E-5CB2A13407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5200" y="2971800"/>
              <a:ext cx="762000" cy="1066800"/>
            </a:xfrm>
            <a:prstGeom prst="line">
              <a:avLst/>
            </a:prstGeom>
            <a:ln w="666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251FB3C-D5DD-EEC8-FB14-A89FA95A43ED}"/>
              </a:ext>
            </a:extLst>
          </p:cNvPr>
          <p:cNvSpPr txBox="1"/>
          <p:nvPr/>
        </p:nvSpPr>
        <p:spPr>
          <a:xfrm>
            <a:off x="9848193" y="2368015"/>
            <a:ext cx="2343807" cy="83099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“best” line is found via mathematical optimization</a:t>
            </a:r>
          </a:p>
        </p:txBody>
      </p:sp>
      <p:pic>
        <p:nvPicPr>
          <p:cNvPr id="9" name="Picture 8" descr="A diagram of a diagram of a balance&#10;&#10;Description automatically generated with medium confidence">
            <a:extLst>
              <a:ext uri="{FF2B5EF4-FFF2-40B4-BE49-F238E27FC236}">
                <a16:creationId xmlns:a16="http://schemas.microsoft.com/office/drawing/2014/main" id="{DC1069A3-7843-1ACE-4505-275F9C342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394740"/>
            <a:ext cx="4114800" cy="30063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2E1785-E88E-EE07-D449-F8E5788E1F79}"/>
              </a:ext>
            </a:extLst>
          </p:cNvPr>
          <p:cNvSpPr txBox="1"/>
          <p:nvPr/>
        </p:nvSpPr>
        <p:spPr>
          <a:xfrm>
            <a:off x="5810992" y="244631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922B5AD-32B0-2661-0770-70184E713EB7}"/>
              </a:ext>
            </a:extLst>
          </p:cNvPr>
          <p:cNvSpPr txBox="1">
            <a:spLocks/>
          </p:cNvSpPr>
          <p:nvPr/>
        </p:nvSpPr>
        <p:spPr bwMode="auto">
          <a:xfrm>
            <a:off x="1893788" y="919198"/>
            <a:ext cx="4130565" cy="42208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US" b="1" kern="0" dirty="0">
                <a:solidFill>
                  <a:srgbClr val="0070C0"/>
                </a:solidFill>
              </a:rPr>
              <a:t>Decision Tree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3DB4592-6821-BD04-F07C-44773CE0E0B2}"/>
              </a:ext>
            </a:extLst>
          </p:cNvPr>
          <p:cNvSpPr txBox="1">
            <a:spLocks/>
          </p:cNvSpPr>
          <p:nvPr/>
        </p:nvSpPr>
        <p:spPr>
          <a:xfrm>
            <a:off x="86015" y="4559765"/>
            <a:ext cx="6563710" cy="4951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Linear discriminant: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B4C83A-1629-E402-0093-CD720F878030}"/>
              </a:ext>
            </a:extLst>
          </p:cNvPr>
          <p:cNvSpPr txBox="1"/>
          <p:nvPr/>
        </p:nvSpPr>
        <p:spPr>
          <a:xfrm>
            <a:off x="86015" y="5213781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Class(x)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8913E5-CC01-939E-DEA6-7B78832FDBF5}"/>
              </a:ext>
            </a:extLst>
          </p:cNvPr>
          <p:cNvSpPr txBox="1"/>
          <p:nvPr/>
        </p:nvSpPr>
        <p:spPr>
          <a:xfrm>
            <a:off x="1196661" y="5028908"/>
            <a:ext cx="4016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if 1.0×𝐴𝑔𝑒 −1.5×𝐵𝑎𝑙𝑎𝑛𝑐𝑒+ 60 &gt;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6419F4-61CE-EA8D-1BB4-F71DE3CF5544}"/>
                  </a:ext>
                </a:extLst>
              </p:cNvPr>
              <p:cNvSpPr txBox="1"/>
              <p:nvPr/>
            </p:nvSpPr>
            <p:spPr>
              <a:xfrm>
                <a:off x="1187771" y="5496288"/>
                <a:ext cx="4006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∘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if 1.0×𝐴𝑔𝑒 −1.5×𝐵𝑎𝑙𝑎𝑛𝑐𝑒+ 60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≤ 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6419F4-61CE-EA8D-1BB4-F71DE3CF5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771" y="5496288"/>
                <a:ext cx="4006674" cy="369332"/>
              </a:xfrm>
              <a:prstGeom prst="rect">
                <a:avLst/>
              </a:prstGeom>
              <a:blipFill>
                <a:blip r:embed="rId5"/>
                <a:stretch>
                  <a:fillRect t="-10000" r="-3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A821A2E-7091-F06F-0390-0E964D8A1691}"/>
              </a:ext>
            </a:extLst>
          </p:cNvPr>
          <p:cNvSpPr txBox="1">
            <a:spLocks/>
          </p:cNvSpPr>
          <p:nvPr/>
        </p:nvSpPr>
        <p:spPr bwMode="auto">
          <a:xfrm>
            <a:off x="5389386" y="4531414"/>
            <a:ext cx="6563710" cy="3431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Tx/>
            </a:pPr>
            <a:r>
              <a:rPr lang="en-US" sz="1400" kern="0" dirty="0"/>
              <a:t>Linear discriminants:</a:t>
            </a:r>
          </a:p>
          <a:p>
            <a:pPr lvl="1">
              <a:buClrTx/>
            </a:pPr>
            <a:r>
              <a:rPr lang="en-US" sz="1400" kern="0" dirty="0"/>
              <a:t>Competing model to logistic regression</a:t>
            </a:r>
          </a:p>
          <a:p>
            <a:pPr lvl="2">
              <a:buClrTx/>
            </a:pPr>
            <a:r>
              <a:rPr lang="en-US" sz="1400" kern="0" dirty="0"/>
              <a:t>Both are linear in the features</a:t>
            </a:r>
          </a:p>
          <a:p>
            <a:pPr lvl="1">
              <a:buClrTx/>
            </a:pPr>
            <a:r>
              <a:rPr lang="en-US" sz="1400" kern="0" dirty="0"/>
              <a:t>Good when</a:t>
            </a:r>
          </a:p>
          <a:p>
            <a:pPr lvl="2">
              <a:buClrTx/>
            </a:pPr>
            <a:r>
              <a:rPr lang="en-US" sz="1400" kern="0" dirty="0"/>
              <a:t>You believe the relationship might be linear</a:t>
            </a:r>
          </a:p>
          <a:p>
            <a:pPr lvl="2">
              <a:buClrTx/>
            </a:pPr>
            <a:r>
              <a:rPr lang="en-US" sz="1400" kern="0" dirty="0"/>
              <a:t>Feature distributions are “well-behaved” (normal)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C9C8FF-9BBF-20A5-579B-5364A8689613}"/>
              </a:ext>
            </a:extLst>
          </p:cNvPr>
          <p:cNvSpPr txBox="1"/>
          <p:nvPr/>
        </p:nvSpPr>
        <p:spPr>
          <a:xfrm>
            <a:off x="2708380" y="6356350"/>
            <a:ext cx="6631944" cy="276999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7020"/>
                </a:solidFill>
                <a:latin typeface="Lucida Console" panose="020B0609040504020204" pitchFamily="49" charset="0"/>
              </a:rPr>
              <a:t>from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b="1" dirty="0" err="1">
                <a:solidFill>
                  <a:srgbClr val="0E84B5"/>
                </a:solidFill>
                <a:latin typeface="Lucida Console" panose="020B0609040504020204" pitchFamily="49" charset="0"/>
              </a:rPr>
              <a:t>sklearn.discriminant_analysis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b="1" dirty="0">
                <a:solidFill>
                  <a:srgbClr val="007020"/>
                </a:solidFill>
                <a:latin typeface="Lucida Console" panose="020B0609040504020204" pitchFamily="49" charset="0"/>
              </a:rPr>
              <a:t>import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LinearDiscriminantAnalysis</a:t>
            </a:r>
            <a:endParaRPr lang="en-US" sz="2000" dirty="0"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C054F9-2703-4A25-E321-746AB5432121}"/>
              </a:ext>
            </a:extLst>
          </p:cNvPr>
          <p:cNvSpPr txBox="1"/>
          <p:nvPr/>
        </p:nvSpPr>
        <p:spPr>
          <a:xfrm>
            <a:off x="8822533" y="49936"/>
            <a:ext cx="14756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effectLst/>
                <a:latin typeface="Helvetica Neue" panose="02000503000000020004" pitchFamily="2" charset="0"/>
              </a:rPr>
              <a:t>🧰</a:t>
            </a:r>
          </a:p>
        </p:txBody>
      </p:sp>
    </p:spTree>
    <p:extLst>
      <p:ext uri="{BB962C8B-B14F-4D97-AF65-F5344CB8AC3E}">
        <p14:creationId xmlns:p14="http://schemas.microsoft.com/office/powerpoint/2010/main" val="145095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build="p" bldLvl="2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0836-E50D-E4E3-3248-D05DEA56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1F0D6B-FA22-EDF4-F272-02E20057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199821"/>
            <a:ext cx="10515600" cy="1001559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 Vector Machines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C2121F-F444-B8F6-B6D5-8B7E9FAF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492875"/>
            <a:ext cx="1351034" cy="365125"/>
          </a:xfrm>
        </p:spPr>
        <p:txBody>
          <a:bodyPr/>
          <a:lstStyle/>
          <a:p>
            <a:fld id="{ABBEE3BA-F264-1746-880E-39AD601DF2B1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6B76C5-5AA3-7573-9BD2-C08225E19A1E}"/>
              </a:ext>
            </a:extLst>
          </p:cNvPr>
          <p:cNvSpPr txBox="1"/>
          <p:nvPr/>
        </p:nvSpPr>
        <p:spPr>
          <a:xfrm>
            <a:off x="7525408" y="2270125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215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2B8CE-43AE-9336-0757-BF2925A4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26CC7-ED6D-2EF4-1C66-6979E339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CCB5E-FD33-253D-4224-C5EFEFF0F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Support Vector Machines are another type of mathematical model that finds linear boundaries between classes </a:t>
            </a:r>
          </a:p>
          <a:p>
            <a:r>
              <a:rPr lang="en-US" sz="2400" dirty="0"/>
              <a:t>They have become popular in recent years due to excellent performance in classification problems.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CD888E-9B77-13B6-2569-4C12E648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587"/>
            <a:ext cx="11451336" cy="1001559"/>
          </a:xfrm>
        </p:spPr>
        <p:txBody>
          <a:bodyPr>
            <a:noAutofit/>
          </a:bodyPr>
          <a:lstStyle/>
          <a:p>
            <a:r>
              <a:rPr lang="en-US" sz="3600" dirty="0"/>
              <a:t>Classification: Support Vector Machines (SVM)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88595-1623-B649-168D-04021CC10A23}"/>
              </a:ext>
            </a:extLst>
          </p:cNvPr>
          <p:cNvSpPr txBox="1"/>
          <p:nvPr/>
        </p:nvSpPr>
        <p:spPr>
          <a:xfrm>
            <a:off x="1220198" y="4336686"/>
            <a:ext cx="16495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line is best?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66C07-D8F5-FDFF-1ED8-8FF82E1A1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775" y="3660665"/>
            <a:ext cx="4641228" cy="306081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C6F929-7D7B-C4B5-8674-DAEBC8848674}"/>
              </a:ext>
            </a:extLst>
          </p:cNvPr>
          <p:cNvSpPr txBox="1">
            <a:spLocks/>
          </p:cNvSpPr>
          <p:nvPr/>
        </p:nvSpPr>
        <p:spPr>
          <a:xfrm>
            <a:off x="7869278" y="3424690"/>
            <a:ext cx="4012485" cy="263812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Assume your data is separable…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Margin: The minimum distance from the separating line to a single 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optimal SVM is the separator  that maximizes the margin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0237E1-6CBB-319E-1842-2FEEB0E3FC76}"/>
              </a:ext>
            </a:extLst>
          </p:cNvPr>
          <p:cNvSpPr txBox="1">
            <a:spLocks/>
          </p:cNvSpPr>
          <p:nvPr/>
        </p:nvSpPr>
        <p:spPr>
          <a:xfrm>
            <a:off x="7781545" y="4942454"/>
            <a:ext cx="4187952" cy="4972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CAFD0-46CE-B0BF-5BD6-0814477DB5A0}"/>
              </a:ext>
            </a:extLst>
          </p:cNvPr>
          <p:cNvSpPr txBox="1"/>
          <p:nvPr/>
        </p:nvSpPr>
        <p:spPr>
          <a:xfrm>
            <a:off x="11231657" y="132176"/>
            <a:ext cx="14756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effectLst/>
                <a:latin typeface="Helvetica Neue" panose="02000503000000020004" pitchFamily="2" charset="0"/>
              </a:rPr>
              <a:t>🧰</a:t>
            </a:r>
          </a:p>
        </p:txBody>
      </p:sp>
    </p:spTree>
    <p:extLst>
      <p:ext uri="{BB962C8B-B14F-4D97-AF65-F5344CB8AC3E}">
        <p14:creationId xmlns:p14="http://schemas.microsoft.com/office/powerpoint/2010/main" val="421595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D8B3C-4448-D8FE-8E5A-E13C6580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7ABA-6DF1-5D0A-C64D-4EABEC0B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806"/>
            <a:ext cx="10591800" cy="685482"/>
          </a:xfrm>
        </p:spPr>
        <p:txBody>
          <a:bodyPr>
            <a:noAutofit/>
          </a:bodyPr>
          <a:lstStyle/>
          <a:p>
            <a:r>
              <a:rPr lang="en-US" sz="3600" dirty="0"/>
              <a:t>SVM: Maximizing margin: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94730-66D8-92BE-B11F-E0389B599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790" y="649367"/>
            <a:ext cx="4110010" cy="3316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A424E0-3C75-6502-3C08-27610CAEDD87}"/>
              </a:ext>
            </a:extLst>
          </p:cNvPr>
          <p:cNvSpPr txBox="1"/>
          <p:nvPr/>
        </p:nvSpPr>
        <p:spPr>
          <a:xfrm>
            <a:off x="1340590" y="1397675"/>
            <a:ext cx="4369621" cy="20313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course data is not typically separable, but there are some clever mathematical tricks devised to deal with that</a:t>
            </a:r>
          </a:p>
          <a:p>
            <a:pPr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Computationally complex, but</a:t>
            </a:r>
          </a:p>
          <a:p>
            <a:pPr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rgbClr val="007020"/>
                </a:solidFill>
                <a:highlight>
                  <a:srgbClr val="00FFFF"/>
                </a:highlight>
                <a:latin typeface="Lucida Console" panose="020B0609040504020204" pitchFamily="49" charset="0"/>
              </a:rPr>
              <a:t>from</a:t>
            </a:r>
            <a:r>
              <a:rPr lang="en-US" b="1" dirty="0">
                <a:solidFill>
                  <a:srgbClr val="C65D09"/>
                </a:solidFill>
                <a:highlight>
                  <a:srgbClr val="00FFFF"/>
                </a:highlight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0E84B5"/>
                </a:solidFill>
                <a:highlight>
                  <a:srgbClr val="00FFFF"/>
                </a:highlight>
                <a:latin typeface="Lucida Console" panose="020B0609040504020204" pitchFamily="49" charset="0"/>
              </a:rPr>
              <a:t>sklearn</a:t>
            </a:r>
            <a:r>
              <a:rPr lang="en-US" b="1" dirty="0">
                <a:solidFill>
                  <a:srgbClr val="C65D09"/>
                </a:solidFill>
                <a:highlight>
                  <a:srgbClr val="00FFFF"/>
                </a:highlight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007020"/>
                </a:solidFill>
                <a:highlight>
                  <a:srgbClr val="00FFFF"/>
                </a:highlight>
                <a:latin typeface="Lucida Console" panose="020B0609040504020204" pitchFamily="49" charset="0"/>
              </a:rPr>
              <a:t>import</a:t>
            </a:r>
            <a:r>
              <a:rPr lang="en-US" b="1" dirty="0">
                <a:solidFill>
                  <a:srgbClr val="C65D09"/>
                </a:solidFill>
                <a:highlight>
                  <a:srgbClr val="00FFFF"/>
                </a:highlight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C65D09"/>
                </a:solidFill>
                <a:highlight>
                  <a:srgbClr val="00FFFF"/>
                </a:highlight>
                <a:latin typeface="Lucida Console" panose="020B0609040504020204" pitchFamily="49" charset="0"/>
              </a:rPr>
              <a:t>svm</a:t>
            </a:r>
            <a:endParaRPr lang="en-US" dirty="0">
              <a:highlight>
                <a:srgbClr val="00FFFF"/>
              </a:highlight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62164-F8E3-6B5F-79DB-ECF8AE6E2A5B}"/>
              </a:ext>
            </a:extLst>
          </p:cNvPr>
          <p:cNvSpPr txBox="1"/>
          <p:nvPr/>
        </p:nvSpPr>
        <p:spPr>
          <a:xfrm>
            <a:off x="330627" y="4247673"/>
            <a:ext cx="5905581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SVM has many tuning parameters:</a:t>
            </a:r>
          </a:p>
          <a:p>
            <a:pPr marL="285750" indent="-285750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C: complexity.  Higher values fit training data better</a:t>
            </a:r>
          </a:p>
          <a:p>
            <a:pPr marL="285750" indent="-285750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 kernel, degree, gamma (local sensitivity)</a:t>
            </a:r>
          </a:p>
          <a:p>
            <a:pPr marL="285750" indent="-285750"/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slow, and actually perform poorly if not fit with caution</a:t>
            </a:r>
          </a:p>
          <a:p>
            <a:pPr marL="285750" indent="-285750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expert hands, it has shown to be an excellent predictor</a:t>
            </a:r>
          </a:p>
          <a:p>
            <a:pPr marL="285750" indent="-285750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… you may have trouble!!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EAF4D-2F37-E63C-55BA-CACD3909460D}"/>
              </a:ext>
            </a:extLst>
          </p:cNvPr>
          <p:cNvSpPr txBox="1"/>
          <p:nvPr/>
        </p:nvSpPr>
        <p:spPr>
          <a:xfrm>
            <a:off x="1742341" y="6235896"/>
            <a:ext cx="7739106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ISL: Chapter 9.3 – 9.6 has good (🧠) explanation plus python code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FAA7EE-AE2E-7CA0-25A8-AA9B3F3EA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6452" y="5129519"/>
            <a:ext cx="1013465" cy="78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FB2DD2F-1F2A-EE21-3BDC-3F3F62008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2710" y="3919617"/>
            <a:ext cx="2880712" cy="222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4BB5669-B8E9-9F3B-2972-418F4942C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216" y="3896686"/>
            <a:ext cx="2940068" cy="227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71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4EB8-416C-249A-4ACB-1C731040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5AAC9A-B513-0327-AA1B-3072E88A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Series and Forecasting 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3EB744-0B02-24C7-25A3-393752FA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FF206-9C3D-4643-7EBE-86B28487C749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63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B2D9A-00B4-913E-8992-7FB0E5FE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E3C04-EB83-D5F0-A6BE-4F886010E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658"/>
            <a:ext cx="11168743" cy="4574305"/>
          </a:xfrm>
        </p:spPr>
        <p:txBody>
          <a:bodyPr>
            <a:normAutofit fontScale="92500"/>
          </a:bodyPr>
          <a:lstStyle/>
          <a:p>
            <a:r>
              <a:rPr lang="en-US" dirty="0"/>
              <a:t>Modelling data with a time component requires some specialized thinking</a:t>
            </a:r>
          </a:p>
          <a:p>
            <a:pPr lvl="1"/>
            <a:r>
              <a:rPr lang="en-US" dirty="0"/>
              <a:t>This field is called </a:t>
            </a:r>
            <a:r>
              <a:rPr lang="en-US" i="1" dirty="0"/>
              <a:t>Time Series – </a:t>
            </a:r>
            <a:r>
              <a:rPr lang="en-US" dirty="0"/>
              <a:t>when the goal is prediction it is called </a:t>
            </a:r>
            <a:r>
              <a:rPr lang="en-US" i="1" dirty="0"/>
              <a:t>Forecasting</a:t>
            </a:r>
          </a:p>
          <a:p>
            <a:pPr lvl="1"/>
            <a:r>
              <a:rPr lang="en-US" dirty="0"/>
              <a:t>Used widely to forecast sales, markets, production, demand, </a:t>
            </a:r>
            <a:r>
              <a:rPr lang="en-US" dirty="0" err="1"/>
              <a:t>etc</a:t>
            </a:r>
            <a:endParaRPr lang="en-US" dirty="0"/>
          </a:p>
          <a:p>
            <a:endParaRPr lang="en-US" i="1" dirty="0"/>
          </a:p>
          <a:p>
            <a:r>
              <a:rPr lang="en-US" dirty="0"/>
              <a:t>Time series models need to</a:t>
            </a:r>
          </a:p>
          <a:p>
            <a:pPr lvl="1"/>
            <a:r>
              <a:rPr lang="en-US" dirty="0"/>
              <a:t>Account for </a:t>
            </a:r>
            <a:r>
              <a:rPr lang="en-US" i="1" dirty="0"/>
              <a:t>seasonality</a:t>
            </a:r>
            <a:r>
              <a:rPr lang="en-US" dirty="0"/>
              <a:t>, that is effects of days of week, time of day, or seasons in the year</a:t>
            </a:r>
          </a:p>
          <a:p>
            <a:pPr lvl="1"/>
            <a:r>
              <a:rPr lang="en-US" dirty="0"/>
              <a:t>Account for </a:t>
            </a:r>
            <a:r>
              <a:rPr lang="en-US" i="1" dirty="0"/>
              <a:t>auto-correlation, </a:t>
            </a:r>
            <a:r>
              <a:rPr lang="en-US" dirty="0"/>
              <a:t>the fact that the observations are not independent (today’s stock market price depends on yesterday’s price)</a:t>
            </a:r>
          </a:p>
          <a:p>
            <a:pPr lvl="1"/>
            <a:r>
              <a:rPr lang="en-US" dirty="0"/>
              <a:t>Incorporate features into these models to account for outside influences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1ED7D-CB2E-465A-A314-74C52B11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9" y="180257"/>
            <a:ext cx="10515600" cy="1001559"/>
          </a:xfrm>
        </p:spPr>
        <p:txBody>
          <a:bodyPr/>
          <a:lstStyle/>
          <a:p>
            <a:r>
              <a:rPr lang="en-US" dirty="0"/>
              <a:t>Time Series or Forecasting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CA5EB-1754-80DB-3DB5-57171D7801C4}"/>
              </a:ext>
            </a:extLst>
          </p:cNvPr>
          <p:cNvSpPr txBox="1"/>
          <p:nvPr/>
        </p:nvSpPr>
        <p:spPr>
          <a:xfrm>
            <a:off x="8866644" y="376574"/>
            <a:ext cx="14756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0" dirty="0">
                <a:effectLst/>
                <a:latin typeface="Helvetica Neue" panose="02000503000000020004" pitchFamily="2" charset="0"/>
              </a:rPr>
              <a:t>🧰</a:t>
            </a:r>
          </a:p>
        </p:txBody>
      </p:sp>
    </p:spTree>
    <p:extLst>
      <p:ext uri="{BB962C8B-B14F-4D97-AF65-F5344CB8AC3E}">
        <p14:creationId xmlns:p14="http://schemas.microsoft.com/office/powerpoint/2010/main" val="307273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2D5F9-CA27-EB90-69FE-6BF03605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E860D-0B98-AB4A-C2E4-378706A5F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84" y="1001559"/>
            <a:ext cx="7735824" cy="806901"/>
          </a:xfrm>
        </p:spPr>
        <p:txBody>
          <a:bodyPr/>
          <a:lstStyle/>
          <a:p>
            <a:r>
              <a:rPr lang="en-US" dirty="0"/>
              <a:t>Monthly ridership of Amtrak trains: 1990-2004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59DE2B-C496-808E-DA24-54DF92FEB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01559"/>
          </a:xfrm>
        </p:spPr>
        <p:txBody>
          <a:bodyPr>
            <a:normAutofit/>
          </a:bodyPr>
          <a:lstStyle/>
          <a:p>
            <a:r>
              <a:rPr lang="en-US" sz="3600" dirty="0"/>
              <a:t>Time Series Example: Amtrak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CFCBBC8-E833-6344-C1CE-535EAB0AC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60"/>
            <a:ext cx="4445000" cy="288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C44D7D-1155-08E6-E02E-F9338C8FAE4D}"/>
              </a:ext>
            </a:extLst>
          </p:cNvPr>
          <p:cNvSpPr txBox="1">
            <a:spLocks/>
          </p:cNvSpPr>
          <p:nvPr/>
        </p:nvSpPr>
        <p:spPr bwMode="auto">
          <a:xfrm>
            <a:off x="5464628" y="2034930"/>
            <a:ext cx="6806184" cy="139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Tx/>
            </a:pPr>
            <a:r>
              <a:rPr lang="en-US" sz="2400" kern="0" dirty="0"/>
              <a:t>Can see overall ridership, U-shaped trend, and regular seasonality</a:t>
            </a:r>
          </a:p>
          <a:p>
            <a:pPr>
              <a:buClrTx/>
            </a:pPr>
            <a:r>
              <a:rPr lang="en-US" sz="2400" kern="0" dirty="0"/>
              <a:t>Need to account for seasonality of multiple types when describing the data or predicting into the future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887DE-6F14-4855-0760-7B2DC740D567}"/>
              </a:ext>
            </a:extLst>
          </p:cNvPr>
          <p:cNvSpPr txBox="1"/>
          <p:nvPr/>
        </p:nvSpPr>
        <p:spPr>
          <a:xfrm>
            <a:off x="1297063" y="5505031"/>
            <a:ext cx="4461478" cy="1200329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from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b="1" dirty="0" err="1">
                <a:solidFill>
                  <a:srgbClr val="0E84B5"/>
                </a:solidFill>
                <a:latin typeface="Lucida Console" panose="020B0609040504020204" pitchFamily="49" charset="0"/>
              </a:rPr>
              <a:t>statsmodels.tsa</a:t>
            </a:r>
            <a:r>
              <a:rPr lang="en-US" sz="1200" b="1" dirty="0">
                <a:solidFill>
                  <a:srgbClr val="0E84B5"/>
                </a:solidFill>
                <a:latin typeface="Lucida Console" panose="020B0609040504020204" pitchFamily="49" charset="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import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tsatools</a:t>
            </a:r>
            <a:endParaRPr lang="en-US" sz="1200" dirty="0">
              <a:latin typeface="Lucida Console" panose="020B0609040504020204" pitchFamily="49" charset="0"/>
            </a:endParaRPr>
          </a:p>
          <a:p>
            <a:pPr>
              <a:buNone/>
            </a:pPr>
            <a:r>
              <a:rPr lang="en-US" sz="1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from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statsmodels.tsa.arima_model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import</a:t>
            </a:r>
            <a:r>
              <a:rPr lang="en-US" sz="1200" dirty="0">
                <a:latin typeface="Lucida Console" panose="020B0609040504020204" pitchFamily="49" charset="0"/>
              </a:rPr>
              <a:t> ARIMA </a:t>
            </a:r>
          </a:p>
          <a:p>
            <a:pPr>
              <a:buNone/>
            </a:pPr>
            <a:r>
              <a:rPr lang="en-US" sz="1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from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statsmodels.graphics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import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tsaplots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sktime.forecasting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import ARDL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sktime.forecasting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import ARIMA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F81404-ECA9-96B0-E370-C7063DDF5618}"/>
              </a:ext>
            </a:extLst>
          </p:cNvPr>
          <p:cNvSpPr txBox="1"/>
          <p:nvPr/>
        </p:nvSpPr>
        <p:spPr>
          <a:xfrm>
            <a:off x="7916181" y="5589173"/>
            <a:ext cx="2436624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! </a:t>
            </a:r>
            <a:r>
              <a:rPr lang="en-US" sz="1200" b="1" dirty="0">
                <a:latin typeface="Lucida Console" panose="020B0609040504020204" pitchFamily="49" charset="0"/>
              </a:rPr>
              <a:t>pip install </a:t>
            </a:r>
            <a:r>
              <a:rPr lang="en-US" sz="1200" b="1" dirty="0" err="1">
                <a:latin typeface="Lucida Console" panose="020B0609040504020204" pitchFamily="49" charset="0"/>
              </a:rPr>
              <a:t>fbprophet</a:t>
            </a:r>
            <a:endParaRPr lang="en-US" sz="1200" b="1" dirty="0">
              <a:latin typeface="Lucida Console" panose="020B06090405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F7582-5244-30FE-B189-7825708D011F}"/>
              </a:ext>
            </a:extLst>
          </p:cNvPr>
          <p:cNvSpPr txBox="1"/>
          <p:nvPr/>
        </p:nvSpPr>
        <p:spPr>
          <a:xfrm>
            <a:off x="3142119" y="4927807"/>
            <a:ext cx="625492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Montserrat" pitchFamily="2" charset="77"/>
              </a:rPr>
              <a:t>TSA</a:t>
            </a:r>
            <a:endParaRPr lang="en-US" sz="2400" dirty="0">
              <a:latin typeface="Montserrat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21168-BBC7-56A9-4780-2EBF9FBB76A1}"/>
              </a:ext>
            </a:extLst>
          </p:cNvPr>
          <p:cNvSpPr txBox="1"/>
          <p:nvPr/>
        </p:nvSpPr>
        <p:spPr>
          <a:xfrm>
            <a:off x="7617090" y="4927807"/>
            <a:ext cx="3034805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Montserrat" pitchFamily="2" charset="77"/>
              </a:rPr>
              <a:t>Prophet (from </a:t>
            </a:r>
            <a:r>
              <a:rPr lang="en-US" dirty="0" err="1">
                <a:latin typeface="Montserrat" pitchFamily="2" charset="77"/>
              </a:rPr>
              <a:t>facebook</a:t>
            </a:r>
            <a:r>
              <a:rPr lang="en-US" dirty="0">
                <a:latin typeface="Montserrat" pitchFamily="2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5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8F08A-9618-4B53-11A7-024425DB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5700F-4473-A9B7-4FE4-C93A7767B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forecasting we do </a:t>
            </a:r>
            <a:r>
              <a:rPr lang="en-US" i="1" dirty="0"/>
              <a:t>not</a:t>
            </a:r>
            <a:r>
              <a:rPr lang="en-US" dirty="0"/>
              <a:t> randomize in order to create training and test</a:t>
            </a:r>
          </a:p>
          <a:p>
            <a:pPr lvl="1"/>
            <a:r>
              <a:rPr lang="en-US" dirty="0"/>
              <a:t>We cannot use the future to predict the past!</a:t>
            </a:r>
          </a:p>
          <a:p>
            <a:pPr lvl="1"/>
            <a:r>
              <a:rPr lang="en-US" dirty="0"/>
              <a:t>Must find a time </a:t>
            </a:r>
            <a:r>
              <a:rPr lang="en-US" i="1" dirty="0"/>
              <a:t>t, </a:t>
            </a:r>
            <a:r>
              <a:rPr lang="en-US" dirty="0"/>
              <a:t>prior to </a:t>
            </a:r>
            <a:r>
              <a:rPr lang="en-US" i="1" dirty="0"/>
              <a:t>t </a:t>
            </a:r>
            <a:r>
              <a:rPr lang="en-US" dirty="0"/>
              <a:t>is the training, and after </a:t>
            </a:r>
            <a:r>
              <a:rPr lang="en-US" i="1" dirty="0"/>
              <a:t>t </a:t>
            </a:r>
            <a:r>
              <a:rPr lang="en-US" dirty="0"/>
              <a:t> is the test, or validation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5D565-B1B5-C92D-D940-8F623726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6"/>
            <a:ext cx="10515600" cy="1001559"/>
          </a:xfrm>
        </p:spPr>
        <p:txBody>
          <a:bodyPr/>
          <a:lstStyle/>
          <a:p>
            <a:r>
              <a:rPr lang="en-US" dirty="0"/>
              <a:t>Time Series : Training and Test</a:t>
            </a:r>
          </a:p>
        </p:txBody>
      </p:sp>
      <p:pic>
        <p:nvPicPr>
          <p:cNvPr id="6" name="Picture 5" descr="A graph showing the growth of training&#10;&#10;Description automatically generated">
            <a:extLst>
              <a:ext uri="{FF2B5EF4-FFF2-40B4-BE49-F238E27FC236}">
                <a16:creationId xmlns:a16="http://schemas.microsoft.com/office/drawing/2014/main" id="{34487C2F-3130-E6EC-9952-CEADCF104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979" y="3889810"/>
            <a:ext cx="5282438" cy="222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52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69E75-20AA-F5DE-B221-1A21B4D6E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FCACD-03B4-094C-4B4E-AB1172491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09" y="1021900"/>
            <a:ext cx="6653284" cy="4988607"/>
          </a:xfrm>
        </p:spPr>
        <p:txBody>
          <a:bodyPr>
            <a:normAutofit/>
          </a:bodyPr>
          <a:lstStyle/>
          <a:p>
            <a:r>
              <a:rPr lang="en-US" sz="2000" dirty="0"/>
              <a:t>Statistical Forecasting directly uses autocorrelation to make predictions for the future</a:t>
            </a:r>
          </a:p>
          <a:p>
            <a:r>
              <a:rPr lang="en-US" sz="2000" dirty="0"/>
              <a:t>Autocorrelation is the correlation of a time series with itself</a:t>
            </a:r>
          </a:p>
          <a:p>
            <a:r>
              <a:rPr lang="en-US" sz="2000" dirty="0"/>
              <a:t>Examples</a:t>
            </a:r>
          </a:p>
          <a:p>
            <a:pPr lvl="1"/>
            <a:r>
              <a:rPr lang="en-US" sz="1800" dirty="0"/>
              <a:t>Positive autocorrelation (lag 1) : each point is highly correlated with the point before it.  Trends!</a:t>
            </a:r>
          </a:p>
          <a:p>
            <a:pPr lvl="1"/>
            <a:r>
              <a:rPr lang="en-US" sz="1800" dirty="0"/>
              <a:t>Autocorrelation (lag greater than 1) : cyclical pattern or seasonal effects (e.g. lag-7 would be a weekly effect)</a:t>
            </a:r>
          </a:p>
          <a:p>
            <a:pPr lvl="1"/>
            <a:endParaRPr lang="en-US" sz="1800" dirty="0"/>
          </a:p>
          <a:p>
            <a:r>
              <a:rPr lang="en-US" sz="2000" dirty="0"/>
              <a:t>ARIMA models : </a:t>
            </a:r>
            <a:r>
              <a:rPr lang="en-US" sz="2000" dirty="0" err="1"/>
              <a:t>AutoRegressive</a:t>
            </a:r>
            <a:r>
              <a:rPr lang="en-US" sz="2000" dirty="0"/>
              <a:t> Integrated Moving Average models</a:t>
            </a:r>
          </a:p>
          <a:p>
            <a:pPr lvl="1"/>
            <a:r>
              <a:rPr lang="en-US" sz="1600" dirty="0"/>
              <a:t>Accounts for autocorrelation and regression-type trends when making future forecasts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4E768-6DCB-B9B8-DC0E-55F16D62A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09" y="92756"/>
            <a:ext cx="10515600" cy="1001559"/>
          </a:xfrm>
        </p:spPr>
        <p:txBody>
          <a:bodyPr/>
          <a:lstStyle/>
          <a:p>
            <a:r>
              <a:rPr lang="en-US" dirty="0"/>
              <a:t>Forecasting - ARIMA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224E8E-59BA-D5DF-068C-440C6075C4AB}"/>
              </a:ext>
            </a:extLst>
          </p:cNvPr>
          <p:cNvSpPr txBox="1"/>
          <p:nvPr/>
        </p:nvSpPr>
        <p:spPr>
          <a:xfrm>
            <a:off x="8101951" y="5304452"/>
            <a:ext cx="3803904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Shmueli Chapter 17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81A6C2A-E51E-40FF-28BD-B2CBADBB7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707" y="958661"/>
            <a:ext cx="4886311" cy="403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945BB-220A-1BA6-F5A4-5F9560DCF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3769A-B053-D273-D526-2B94B2E9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" y="136526"/>
            <a:ext cx="9576816" cy="548304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Forecasting - Prophet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B796A-BF8C-EEBA-4591-6669CA9F8158}"/>
              </a:ext>
            </a:extLst>
          </p:cNvPr>
          <p:cNvSpPr txBox="1"/>
          <p:nvPr/>
        </p:nvSpPr>
        <p:spPr>
          <a:xfrm>
            <a:off x="740664" y="1531745"/>
            <a:ext cx="8055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 down time series data into: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Trend (global effects)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Seasonality (regular repeated trends – day/week/season)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Events (specific shocks)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Regressors (impact of other features)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17800E-7F41-A626-9ACB-AF1603F8AC8B}"/>
              </a:ext>
            </a:extLst>
          </p:cNvPr>
          <p:cNvSpPr txBox="1"/>
          <p:nvPr/>
        </p:nvSpPr>
        <p:spPr>
          <a:xfrm>
            <a:off x="1780032" y="973293"/>
            <a:ext cx="6390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Facebook’s </a:t>
            </a:r>
            <a:r>
              <a:rPr lang="en-US" sz="20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prophet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library takes a different approach: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3E568-0095-0AD8-2614-530818514EB7}"/>
              </a:ext>
            </a:extLst>
          </p:cNvPr>
          <p:cNvSpPr txBox="1"/>
          <p:nvPr/>
        </p:nvSpPr>
        <p:spPr>
          <a:xfrm>
            <a:off x="7659624" y="5956240"/>
            <a:ext cx="3124894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Prophet tutorial on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kaggle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4" name="Picture 2" descr="Plot of Time Series and Out-of-Sample Forecast With Prophet">
            <a:extLst>
              <a:ext uri="{FF2B5EF4-FFF2-40B4-BE49-F238E27FC236}">
                <a16:creationId xmlns:a16="http://schemas.microsoft.com/office/drawing/2014/main" id="{6F356744-053C-22BB-D389-6F49F018F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24" y="3297536"/>
            <a:ext cx="5882640" cy="352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4BD63F58-366A-775F-6280-8B1305023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908" y="1332223"/>
            <a:ext cx="3424428" cy="376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9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CBB050-5C9D-C93F-59A1-C094970FC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Neural Networks - Intro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41B998-8A0C-373A-1AB7-4EAAA5BC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73046-B1C8-A5DE-26CC-479B06901A60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4" name="Picture 2" descr="r/DataScienceMemes - Neural Networks in a nutshell">
            <a:extLst>
              <a:ext uri="{FF2B5EF4-FFF2-40B4-BE49-F238E27FC236}">
                <a16:creationId xmlns:a16="http://schemas.microsoft.com/office/drawing/2014/main" id="{3F900E36-1EE2-1C09-6009-C300A9E8C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627" y="3723839"/>
            <a:ext cx="2917687" cy="252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9AE6A0-AE40-7E68-D8BB-1D519AED6C6F}"/>
              </a:ext>
            </a:extLst>
          </p:cNvPr>
          <p:cNvSpPr txBox="1"/>
          <p:nvPr/>
        </p:nvSpPr>
        <p:spPr>
          <a:xfrm>
            <a:off x="7905477" y="2299014"/>
            <a:ext cx="35905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effectLst/>
                <a:latin typeface="Helvetica Neue" panose="02000503000000020004" pitchFamily="2" charset="0"/>
              </a:rPr>
              <a:t>🧰</a:t>
            </a:r>
          </a:p>
        </p:txBody>
      </p:sp>
    </p:spTree>
    <p:extLst>
      <p:ext uri="{BB962C8B-B14F-4D97-AF65-F5344CB8AC3E}">
        <p14:creationId xmlns:p14="http://schemas.microsoft.com/office/powerpoint/2010/main" val="842427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0" name="Picture 5" descr="bio synapse">
            <a:extLst>
              <a:ext uri="{FF2B5EF4-FFF2-40B4-BE49-F238E27FC236}">
                <a16:creationId xmlns:a16="http://schemas.microsoft.com/office/drawing/2014/main" id="{E049DF3C-F32D-F212-11A6-FDB1A1A76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"/>
          <a:stretch>
            <a:fillRect/>
          </a:stretch>
        </p:blipFill>
        <p:spPr bwMode="auto">
          <a:xfrm>
            <a:off x="7121717" y="1864817"/>
            <a:ext cx="4305300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Slide Number Placeholder 6">
            <a:extLst>
              <a:ext uri="{FF2B5EF4-FFF2-40B4-BE49-F238E27FC236}">
                <a16:creationId xmlns:a16="http://schemas.microsoft.com/office/drawing/2014/main" id="{DE7EA038-766A-0546-70A4-0CA13D2D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fld id="{CD9F5525-BEA1-1F49-8DEE-7F715522D7F9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7C17349-33BC-02F1-7B07-184A9DF5E6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219200"/>
            <a:ext cx="7772400" cy="48768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Analytic technique inspired by biological nervous systems</a:t>
            </a: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AF4A8EF7-E323-B856-896A-343FAB1AE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92" y="39670"/>
            <a:ext cx="10515600" cy="100155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>
                <a:ea typeface="ＭＳ Ｐゴシック" panose="020B0600070205080204" pitchFamily="34" charset="-128"/>
              </a:rPr>
              <a:t>Neural Nets: Inspiration from Biology</a:t>
            </a: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2EC5251D-12B9-4F69-FBCC-90F9892FC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83" y="2376487"/>
            <a:ext cx="9045069" cy="397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en-US" sz="2600" dirty="0">
              <a:latin typeface="Tahoma" panose="020B0604030504040204" pitchFamily="34" charset="0"/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en-US" sz="2600" dirty="0">
                <a:latin typeface="Tahoma" panose="020B0604030504040204" pitchFamily="34" charset="0"/>
              </a:rPr>
              <a:t>Structure of the  nervous system: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lang="en-US" altLang="en-US" sz="22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2200" dirty="0">
                <a:latin typeface="Tahoma" panose="020B0604030504040204" pitchFamily="34" charset="0"/>
              </a:rPr>
              <a:t>A large number of neurons (information processing units) connected together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2200" dirty="0">
                <a:latin typeface="Tahoma" panose="020B0604030504040204" pitchFamily="34" charset="0"/>
              </a:rPr>
              <a:t>A neuron’s response depends on the states of other neurons it is connected to and to the ‘strength’ of those connections.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2200" dirty="0">
                <a:latin typeface="Tahoma" panose="020B0604030504040204" pitchFamily="34" charset="0"/>
              </a:rPr>
              <a:t>The ‘strengths’ are learned based on experience.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9" name="Slide Number Placeholder 6">
            <a:extLst>
              <a:ext uri="{FF2B5EF4-FFF2-40B4-BE49-F238E27FC236}">
                <a16:creationId xmlns:a16="http://schemas.microsoft.com/office/drawing/2014/main" id="{61FC93C4-7817-191D-F733-F4C341A5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fld id="{CD9F5525-BEA1-1F49-8DEE-7F715522D7F9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F9FCD02-2DAF-A9C5-9F07-170CFD6C16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3D7D90E-E3B2-D4F6-F3D0-3EAC82128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544" y="57651"/>
            <a:ext cx="10515600" cy="1001559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From Real to Artificial</a:t>
            </a:r>
          </a:p>
        </p:txBody>
      </p:sp>
      <p:pic>
        <p:nvPicPr>
          <p:cNvPr id="23557" name="Picture 4" descr="bio neurone">
            <a:extLst>
              <a:ext uri="{FF2B5EF4-FFF2-40B4-BE49-F238E27FC236}">
                <a16:creationId xmlns:a16="http://schemas.microsoft.com/office/drawing/2014/main" id="{89251480-E17B-C4EF-6350-1A051F0CC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/>
          <a:stretch>
            <a:fillRect/>
          </a:stretch>
        </p:blipFill>
        <p:spPr bwMode="auto">
          <a:xfrm>
            <a:off x="4112791" y="1366684"/>
            <a:ext cx="44958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543735-3EE2-BCAD-6F34-41ADA7223B13}"/>
              </a:ext>
            </a:extLst>
          </p:cNvPr>
          <p:cNvSpPr txBox="1"/>
          <p:nvPr/>
        </p:nvSpPr>
        <p:spPr>
          <a:xfrm>
            <a:off x="3188758" y="4384230"/>
            <a:ext cx="481222" cy="276999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B9946-CC2E-EB66-F2B3-26E28640A22D}"/>
              </a:ext>
            </a:extLst>
          </p:cNvPr>
          <p:cNvSpPr txBox="1"/>
          <p:nvPr/>
        </p:nvSpPr>
        <p:spPr>
          <a:xfrm>
            <a:off x="3251625" y="6262301"/>
            <a:ext cx="481222" cy="276999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5E92A-1E27-FA7C-7A22-3880651D2C85}"/>
              </a:ext>
            </a:extLst>
          </p:cNvPr>
          <p:cNvSpPr txBox="1"/>
          <p:nvPr/>
        </p:nvSpPr>
        <p:spPr>
          <a:xfrm>
            <a:off x="8273426" y="4821147"/>
            <a:ext cx="853952" cy="276999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prediction</a:t>
            </a:r>
          </a:p>
        </p:txBody>
      </p:sp>
      <p:pic>
        <p:nvPicPr>
          <p:cNvPr id="7" name="Picture 4" descr="https://encrypted-tbn3.gstatic.com/images?q=tbn:ANd9GcT3ULB3vvTSVLK9mUQlL4qALrBaKKeE9mOTsJROaS3TfhFyTKUn">
            <a:hlinkClick r:id="rId4"/>
            <a:extLst>
              <a:ext uri="{FF2B5EF4-FFF2-40B4-BE49-F238E27FC236}">
                <a16:creationId xmlns:a16="http://schemas.microsoft.com/office/drawing/2014/main" id="{FD852F79-C98A-98AE-1DBD-B2F9B81FA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714" y="4276726"/>
            <a:ext cx="6053137" cy="2276475"/>
          </a:xfrm>
          <a:prstGeom prst="rect">
            <a:avLst/>
          </a:prstGeom>
          <a:solidFill>
            <a:schemeClr val="bg2"/>
          </a:solidFill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509E8B-9565-E0FB-692F-68BF74125921}"/>
              </a:ext>
            </a:extLst>
          </p:cNvPr>
          <p:cNvSpPr txBox="1"/>
          <p:nvPr/>
        </p:nvSpPr>
        <p:spPr>
          <a:xfrm>
            <a:off x="3200580" y="4742779"/>
            <a:ext cx="481222" cy="276999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3135D-1678-420C-9AF2-84F9BD89514A}"/>
              </a:ext>
            </a:extLst>
          </p:cNvPr>
          <p:cNvSpPr txBox="1"/>
          <p:nvPr/>
        </p:nvSpPr>
        <p:spPr>
          <a:xfrm>
            <a:off x="9011380" y="5717805"/>
            <a:ext cx="1000544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02FCB-AB66-F902-837B-3075E1786174}"/>
              </a:ext>
            </a:extLst>
          </p:cNvPr>
          <p:cNvSpPr txBox="1"/>
          <p:nvPr/>
        </p:nvSpPr>
        <p:spPr>
          <a:xfrm>
            <a:off x="7081836" y="5902017"/>
            <a:ext cx="1618566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Activation Function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8" name="Slide Number Placeholder 37">
            <a:extLst>
              <a:ext uri="{FF2B5EF4-FFF2-40B4-BE49-F238E27FC236}">
                <a16:creationId xmlns:a16="http://schemas.microsoft.com/office/drawing/2014/main" id="{F2E92229-3228-38EC-A4AF-E233CD2E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1111" y="6015226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fld id="{F60550E3-A69A-5249-BA99-9381D674C719}" type="slidenum">
              <a:rPr lang="en-US" altLang="en-US" sz="1400"/>
              <a:pPr/>
              <a:t>19</a:t>
            </a:fld>
            <a:endParaRPr lang="en-US" altLang="en-US" sz="1400"/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29B00978-CC47-E8A1-E141-24D7F4B46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63867" y="107389"/>
            <a:ext cx="8229600" cy="72921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Nodes: A Closer Look</a:t>
            </a:r>
          </a:p>
        </p:txBody>
      </p:sp>
      <p:sp>
        <p:nvSpPr>
          <p:cNvPr id="25606" name="Text Box 3">
            <a:extLst>
              <a:ext uri="{FF2B5EF4-FFF2-40B4-BE49-F238E27FC236}">
                <a16:creationId xmlns:a16="http://schemas.microsoft.com/office/drawing/2014/main" id="{C8F2A44B-3C32-4918-0B52-2EE2523CB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519" y="3029228"/>
            <a:ext cx="1109599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</a:p>
          <a:p>
            <a:pPr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Input</a:t>
            </a:r>
          </a:p>
          <a:p>
            <a:pPr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features</a:t>
            </a:r>
          </a:p>
          <a:p>
            <a:pPr>
              <a:buNone/>
            </a:pPr>
            <a:endParaRPr lang="en-US" altLang="en-US" sz="20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grpSp>
        <p:nvGrpSpPr>
          <p:cNvPr id="25607" name="Group 4">
            <a:extLst>
              <a:ext uri="{FF2B5EF4-FFF2-40B4-BE49-F238E27FC236}">
                <a16:creationId xmlns:a16="http://schemas.microsoft.com/office/drawing/2014/main" id="{186065B3-F145-D6FC-023E-684CADD60412}"/>
              </a:ext>
            </a:extLst>
          </p:cNvPr>
          <p:cNvGrpSpPr>
            <a:grpSpLocks/>
          </p:cNvGrpSpPr>
          <p:nvPr/>
        </p:nvGrpSpPr>
        <p:grpSpPr bwMode="auto">
          <a:xfrm>
            <a:off x="2224349" y="844921"/>
            <a:ext cx="7980363" cy="5448300"/>
            <a:chOff x="480" y="528"/>
            <a:chExt cx="5027" cy="3432"/>
          </a:xfrm>
        </p:grpSpPr>
        <p:grpSp>
          <p:nvGrpSpPr>
            <p:cNvPr id="25609" name="Group 5">
              <a:extLst>
                <a:ext uri="{FF2B5EF4-FFF2-40B4-BE49-F238E27FC236}">
                  <a16:creationId xmlns:a16="http://schemas.microsoft.com/office/drawing/2014/main" id="{02575344-ED98-F24B-40BF-29157990E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152"/>
              <a:ext cx="5027" cy="2533"/>
              <a:chOff x="480" y="1152"/>
              <a:chExt cx="5027" cy="2533"/>
            </a:xfrm>
          </p:grpSpPr>
          <p:sp>
            <p:nvSpPr>
              <p:cNvPr id="25611" name="Oval 6">
                <a:extLst>
                  <a:ext uri="{FF2B5EF4-FFF2-40B4-BE49-F238E27FC236}">
                    <a16:creationId xmlns:a16="http://schemas.microsoft.com/office/drawing/2014/main" id="{1B446E10-4453-D8FB-3E4F-B77F58247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1920"/>
                <a:ext cx="671" cy="640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2" name="Rectangle 7">
                <a:extLst>
                  <a:ext uri="{FF2B5EF4-FFF2-40B4-BE49-F238E27FC236}">
                    <a16:creationId xmlns:a16="http://schemas.microsoft.com/office/drawing/2014/main" id="{D2F55E1F-D0CA-7F20-894C-4C9C990D9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920"/>
                <a:ext cx="576" cy="576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3" name="Oval 8">
                <a:extLst>
                  <a:ext uri="{FF2B5EF4-FFF2-40B4-BE49-F238E27FC236}">
                    <a16:creationId xmlns:a16="http://schemas.microsoft.com/office/drawing/2014/main" id="{5C9F7289-F42D-FCC7-3781-E954D0E45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2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4" name="Oval 9">
                <a:extLst>
                  <a:ext uri="{FF2B5EF4-FFF2-40B4-BE49-F238E27FC236}">
                    <a16:creationId xmlns:a16="http://schemas.microsoft.com/office/drawing/2014/main" id="{2263BDE7-4164-0C3E-B10B-589D6C47AB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2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5" name="Oval 10">
                <a:extLst>
                  <a:ext uri="{FF2B5EF4-FFF2-40B4-BE49-F238E27FC236}">
                    <a16:creationId xmlns:a16="http://schemas.microsoft.com/office/drawing/2014/main" id="{67AAFF50-AB74-3797-2B4F-0A79E323E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16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6" name="AutoShape 11">
                <a:extLst>
                  <a:ext uri="{FF2B5EF4-FFF2-40B4-BE49-F238E27FC236}">
                    <a16:creationId xmlns:a16="http://schemas.microsoft.com/office/drawing/2014/main" id="{ABA19F6D-814D-647C-F98B-B92ECDE95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1152"/>
                <a:ext cx="192" cy="2304"/>
              </a:xfrm>
              <a:prstGeom prst="leftBrace">
                <a:avLst>
                  <a:gd name="adj1" fmla="val 100000"/>
                  <a:gd name="adj2" fmla="val 50000"/>
                </a:avLst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7" name="Text Box 12">
                <a:extLst>
                  <a:ext uri="{FF2B5EF4-FFF2-40B4-BE49-F238E27FC236}">
                    <a16:creationId xmlns:a16="http://schemas.microsoft.com/office/drawing/2014/main" id="{D67B7BBD-BECF-3935-1237-D8FB02693F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0" y="3433"/>
                <a:ext cx="1104" cy="25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altLang="en-US" sz="2000" dirty="0">
                    <a:solidFill>
                      <a:srgbClr val="333399"/>
                    </a:solidFill>
                    <a:latin typeface="Arial" panose="020B0604020202020204" pitchFamily="34" charset="0"/>
                  </a:rPr>
                  <a:t>“hidden” layer</a:t>
                </a:r>
              </a:p>
            </p:txBody>
          </p:sp>
          <p:sp>
            <p:nvSpPr>
              <p:cNvPr id="25618" name="Text Box 13">
                <a:extLst>
                  <a:ext uri="{FF2B5EF4-FFF2-40B4-BE49-F238E27FC236}">
                    <a16:creationId xmlns:a16="http://schemas.microsoft.com/office/drawing/2014/main" id="{AA83819A-2BD4-DA81-96B9-4A56321F3F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097"/>
                <a:ext cx="593" cy="33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altLang="en-US" sz="1400" dirty="0">
                    <a:solidFill>
                      <a:srgbClr val="333399"/>
                    </a:solidFill>
                    <a:latin typeface="Arial" panose="020B0604020202020204" pitchFamily="34" charset="0"/>
                  </a:rPr>
                  <a:t>activation</a:t>
                </a:r>
              </a:p>
              <a:p>
                <a:pPr>
                  <a:buNone/>
                </a:pPr>
                <a:r>
                  <a:rPr lang="en-US" altLang="en-US" sz="1400" dirty="0">
                    <a:solidFill>
                      <a:srgbClr val="333399"/>
                    </a:solidFill>
                    <a:latin typeface="Arial" panose="020B0604020202020204" pitchFamily="34" charset="0"/>
                  </a:rPr>
                  <a:t>function</a:t>
                </a:r>
              </a:p>
            </p:txBody>
          </p:sp>
          <p:sp>
            <p:nvSpPr>
              <p:cNvPr id="25621" name="Text Box 16">
                <a:extLst>
                  <a:ext uri="{FF2B5EF4-FFF2-40B4-BE49-F238E27FC236}">
                    <a16:creationId xmlns:a16="http://schemas.microsoft.com/office/drawing/2014/main" id="{DD3D4DA0-51A6-9E5B-8992-59FEF243B0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9" y="1584"/>
                <a:ext cx="17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GB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5622" name="Text Box 17">
                <a:extLst>
                  <a:ext uri="{FF2B5EF4-FFF2-40B4-BE49-F238E27FC236}">
                    <a16:creationId xmlns:a16="http://schemas.microsoft.com/office/drawing/2014/main" id="{E10420AF-6291-0F38-2F62-85BBD1C06E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3" y="2050"/>
                <a:ext cx="19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buNone/>
                </a:pPr>
                <a:r>
                  <a:rPr lang="en-US" altLang="en-US" sz="2000" dirty="0">
                    <a:solidFill>
                      <a:srgbClr val="333399"/>
                    </a:solidFill>
                    <a:latin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25623" name="Line 18">
                <a:extLst>
                  <a:ext uri="{FF2B5EF4-FFF2-40B4-BE49-F238E27FC236}">
                    <a16:creationId xmlns:a16="http://schemas.microsoft.com/office/drawing/2014/main" id="{64A0D842-7D7E-4186-0456-F9A5CF61BA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2208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4" name="Line 19">
                <a:extLst>
                  <a:ext uri="{FF2B5EF4-FFF2-40B4-BE49-F238E27FC236}">
                    <a16:creationId xmlns:a16="http://schemas.microsoft.com/office/drawing/2014/main" id="{37CA3A7C-02AB-D3B8-9E66-9E97C6C415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344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5" name="Line 20">
                <a:extLst>
                  <a:ext uri="{FF2B5EF4-FFF2-40B4-BE49-F238E27FC236}">
                    <a16:creationId xmlns:a16="http://schemas.microsoft.com/office/drawing/2014/main" id="{ECF4649A-F067-61A5-30A9-BB3F57814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208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5626" name="Line 21">
                <a:extLst>
                  <a:ext uri="{FF2B5EF4-FFF2-40B4-BE49-F238E27FC236}">
                    <a16:creationId xmlns:a16="http://schemas.microsoft.com/office/drawing/2014/main" id="{05EAED22-0926-65EA-0B0A-8D1C01D032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264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7" name="Line 22">
                <a:extLst>
                  <a:ext uri="{FF2B5EF4-FFF2-40B4-BE49-F238E27FC236}">
                    <a16:creationId xmlns:a16="http://schemas.microsoft.com/office/drawing/2014/main" id="{D3BFC0A9-B864-93A7-2DE1-BB674AD39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2302"/>
                <a:ext cx="694" cy="9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8" name="Line 23">
                <a:extLst>
                  <a:ext uri="{FF2B5EF4-FFF2-40B4-BE49-F238E27FC236}">
                    <a16:creationId xmlns:a16="http://schemas.microsoft.com/office/drawing/2014/main" id="{B2A5A120-9530-97DC-48AE-134DEBDFD0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2208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9" name="Line 24">
                <a:extLst>
                  <a:ext uri="{FF2B5EF4-FFF2-40B4-BE49-F238E27FC236}">
                    <a16:creationId xmlns:a16="http://schemas.microsoft.com/office/drawing/2014/main" id="{4C206564-53E1-1D00-D46B-A7A2BF80F7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1392"/>
                <a:ext cx="694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0" name="Line 25">
                <a:extLst>
                  <a:ext uri="{FF2B5EF4-FFF2-40B4-BE49-F238E27FC236}">
                    <a16:creationId xmlns:a16="http://schemas.microsoft.com/office/drawing/2014/main" id="{F79AD32D-3D79-6C1E-CEF3-A1B45E3553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3" y="2203"/>
                <a:ext cx="713" cy="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1" name="Text Box 26">
                <a:extLst>
                  <a:ext uri="{FF2B5EF4-FFF2-40B4-BE49-F238E27FC236}">
                    <a16:creationId xmlns:a16="http://schemas.microsoft.com/office/drawing/2014/main" id="{1F317D22-FE0D-835D-E3CA-75CE96D5C2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152"/>
                <a:ext cx="28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altLang="en-US" i="1" dirty="0">
                    <a:latin typeface="Arial" panose="020B0604020202020204" pitchFamily="34" charset="0"/>
                  </a:rPr>
                  <a:t>x</a:t>
                </a:r>
                <a:r>
                  <a:rPr lang="en-US" altLang="en-US" i="1" baseline="-25000" dirty="0">
                    <a:latin typeface="Arial" panose="020B0604020202020204" pitchFamily="34" charset="0"/>
                  </a:rPr>
                  <a:t>1</a:t>
                </a:r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32" name="Text Box 27">
                <a:extLst>
                  <a:ext uri="{FF2B5EF4-FFF2-40B4-BE49-F238E27FC236}">
                    <a16:creationId xmlns:a16="http://schemas.microsoft.com/office/drawing/2014/main" id="{B1E9589E-6188-9463-998D-0326049AF6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2064"/>
                <a:ext cx="28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altLang="en-US" i="1">
                    <a:latin typeface="Arial" panose="020B0604020202020204" pitchFamily="34" charset="0"/>
                  </a:rPr>
                  <a:t>x</a:t>
                </a:r>
                <a:r>
                  <a:rPr lang="en-US" altLang="en-US" i="1" baseline="-25000">
                    <a:latin typeface="Arial" panose="020B0604020202020204" pitchFamily="34" charset="0"/>
                  </a:rPr>
                  <a:t>2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5633" name="Text Box 28">
                <a:extLst>
                  <a:ext uri="{FF2B5EF4-FFF2-40B4-BE49-F238E27FC236}">
                    <a16:creationId xmlns:a16="http://schemas.microsoft.com/office/drawing/2014/main" id="{A5EC3E2F-50A4-F45C-02B1-FECF33161F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3120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altLang="en-US" i="1">
                    <a:latin typeface="Arial" panose="020B0604020202020204" pitchFamily="34" charset="0"/>
                  </a:rPr>
                  <a:t>x</a:t>
                </a:r>
                <a:r>
                  <a:rPr lang="en-US" altLang="en-US" i="1" baseline="-25000">
                    <a:latin typeface="Arial" panose="020B0604020202020204" pitchFamily="34" charset="0"/>
                  </a:rPr>
                  <a:t>m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5634" name="Text Box 29">
                <a:extLst>
                  <a:ext uri="{FF2B5EF4-FFF2-40B4-BE49-F238E27FC236}">
                    <a16:creationId xmlns:a16="http://schemas.microsoft.com/office/drawing/2014/main" id="{F489B777-5D9B-296E-C648-134B6C87C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064"/>
                <a:ext cx="296" cy="29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altLang="en-US" i="1" dirty="0">
                    <a:latin typeface="Arial" panose="020B0604020202020204" pitchFamily="34" charset="0"/>
                  </a:rPr>
                  <a:t>n</a:t>
                </a:r>
                <a:r>
                  <a:rPr lang="en-US" altLang="en-US" i="1" baseline="-25000" dirty="0">
                    <a:latin typeface="Arial" panose="020B0604020202020204" pitchFamily="34" charset="0"/>
                  </a:rPr>
                  <a:t>2</a:t>
                </a:r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35" name="Text Box 30">
                <a:extLst>
                  <a:ext uri="{FF2B5EF4-FFF2-40B4-BE49-F238E27FC236}">
                    <a16:creationId xmlns:a16="http://schemas.microsoft.com/office/drawing/2014/main" id="{04E4C5F7-E8E2-C755-5217-330C1978A7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3120"/>
                <a:ext cx="332" cy="29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altLang="en-US" i="1" dirty="0">
                    <a:latin typeface="Arial" panose="020B0604020202020204" pitchFamily="34" charset="0"/>
                  </a:rPr>
                  <a:t>n</a:t>
                </a:r>
                <a:r>
                  <a:rPr lang="en-US" altLang="en-US" i="1" baseline="-25000" dirty="0">
                    <a:latin typeface="Arial" panose="020B0604020202020204" pitchFamily="34" charset="0"/>
                  </a:rPr>
                  <a:t>m</a:t>
                </a:r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36" name="Text Box 31">
                <a:extLst>
                  <a:ext uri="{FF2B5EF4-FFF2-40B4-BE49-F238E27FC236}">
                    <a16:creationId xmlns:a16="http://schemas.microsoft.com/office/drawing/2014/main" id="{C9078277-F5FF-4AC7-2CD4-B8B254A2B5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1200"/>
                <a:ext cx="326" cy="29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altLang="en-US" i="1" dirty="0">
                    <a:latin typeface="Arial" panose="020B0604020202020204" pitchFamily="34" charset="0"/>
                  </a:rPr>
                  <a:t>n</a:t>
                </a:r>
                <a:r>
                  <a:rPr lang="en-US" altLang="en-US" i="1" baseline="-25000" dirty="0">
                    <a:latin typeface="Arial" panose="020B0604020202020204" pitchFamily="34" charset="0"/>
                  </a:rPr>
                  <a:t>1</a:t>
                </a:r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637" name="Oval 32">
                <a:extLst>
                  <a:ext uri="{FF2B5EF4-FFF2-40B4-BE49-F238E27FC236}">
                    <a16:creationId xmlns:a16="http://schemas.microsoft.com/office/drawing/2014/main" id="{BE27561D-2F79-1005-28B3-9737EE042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20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25638" name="Line 33">
                <a:extLst>
                  <a:ext uri="{FF2B5EF4-FFF2-40B4-BE49-F238E27FC236}">
                    <a16:creationId xmlns:a16="http://schemas.microsoft.com/office/drawing/2014/main" id="{3E37F8EE-2D45-15DA-390A-550F98C101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1296"/>
                <a:ext cx="56" cy="5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610" name="Oval 36">
              <a:extLst>
                <a:ext uri="{FF2B5EF4-FFF2-40B4-BE49-F238E27FC236}">
                  <a16:creationId xmlns:a16="http://schemas.microsoft.com/office/drawing/2014/main" id="{B33B050E-1957-B0D3-2D7E-9D4954E6D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" y="528"/>
              <a:ext cx="4044" cy="343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" name="Text Box 13">
            <a:extLst>
              <a:ext uri="{FF2B5EF4-FFF2-40B4-BE49-F238E27FC236}">
                <a16:creationId xmlns:a16="http://schemas.microsoft.com/office/drawing/2014/main" id="{687E3403-B76E-6E34-B77A-7768FE4AF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488" y="3327590"/>
            <a:ext cx="681597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400" dirty="0">
                <a:solidFill>
                  <a:srgbClr val="333399"/>
                </a:solidFill>
                <a:latin typeface="Arial" panose="020B0604020202020204" pitchFamily="34" charset="0"/>
              </a:rPr>
              <a:t>output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DD4C27EC-52F0-D531-3D3A-1C46C1FEB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4398" y="1835522"/>
            <a:ext cx="513282" cy="3077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400" dirty="0">
                <a:solidFill>
                  <a:srgbClr val="333399"/>
                </a:solidFill>
                <a:latin typeface="Arial" panose="020B0604020202020204" pitchFamily="34" charset="0"/>
              </a:rPr>
              <a:t>bias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75B7B-C2C0-9208-CECF-B1CB06664712}"/>
              </a:ext>
            </a:extLst>
          </p:cNvPr>
          <p:cNvSpPr txBox="1"/>
          <p:nvPr/>
        </p:nvSpPr>
        <p:spPr>
          <a:xfrm>
            <a:off x="5853374" y="4401258"/>
            <a:ext cx="5997250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Perceptron: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fairly simple model (similar to logistic regression)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48010B-3323-E599-EBA1-FBE7A2365D7C}"/>
              </a:ext>
            </a:extLst>
          </p:cNvPr>
          <p:cNvSpPr txBox="1"/>
          <p:nvPr/>
        </p:nvSpPr>
        <p:spPr>
          <a:xfrm>
            <a:off x="3530430" y="6346786"/>
            <a:ext cx="5894819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used for both classification and regression!</a:t>
            </a:r>
          </a:p>
        </p:txBody>
      </p:sp>
      <p:sp>
        <p:nvSpPr>
          <p:cNvPr id="7" name="Line 20">
            <a:extLst>
              <a:ext uri="{FF2B5EF4-FFF2-40B4-BE49-F238E27FC236}">
                <a16:creationId xmlns:a16="http://schemas.microsoft.com/office/drawing/2014/main" id="{554320F6-2420-5AF5-5DC6-0CFFB718C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2549" y="3503603"/>
            <a:ext cx="1082719" cy="13278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Line 20">
            <a:extLst>
              <a:ext uri="{FF2B5EF4-FFF2-40B4-BE49-F238E27FC236}">
                <a16:creationId xmlns:a16="http://schemas.microsoft.com/office/drawing/2014/main" id="{06A14456-4987-81B5-26A0-91AC4BF393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2549" y="2409067"/>
            <a:ext cx="1116013" cy="1094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0">
            <a:extLst>
              <a:ext uri="{FF2B5EF4-FFF2-40B4-BE49-F238E27FC236}">
                <a16:creationId xmlns:a16="http://schemas.microsoft.com/office/drawing/2014/main" id="{64B68D87-C89D-BCF3-2B22-6B3C4DF382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98223" y="3732203"/>
            <a:ext cx="1064240" cy="14279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Line 20">
            <a:extLst>
              <a:ext uri="{FF2B5EF4-FFF2-40B4-BE49-F238E27FC236}">
                <a16:creationId xmlns:a16="http://schemas.microsoft.com/office/drawing/2014/main" id="{94DA10DD-F4C9-34B3-8CB3-1A9AB65AD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6451" y="2203078"/>
            <a:ext cx="1116013" cy="10939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Line 20">
            <a:extLst>
              <a:ext uri="{FF2B5EF4-FFF2-40B4-BE49-F238E27FC236}">
                <a16:creationId xmlns:a16="http://schemas.microsoft.com/office/drawing/2014/main" id="{557F8087-E6FE-88FD-BB79-5271231D9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7580" y="2228020"/>
            <a:ext cx="1109599" cy="26034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Line 20">
            <a:extLst>
              <a:ext uri="{FF2B5EF4-FFF2-40B4-BE49-F238E27FC236}">
                <a16:creationId xmlns:a16="http://schemas.microsoft.com/office/drawing/2014/main" id="{73DA939F-7DD7-0115-0E36-7831F4A22A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1125" y="2409065"/>
            <a:ext cx="1107436" cy="2718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9056E801-51C9-E411-B89D-B523F80C8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948" y="4018254"/>
            <a:ext cx="617477" cy="246221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000" dirty="0">
                <a:solidFill>
                  <a:srgbClr val="333399"/>
                </a:solidFill>
                <a:latin typeface="Arial" panose="020B0604020202020204" pitchFamily="34" charset="0"/>
              </a:rPr>
              <a:t>weights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9" name="Slide Number Placeholder 45">
            <a:extLst>
              <a:ext uri="{FF2B5EF4-FFF2-40B4-BE49-F238E27FC236}">
                <a16:creationId xmlns:a16="http://schemas.microsoft.com/office/drawing/2014/main" id="{1FF570E1-380B-E1BF-3EB4-23C808C7C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buNone/>
            </a:pPr>
            <a:fld id="{CD9F5525-BEA1-1F49-8DEE-7F715522D7F9}" type="slidenum">
              <a:rPr lang="en-US" altLang="en-US" smtClean="0"/>
              <a:pPr>
                <a:buNone/>
              </a:pPr>
              <a:t>20</a:t>
            </a:fld>
            <a:endParaRPr lang="en-US" altLang="en-US" dirty="0"/>
          </a:p>
        </p:txBody>
      </p:sp>
      <p:sp>
        <p:nvSpPr>
          <p:cNvPr id="33795" name="Content Placeholder 46">
            <a:extLst>
              <a:ext uri="{FF2B5EF4-FFF2-40B4-BE49-F238E27FC236}">
                <a16:creationId xmlns:a16="http://schemas.microsoft.com/office/drawing/2014/main" id="{FAF950B5-5AF9-DD85-108B-CA3D8477E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985" y="4559386"/>
            <a:ext cx="8576335" cy="1371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Big idea: several simple models working together to model a complex function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How many layers?  Nodes?  What is the function?</a:t>
            </a: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0DDE29FD-E078-55D1-F557-E30891051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6720" y="191253"/>
            <a:ext cx="10515600" cy="1001559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Neural Network: Architecture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181898F-2A98-29CB-C775-DE44CFD7CC07}"/>
              </a:ext>
            </a:extLst>
          </p:cNvPr>
          <p:cNvGrpSpPr>
            <a:grpSpLocks/>
          </p:cNvGrpSpPr>
          <p:nvPr/>
        </p:nvGrpSpPr>
        <p:grpSpPr bwMode="auto">
          <a:xfrm>
            <a:off x="2453481" y="915250"/>
            <a:ext cx="7285038" cy="3679825"/>
            <a:chOff x="574" y="660"/>
            <a:chExt cx="4589" cy="2318"/>
          </a:xfrm>
        </p:grpSpPr>
        <p:grpSp>
          <p:nvGrpSpPr>
            <p:cNvPr id="33800" name="Group 5">
              <a:extLst>
                <a:ext uri="{FF2B5EF4-FFF2-40B4-BE49-F238E27FC236}">
                  <a16:creationId xmlns:a16="http://schemas.microsoft.com/office/drawing/2014/main" id="{490A26F2-365D-1BB1-FAD4-6C4AECE30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4" y="660"/>
              <a:ext cx="4589" cy="1923"/>
              <a:chOff x="574" y="912"/>
              <a:chExt cx="4589" cy="1923"/>
            </a:xfrm>
          </p:grpSpPr>
          <p:sp>
            <p:nvSpPr>
              <p:cNvPr id="33802" name="Text Box 6">
                <a:extLst>
                  <a:ext uri="{FF2B5EF4-FFF2-40B4-BE49-F238E27FC236}">
                    <a16:creationId xmlns:a16="http://schemas.microsoft.com/office/drawing/2014/main" id="{537DF845-8B1D-5C72-8917-9263FF9C28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4" y="1392"/>
                <a:ext cx="589" cy="5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buNone/>
                </a:pPr>
                <a:r>
                  <a:rPr lang="en-US" altLang="en-US" b="1" i="1" dirty="0">
                    <a:solidFill>
                      <a:srgbClr val="0000FF"/>
                    </a:solidFill>
                    <a:latin typeface="Arial" panose="020B0604020202020204" pitchFamily="34" charset="0"/>
                  </a:rPr>
                  <a:t>Input</a:t>
                </a:r>
              </a:p>
              <a:p>
                <a:pPr algn="ctr">
                  <a:buNone/>
                </a:pPr>
                <a:r>
                  <a:rPr lang="en-US" altLang="en-US" b="1" i="1" dirty="0">
                    <a:solidFill>
                      <a:srgbClr val="0000FF"/>
                    </a:solidFill>
                    <a:latin typeface="Arial" panose="020B0604020202020204" pitchFamily="34" charset="0"/>
                  </a:rPr>
                  <a:t>layer</a:t>
                </a:r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803" name="Text Box 7">
                <a:extLst>
                  <a:ext uri="{FF2B5EF4-FFF2-40B4-BE49-F238E27FC236}">
                    <a16:creationId xmlns:a16="http://schemas.microsoft.com/office/drawing/2014/main" id="{D0D2EBEB-93F9-C8C4-646C-32A081778D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3" y="1356"/>
                <a:ext cx="750" cy="5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buNone/>
                </a:pPr>
                <a:r>
                  <a:rPr lang="en-US" altLang="en-US" b="1" i="1" dirty="0">
                    <a:solidFill>
                      <a:srgbClr val="009900"/>
                    </a:solidFill>
                    <a:latin typeface="Arial" panose="020B0604020202020204" pitchFamily="34" charset="0"/>
                  </a:rPr>
                  <a:t>Output</a:t>
                </a:r>
              </a:p>
              <a:p>
                <a:pPr algn="ctr">
                  <a:buNone/>
                </a:pPr>
                <a:r>
                  <a:rPr lang="en-US" altLang="en-US" b="1" i="1" dirty="0">
                    <a:solidFill>
                      <a:srgbClr val="009900"/>
                    </a:solidFill>
                    <a:latin typeface="Arial" panose="020B0604020202020204" pitchFamily="34" charset="0"/>
                  </a:rPr>
                  <a:t>layer</a:t>
                </a:r>
              </a:p>
            </p:txBody>
          </p:sp>
          <p:sp>
            <p:nvSpPr>
              <p:cNvPr id="33804" name="Text Box 8">
                <a:extLst>
                  <a:ext uri="{FF2B5EF4-FFF2-40B4-BE49-F238E27FC236}">
                    <a16:creationId xmlns:a16="http://schemas.microsoft.com/office/drawing/2014/main" id="{08DE753E-2110-F097-4C6E-52606E0373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544"/>
                <a:ext cx="158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altLang="en-US" b="1" i="1" dirty="0">
                    <a:solidFill>
                      <a:srgbClr val="996600"/>
                    </a:solidFill>
                    <a:latin typeface="Arial" panose="020B0604020202020204" pitchFamily="34" charset="0"/>
                  </a:rPr>
                  <a:t>Hidden Layer(s)</a:t>
                </a:r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805" name="Oval 9">
                <a:extLst>
                  <a:ext uri="{FF2B5EF4-FFF2-40B4-BE49-F238E27FC236}">
                    <a16:creationId xmlns:a16="http://schemas.microsoft.com/office/drawing/2014/main" id="{F0A19C2C-7B38-F5F4-89C9-A2466E90B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912"/>
                <a:ext cx="240" cy="240"/>
              </a:xfrm>
              <a:prstGeom prst="ellipse">
                <a:avLst/>
              </a:prstGeom>
              <a:solidFill>
                <a:srgbClr val="99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06" name="Oval 10">
                <a:extLst>
                  <a:ext uri="{FF2B5EF4-FFF2-40B4-BE49-F238E27FC236}">
                    <a16:creationId xmlns:a16="http://schemas.microsoft.com/office/drawing/2014/main" id="{BC700185-6C53-B7FA-28D6-3CBEDA75C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296"/>
                <a:ext cx="240" cy="240"/>
              </a:xfrm>
              <a:prstGeom prst="ellipse">
                <a:avLst/>
              </a:prstGeom>
              <a:solidFill>
                <a:srgbClr val="99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07" name="Oval 11">
                <a:extLst>
                  <a:ext uri="{FF2B5EF4-FFF2-40B4-BE49-F238E27FC236}">
                    <a16:creationId xmlns:a16="http://schemas.microsoft.com/office/drawing/2014/main" id="{85387A75-4022-5ADA-A54B-5001AFDFE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728"/>
                <a:ext cx="240" cy="240"/>
              </a:xfrm>
              <a:prstGeom prst="ellipse">
                <a:avLst/>
              </a:prstGeom>
              <a:solidFill>
                <a:srgbClr val="99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08" name="Oval 12">
                <a:extLst>
                  <a:ext uri="{FF2B5EF4-FFF2-40B4-BE49-F238E27FC236}">
                    <a16:creationId xmlns:a16="http://schemas.microsoft.com/office/drawing/2014/main" id="{D3EB235A-EE81-7F82-CF4B-006E0F3EE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160"/>
                <a:ext cx="240" cy="240"/>
              </a:xfrm>
              <a:prstGeom prst="ellipse">
                <a:avLst/>
              </a:prstGeom>
              <a:solidFill>
                <a:srgbClr val="99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09" name="Rectangle 13">
                <a:extLst>
                  <a:ext uri="{FF2B5EF4-FFF2-40B4-BE49-F238E27FC236}">
                    <a16:creationId xmlns:a16="http://schemas.microsoft.com/office/drawing/2014/main" id="{D4A67542-014D-0363-AA80-F50A310317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248"/>
                <a:ext cx="144" cy="144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10" name="Rectangle 14">
                <a:extLst>
                  <a:ext uri="{FF2B5EF4-FFF2-40B4-BE49-F238E27FC236}">
                    <a16:creationId xmlns:a16="http://schemas.microsoft.com/office/drawing/2014/main" id="{72030928-44EF-49A3-41E4-C821174C9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584"/>
                <a:ext cx="144" cy="144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11" name="Rectangle 15">
                <a:extLst>
                  <a:ext uri="{FF2B5EF4-FFF2-40B4-BE49-F238E27FC236}">
                    <a16:creationId xmlns:a16="http://schemas.microsoft.com/office/drawing/2014/main" id="{3ABF2835-B590-8B2D-6F5E-228D886E9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968"/>
                <a:ext cx="144" cy="144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12" name="Line 16">
                <a:extLst>
                  <a:ext uri="{FF2B5EF4-FFF2-40B4-BE49-F238E27FC236}">
                    <a16:creationId xmlns:a16="http://schemas.microsoft.com/office/drawing/2014/main" id="{34349229-486C-3146-92F8-2712928CF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1056"/>
                <a:ext cx="67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3" name="Line 17">
                <a:extLst>
                  <a:ext uri="{FF2B5EF4-FFF2-40B4-BE49-F238E27FC236}">
                    <a16:creationId xmlns:a16="http://schemas.microsoft.com/office/drawing/2014/main" id="{08CD7EBD-22F3-950C-592B-DF53F4823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296"/>
                <a:ext cx="672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" name="Line 18">
                <a:extLst>
                  <a:ext uri="{FF2B5EF4-FFF2-40B4-BE49-F238E27FC236}">
                    <a16:creationId xmlns:a16="http://schemas.microsoft.com/office/drawing/2014/main" id="{03782803-6BF1-3A3A-1307-E6549A091A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296"/>
                <a:ext cx="672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5" name="Line 19">
                <a:extLst>
                  <a:ext uri="{FF2B5EF4-FFF2-40B4-BE49-F238E27FC236}">
                    <a16:creationId xmlns:a16="http://schemas.microsoft.com/office/drawing/2014/main" id="{C5DDAB38-6FB4-80D2-7B78-FBFB51D0C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296"/>
                <a:ext cx="672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6" name="Line 20">
                <a:extLst>
                  <a:ext uri="{FF2B5EF4-FFF2-40B4-BE49-F238E27FC236}">
                    <a16:creationId xmlns:a16="http://schemas.microsoft.com/office/drawing/2014/main" id="{B37A7FED-D045-DE34-C480-8554AD9E5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1056"/>
                <a:ext cx="672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7" name="Line 21">
                <a:extLst>
                  <a:ext uri="{FF2B5EF4-FFF2-40B4-BE49-F238E27FC236}">
                    <a16:creationId xmlns:a16="http://schemas.microsoft.com/office/drawing/2014/main" id="{6C0B8D5C-F739-1E02-17AF-5D648991E7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632"/>
                <a:ext cx="672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8" name="Line 22">
                <a:extLst>
                  <a:ext uri="{FF2B5EF4-FFF2-40B4-BE49-F238E27FC236}">
                    <a16:creationId xmlns:a16="http://schemas.microsoft.com/office/drawing/2014/main" id="{9B93F92A-E074-1B27-C32B-823EEC2EF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1440"/>
                <a:ext cx="672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9" name="Line 23">
                <a:extLst>
                  <a:ext uri="{FF2B5EF4-FFF2-40B4-BE49-F238E27FC236}">
                    <a16:creationId xmlns:a16="http://schemas.microsoft.com/office/drawing/2014/main" id="{2C3191D2-C0A1-1B5A-6C9B-4477A062B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1872"/>
                <a:ext cx="67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0" name="Line 24">
                <a:extLst>
                  <a:ext uri="{FF2B5EF4-FFF2-40B4-BE49-F238E27FC236}">
                    <a16:creationId xmlns:a16="http://schemas.microsoft.com/office/drawing/2014/main" id="{121505F5-46E3-6959-9AFE-A2D58C423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016"/>
                <a:ext cx="67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1" name="Line 25">
                <a:extLst>
                  <a:ext uri="{FF2B5EF4-FFF2-40B4-BE49-F238E27FC236}">
                    <a16:creationId xmlns:a16="http://schemas.microsoft.com/office/drawing/2014/main" id="{42CABB86-2441-6A69-5B87-290CF325B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1392"/>
                <a:ext cx="67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2" name="Line 26">
                <a:extLst>
                  <a:ext uri="{FF2B5EF4-FFF2-40B4-BE49-F238E27FC236}">
                    <a16:creationId xmlns:a16="http://schemas.microsoft.com/office/drawing/2014/main" id="{ED49B6FA-927D-4E44-C1B9-D97EE244C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632"/>
                <a:ext cx="67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3" name="Line 27">
                <a:extLst>
                  <a:ext uri="{FF2B5EF4-FFF2-40B4-BE49-F238E27FC236}">
                    <a16:creationId xmlns:a16="http://schemas.microsoft.com/office/drawing/2014/main" id="{48071B0D-5944-978B-D09C-AEABB50E6C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1056"/>
                <a:ext cx="672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4" name="Oval 28">
                <a:extLst>
                  <a:ext uri="{FF2B5EF4-FFF2-40B4-BE49-F238E27FC236}">
                    <a16:creationId xmlns:a16="http://schemas.microsoft.com/office/drawing/2014/main" id="{EC9CC840-3FD7-D09F-C40B-9B11F4071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824"/>
                <a:ext cx="240" cy="240"/>
              </a:xfrm>
              <a:prstGeom prst="ellipse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25" name="Oval 29">
                <a:extLst>
                  <a:ext uri="{FF2B5EF4-FFF2-40B4-BE49-F238E27FC236}">
                    <a16:creationId xmlns:a16="http://schemas.microsoft.com/office/drawing/2014/main" id="{258B112C-4E78-ED8E-B64E-AB669B622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248"/>
                <a:ext cx="240" cy="240"/>
              </a:xfrm>
              <a:prstGeom prst="ellipse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26" name="Line 30">
                <a:extLst>
                  <a:ext uri="{FF2B5EF4-FFF2-40B4-BE49-F238E27FC236}">
                    <a16:creationId xmlns:a16="http://schemas.microsoft.com/office/drawing/2014/main" id="{F0F89182-7E8E-EAB1-BD8C-1FDA909B14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056"/>
                <a:ext cx="52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7" name="Line 31">
                <a:extLst>
                  <a:ext uri="{FF2B5EF4-FFF2-40B4-BE49-F238E27FC236}">
                    <a16:creationId xmlns:a16="http://schemas.microsoft.com/office/drawing/2014/main" id="{779EBDD7-992D-ACCF-F88A-26F260E83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056"/>
                <a:ext cx="528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8" name="Line 32">
                <a:extLst>
                  <a:ext uri="{FF2B5EF4-FFF2-40B4-BE49-F238E27FC236}">
                    <a16:creationId xmlns:a16="http://schemas.microsoft.com/office/drawing/2014/main" id="{04F99DAB-5004-7FED-E068-0C8B75FE73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1344"/>
                <a:ext cx="52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9" name="Line 33">
                <a:extLst>
                  <a:ext uri="{FF2B5EF4-FFF2-40B4-BE49-F238E27FC236}">
                    <a16:creationId xmlns:a16="http://schemas.microsoft.com/office/drawing/2014/main" id="{48F151F4-0D70-C322-779A-761051540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392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0" name="Line 34">
                <a:extLst>
                  <a:ext uri="{FF2B5EF4-FFF2-40B4-BE49-F238E27FC236}">
                    <a16:creationId xmlns:a16="http://schemas.microsoft.com/office/drawing/2014/main" id="{11037AB6-EDA3-9B78-D886-BFC214D0A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1344"/>
                <a:ext cx="528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1" name="Line 35">
                <a:extLst>
                  <a:ext uri="{FF2B5EF4-FFF2-40B4-BE49-F238E27FC236}">
                    <a16:creationId xmlns:a16="http://schemas.microsoft.com/office/drawing/2014/main" id="{CA220482-9560-70B7-B521-B0F6738B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824"/>
                <a:ext cx="52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2" name="Line 36">
                <a:extLst>
                  <a:ext uri="{FF2B5EF4-FFF2-40B4-BE49-F238E27FC236}">
                    <a16:creationId xmlns:a16="http://schemas.microsoft.com/office/drawing/2014/main" id="{B98E22F7-ED3F-53CB-D8F8-7447B7C80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1344"/>
                <a:ext cx="528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3" name="Line 37">
                <a:extLst>
                  <a:ext uri="{FF2B5EF4-FFF2-40B4-BE49-F238E27FC236}">
                    <a16:creationId xmlns:a16="http://schemas.microsoft.com/office/drawing/2014/main" id="{D5D5E561-24E0-7152-2870-30EF19CB54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192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4" name="Line 38">
                <a:extLst>
                  <a:ext uri="{FF2B5EF4-FFF2-40B4-BE49-F238E27FC236}">
                    <a16:creationId xmlns:a16="http://schemas.microsoft.com/office/drawing/2014/main" id="{2987D86F-5E86-A958-F43D-05C9321B0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344"/>
                <a:ext cx="517" cy="2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5" name="Line 39">
                <a:extLst>
                  <a:ext uri="{FF2B5EF4-FFF2-40B4-BE49-F238E27FC236}">
                    <a16:creationId xmlns:a16="http://schemas.microsoft.com/office/drawing/2014/main" id="{A3EB5D76-489E-5A92-C27E-CAE25313B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1740"/>
                <a:ext cx="528" cy="2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6" name="Line 40">
                <a:extLst>
                  <a:ext uri="{FF2B5EF4-FFF2-40B4-BE49-F238E27FC236}">
                    <a16:creationId xmlns:a16="http://schemas.microsoft.com/office/drawing/2014/main" id="{441FF3CC-2B50-DD8E-FD10-D88999D7F9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6" y="132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7" name="Line 41">
                <a:extLst>
                  <a:ext uri="{FF2B5EF4-FFF2-40B4-BE49-F238E27FC236}">
                    <a16:creationId xmlns:a16="http://schemas.microsoft.com/office/drawing/2014/main" id="{E54AAD77-3A4A-F91C-4595-DA430C935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6" y="165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8" name="Line 42">
                <a:extLst>
                  <a:ext uri="{FF2B5EF4-FFF2-40B4-BE49-F238E27FC236}">
                    <a16:creationId xmlns:a16="http://schemas.microsoft.com/office/drawing/2014/main" id="{E9985930-9585-7FAA-A9F7-9048B943CE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36" y="2028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801" name="Text Box 44">
              <a:extLst>
                <a:ext uri="{FF2B5EF4-FFF2-40B4-BE49-F238E27FC236}">
                  <a16:creationId xmlns:a16="http://schemas.microsoft.com/office/drawing/2014/main" id="{6B593715-819F-AD41-E9FB-EA1FD9074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2688"/>
              <a:ext cx="984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altLang="en-US"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798" name="Oval 28">
            <a:extLst>
              <a:ext uri="{FF2B5EF4-FFF2-40B4-BE49-F238E27FC236}">
                <a16:creationId xmlns:a16="http://schemas.microsoft.com/office/drawing/2014/main" id="{4FEF6407-9875-01AA-FD8E-7295C79DE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1981200"/>
            <a:ext cx="381000" cy="381000"/>
          </a:xfrm>
          <a:prstGeom prst="ellipse">
            <a:avLst/>
          </a:prstGeom>
          <a:solidFill>
            <a:srgbClr val="FF7200"/>
          </a:solidFill>
          <a:ln w="9525">
            <a:solidFill>
              <a:srgbClr val="067AB4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32774-F4CE-0226-E9CF-D948C1BD26C6}"/>
              </a:ext>
            </a:extLst>
          </p:cNvPr>
          <p:cNvSpPr txBox="1"/>
          <p:nvPr/>
        </p:nvSpPr>
        <p:spPr>
          <a:xfrm>
            <a:off x="3388519" y="6005895"/>
            <a:ext cx="4647426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7020"/>
                </a:solidFill>
                <a:latin typeface="Lucida Console" panose="020B0609040504020204" pitchFamily="49" charset="0"/>
              </a:rPr>
              <a:t>from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b="1" dirty="0" err="1">
                <a:solidFill>
                  <a:srgbClr val="0E84B5"/>
                </a:solidFill>
                <a:latin typeface="Lucida Console" panose="020B0609040504020204" pitchFamily="49" charset="0"/>
              </a:rPr>
              <a:t>sklearn.neural_network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b="1" dirty="0">
                <a:solidFill>
                  <a:srgbClr val="007020"/>
                </a:solidFill>
                <a:latin typeface="Lucida Console" panose="020B0609040504020204" pitchFamily="49" charset="0"/>
              </a:rPr>
              <a:t>import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MLPClassifier</a:t>
            </a:r>
            <a:endParaRPr lang="en-US" sz="1200" dirty="0">
              <a:latin typeface="Lucida Console" panose="020B0609040504020204" pitchFamily="49" charset="0"/>
            </a:endParaRPr>
          </a:p>
          <a:p>
            <a:pPr>
              <a:buNone/>
            </a:pPr>
            <a:r>
              <a:rPr lang="en-US" sz="12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tensorflow</a:t>
            </a:r>
            <a:r>
              <a:rPr lang="en-US" sz="1200" dirty="0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import </a:t>
            </a:r>
            <a:r>
              <a:rPr lang="en-US" sz="1200" dirty="0" err="1"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keras</a:t>
            </a:r>
            <a:endParaRPr lang="en-US" sz="2000" dirty="0"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3E6B2-C056-61DD-462C-D4DA68AE0B79}"/>
              </a:ext>
            </a:extLst>
          </p:cNvPr>
          <p:cNvSpPr txBox="1"/>
          <p:nvPr/>
        </p:nvSpPr>
        <p:spPr>
          <a:xfrm>
            <a:off x="4048888" y="4013735"/>
            <a:ext cx="3627468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MLP = 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Multi-Layer Perceptron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E6ECED9F-96C8-FA29-0790-87E56A3A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buNone/>
            </a:pPr>
            <a:fld id="{CD9F5525-BEA1-1F49-8DEE-7F715522D7F9}" type="slidenum">
              <a:rPr lang="en-US" altLang="en-US" smtClean="0"/>
              <a:pPr>
                <a:buNone/>
              </a:pPr>
              <a:t>21</a:t>
            </a:fld>
            <a:endParaRPr lang="en-US" altLang="en-US" dirty="0"/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EC8A175-0B6D-5A59-6677-FDF6DEC9F1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865739"/>
            <a:ext cx="7877844" cy="4814202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Lots of decisions to make / optimize with neural nets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Architecture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Number of hidden layers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Number of nodes in the input, output and hidden layers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Specification of the activation function(s)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The associated set of weights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This is often an art, not a science!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Weights and complexity can be “learned” from the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Start simple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One hidden layer, same number of inputs as features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9E9C524-BB53-FD62-CD95-34C11ABE0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642" y="0"/>
            <a:ext cx="10515600" cy="1001559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Neural Networks: The Model</a:t>
            </a:r>
          </a:p>
        </p:txBody>
      </p:sp>
      <p:pic>
        <p:nvPicPr>
          <p:cNvPr id="12290" name="Picture 2" descr="Learning Machine Learning Part 3: Attacking Black Box Models | by Will  Schroeder | Posts By SpecterOps Team Members">
            <a:extLst>
              <a:ext uri="{FF2B5EF4-FFF2-40B4-BE49-F238E27FC236}">
                <a16:creationId xmlns:a16="http://schemas.microsoft.com/office/drawing/2014/main" id="{EE057404-63F6-39C3-98D0-74D971537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045" y="2706447"/>
            <a:ext cx="2637754" cy="144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D6EB43-3627-6870-77C2-0869F05DAB0F}"/>
              </a:ext>
            </a:extLst>
          </p:cNvPr>
          <p:cNvSpPr txBox="1"/>
          <p:nvPr/>
        </p:nvSpPr>
        <p:spPr>
          <a:xfrm>
            <a:off x="7752771" y="4237502"/>
            <a:ext cx="4439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Often criticized as “black box” models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84" y="149262"/>
            <a:ext cx="8229600" cy="685482"/>
          </a:xfrm>
        </p:spPr>
        <p:txBody>
          <a:bodyPr>
            <a:normAutofit fontScale="90000"/>
          </a:bodyPr>
          <a:lstStyle/>
          <a:p>
            <a:r>
              <a:rPr lang="en-US" dirty="0"/>
              <a:t>Taking Neural Nets to 11…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047" y="1474298"/>
            <a:ext cx="8297831" cy="453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C2CB43-F138-AC43-AEB2-7861528B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11" y="2466673"/>
            <a:ext cx="5179942" cy="32785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65885F-3B13-E734-9AAB-0EDC1CA8E6B5}"/>
              </a:ext>
            </a:extLst>
          </p:cNvPr>
          <p:cNvSpPr txBox="1"/>
          <p:nvPr/>
        </p:nvSpPr>
        <p:spPr>
          <a:xfrm>
            <a:off x="2875514" y="5896757"/>
            <a:ext cx="6440972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 learning … RNN … CNN … Transformers… GenAI</a:t>
            </a:r>
          </a:p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detail in later chapter…</a:t>
            </a:r>
          </a:p>
        </p:txBody>
      </p:sp>
      <p:pic>
        <p:nvPicPr>
          <p:cNvPr id="5122" name="Picture 2" descr="Christopher Guest, Michael McKean, Harry Shearer, Rob Reiner – These Go To  Eleven | Genius">
            <a:extLst>
              <a:ext uri="{FF2B5EF4-FFF2-40B4-BE49-F238E27FC236}">
                <a16:creationId xmlns:a16="http://schemas.microsoft.com/office/drawing/2014/main" id="{EF711F12-60A9-1002-1B3E-217D1D61C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647" y="12773"/>
            <a:ext cx="1935406" cy="108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83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C04EE-A563-4BC3-21BF-82021801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23</a:t>
            </a:fld>
            <a:endParaRPr lang="en-US"/>
          </a:p>
        </p:txBody>
      </p:sp>
      <p:pic>
        <p:nvPicPr>
          <p:cNvPr id="6" name="Content Placeholder 5" descr="A screenshot of a computer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5C2BCE4B-EA63-4753-4A6D-5E59B3909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9802" y="1496461"/>
            <a:ext cx="4257398" cy="240665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878410-A26D-4F15-4ECF-538AA6B1C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Excellent description of NN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99DAD-AE72-66E2-1731-B0DF060FFA8E}"/>
              </a:ext>
            </a:extLst>
          </p:cNvPr>
          <p:cNvSpPr txBox="1"/>
          <p:nvPr/>
        </p:nvSpPr>
        <p:spPr>
          <a:xfrm>
            <a:off x="4201828" y="4561208"/>
            <a:ext cx="378834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Blue 1 Brown YouTube video</a:t>
            </a:r>
          </a:p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But What is a Neural Network??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B4DBB-CAC1-994A-BECC-835981774AC7}"/>
              </a:ext>
            </a:extLst>
          </p:cNvPr>
          <p:cNvSpPr txBox="1"/>
          <p:nvPr/>
        </p:nvSpPr>
        <p:spPr>
          <a:xfrm>
            <a:off x="5307941" y="5801712"/>
            <a:ext cx="1281120" cy="276999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02:45 =&gt; 13:24</a:t>
            </a:r>
          </a:p>
        </p:txBody>
      </p:sp>
    </p:spTree>
    <p:extLst>
      <p:ext uri="{BB962C8B-B14F-4D97-AF65-F5344CB8AC3E}">
        <p14:creationId xmlns:p14="http://schemas.microsoft.com/office/powerpoint/2010/main" val="3971328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77635-128D-2D83-B66D-3AA52CB84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F2104F-4EDE-3657-7149-47864512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C389C0-AE24-DD61-0D9B-F3090047B6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063750"/>
            <a:ext cx="12192000" cy="1001713"/>
          </a:xfrm>
          <a:solidFill>
            <a:schemeClr val="accent2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Neural Nets Notebook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EEABC-648E-88BB-B142-037D6A746692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29E7B-1429-3C94-863B-880AE058BC79}"/>
              </a:ext>
            </a:extLst>
          </p:cNvPr>
          <p:cNvSpPr txBox="1"/>
          <p:nvPr/>
        </p:nvSpPr>
        <p:spPr>
          <a:xfrm>
            <a:off x="4918365" y="3429000"/>
            <a:ext cx="3396699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T6_Basic_Neural_Nets.ipynb</a:t>
            </a:r>
          </a:p>
        </p:txBody>
      </p:sp>
    </p:spTree>
    <p:extLst>
      <p:ext uri="{BB962C8B-B14F-4D97-AF65-F5344CB8AC3E}">
        <p14:creationId xmlns:p14="http://schemas.microsoft.com/office/powerpoint/2010/main" val="109509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3A862-0825-8FB5-7BB0-A465C2D1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E46E81-BB1F-BFDE-16C5-0024568C2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 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446EDF-B195-21C1-6EDA-3EDBE713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1DD4D-BDED-1515-A529-DA50D371E582}"/>
              </a:ext>
            </a:extLst>
          </p:cNvPr>
          <p:cNvSpPr txBox="1"/>
          <p:nvPr/>
        </p:nvSpPr>
        <p:spPr>
          <a:xfrm>
            <a:off x="7525408" y="21336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115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6019C-F2DB-8A4C-AA82-FCDFA39E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F01FD-D140-EA4C-E677-A120A13D1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3149" y="1232926"/>
            <a:ext cx="4213918" cy="4676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Regression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Linear regression</a:t>
            </a:r>
          </a:p>
          <a:p>
            <a:pPr lvl="1"/>
            <a:r>
              <a:rPr lang="en-US" dirty="0"/>
              <a:t>With regularization</a:t>
            </a:r>
          </a:p>
          <a:p>
            <a:r>
              <a:rPr lang="en-US" dirty="0"/>
              <a:t>Quadratic and higher order regression</a:t>
            </a:r>
          </a:p>
          <a:p>
            <a:r>
              <a:rPr lang="en-US" dirty="0"/>
              <a:t>Regression Trees</a:t>
            </a:r>
          </a:p>
          <a:p>
            <a:r>
              <a:rPr lang="en-US" dirty="0"/>
              <a:t>Neural 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72859-732E-DC28-AB27-AE1525EC0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8503" y="1261655"/>
            <a:ext cx="441628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Classification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Decision Trees</a:t>
            </a:r>
          </a:p>
          <a:p>
            <a:r>
              <a:rPr lang="en-US" dirty="0"/>
              <a:t>Linear Discriminant Models</a:t>
            </a:r>
          </a:p>
          <a:p>
            <a:r>
              <a:rPr lang="en-US" dirty="0"/>
              <a:t>Support Vector Machines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Neural Nets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40A7F1-0FF6-4A26-A05F-D0DD72DE3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28" y="133706"/>
            <a:ext cx="8229600" cy="729214"/>
          </a:xfrm>
        </p:spPr>
        <p:txBody>
          <a:bodyPr/>
          <a:lstStyle/>
          <a:p>
            <a:r>
              <a:rPr lang="en-US" dirty="0"/>
              <a:t>Building your toolbox</a:t>
            </a:r>
          </a:p>
        </p:txBody>
      </p:sp>
      <p:pic>
        <p:nvPicPr>
          <p:cNvPr id="6" name="Picture 2" descr="Pin by Michael Hathaway on Tool Boxes | Mechanic life, Mechanic tool box,  Funny car memes">
            <a:extLst>
              <a:ext uri="{FF2B5EF4-FFF2-40B4-BE49-F238E27FC236}">
                <a16:creationId xmlns:a16="http://schemas.microsoft.com/office/drawing/2014/main" id="{A685E46F-288F-4F42-04A8-CC83ECCE6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85874"/>
            <a:ext cx="1932229" cy="262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1D819F-2FC7-D266-C2A9-4B8D6AF23075}"/>
              </a:ext>
            </a:extLst>
          </p:cNvPr>
          <p:cNvSpPr txBox="1"/>
          <p:nvPr/>
        </p:nvSpPr>
        <p:spPr>
          <a:xfrm>
            <a:off x="3551681" y="6157624"/>
            <a:ext cx="5400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Try one, try a few, or just try them all!</a:t>
            </a:r>
          </a:p>
        </p:txBody>
      </p:sp>
    </p:spTree>
    <p:extLst>
      <p:ext uri="{BB962C8B-B14F-4D97-AF65-F5344CB8AC3E}">
        <p14:creationId xmlns:p14="http://schemas.microsoft.com/office/powerpoint/2010/main" val="3303709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A1DD0-2167-88C9-53BB-D9B3634A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7E94E-CD10-FBEA-4627-5355C40F8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91" y="807195"/>
            <a:ext cx="9185459" cy="5472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Classification v. Regression</a:t>
            </a:r>
          </a:p>
          <a:p>
            <a:r>
              <a:rPr lang="en-US" dirty="0"/>
              <a:t>Complexity of relationships	</a:t>
            </a:r>
          </a:p>
          <a:p>
            <a:pPr lvl="1"/>
            <a:r>
              <a:rPr lang="en-US" dirty="0"/>
              <a:t>Are linear assumptions realistic? </a:t>
            </a:r>
          </a:p>
          <a:p>
            <a:r>
              <a:rPr lang="en-US" dirty="0"/>
              <a:t>Size of data</a:t>
            </a:r>
          </a:p>
          <a:p>
            <a:pPr lvl="1"/>
            <a:r>
              <a:rPr lang="en-US" dirty="0"/>
              <a:t>Neural nets need more data to train</a:t>
            </a:r>
          </a:p>
          <a:p>
            <a:pPr lvl="1"/>
            <a:r>
              <a:rPr lang="en-US" dirty="0"/>
              <a:t>SVMs can take a long time!</a:t>
            </a:r>
          </a:p>
          <a:p>
            <a:pPr lvl="1"/>
            <a:r>
              <a:rPr lang="en-US" dirty="0"/>
              <a:t>Smaller sets = simpler models</a:t>
            </a:r>
          </a:p>
          <a:p>
            <a:r>
              <a:rPr lang="en-US" dirty="0"/>
              <a:t>Interpretability vs. accuracy</a:t>
            </a:r>
          </a:p>
          <a:p>
            <a:pPr lvl="1"/>
            <a:r>
              <a:rPr lang="en-US" dirty="0"/>
              <a:t>Do you need to explain the model to someone?</a:t>
            </a:r>
          </a:p>
          <a:p>
            <a:r>
              <a:rPr lang="en-US" dirty="0"/>
              <a:t>How important is the best model anyway?</a:t>
            </a:r>
          </a:p>
          <a:p>
            <a:pPr lvl="1"/>
            <a:r>
              <a:rPr lang="en-US" dirty="0"/>
              <a:t>Feature engineering and data cleaning are often more important than the model!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CFE4C-F047-33AD-010B-905DB8101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43" y="1227"/>
            <a:ext cx="10055157" cy="729214"/>
          </a:xfrm>
        </p:spPr>
        <p:txBody>
          <a:bodyPr/>
          <a:lstStyle/>
          <a:p>
            <a:r>
              <a:rPr lang="en-US" dirty="0"/>
              <a:t>What model do I choose?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0D093-C0BD-4517-D7FA-2F3C6DCE3CB9}"/>
              </a:ext>
            </a:extLst>
          </p:cNvPr>
          <p:cNvSpPr txBox="1"/>
          <p:nvPr/>
        </p:nvSpPr>
        <p:spPr>
          <a:xfrm>
            <a:off x="1845270" y="6156294"/>
            <a:ext cx="7626447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Data Science Way: Try them all, choose the best performer!! </a:t>
            </a:r>
          </a:p>
        </p:txBody>
      </p:sp>
      <p:pic>
        <p:nvPicPr>
          <p:cNvPr id="1026" name="Picture 2" descr="Create comics meme &quot;memes templates, difficult choice, meme with button  selection&quot; - Comics - Meme-arsenal.com">
            <a:extLst>
              <a:ext uri="{FF2B5EF4-FFF2-40B4-BE49-F238E27FC236}">
                <a16:creationId xmlns:a16="http://schemas.microsoft.com/office/drawing/2014/main" id="{C98879EA-B659-E58A-E16A-5BDEB9651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914" y="1404905"/>
            <a:ext cx="3973285" cy="158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01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theme/theme1.xml><?xml version="1.0" encoding="utf-8"?>
<a:theme xmlns:a="http://schemas.openxmlformats.org/drawingml/2006/main" name="LSL_PowerPoint_Template">
  <a:themeElements>
    <a:clrScheme name="Stern Color Palette">
      <a:dk1>
        <a:srgbClr val="000000"/>
      </a:dk1>
      <a:lt1>
        <a:srgbClr val="FFFFFF"/>
      </a:lt1>
      <a:dk2>
        <a:srgbClr val="0E2841"/>
      </a:dk2>
      <a:lt2>
        <a:srgbClr val="EEE6F3"/>
      </a:lt2>
      <a:accent1>
        <a:srgbClr val="57068C"/>
      </a:accent1>
      <a:accent2>
        <a:srgbClr val="8900E1"/>
      </a:accent2>
      <a:accent3>
        <a:srgbClr val="330661"/>
      </a:accent3>
      <a:accent4>
        <a:srgbClr val="702B9D"/>
      </a:accent4>
      <a:accent5>
        <a:srgbClr val="A02B93"/>
      </a:accent5>
      <a:accent6>
        <a:srgbClr val="7B59A6"/>
      </a:accent6>
      <a:hlink>
        <a:srgbClr val="009B8A"/>
      </a:hlink>
      <a:folHlink>
        <a:srgbClr val="FB0F78"/>
      </a:folHlink>
    </a:clrScheme>
    <a:fontScheme name="LSL Templat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SL_PowerPoint_Template" id="{21962180-B26F-4A46-B8B0-B7D5112C3D72}" vid="{BB355436-7ED7-E64D-88EB-D09D3F4BC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LSL_PowerPoint_Template</Template>
  <TotalTime>50532</TotalTime>
  <Words>1325</Words>
  <Application>Microsoft Macintosh PowerPoint</Application>
  <PresentationFormat>Widescreen</PresentationFormat>
  <Paragraphs>260</Paragraphs>
  <Slides>27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ＭＳ Ｐゴシック</vt:lpstr>
      <vt:lpstr>Arial</vt:lpstr>
      <vt:lpstr>Calibri</vt:lpstr>
      <vt:lpstr>Cambria Math</vt:lpstr>
      <vt:lpstr>Consolas</vt:lpstr>
      <vt:lpstr>Helvetica Neue</vt:lpstr>
      <vt:lpstr>Lucida Console</vt:lpstr>
      <vt:lpstr>Montserrat</vt:lpstr>
      <vt:lpstr>Montserrat SemiBold</vt:lpstr>
      <vt:lpstr>Tahoma</vt:lpstr>
      <vt:lpstr>Wingdings</vt:lpstr>
      <vt:lpstr>LSL_PowerPoint_Template</vt:lpstr>
      <vt:lpstr>Topic 7 – Machine Learning Toolbox</vt:lpstr>
      <vt:lpstr>PowerPoint Presentation</vt:lpstr>
      <vt:lpstr>More ML Models …</vt:lpstr>
      <vt:lpstr>Regression: Regression Trees</vt:lpstr>
      <vt:lpstr>Linear Discriminant</vt:lpstr>
      <vt:lpstr>Classification: Linear Discriminants</vt:lpstr>
      <vt:lpstr>Support Vector Machines</vt:lpstr>
      <vt:lpstr>Classification: Support Vector Machines (SVM)</vt:lpstr>
      <vt:lpstr>SVM: Maximizing margin: </vt:lpstr>
      <vt:lpstr>Time Series and Forecasting </vt:lpstr>
      <vt:lpstr>Time Series or Forecasting</vt:lpstr>
      <vt:lpstr>Time Series Example: Amtrak</vt:lpstr>
      <vt:lpstr>Time Series : Training and Test</vt:lpstr>
      <vt:lpstr>Forecasting - ARIMA</vt:lpstr>
      <vt:lpstr>Forecasting - Prophet</vt:lpstr>
      <vt:lpstr>Neural Networks - Intro</vt:lpstr>
      <vt:lpstr>Neural Nets: Inspiration from Biology</vt:lpstr>
      <vt:lpstr>From Real to Artificial</vt:lpstr>
      <vt:lpstr>Nodes: A Closer Look</vt:lpstr>
      <vt:lpstr>Neural Network: Architecture</vt:lpstr>
      <vt:lpstr>Neural Networks: The Model</vt:lpstr>
      <vt:lpstr>Taking Neural Nets to 11…</vt:lpstr>
      <vt:lpstr>Excellent description of NN</vt:lpstr>
      <vt:lpstr>Neural Nets Notebook</vt:lpstr>
      <vt:lpstr>Summary </vt:lpstr>
      <vt:lpstr>Building your toolbox</vt:lpstr>
      <vt:lpstr>What model do I choose?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volinsky</dc:creator>
  <cp:lastModifiedBy>chris volinsky</cp:lastModifiedBy>
  <cp:revision>97</cp:revision>
  <dcterms:created xsi:type="dcterms:W3CDTF">2023-07-07T20:20:38Z</dcterms:created>
  <dcterms:modified xsi:type="dcterms:W3CDTF">2025-11-03T15:05:48Z</dcterms:modified>
</cp:coreProperties>
</file>