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1"/>
  </p:sldMasterIdLst>
  <p:notesMasterIdLst>
    <p:notesMasterId r:id="rId24"/>
  </p:notesMasterIdLst>
  <p:sldIdLst>
    <p:sldId id="256" r:id="rId2"/>
    <p:sldId id="259" r:id="rId3"/>
    <p:sldId id="260" r:id="rId4"/>
    <p:sldId id="262" r:id="rId5"/>
    <p:sldId id="265" r:id="rId6"/>
    <p:sldId id="257" r:id="rId7"/>
    <p:sldId id="266" r:id="rId8"/>
    <p:sldId id="263" r:id="rId9"/>
    <p:sldId id="267" r:id="rId10"/>
    <p:sldId id="268" r:id="rId11"/>
    <p:sldId id="272" r:id="rId12"/>
    <p:sldId id="270" r:id="rId13"/>
    <p:sldId id="275" r:id="rId14"/>
    <p:sldId id="276" r:id="rId15"/>
    <p:sldId id="274" r:id="rId16"/>
    <p:sldId id="284" r:id="rId17"/>
    <p:sldId id="280" r:id="rId18"/>
    <p:sldId id="279" r:id="rId19"/>
    <p:sldId id="281" r:id="rId20"/>
    <p:sldId id="282" r:id="rId21"/>
    <p:sldId id="283" r:id="rId22"/>
    <p:sldId id="273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0592"/>
    <a:srgbClr val="4A0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5604"/>
    <p:restoredTop sz="96751"/>
  </p:normalViewPr>
  <p:slideViewPr>
    <p:cSldViewPr snapToGrid="0">
      <p:cViewPr varScale="1">
        <p:scale>
          <a:sx n="122" d="100"/>
          <a:sy n="122" d="100"/>
        </p:scale>
        <p:origin x="1096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13ED7A-E0CC-A14D-8702-3DBB30C4345D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12B09-6666-2149-A7EC-89A035875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811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Like shining a flashlight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2387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Dropout reg: at different steps set random neurons to zero during different training iterations and </a:t>
            </a:r>
            <a:r>
              <a:rPr lang="en-US" dirty="0" err="1"/>
              <a:t>averagine</a:t>
            </a:r>
            <a:r>
              <a:rPr lang="en-US" dirty="0"/>
              <a:t>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2729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	</a:t>
            </a:r>
          </a:p>
          <a:p>
            <a:r>
              <a:rPr lang="en-US" dirty="0"/>
              <a:t>LSTMS are able to keep “context” from earlier in the document while parsing local context from most recent context.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2006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Stock prediction, music </a:t>
            </a:r>
            <a:r>
              <a:rPr lang="en-US" dirty="0" err="1"/>
              <a:t>compoosition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482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4076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transformers did so well, and seemed to show “intelligence”</a:t>
            </a:r>
          </a:p>
          <a:p>
            <a:endParaRPr lang="en-US" dirty="0"/>
          </a:p>
          <a:p>
            <a:r>
              <a:rPr lang="en-US" dirty="0"/>
              <a:t>The researchers who invented them didn’t even understand</a:t>
            </a:r>
          </a:p>
          <a:p>
            <a:endParaRPr lang="en-US" dirty="0"/>
          </a:p>
          <a:p>
            <a:r>
              <a:rPr lang="en-US" dirty="0"/>
              <a:t>The more training data, the more intelligence they showed. </a:t>
            </a:r>
          </a:p>
          <a:p>
            <a:endParaRPr lang="en-US" dirty="0"/>
          </a:p>
          <a:p>
            <a:r>
              <a:rPr lang="en-US" dirty="0" err="1"/>
              <a:t>openAI</a:t>
            </a:r>
            <a:r>
              <a:rPr lang="en-US" dirty="0"/>
              <a:t> was the first to release one to the public, trained on hundreds of billions of “tokens”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0485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5946F-70E5-7345-F4A2-0C4784FED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5E4A1E-052B-B2EF-EDA9-20EBD26080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395D99-1B33-6EF1-FB21-F18ABB4482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the training data, the features, the model, the output?  </a:t>
            </a:r>
          </a:p>
          <a:p>
            <a:endParaRPr lang="en-US" dirty="0"/>
          </a:p>
          <a:p>
            <a:r>
              <a:rPr lang="en-US" dirty="0"/>
              <a:t>These transformers did so well, and seemed to show “intelligence”</a:t>
            </a:r>
          </a:p>
          <a:p>
            <a:endParaRPr lang="en-US" dirty="0"/>
          </a:p>
          <a:p>
            <a:r>
              <a:rPr lang="en-US" dirty="0"/>
              <a:t>The researchers who invented them didn’t even understand</a:t>
            </a:r>
          </a:p>
          <a:p>
            <a:endParaRPr lang="en-US" dirty="0"/>
          </a:p>
          <a:p>
            <a:r>
              <a:rPr lang="en-US" dirty="0"/>
              <a:t>The more training data, the more intelligence they showed. </a:t>
            </a:r>
          </a:p>
          <a:p>
            <a:endParaRPr lang="en-US" dirty="0"/>
          </a:p>
          <a:p>
            <a:r>
              <a:rPr lang="en-US" dirty="0" err="1"/>
              <a:t>openAI</a:t>
            </a:r>
            <a:r>
              <a:rPr lang="en-US" dirty="0"/>
              <a:t> was the first to release one to the public, trained on hundreds of billions of “tokens”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9F6AB-B7D2-6273-49A4-0BE7E1E7E5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3461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Parameters: model</a:t>
            </a:r>
          </a:p>
          <a:p>
            <a:r>
              <a:rPr lang="en-US" dirty="0"/>
              <a:t>Input Tokens: how many words, </a:t>
            </a:r>
            <a:r>
              <a:rPr lang="en-US" dirty="0" err="1"/>
              <a:t>etc</a:t>
            </a:r>
            <a:r>
              <a:rPr lang="en-US" dirty="0"/>
              <a:t> can be used as input – Context Window GPT3 = 2k , latest models 128k</a:t>
            </a:r>
          </a:p>
          <a:p>
            <a:r>
              <a:rPr lang="en-US" dirty="0"/>
              <a:t>Training tokens : how many tokens were used in training</a:t>
            </a:r>
          </a:p>
          <a:p>
            <a:endParaRPr lang="en-US" dirty="0"/>
          </a:p>
          <a:p>
            <a:r>
              <a:rPr lang="en-US" dirty="0" err="1"/>
              <a:t>Simplified..not</a:t>
            </a:r>
            <a:r>
              <a:rPr lang="en-US" dirty="0"/>
              <a:t> tokens, actually embeddings of the tokens.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7235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13:00-14:00 range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3400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1752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Pros of Pre-trained:</a:t>
            </a:r>
          </a:p>
          <a:p>
            <a:r>
              <a:rPr lang="en-US" b="1" dirty="0"/>
              <a:t>Pros:</a:t>
            </a:r>
            <a:endParaRPr lang="en-US" dirty="0"/>
          </a:p>
          <a:p>
            <a:r>
              <a:rPr lang="en-US" dirty="0"/>
              <a:t>No training cost</a:t>
            </a:r>
          </a:p>
          <a:p>
            <a:r>
              <a:rPr lang="en-US" dirty="0"/>
              <a:t>Uses the latest documents instantly</a:t>
            </a:r>
          </a:p>
          <a:p>
            <a:r>
              <a:rPr lang="en-US" dirty="0"/>
              <a:t>Easy governance &amp; version control</a:t>
            </a:r>
          </a:p>
          <a:p>
            <a:r>
              <a:rPr lang="en-US" dirty="0"/>
              <a:t>Usually enough for 80–95% of business applications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5930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6981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578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98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9F43C82-9B9B-AC4F-98CD-0ADC587116F3}" type="datetime1">
              <a:rPr lang="en-US" smtClean="0"/>
              <a:t>11/22/25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4254946" y="3467480"/>
            <a:ext cx="6912587" cy="1402207"/>
          </a:xfrm>
        </p:spPr>
        <p:txBody>
          <a:bodyPr lIns="91440" anchor="t">
            <a:noAutofit/>
          </a:bodyPr>
          <a:lstStyle>
            <a:lvl1pPr marL="0" indent="0" algn="l">
              <a:buNone/>
              <a:defRPr sz="2800" b="1" i="0">
                <a:solidFill>
                  <a:schemeClr val="bg2"/>
                </a:solidFill>
                <a:latin typeface="Montserrat SemiBold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Data Science and AI for Business</a:t>
            </a:r>
          </a:p>
          <a:p>
            <a:r>
              <a:rPr lang="en-US" dirty="0"/>
              <a:t>Prof: Chris Volinsky</a:t>
            </a:r>
          </a:p>
          <a:p>
            <a:r>
              <a:rPr lang="en-US" dirty="0"/>
              <a:t>Fall 2025</a:t>
            </a: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4254946" y="567189"/>
            <a:ext cx="6912587" cy="2387600"/>
          </a:xfrm>
          <a:noFill/>
        </p:spPr>
        <p:txBody>
          <a:bodyPr anchor="b"/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Topic X – Topic Name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1035E6-08CE-C85D-CA4A-712845AD48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75339" y="3429000"/>
            <a:ext cx="6431721" cy="271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446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Gou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uilding with stairs and people walking&#10;&#10;AI-generated content may be incorrect.">
            <a:extLst>
              <a:ext uri="{FF2B5EF4-FFF2-40B4-BE49-F238E27FC236}">
                <a16:creationId xmlns:a16="http://schemas.microsoft.com/office/drawing/2014/main" id="{10B997DA-7AA6-CF7E-FDED-D6EF7D28E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Date">
            <a:extLst>
              <a:ext uri="{FF2B5EF4-FFF2-40B4-BE49-F238E27FC236}">
                <a16:creationId xmlns:a16="http://schemas.microsoft.com/office/drawing/2014/main" id="{5BF72350-7C98-FBEB-2F3B-2484C5946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11/22/25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EE8AD11E-DA5D-22C0-7E98-72840ACE0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E5F3E7FD-E179-CFF4-29F5-C801F3EC4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aption">
            <a:extLst>
              <a:ext uri="{FF2B5EF4-FFF2-40B4-BE49-F238E27FC236}">
                <a16:creationId xmlns:a16="http://schemas.microsoft.com/office/drawing/2014/main" id="{D0F66A68-CFCE-76B6-AA53-FDBE844F57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5737651"/>
            <a:ext cx="5872095" cy="587375"/>
          </a:xfrm>
          <a:solidFill>
            <a:schemeClr val="accent6"/>
          </a:solidFill>
        </p:spPr>
        <p:txBody>
          <a:bodyPr lIns="822960"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image caption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8B02C69-13B3-AF45-CE38-55FAC6F830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01609"/>
            <a:ext cx="6171117" cy="836754"/>
          </a:xfrm>
          <a:solidFill>
            <a:schemeClr val="accent1"/>
          </a:solidFill>
        </p:spPr>
        <p:txBody>
          <a:bodyPr lIns="822960">
            <a:noAutofit/>
          </a:bodyPr>
          <a:lstStyle>
            <a:lvl1pPr>
              <a:defRPr sz="32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Click to add image title</a:t>
            </a:r>
          </a:p>
        </p:txBody>
      </p:sp>
    </p:spTree>
    <p:extLst>
      <p:ext uri="{BB962C8B-B14F-4D97-AF65-F5344CB8AC3E}">
        <p14:creationId xmlns:p14="http://schemas.microsoft.com/office/powerpoint/2010/main" val="3390056705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uilding with stairs and people walking&#10;&#10;AI-generated content may be incorrect.">
            <a:extLst>
              <a:ext uri="{FF2B5EF4-FFF2-40B4-BE49-F238E27FC236}">
                <a16:creationId xmlns:a16="http://schemas.microsoft.com/office/drawing/2014/main" id="{F9871B73-938C-45E7-7799-A9A54437054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8E9548-3B4B-2F9B-6B67-2F9043078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1" y="2063296"/>
            <a:ext cx="10515600" cy="1001559"/>
          </a:xfrm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C5894B-C677-E349-FCAF-7A2C8488A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11/22/25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19CEAD-DE05-890A-43F5-E308410EE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4C1DE4-B54C-87DD-FB01-5F8941577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74147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47533-C89B-7F4F-A98B-2DD0B0DD654B}" type="datetimeFigureOut">
              <a:rPr lang="en-US" smtClean="0"/>
              <a:t>11/22/25</a:t>
            </a:fld>
            <a:endParaRPr lang="en-US" dirty="0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/>
            </a:lvl1pPr>
            <a:lvl2pPr marL="685800" indent="-228600">
              <a:lnSpc>
                <a:spcPct val="100000"/>
              </a:lnSpc>
              <a:spcBef>
                <a:spcPts val="600"/>
              </a:spcBef>
              <a:buSzPct val="75000"/>
              <a:buFont typeface="Wingdings" pitchFamily="2" charset="2"/>
              <a:buChar char="§"/>
              <a:defRPr/>
            </a:lvl2pPr>
            <a:lvl3pPr marL="1143000" indent="-228600">
              <a:lnSpc>
                <a:spcPct val="100000"/>
              </a:lnSpc>
              <a:spcBef>
                <a:spcPts val="600"/>
              </a:spcBef>
              <a:buSzPct val="60000"/>
              <a:buFont typeface="Wingdings" pitchFamily="2" charset="2"/>
              <a:buChar char="v"/>
              <a:defRPr/>
            </a:lvl3pPr>
            <a:lvl4pPr>
              <a:lnSpc>
                <a:spcPct val="100000"/>
              </a:lnSpc>
              <a:spcBef>
                <a:spcPts val="600"/>
              </a:spcBef>
              <a:defRPr/>
            </a:lvl4pPr>
            <a:lvl5pPr>
              <a:lnSpc>
                <a:spcPct val="10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63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3BC7800-B276-A64A-8AB0-19972C98F17B}" type="datetime1">
              <a:rPr lang="en-US" smtClean="0"/>
              <a:t>11/22/25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body" idx="1"/>
          </p:nvPr>
        </p:nvSpPr>
        <p:spPr>
          <a:xfrm>
            <a:off x="1674006" y="3447259"/>
            <a:ext cx="8160774" cy="1500187"/>
          </a:xfrm>
        </p:spPr>
        <p:txBody>
          <a:bodyPr lIns="9144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674006" y="1555276"/>
            <a:ext cx="8160774" cy="1864995"/>
          </a:xfrm>
          <a:noFill/>
        </p:spPr>
        <p:txBody>
          <a:bodyPr anchor="b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85797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B1BC2-7DC9-274F-9AA5-41AD410B73E8}" type="datetime1">
              <a:rPr lang="en-US" smtClean="0"/>
              <a:t>11/22/25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2"/>
          <p:cNvSpPr>
            <a:spLocks noGrp="1"/>
          </p:cNvSpPr>
          <p:nvPr>
            <p:ph sz="half" idx="2"/>
          </p:nvPr>
        </p:nvSpPr>
        <p:spPr>
          <a:xfrm>
            <a:off x="6172200" y="1602658"/>
            <a:ext cx="5181600" cy="45743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1"/>
          <p:cNvSpPr>
            <a:spLocks noGrp="1"/>
          </p:cNvSpPr>
          <p:nvPr>
            <p:ph sz="half" idx="1"/>
          </p:nvPr>
        </p:nvSpPr>
        <p:spPr>
          <a:xfrm>
            <a:off x="838200" y="1602658"/>
            <a:ext cx="5181600" cy="45743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54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9541A-B732-0842-A74F-0C72DB237063}" type="datetime1">
              <a:rPr lang="en-US" smtClean="0"/>
              <a:t>11/22/25</a:t>
            </a:fld>
            <a:endParaRPr lang="en-US"/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2"/>
          <p:cNvSpPr>
            <a:spLocks noGrp="1"/>
          </p:cNvSpPr>
          <p:nvPr>
            <p:ph sz="quarter" idx="4"/>
          </p:nvPr>
        </p:nvSpPr>
        <p:spPr>
          <a:xfrm>
            <a:off x="6172200" y="2424112"/>
            <a:ext cx="5183188" cy="3765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Heading 2"/>
          <p:cNvSpPr>
            <a:spLocks noGrp="1"/>
          </p:cNvSpPr>
          <p:nvPr>
            <p:ph type="body" sz="quarter" idx="3"/>
          </p:nvPr>
        </p:nvSpPr>
        <p:spPr>
          <a:xfrm>
            <a:off x="6172200" y="1600200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1"/>
          <p:cNvSpPr>
            <a:spLocks noGrp="1"/>
          </p:cNvSpPr>
          <p:nvPr>
            <p:ph sz="half" idx="2"/>
          </p:nvPr>
        </p:nvSpPr>
        <p:spPr>
          <a:xfrm>
            <a:off x="839788" y="2424112"/>
            <a:ext cx="5157787" cy="3765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Heading 1"/>
          <p:cNvSpPr>
            <a:spLocks noGrp="1"/>
          </p:cNvSpPr>
          <p:nvPr>
            <p:ph type="body" idx="1"/>
          </p:nvPr>
        </p:nvSpPr>
        <p:spPr>
          <a:xfrm>
            <a:off x="839788" y="1600200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005840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821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7BA72-28C9-9A46-8637-8A409BF0CACF}" type="datetime1">
              <a:rPr lang="en-US" smtClean="0"/>
              <a:t>11/22/25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464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11/22/25</a:t>
            </a:fld>
            <a:endParaRPr lang="en-US"/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5" name="Hidden Title">
            <a:extLst>
              <a:ext uri="{FF2B5EF4-FFF2-40B4-BE49-F238E27FC236}">
                <a16:creationId xmlns:a16="http://schemas.microsoft.com/office/drawing/2014/main" id="{2BFCB23C-FD7A-DDAB-2F31-3EA0403961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-1139584"/>
            <a:ext cx="10515600" cy="1001559"/>
          </a:xfrm>
        </p:spPr>
        <p:txBody>
          <a:bodyPr/>
          <a:lstStyle/>
          <a:p>
            <a:r>
              <a:rPr lang="en-US" dirty="0"/>
              <a:t>Click to edit title (this will display for screen readers and outlines)</a:t>
            </a:r>
          </a:p>
        </p:txBody>
      </p:sp>
    </p:spTree>
    <p:extLst>
      <p:ext uri="{BB962C8B-B14F-4D97-AF65-F5344CB8AC3E}">
        <p14:creationId xmlns:p14="http://schemas.microsoft.com/office/powerpoint/2010/main" val="366288962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11/22/25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 tIns="18288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aption">
            <a:extLst>
              <a:ext uri="{FF2B5EF4-FFF2-40B4-BE49-F238E27FC236}">
                <a16:creationId xmlns:a16="http://schemas.microsoft.com/office/drawing/2014/main" id="{F7BEC92A-23B7-BAAB-4CE5-D6D7A6417B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6612" y="2057400"/>
            <a:ext cx="3935413" cy="380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Ins="274320"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40758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11/22/25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"/>
          <p:cNvSpPr>
            <a:spLocks noGrp="1" noChangeAspect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 tIns="18288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aption">
            <a:extLst>
              <a:ext uri="{FF2B5EF4-FFF2-40B4-BE49-F238E27FC236}">
                <a16:creationId xmlns:a16="http://schemas.microsoft.com/office/drawing/2014/main" id="{7D76AD61-182C-13DD-7E32-DAED6ED8CD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6612" y="2057401"/>
            <a:ext cx="3935413" cy="380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Ins="274320"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412979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8AE4-2A10-5F42-AC8C-4BD01A79A0D1}" type="datetime1">
              <a:rPr lang="en-US" smtClean="0"/>
              <a:t>11/22/25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2532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5C519-8308-2748-8B0B-F7B055AE4297}" type="datetime1">
              <a:rPr lang="en-US" smtClean="0"/>
              <a:t>11/22/25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Vertical Title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 tIns="182880" bIns="18288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481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ographical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E0315FA0-DFBB-0494-15F4-F94FA37BC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11/22/25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248D3A38-8D3E-6EB0-FE34-FBB6F9AFC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3331D1D9-60E1-36A2-EDA8-C31A7ED84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AC4533C5-D85B-5D93-12B0-136A51D73C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684088" y="565150"/>
            <a:ext cx="5672170" cy="5511800"/>
          </a:xfrm>
          <a:solidFill>
            <a:schemeClr val="bg2"/>
          </a:solidFill>
        </p:spPr>
        <p:txBody>
          <a:bodyPr lIns="365760" tIns="45720" rIns="365760"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8F52A58E-1F73-C381-F411-54304E513F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26923" y="5453949"/>
            <a:ext cx="3868300" cy="622409"/>
          </a:xfrm>
        </p:spPr>
        <p:txBody>
          <a:bodyPr tIns="9144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DF94145-6C3C-7197-F652-4095F3D464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6923" y="4557832"/>
            <a:ext cx="3867807" cy="896117"/>
          </a:xfrm>
        </p:spPr>
        <p:txBody>
          <a:bodyPr lIns="91440" anchor="ctr">
            <a:noAutofit/>
          </a:bodyPr>
          <a:lstStyle>
            <a:lvl1pPr algn="ctr">
              <a:defRPr sz="2800"/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14" name="Biographical Portrait">
            <a:extLst>
              <a:ext uri="{FF2B5EF4-FFF2-40B4-BE49-F238E27FC236}">
                <a16:creationId xmlns:a16="http://schemas.microsoft.com/office/drawing/2014/main" id="{C01C33A2-E0D6-52C6-B10A-B3D8B056EAC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26923" y="490278"/>
            <a:ext cx="3867808" cy="4022020"/>
          </a:xfrm>
          <a:custGeom>
            <a:avLst/>
            <a:gdLst>
              <a:gd name="connsiteX0" fmla="*/ 1933904 w 3867808"/>
              <a:gd name="connsiteY0" fmla="*/ 0 h 4022020"/>
              <a:gd name="connsiteX1" fmla="*/ 3867808 w 3867808"/>
              <a:gd name="connsiteY1" fmla="*/ 2011366 h 4022020"/>
              <a:gd name="connsiteX2" fmla="*/ 2131635 w 3867808"/>
              <a:gd name="connsiteY2" fmla="*/ 4012348 h 4022020"/>
              <a:gd name="connsiteX3" fmla="*/ 1947462 w 3867808"/>
              <a:gd name="connsiteY3" fmla="*/ 4022020 h 4022020"/>
              <a:gd name="connsiteX4" fmla="*/ 1920347 w 3867808"/>
              <a:gd name="connsiteY4" fmla="*/ 4022020 h 4022020"/>
              <a:gd name="connsiteX5" fmla="*/ 1736174 w 3867808"/>
              <a:gd name="connsiteY5" fmla="*/ 4012348 h 4022020"/>
              <a:gd name="connsiteX6" fmla="*/ 0 w 3867808"/>
              <a:gd name="connsiteY6" fmla="*/ 2011366 h 4022020"/>
              <a:gd name="connsiteX7" fmla="*/ 1933904 w 3867808"/>
              <a:gd name="connsiteY7" fmla="*/ 0 h 402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808" h="4022020">
                <a:moveTo>
                  <a:pt x="1933904" y="0"/>
                </a:moveTo>
                <a:cubicBezTo>
                  <a:pt x="3001970" y="0"/>
                  <a:pt x="3867808" y="900519"/>
                  <a:pt x="3867808" y="2011366"/>
                </a:cubicBezTo>
                <a:cubicBezTo>
                  <a:pt x="3867808" y="3052785"/>
                  <a:pt x="3106818" y="3909346"/>
                  <a:pt x="2131635" y="4012348"/>
                </a:cubicBezTo>
                <a:lnTo>
                  <a:pt x="1947462" y="4022020"/>
                </a:lnTo>
                <a:lnTo>
                  <a:pt x="1920347" y="4022020"/>
                </a:lnTo>
                <a:lnTo>
                  <a:pt x="1736174" y="4012348"/>
                </a:lnTo>
                <a:cubicBezTo>
                  <a:pt x="760991" y="3909346"/>
                  <a:pt x="0" y="3052785"/>
                  <a:pt x="0" y="2011366"/>
                </a:cubicBezTo>
                <a:cubicBezTo>
                  <a:pt x="0" y="900519"/>
                  <a:pt x="865838" y="0"/>
                  <a:pt x="193390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54442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x2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Upper Right Background">
            <a:extLst>
              <a:ext uri="{FF2B5EF4-FFF2-40B4-BE49-F238E27FC236}">
                <a16:creationId xmlns:a16="http://schemas.microsoft.com/office/drawing/2014/main" id="{741348CF-8AE0-CDA7-6AF8-73CBD508D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6000" y="1362456"/>
            <a:ext cx="4389120" cy="228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Lower Left Background">
            <a:extLst>
              <a:ext uri="{FF2B5EF4-FFF2-40B4-BE49-F238E27FC236}">
                <a16:creationId xmlns:a16="http://schemas.microsoft.com/office/drawing/2014/main" id="{7A022FAC-8470-0247-48BA-724E9DA04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06879" y="3664139"/>
            <a:ext cx="4389120" cy="228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Vertical Divider">
            <a:extLst>
              <a:ext uri="{FF2B5EF4-FFF2-40B4-BE49-F238E27FC236}">
                <a16:creationId xmlns:a16="http://schemas.microsoft.com/office/drawing/2014/main" id="{56653F9A-22F3-01A3-08FE-B872A42C7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096000" y="1362456"/>
            <a:ext cx="0" cy="4572000"/>
          </a:xfrm>
          <a:prstGeom prst="line">
            <a:avLst/>
          </a:prstGeom>
          <a:ln w="28575">
            <a:solidFill>
              <a:srgbClr val="3306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Horizontal Divider">
            <a:extLst>
              <a:ext uri="{FF2B5EF4-FFF2-40B4-BE49-F238E27FC236}">
                <a16:creationId xmlns:a16="http://schemas.microsoft.com/office/drawing/2014/main" id="{FD96D644-BABC-710D-9181-F5F1CFE255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706880" y="3648456"/>
            <a:ext cx="877824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ate">
            <a:extLst>
              <a:ext uri="{FF2B5EF4-FFF2-40B4-BE49-F238E27FC236}">
                <a16:creationId xmlns:a16="http://schemas.microsoft.com/office/drawing/2014/main" id="{8C45C620-8DCA-F412-3FAF-615D5BE68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11/22/25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01FB36B0-30B4-5161-4F34-C0DB33DF0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E0834D6B-037D-B08E-B56B-6F63524B7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28" name="Lower Right Content">
            <a:extLst>
              <a:ext uri="{FF2B5EF4-FFF2-40B4-BE49-F238E27FC236}">
                <a16:creationId xmlns:a16="http://schemas.microsoft.com/office/drawing/2014/main" id="{59A8F6BE-E970-A0F4-7DDA-8524CD5C332D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095840" y="3740145"/>
            <a:ext cx="4389437" cy="2207388"/>
          </a:xfrm>
        </p:spPr>
        <p:txBody>
          <a:bodyPr lIns="182880" tIns="274320" rIns="27432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Lower Right Label 2">
            <a:extLst>
              <a:ext uri="{FF2B5EF4-FFF2-40B4-BE49-F238E27FC236}">
                <a16:creationId xmlns:a16="http://schemas.microsoft.com/office/drawing/2014/main" id="{CFD30BF1-A505-9ACC-025A-469B5F02978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03409" y="4654295"/>
            <a:ext cx="1487423" cy="392113"/>
          </a:xfrm>
        </p:spPr>
        <p:txBody>
          <a:bodyPr>
            <a:noAutofit/>
          </a:bodyPr>
          <a:lstStyle>
            <a:lvl1pPr marL="0" indent="0" algn="l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17" name="Lower Right Label 1">
            <a:extLst>
              <a:ext uri="{FF2B5EF4-FFF2-40B4-BE49-F238E27FC236}">
                <a16:creationId xmlns:a16="http://schemas.microsoft.com/office/drawing/2014/main" id="{C1877750-E333-F03B-47EC-F2033B802A8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524" y="5962966"/>
            <a:ext cx="4389117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27" name="Lower Left Content">
            <a:extLst>
              <a:ext uri="{FF2B5EF4-FFF2-40B4-BE49-F238E27FC236}">
                <a16:creationId xmlns:a16="http://schemas.microsoft.com/office/drawing/2014/main" id="{6EB568C5-C36C-C3B6-B84E-33585ED25B1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1706563" y="3740145"/>
            <a:ext cx="4389437" cy="2207388"/>
          </a:xfrm>
        </p:spPr>
        <p:txBody>
          <a:bodyPr lIns="182880" tIns="274320" rIns="27432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Lower Left Label 2">
            <a:extLst>
              <a:ext uri="{FF2B5EF4-FFF2-40B4-BE49-F238E27FC236}">
                <a16:creationId xmlns:a16="http://schemas.microsoft.com/office/drawing/2014/main" id="{837C4CC4-7EAF-DC30-D4DD-8B9A27E114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01168" y="4654295"/>
            <a:ext cx="1487423" cy="392113"/>
          </a:xfrm>
        </p:spPr>
        <p:txBody>
          <a:bodyPr>
            <a:noAutofit/>
          </a:bodyPr>
          <a:lstStyle>
            <a:lvl1pPr marL="0" indent="0" algn="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16" name="Lower Left Label 1">
            <a:extLst>
              <a:ext uri="{FF2B5EF4-FFF2-40B4-BE49-F238E27FC236}">
                <a16:creationId xmlns:a16="http://schemas.microsoft.com/office/drawing/2014/main" id="{4B5B599D-1D6D-2F42-226C-68559DBA7D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06406" y="5962966"/>
            <a:ext cx="4389119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26" name="Upper Right Content">
            <a:extLst>
              <a:ext uri="{FF2B5EF4-FFF2-40B4-BE49-F238E27FC236}">
                <a16:creationId xmlns:a16="http://schemas.microsoft.com/office/drawing/2014/main" id="{C9BA5D50-354F-362B-0D00-D2581CEB93A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095840" y="1358773"/>
            <a:ext cx="4389437" cy="2207388"/>
          </a:xfrm>
        </p:spPr>
        <p:txBody>
          <a:bodyPr lIns="182880" tIns="274320" rIns="27432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Upper Right Label 2">
            <a:extLst>
              <a:ext uri="{FF2B5EF4-FFF2-40B4-BE49-F238E27FC236}">
                <a16:creationId xmlns:a16="http://schemas.microsoft.com/office/drawing/2014/main" id="{95D7251D-C3E9-D88C-6B59-37FDF825BC9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503409" y="2176811"/>
            <a:ext cx="1487423" cy="392113"/>
          </a:xfrm>
        </p:spPr>
        <p:txBody>
          <a:bodyPr>
            <a:noAutofit/>
          </a:bodyPr>
          <a:lstStyle>
            <a:lvl1pPr marL="0" indent="0" algn="l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15" name="Upper Right Label 1">
            <a:extLst>
              <a:ext uri="{FF2B5EF4-FFF2-40B4-BE49-F238E27FC236}">
                <a16:creationId xmlns:a16="http://schemas.microsoft.com/office/drawing/2014/main" id="{01DC97BE-4E44-4321-55D1-58467CA8CD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524" y="904718"/>
            <a:ext cx="4389117" cy="457200"/>
          </a:xfrm>
        </p:spPr>
        <p:txBody>
          <a:bodyPr anchor="b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25" name="Upper Left Content">
            <a:extLst>
              <a:ext uri="{FF2B5EF4-FFF2-40B4-BE49-F238E27FC236}">
                <a16:creationId xmlns:a16="http://schemas.microsoft.com/office/drawing/2014/main" id="{34ADB10B-DD8F-366C-2FE7-EB6B19010DC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1706563" y="1358773"/>
            <a:ext cx="4389437" cy="2207388"/>
          </a:xfrm>
        </p:spPr>
        <p:txBody>
          <a:bodyPr lIns="182880" tIns="274320" rIns="27432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Upper Left Label 2">
            <a:extLst>
              <a:ext uri="{FF2B5EF4-FFF2-40B4-BE49-F238E27FC236}">
                <a16:creationId xmlns:a16="http://schemas.microsoft.com/office/drawing/2014/main" id="{A2A1B410-A6E6-1BF0-054A-670E8ED31F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1168" y="2176811"/>
            <a:ext cx="1487423" cy="392113"/>
          </a:xfrm>
        </p:spPr>
        <p:txBody>
          <a:bodyPr>
            <a:noAutofit/>
          </a:bodyPr>
          <a:lstStyle>
            <a:lvl1pPr marL="0" indent="0" algn="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14" name="Upper Left Label 1">
            <a:extLst>
              <a:ext uri="{FF2B5EF4-FFF2-40B4-BE49-F238E27FC236}">
                <a16:creationId xmlns:a16="http://schemas.microsoft.com/office/drawing/2014/main" id="{49583889-99E8-7796-E87C-F99F6EE72D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06406" y="904718"/>
            <a:ext cx="4389119" cy="457200"/>
          </a:xfrm>
        </p:spPr>
        <p:txBody>
          <a:bodyPr anchor="b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C5C5A4C-3D9C-8F95-687D-4440AD423F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542736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200741023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5BF72350-7C98-FBEB-2F3B-2484C5946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11/22/25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EE8AD11E-DA5D-22C0-7E98-72840ACE0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E5F3E7FD-E179-CFF4-29F5-C801F3EC4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">
            <a:extLst>
              <a:ext uri="{FF2B5EF4-FFF2-40B4-BE49-F238E27FC236}">
                <a16:creationId xmlns:a16="http://schemas.microsoft.com/office/drawing/2014/main" id="{924D0665-6B62-D94C-6BB9-A5F32444BAF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</p:spPr>
        <p:txBody>
          <a:bodyPr tIns="27432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picture. Resize to fill screen if necessary.</a:t>
            </a:r>
          </a:p>
        </p:txBody>
      </p:sp>
      <p:sp>
        <p:nvSpPr>
          <p:cNvPr id="7" name="Caption">
            <a:extLst>
              <a:ext uri="{FF2B5EF4-FFF2-40B4-BE49-F238E27FC236}">
                <a16:creationId xmlns:a16="http://schemas.microsoft.com/office/drawing/2014/main" id="{D0F66A68-CFCE-76B6-AA53-FDBE844F57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5737651"/>
            <a:ext cx="5872095" cy="587375"/>
          </a:xfrm>
          <a:solidFill>
            <a:schemeClr val="accent6"/>
          </a:solidFill>
        </p:spPr>
        <p:txBody>
          <a:bodyPr lIns="822960"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image caption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8B02C69-13B3-AF45-CE38-55FAC6F830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01609"/>
            <a:ext cx="6171117" cy="836754"/>
          </a:xfrm>
          <a:solidFill>
            <a:schemeClr val="accent1"/>
          </a:solidFill>
        </p:spPr>
        <p:txBody>
          <a:bodyPr lIns="822960">
            <a:noAutofit/>
          </a:bodyPr>
          <a:lstStyle>
            <a:lvl1pPr>
              <a:defRPr sz="32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Click to add image title</a:t>
            </a:r>
          </a:p>
        </p:txBody>
      </p:sp>
    </p:spTree>
    <p:extLst>
      <p:ext uri="{BB962C8B-B14F-4D97-AF65-F5344CB8AC3E}">
        <p14:creationId xmlns:p14="http://schemas.microsoft.com/office/powerpoint/2010/main" val="2553311216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imag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5345CF1A-4C10-1E0A-F359-242D961D8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11/22/25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5F89A3E1-10E8-DF5C-ADA7-7AA1AC188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A5217EA-2F5D-8BD3-F6A4-7D27B940E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aption">
            <a:extLst>
              <a:ext uri="{FF2B5EF4-FFF2-40B4-BE49-F238E27FC236}">
                <a16:creationId xmlns:a16="http://schemas.microsoft.com/office/drawing/2014/main" id="{28B89F34-6ED0-DAD7-D81D-47BF20B8B6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99" y="5640428"/>
            <a:ext cx="10515601" cy="592656"/>
          </a:xfrm>
        </p:spPr>
        <p:txBody>
          <a:bodyPr/>
          <a:lstStyle>
            <a:lvl1pPr marL="0" indent="0" algn="ctr">
              <a:buNone/>
              <a:defRPr sz="2000" i="1"/>
            </a:lvl1pPr>
          </a:lstStyle>
          <a:p>
            <a:pPr lvl="0"/>
            <a:r>
              <a:rPr lang="en-US" dirty="0"/>
              <a:t>Click to add an image caption</a:t>
            </a:r>
          </a:p>
        </p:txBody>
      </p:sp>
      <p:sp>
        <p:nvSpPr>
          <p:cNvPr id="13" name="Picture or Content">
            <a:extLst>
              <a:ext uri="{FF2B5EF4-FFF2-40B4-BE49-F238E27FC236}">
                <a16:creationId xmlns:a16="http://schemas.microsoft.com/office/drawing/2014/main" id="{CD1EE5D5-5FAF-B62D-975C-50CD0639937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200" y="1377023"/>
            <a:ext cx="10515600" cy="42530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EDF3277-C373-C98B-51F8-11BE6680E5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515805205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Way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672552CE-57B0-D785-85F5-225E32E6D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11/22/25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93EB0BEA-0AF7-A252-24DF-6C97D14F1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4B4D71D-AD5D-4C98-1899-1F087628E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Column 3 Content">
            <a:extLst>
              <a:ext uri="{FF2B5EF4-FFF2-40B4-BE49-F238E27FC236}">
                <a16:creationId xmlns:a16="http://schemas.microsoft.com/office/drawing/2014/main" id="{05C1C30C-0CDC-3433-354D-EE9FD3483F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53399" y="2743199"/>
            <a:ext cx="3200401" cy="3328045"/>
          </a:xfrm>
          <a:solidFill>
            <a:schemeClr val="bg2"/>
          </a:solidFill>
        </p:spPr>
        <p:txBody>
          <a:bodyPr lIns="182880" tIns="182880" r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lumn 3 Header">
            <a:extLst>
              <a:ext uri="{FF2B5EF4-FFF2-40B4-BE49-F238E27FC236}">
                <a16:creationId xmlns:a16="http://schemas.microsoft.com/office/drawing/2014/main" id="{EAD20429-72EA-1AA7-5960-5D9EC8A91A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53400" y="1828800"/>
            <a:ext cx="32004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lumn 2 Content">
            <a:extLst>
              <a:ext uri="{FF2B5EF4-FFF2-40B4-BE49-F238E27FC236}">
                <a16:creationId xmlns:a16="http://schemas.microsoft.com/office/drawing/2014/main" id="{D0A545A4-8A49-4146-D78B-41174161DC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95799" y="2743199"/>
            <a:ext cx="3200401" cy="3328045"/>
          </a:xfrm>
          <a:solidFill>
            <a:schemeClr val="bg2"/>
          </a:solidFill>
        </p:spPr>
        <p:txBody>
          <a:bodyPr lIns="182880" tIns="182880" r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lumn 2 Header">
            <a:extLst>
              <a:ext uri="{FF2B5EF4-FFF2-40B4-BE49-F238E27FC236}">
                <a16:creationId xmlns:a16="http://schemas.microsoft.com/office/drawing/2014/main" id="{9314D649-A64C-6E34-2130-1BDF8C873E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95800" y="1828800"/>
            <a:ext cx="32004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lumn 1 Content">
            <a:extLst>
              <a:ext uri="{FF2B5EF4-FFF2-40B4-BE49-F238E27FC236}">
                <a16:creationId xmlns:a16="http://schemas.microsoft.com/office/drawing/2014/main" id="{C23072DC-4A0E-C83E-BDE9-54755DDCF74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8198" y="2743199"/>
            <a:ext cx="3200401" cy="3328045"/>
          </a:xfrm>
          <a:solidFill>
            <a:schemeClr val="bg2"/>
          </a:solidFill>
        </p:spPr>
        <p:txBody>
          <a:bodyPr lIns="182880" tIns="182880" r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lumn 1 Header">
            <a:extLst>
              <a:ext uri="{FF2B5EF4-FFF2-40B4-BE49-F238E27FC236}">
                <a16:creationId xmlns:a16="http://schemas.microsoft.com/office/drawing/2014/main" id="{C9BF1D7D-132C-5DC4-A1F8-16FE0BFECF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8800"/>
            <a:ext cx="32004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F6E66BC-C77D-5E9E-4407-6B490F15E2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2748587507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-Way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672552CE-57B0-D785-85F5-225E32E6D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11/22/25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93EB0BEA-0AF7-A252-24DF-6C97D14F1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4B4D71D-AD5D-4C98-1899-1F087628E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Column 4 Content">
            <a:extLst>
              <a:ext uri="{FF2B5EF4-FFF2-40B4-BE49-F238E27FC236}">
                <a16:creationId xmlns:a16="http://schemas.microsoft.com/office/drawing/2014/main" id="{34C4BCE7-4191-F2A9-F80D-F627E9EA077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839198" y="2743198"/>
            <a:ext cx="2514600" cy="3328045"/>
          </a:xfrm>
          <a:solidFill>
            <a:schemeClr val="bg2"/>
          </a:solidFill>
        </p:spPr>
        <p:txBody>
          <a:bodyPr tIns="18288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lumn 4 Header">
            <a:extLst>
              <a:ext uri="{FF2B5EF4-FFF2-40B4-BE49-F238E27FC236}">
                <a16:creationId xmlns:a16="http://schemas.microsoft.com/office/drawing/2014/main" id="{1B8965D5-7659-2A00-C376-DD8B3ACA713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839200" y="1828799"/>
            <a:ext cx="25146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lumn 3 Content">
            <a:extLst>
              <a:ext uri="{FF2B5EF4-FFF2-40B4-BE49-F238E27FC236}">
                <a16:creationId xmlns:a16="http://schemas.microsoft.com/office/drawing/2014/main" id="{E901D810-CC36-C6AA-9EDE-FB64CCF9EAB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79166" y="2743198"/>
            <a:ext cx="2514600" cy="3328045"/>
          </a:xfrm>
          <a:solidFill>
            <a:schemeClr val="bg2"/>
          </a:solidFill>
        </p:spPr>
        <p:txBody>
          <a:bodyPr tIns="18288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lumn 3 Header">
            <a:extLst>
              <a:ext uri="{FF2B5EF4-FFF2-40B4-BE49-F238E27FC236}">
                <a16:creationId xmlns:a16="http://schemas.microsoft.com/office/drawing/2014/main" id="{303B94A8-CAE7-3320-55C2-EC5B8724067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72200" y="1828799"/>
            <a:ext cx="25146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lumn 2 Content">
            <a:extLst>
              <a:ext uri="{FF2B5EF4-FFF2-40B4-BE49-F238E27FC236}">
                <a16:creationId xmlns:a16="http://schemas.microsoft.com/office/drawing/2014/main" id="{CB09BE5E-E412-C4BE-23E6-1B9E9E610C0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98230" y="2743199"/>
            <a:ext cx="2514600" cy="3328045"/>
          </a:xfrm>
          <a:solidFill>
            <a:schemeClr val="bg2"/>
          </a:solidFill>
        </p:spPr>
        <p:txBody>
          <a:bodyPr tIns="18288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lumn 2 Header">
            <a:extLst>
              <a:ext uri="{FF2B5EF4-FFF2-40B4-BE49-F238E27FC236}">
                <a16:creationId xmlns:a16="http://schemas.microsoft.com/office/drawing/2014/main" id="{FE4E8193-CA60-39C5-BF2A-642510ED2AD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505200" y="1828800"/>
            <a:ext cx="25146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lumn 1 Content">
            <a:extLst>
              <a:ext uri="{FF2B5EF4-FFF2-40B4-BE49-F238E27FC236}">
                <a16:creationId xmlns:a16="http://schemas.microsoft.com/office/drawing/2014/main" id="{C23072DC-4A0E-C83E-BDE9-54755DDCF74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8198" y="2743199"/>
            <a:ext cx="2514600" cy="3328045"/>
          </a:xfrm>
          <a:solidFill>
            <a:schemeClr val="bg2"/>
          </a:solidFill>
        </p:spPr>
        <p:txBody>
          <a:bodyPr tIns="18288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lumn 1 Header">
            <a:extLst>
              <a:ext uri="{FF2B5EF4-FFF2-40B4-BE49-F238E27FC236}">
                <a16:creationId xmlns:a16="http://schemas.microsoft.com/office/drawing/2014/main" id="{C9BF1D7D-132C-5DC4-A1F8-16FE0BFECF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8800"/>
            <a:ext cx="25146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F6E66BC-C77D-5E9E-4407-6B490F15E2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1112312399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BC7800-B276-A64A-8AB0-19972C98F17B}" type="datetime1">
              <a:rPr lang="en-US" smtClean="0"/>
              <a:t>11/22/25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B056C3-2019-B406-B923-FB0A68BB94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8476" y="1769441"/>
            <a:ext cx="4638168" cy="914400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Placeholder</a:t>
            </a:r>
          </a:p>
        </p:txBody>
      </p:sp>
    </p:spTree>
    <p:extLst>
      <p:ext uri="{BB962C8B-B14F-4D97-AF65-F5344CB8AC3E}">
        <p14:creationId xmlns:p14="http://schemas.microsoft.com/office/powerpoint/2010/main" val="722190518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4BA4BC-FC40-B844-8CA3-66DD08AD127A}" type="datetime1">
              <a:rPr lang="en-US" smtClean="0"/>
              <a:t>11/22/25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25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2"/>
          </p:nvPr>
        </p:nvSpPr>
        <p:spPr>
          <a:xfrm>
            <a:off x="6927794" y="6356350"/>
            <a:ext cx="13709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3BC7800-B276-A64A-8AB0-19972C98F17B}" type="datetime1">
              <a:rPr lang="en-US" smtClean="0"/>
              <a:t>11/22/25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3"/>
          </p:nvPr>
        </p:nvSpPr>
        <p:spPr>
          <a:xfrm>
            <a:off x="2501114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13510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838200" y="1602658"/>
            <a:ext cx="10515600" cy="45743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155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955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Montserrat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Wingdings" pitchFamily="2" charset="2"/>
        <a:buChar char="§"/>
        <a:defRPr sz="24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Wingdings" pitchFamily="2" charset="2"/>
        <a:buChar char="v"/>
        <a:defRPr sz="20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Wingdings" pitchFamily="2" charset="2"/>
        <a:buChar char="§"/>
        <a:defRPr sz="18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Wingdings" pitchFamily="2" charset="2"/>
        <a:buChar char="§"/>
        <a:defRPr sz="18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kaggle.com/code/cdeotte/25-million-images-0-99757-mnist" TargetMode="Externa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fortelabs.com/blog/a-guide-to-the-claude-4-and-chatgpt-5-system-prompts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zjkBMFhNj_g?t=699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AF9755-800C-BAA7-9886-5018A613A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775E86-3AC1-27FE-A80E-914C9B6378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737651"/>
            <a:ext cx="6944810" cy="587375"/>
          </a:xfrm>
        </p:spPr>
        <p:txBody>
          <a:bodyPr>
            <a:normAutofit/>
          </a:bodyPr>
          <a:lstStyle/>
          <a:p>
            <a:r>
              <a:rPr lang="en-US" dirty="0"/>
              <a:t>Data Science and AI for Business – Fall 2025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2FFC07-3828-6FDB-8B93-EA871DD29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01609"/>
            <a:ext cx="6944810" cy="836754"/>
          </a:xfrm>
        </p:spPr>
        <p:txBody>
          <a:bodyPr>
            <a:normAutofit fontScale="90000"/>
          </a:bodyPr>
          <a:lstStyle/>
          <a:p>
            <a:r>
              <a:rPr lang="en-US"/>
              <a:t>Topic 12  </a:t>
            </a:r>
            <a:r>
              <a:rPr lang="en-US" dirty="0"/>
              <a:t>– Neural Nets, Deep Learning, and GenAI </a:t>
            </a:r>
          </a:p>
        </p:txBody>
      </p:sp>
    </p:spTree>
    <p:extLst>
      <p:ext uri="{BB962C8B-B14F-4D97-AF65-F5344CB8AC3E}">
        <p14:creationId xmlns:p14="http://schemas.microsoft.com/office/powerpoint/2010/main" val="1941828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E42B6-841B-3A81-F353-43AFA7C18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75F9D-999B-09E5-8521-589BD13E9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8386" y="833360"/>
            <a:ext cx="10096460" cy="481420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We learned the basics of neural nets in an earlier chapter</a:t>
            </a:r>
          </a:p>
          <a:p>
            <a:pPr lvl="1"/>
            <a:r>
              <a:rPr lang="en-US" dirty="0"/>
              <a:t>Biological inspirations</a:t>
            </a:r>
          </a:p>
          <a:p>
            <a:pPr lvl="1"/>
            <a:r>
              <a:rPr lang="en-US" dirty="0"/>
              <a:t>Black box models for regression and classification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NN explosion since the early 2000s</a:t>
            </a:r>
          </a:p>
          <a:p>
            <a:pPr lvl="1"/>
            <a:r>
              <a:rPr lang="en-US" dirty="0"/>
              <a:t>Moore’s law (computation and storage getting cheaper)</a:t>
            </a:r>
          </a:p>
          <a:p>
            <a:pPr lvl="1"/>
            <a:r>
              <a:rPr lang="en-US" dirty="0"/>
              <a:t>Funded research (Google Brain, MSFT, Facebook FAIR)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It is an </a:t>
            </a:r>
            <a:r>
              <a:rPr lang="en-US" i="1" dirty="0"/>
              <a:t>incredibly </a:t>
            </a:r>
            <a:r>
              <a:rPr lang="en-US" dirty="0"/>
              <a:t>complex and deeply technical field with a lot still to be figured out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B4316A-41F7-CD95-879F-3AA57BE29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4698"/>
            <a:ext cx="8229600" cy="729214"/>
          </a:xfrm>
        </p:spPr>
        <p:txBody>
          <a:bodyPr/>
          <a:lstStyle/>
          <a:p>
            <a:r>
              <a:rPr lang="en-US" dirty="0"/>
              <a:t>Deep Learning - Intro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4C175A-3B23-0864-B36D-A864FEF724F4}"/>
              </a:ext>
            </a:extLst>
          </p:cNvPr>
          <p:cNvSpPr txBox="1"/>
          <p:nvPr/>
        </p:nvSpPr>
        <p:spPr>
          <a:xfrm>
            <a:off x="2415254" y="5701070"/>
            <a:ext cx="6754221" cy="400110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Neural nets =&gt; Deep Learning =&gt; (Gen)AI =&gt; AGI(?!??)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F904A8-48F6-1833-276A-EA71EF3C6231}"/>
              </a:ext>
            </a:extLst>
          </p:cNvPr>
          <p:cNvSpPr txBox="1"/>
          <p:nvPr/>
        </p:nvSpPr>
        <p:spPr>
          <a:xfrm>
            <a:off x="7935311" y="6131691"/>
            <a:ext cx="1782860" cy="400110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ISL – Chap 10</a:t>
            </a:r>
          </a:p>
        </p:txBody>
      </p:sp>
    </p:spTree>
    <p:extLst>
      <p:ext uri="{BB962C8B-B14F-4D97-AF65-F5344CB8AC3E}">
        <p14:creationId xmlns:p14="http://schemas.microsoft.com/office/powerpoint/2010/main" val="36187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14B0F8-504D-7D16-3669-90427E0E0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3</a:t>
            </a:fld>
            <a:endParaRPr lang="en-US"/>
          </a:p>
        </p:txBody>
      </p:sp>
      <p:pic>
        <p:nvPicPr>
          <p:cNvPr id="6" name="Content Placeholder 5" descr="A diagram of a neural network&#10;&#10;Description automatically generated">
            <a:extLst>
              <a:ext uri="{FF2B5EF4-FFF2-40B4-BE49-F238E27FC236}">
                <a16:creationId xmlns:a16="http://schemas.microsoft.com/office/drawing/2014/main" id="{E69E000E-6B3F-73E2-5A27-752C9715B9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09756" y="865740"/>
            <a:ext cx="3597355" cy="270597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A83FC3-635F-2CFD-B2C9-27D2658E2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08" y="0"/>
            <a:ext cx="10515600" cy="1001559"/>
          </a:xfrm>
        </p:spPr>
        <p:txBody>
          <a:bodyPr>
            <a:normAutofit fontScale="90000"/>
          </a:bodyPr>
          <a:lstStyle/>
          <a:p>
            <a:r>
              <a:rPr lang="en-US" dirty="0"/>
              <a:t>Recap: Single Layer Neural Network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DDC326-0FBF-8E6D-E77B-D27C964F55DD}"/>
              </a:ext>
            </a:extLst>
          </p:cNvPr>
          <p:cNvSpPr txBox="1"/>
          <p:nvPr/>
        </p:nvSpPr>
        <p:spPr>
          <a:xfrm>
            <a:off x="838201" y="3571715"/>
            <a:ext cx="1062073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Input Layer: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Input layer is typically fully connected to a 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hidden layer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using weights that define a linear combination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Nodes in hidden layer apply an 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activation function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Output layer gets transformed (perhaps via threshold) to a prediction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Weights are fit using training data – through iterative </a:t>
            </a:r>
            <a:r>
              <a:rPr lang="en-US" sz="2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back-</a:t>
            </a:r>
            <a:r>
              <a:rPr lang="en-US" sz="24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propogation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047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AD141-4CE4-4A51-CD1B-5E6CA3C3F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4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BC80C-10F0-1AEE-5786-4D258921C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135" y="877077"/>
            <a:ext cx="9542752" cy="1721301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Neural nets with multiple hidden layers are referred to as </a:t>
            </a:r>
            <a:r>
              <a:rPr lang="en-US" i="1" dirty="0"/>
              <a:t>deep.</a:t>
            </a:r>
          </a:p>
          <a:p>
            <a:r>
              <a:rPr lang="en-US" dirty="0"/>
              <a:t>Often the output layer has multiple classes (like images) </a:t>
            </a:r>
          </a:p>
          <a:p>
            <a:r>
              <a:rPr lang="en-US" dirty="0"/>
              <a:t>So many parameters!</a:t>
            </a:r>
          </a:p>
          <a:p>
            <a:pPr lvl="1"/>
            <a:r>
              <a:rPr lang="en-US" dirty="0"/>
              <a:t>only feasible within the last 15 years or so</a:t>
            </a:r>
          </a:p>
          <a:p>
            <a:r>
              <a:rPr lang="en-US" dirty="0"/>
              <a:t>Empirically, massive networks with very simple activation functions (</a:t>
            </a:r>
            <a:r>
              <a:rPr lang="en-US" dirty="0" err="1"/>
              <a:t>ReLU</a:t>
            </a:r>
            <a:r>
              <a:rPr lang="en-US" dirty="0"/>
              <a:t>) work best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DB6D78-51DB-BDB6-8E7D-D260B2EAE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001559"/>
          </a:xfrm>
        </p:spPr>
        <p:txBody>
          <a:bodyPr/>
          <a:lstStyle/>
          <a:p>
            <a:r>
              <a:rPr lang="en-US" dirty="0"/>
              <a:t>Neural Nets – Deep Learning</a:t>
            </a:r>
          </a:p>
        </p:txBody>
      </p:sp>
      <p:pic>
        <p:nvPicPr>
          <p:cNvPr id="6" name="Picture 5" descr="A diagram of a network&#10;&#10;Description automatically generated">
            <a:extLst>
              <a:ext uri="{FF2B5EF4-FFF2-40B4-BE49-F238E27FC236}">
                <a16:creationId xmlns:a16="http://schemas.microsoft.com/office/drawing/2014/main" id="{C5DD636D-F3A9-76DC-6606-01F5BDD15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639" y="2680839"/>
            <a:ext cx="4728779" cy="4040636"/>
          </a:xfrm>
          <a:prstGeom prst="rect">
            <a:avLst/>
          </a:prstGeom>
          <a:solidFill>
            <a:schemeClr val="accent5"/>
          </a:solidFill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4B87B90-1B02-83E8-04B5-9B6BC2C72CDF}"/>
              </a:ext>
            </a:extLst>
          </p:cNvPr>
          <p:cNvSpPr txBox="1"/>
          <p:nvPr/>
        </p:nvSpPr>
        <p:spPr>
          <a:xfrm>
            <a:off x="6717544" y="3278496"/>
            <a:ext cx="472877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is a deep learner used to predict handwritten digits</a:t>
            </a:r>
          </a:p>
          <a:p>
            <a:pPr marL="800100" lvl="1" indent="-342900">
              <a:buFontTx/>
              <a:buChar char="-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ISL p404</a:t>
            </a:r>
          </a:p>
          <a:p>
            <a:pPr marL="342900" indent="-342900">
              <a:buFontTx/>
              <a:buChar char="-"/>
            </a:pP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 28 x 28 = 784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Hidden layers have 256 and 128 nodes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Total of 235,146 parameters to fit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17FA47-8621-4FF5-378C-9F590264CDB4}"/>
              </a:ext>
            </a:extLst>
          </p:cNvPr>
          <p:cNvSpPr txBox="1"/>
          <p:nvPr/>
        </p:nvSpPr>
        <p:spPr>
          <a:xfrm>
            <a:off x="8471339" y="5941211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😱</a:t>
            </a:r>
          </a:p>
        </p:txBody>
      </p:sp>
      <p:pic>
        <p:nvPicPr>
          <p:cNvPr id="2050" name="Picture 2" descr="A Gentle Introduction to the Rectified Linear Unit (ReLU) -  MachineLearningMastery.com">
            <a:extLst>
              <a:ext uri="{FF2B5EF4-FFF2-40B4-BE49-F238E27FC236}">
                <a16:creationId xmlns:a16="http://schemas.microsoft.com/office/drawing/2014/main" id="{CCA1AE64-4592-AFB8-7ABD-CACFFD010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8887" y="1212268"/>
            <a:ext cx="1776980" cy="1332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9B7275-56F4-E39F-4A3E-10241FE19815}"/>
              </a:ext>
            </a:extLst>
          </p:cNvPr>
          <p:cNvSpPr txBox="1"/>
          <p:nvPr/>
        </p:nvSpPr>
        <p:spPr>
          <a:xfrm>
            <a:off x="10531387" y="1048961"/>
            <a:ext cx="671979" cy="307777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1400" dirty="0" err="1">
                <a:latin typeface="Montserrat" pitchFamily="2" charset="77"/>
              </a:rPr>
              <a:t>ReLU</a:t>
            </a:r>
            <a:endParaRPr lang="en-US" sz="1400" dirty="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26836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5DD62C-F485-970F-DB95-DDBDFAE76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Extensions of Neural Nets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DCC8FA-CC52-4541-E41C-4E25E3C94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937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1DB78-EDD3-FED8-B85C-E4964652A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6C622-3FD2-56DE-9038-629E88982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481" y="1021899"/>
            <a:ext cx="9201873" cy="4013088"/>
          </a:xfrm>
        </p:spPr>
        <p:txBody>
          <a:bodyPr>
            <a:normAutofit/>
          </a:bodyPr>
          <a:lstStyle/>
          <a:p>
            <a:r>
              <a:rPr lang="en-US" dirty="0"/>
              <a:t>Neural Net specifically built for media, images, </a:t>
            </a:r>
            <a:r>
              <a:rPr lang="en-US" dirty="0" err="1"/>
              <a:t>etc</a:t>
            </a:r>
            <a:endParaRPr lang="en-US" dirty="0"/>
          </a:p>
          <a:p>
            <a:pPr lvl="1"/>
            <a:r>
              <a:rPr lang="en-US" dirty="0"/>
              <a:t>specifically for grid-based data (like image pixels)</a:t>
            </a:r>
          </a:p>
          <a:p>
            <a:pPr lvl="1"/>
            <a:endParaRPr lang="en-US" dirty="0"/>
          </a:p>
          <a:p>
            <a:r>
              <a:rPr lang="en-US" dirty="0"/>
              <a:t>Special layers called </a:t>
            </a:r>
            <a:r>
              <a:rPr lang="en-US" i="1" dirty="0"/>
              <a:t>convolutional layers </a:t>
            </a:r>
            <a:r>
              <a:rPr lang="en-US" dirty="0"/>
              <a:t>focus on detecting patterns such as edges, shapes and textures</a:t>
            </a:r>
          </a:p>
          <a:p>
            <a:pPr lvl="1"/>
            <a:r>
              <a:rPr lang="en-US" dirty="0"/>
              <a:t>Preserves spatial relationships (rather than just looking at each pixel separately</a:t>
            </a:r>
          </a:p>
          <a:p>
            <a:pPr lvl="1"/>
            <a:r>
              <a:rPr lang="en-US" dirty="0"/>
              <a:t>Motivated by how humans detect things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7D8CB2-5161-A2D9-BFD2-D12AC354E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52" y="33171"/>
            <a:ext cx="10515600" cy="1001559"/>
          </a:xfrm>
        </p:spPr>
        <p:txBody>
          <a:bodyPr/>
          <a:lstStyle/>
          <a:p>
            <a:r>
              <a:rPr lang="en-US" dirty="0"/>
              <a:t>Convolutional Neural Nets (CNN)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B899FA-C6DB-008D-6772-9035AB52EC4A}"/>
              </a:ext>
            </a:extLst>
          </p:cNvPr>
          <p:cNvSpPr txBox="1"/>
          <p:nvPr/>
        </p:nvSpPr>
        <p:spPr>
          <a:xfrm>
            <a:off x="4529960" y="6138041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" name="Picture 8" descr="A cartoon tiger with different facial expressions&#10;&#10;Description automatically generated with medium confidence">
            <a:extLst>
              <a:ext uri="{FF2B5EF4-FFF2-40B4-BE49-F238E27FC236}">
                <a16:creationId xmlns:a16="http://schemas.microsoft.com/office/drawing/2014/main" id="{4FA93AA3-E1D0-7E96-2C98-C0A43C4FF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0" y="3860800"/>
            <a:ext cx="4826000" cy="2997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CE79257-64A9-803E-0BE0-45D3A22A06D2}"/>
              </a:ext>
            </a:extLst>
          </p:cNvPr>
          <p:cNvSpPr txBox="1"/>
          <p:nvPr/>
        </p:nvSpPr>
        <p:spPr>
          <a:xfrm>
            <a:off x="2027500" y="6356350"/>
            <a:ext cx="3428887" cy="307777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Low level features: color, edges, textures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F5EAF4-8A31-7CA5-1D6B-55900AC610C0}"/>
              </a:ext>
            </a:extLst>
          </p:cNvPr>
          <p:cNvSpPr txBox="1"/>
          <p:nvPr/>
        </p:nvSpPr>
        <p:spPr>
          <a:xfrm>
            <a:off x="2027499" y="5656679"/>
            <a:ext cx="3401252" cy="307777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Higher level features: eyes, ears, shapes</a:t>
            </a:r>
          </a:p>
        </p:txBody>
      </p:sp>
    </p:spTree>
    <p:extLst>
      <p:ext uri="{BB962C8B-B14F-4D97-AF65-F5344CB8AC3E}">
        <p14:creationId xmlns:p14="http://schemas.microsoft.com/office/powerpoint/2010/main" val="1970065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89605-45B6-F987-CD00-8A1C7FCD4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7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6E130-3096-A7E6-B00C-7E6EE978E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2745" y="1021900"/>
            <a:ext cx="8735960" cy="933025"/>
          </a:xfrm>
        </p:spPr>
        <p:txBody>
          <a:bodyPr>
            <a:normAutofit/>
          </a:bodyPr>
          <a:lstStyle/>
          <a:p>
            <a:r>
              <a:rPr lang="en-US" dirty="0"/>
              <a:t>Convolving allows you to look for specific patterns: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76243B-1775-9954-6669-10ADB84E5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6135"/>
            <a:ext cx="10515600" cy="1001559"/>
          </a:xfrm>
        </p:spPr>
        <p:txBody>
          <a:bodyPr/>
          <a:lstStyle/>
          <a:p>
            <a:r>
              <a:rPr lang="en-US" dirty="0"/>
              <a:t>Convolutional Neural Nets (CNN) </a:t>
            </a:r>
          </a:p>
        </p:txBody>
      </p:sp>
      <p:pic>
        <p:nvPicPr>
          <p:cNvPr id="6" name="Picture 5" descr="A tiger's face with different images&#10;&#10;Description automatically generated with medium confidence">
            <a:extLst>
              <a:ext uri="{FF2B5EF4-FFF2-40B4-BE49-F238E27FC236}">
                <a16:creationId xmlns:a16="http://schemas.microsoft.com/office/drawing/2014/main" id="{B73BAA77-FFF9-ECAB-A53E-DB2178076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007" y="1750574"/>
            <a:ext cx="3606800" cy="2349500"/>
          </a:xfrm>
          <a:prstGeom prst="rect">
            <a:avLst/>
          </a:prstGeom>
        </p:spPr>
      </p:pic>
      <p:pic>
        <p:nvPicPr>
          <p:cNvPr id="8" name="Picture 7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11376573-C443-3705-6608-F319FC92F9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9459" y="4984526"/>
            <a:ext cx="7013081" cy="17450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2A6DEF1-DB1A-1536-766C-77D8253C4EE3}"/>
              </a:ext>
            </a:extLst>
          </p:cNvPr>
          <p:cNvSpPr txBox="1"/>
          <p:nvPr/>
        </p:nvSpPr>
        <p:spPr>
          <a:xfrm>
            <a:off x="3704897" y="4342245"/>
            <a:ext cx="4950372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CNN architectures can be complicated!</a:t>
            </a:r>
          </a:p>
        </p:txBody>
      </p:sp>
    </p:spTree>
    <p:extLst>
      <p:ext uri="{BB962C8B-B14F-4D97-AF65-F5344CB8AC3E}">
        <p14:creationId xmlns:p14="http://schemas.microsoft.com/office/powerpoint/2010/main" val="2330488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6F307-3739-B520-C3A9-AD509EF93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CD8FC-78A6-261D-2632-81AE409A0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435" y="1021899"/>
            <a:ext cx="5563566" cy="2693574"/>
          </a:xfrm>
        </p:spPr>
        <p:txBody>
          <a:bodyPr>
            <a:noAutofit/>
          </a:bodyPr>
          <a:lstStyle/>
          <a:p>
            <a:r>
              <a:rPr lang="en-US" sz="2000" dirty="0"/>
              <a:t>Handwritten digits</a:t>
            </a:r>
          </a:p>
          <a:p>
            <a:r>
              <a:rPr lang="en-US" sz="2000" dirty="0"/>
              <a:t>28 x 28 matrix of pixels</a:t>
            </a:r>
          </a:p>
          <a:p>
            <a:pPr lvl="1"/>
            <a:r>
              <a:rPr lang="en-US" sz="1800" dirty="0"/>
              <a:t>Each pixel has a value in (0,255)</a:t>
            </a:r>
          </a:p>
          <a:p>
            <a:r>
              <a:rPr lang="en-US" sz="2000" dirty="0"/>
              <a:t>60k training images</a:t>
            </a:r>
          </a:p>
          <a:p>
            <a:r>
              <a:rPr lang="en-US" sz="2000" dirty="0"/>
              <a:t>10k test images</a:t>
            </a:r>
          </a:p>
          <a:p>
            <a:endParaRPr lang="en-US" sz="2000" dirty="0"/>
          </a:p>
          <a:p>
            <a:r>
              <a:rPr lang="en-US" sz="2000" dirty="0"/>
              <a:t>Data freely available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0CB3A0-2B94-1F4B-A1C6-A9134F3E4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340"/>
            <a:ext cx="10515600" cy="1001559"/>
          </a:xfrm>
        </p:spPr>
        <p:txBody>
          <a:bodyPr/>
          <a:lstStyle/>
          <a:p>
            <a:r>
              <a:rPr lang="en-US" dirty="0"/>
              <a:t>CNN wins!  MNIST data</a:t>
            </a:r>
          </a:p>
        </p:txBody>
      </p:sp>
      <p:pic>
        <p:nvPicPr>
          <p:cNvPr id="8" name="Picture 7" descr="A number and a number&#10;&#10;Description automatically generated with medium confidence">
            <a:extLst>
              <a:ext uri="{FF2B5EF4-FFF2-40B4-BE49-F238E27FC236}">
                <a16:creationId xmlns:a16="http://schemas.microsoft.com/office/drawing/2014/main" id="{714F97B3-F085-F063-E959-7AB81266E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587" y="3907111"/>
            <a:ext cx="4257261" cy="2814364"/>
          </a:xfrm>
          <a:prstGeom prst="rect">
            <a:avLst/>
          </a:prstGeom>
        </p:spPr>
      </p:pic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EADF1EAE-1A02-8A57-D041-2F382A8847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0704" y="1163382"/>
            <a:ext cx="5145715" cy="35260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5C35BD-0964-66FB-33DF-CFC4F425F4D2}"/>
              </a:ext>
            </a:extLst>
          </p:cNvPr>
          <p:cNvSpPr txBox="1"/>
          <p:nvPr/>
        </p:nvSpPr>
        <p:spPr>
          <a:xfrm>
            <a:off x="6416298" y="5314293"/>
            <a:ext cx="5043368" cy="830997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2400" dirty="0">
                <a:latin typeface="Montserrat" pitchFamily="2" charset="77"/>
              </a:rPr>
              <a:t>How to get 99.8% performance!</a:t>
            </a:r>
          </a:p>
          <a:p>
            <a:pPr algn="ctr"/>
            <a:r>
              <a:rPr lang="en-US" sz="2400" dirty="0">
                <a:latin typeface="Montserrat" pitchFamily="2" charset="77"/>
                <a:hlinkClick r:id="rId5"/>
              </a:rPr>
              <a:t>Kaggle link</a:t>
            </a:r>
            <a:endParaRPr lang="en-US" sz="2400" dirty="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0386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D87BD2-5522-CC93-3856-B13B98EC4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B7534-161C-C848-5AF5-332A3211D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281" y="1141847"/>
            <a:ext cx="9833658" cy="5351550"/>
          </a:xfrm>
        </p:spPr>
        <p:txBody>
          <a:bodyPr>
            <a:normAutofit/>
          </a:bodyPr>
          <a:lstStyle/>
          <a:p>
            <a:r>
              <a:rPr lang="en-US" dirty="0"/>
              <a:t>Specifically built to handle data where </a:t>
            </a:r>
            <a:r>
              <a:rPr lang="en-US" i="1" dirty="0"/>
              <a:t>order</a:t>
            </a:r>
            <a:r>
              <a:rPr lang="en-US" dirty="0"/>
              <a:t> and </a:t>
            </a:r>
            <a:r>
              <a:rPr lang="en-US" i="1" dirty="0"/>
              <a:t>context</a:t>
            </a:r>
            <a:r>
              <a:rPr lang="en-US" dirty="0"/>
              <a:t> matter</a:t>
            </a:r>
          </a:p>
          <a:p>
            <a:pPr lvl="1"/>
            <a:r>
              <a:rPr lang="en-US" dirty="0"/>
              <a:t>Think words, speech, text</a:t>
            </a:r>
          </a:p>
          <a:p>
            <a:pPr lvl="1"/>
            <a:r>
              <a:rPr lang="en-US" dirty="0"/>
              <a:t>Time Series</a:t>
            </a:r>
          </a:p>
          <a:p>
            <a:pPr lvl="1"/>
            <a:endParaRPr lang="en-US" dirty="0"/>
          </a:p>
          <a:p>
            <a:r>
              <a:rPr lang="en-US" dirty="0"/>
              <a:t>RNNs take ordering into account</a:t>
            </a:r>
          </a:p>
          <a:p>
            <a:pPr lvl="1"/>
            <a:r>
              <a:rPr lang="en-US" dirty="0"/>
              <a:t>Keep information from previous inputs and use it to process following inputs</a:t>
            </a:r>
          </a:p>
          <a:p>
            <a:pPr lvl="1"/>
            <a:r>
              <a:rPr lang="en-US" dirty="0"/>
              <a:t>Architecture is </a:t>
            </a:r>
            <a:r>
              <a:rPr lang="en-US" i="1" dirty="0"/>
              <a:t>sequential </a:t>
            </a:r>
            <a:r>
              <a:rPr lang="en-US" dirty="0"/>
              <a:t>and has </a:t>
            </a:r>
            <a:r>
              <a:rPr lang="en-US" i="1" dirty="0"/>
              <a:t>memory</a:t>
            </a:r>
          </a:p>
          <a:p>
            <a:pPr lvl="2"/>
            <a:r>
              <a:rPr lang="en-US" dirty="0"/>
              <a:t>Keeps a “running mental summary” as it moves along…</a:t>
            </a:r>
          </a:p>
          <a:p>
            <a:pPr lvl="2"/>
            <a:r>
              <a:rPr lang="en-US" dirty="0"/>
              <a:t>But….struggle with long term dependencies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FF9FCD-8CD9-1365-EF27-87C93CC56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7" y="0"/>
            <a:ext cx="10515600" cy="1001559"/>
          </a:xfrm>
        </p:spPr>
        <p:txBody>
          <a:bodyPr/>
          <a:lstStyle/>
          <a:p>
            <a:r>
              <a:rPr lang="en-US" dirty="0"/>
              <a:t>Recurrent Neural Networks (RNN)</a:t>
            </a:r>
          </a:p>
        </p:txBody>
      </p:sp>
      <p:pic>
        <p:nvPicPr>
          <p:cNvPr id="6" name="Picture 5" descr="A diagram of a diagram&#10;&#10;Description automatically generated">
            <a:extLst>
              <a:ext uri="{FF2B5EF4-FFF2-40B4-BE49-F238E27FC236}">
                <a16:creationId xmlns:a16="http://schemas.microsoft.com/office/drawing/2014/main" id="{340FE9EF-DAE0-FD95-2D58-ECEEB6FD8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900" y="1767409"/>
            <a:ext cx="5626100" cy="212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229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53C723-E423-174C-5B19-AFE0D3984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201BC-1EB5-02BA-5046-94249F524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780" y="1021899"/>
            <a:ext cx="9796591" cy="4814202"/>
          </a:xfrm>
        </p:spPr>
        <p:txBody>
          <a:bodyPr/>
          <a:lstStyle/>
          <a:p>
            <a:r>
              <a:rPr lang="en-US" sz="2400" dirty="0"/>
              <a:t>Advanced RNNs combining long-term and short-term memory</a:t>
            </a:r>
          </a:p>
          <a:p>
            <a:pPr lvl="1"/>
            <a:r>
              <a:rPr lang="en-US" sz="2000" dirty="0"/>
              <a:t>Can retain important context  from the beginning of sequence</a:t>
            </a:r>
          </a:p>
          <a:p>
            <a:pPr lvl="1"/>
            <a:r>
              <a:rPr lang="en-US" sz="2000" dirty="0"/>
              <a:t>Incorporates “gates” which control what gets remembered or forgotten. </a:t>
            </a:r>
          </a:p>
          <a:p>
            <a:pPr lvl="2"/>
            <a:r>
              <a:rPr lang="en-US" sz="2000" dirty="0"/>
              <a:t>Gates are like a notepad, writing down what is important</a:t>
            </a:r>
          </a:p>
          <a:p>
            <a:pPr lvl="1"/>
            <a:r>
              <a:rPr lang="en-US" sz="2000" dirty="0"/>
              <a:t>Improved performance on longer strings, paragraphs</a:t>
            </a:r>
          </a:p>
          <a:p>
            <a:pPr lvl="2"/>
            <a:r>
              <a:rPr lang="en-US" sz="2000" dirty="0"/>
              <a:t>Text, time-series, speech recognition , music composition…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9E2DD9-845F-F7BD-A818-D2CEA0335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71" y="20340"/>
            <a:ext cx="10515600" cy="1001559"/>
          </a:xfrm>
        </p:spPr>
        <p:txBody>
          <a:bodyPr/>
          <a:lstStyle/>
          <a:p>
            <a:r>
              <a:rPr lang="en-US" dirty="0"/>
              <a:t>Long Short-Term Memory (LSTM)</a:t>
            </a:r>
          </a:p>
        </p:txBody>
      </p:sp>
      <p:pic>
        <p:nvPicPr>
          <p:cNvPr id="6" name="Picture 5" descr="A diagram of a gate&#10;&#10;AI-generated content may be incorrect.">
            <a:extLst>
              <a:ext uri="{FF2B5EF4-FFF2-40B4-BE49-F238E27FC236}">
                <a16:creationId xmlns:a16="http://schemas.microsoft.com/office/drawing/2014/main" id="{7AF48D42-8E1B-0B8D-8502-C726637EB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436" y="3634451"/>
            <a:ext cx="4116032" cy="308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804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500EE0-1C86-1D49-F7A2-9D89EF225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11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26197-2566-F942-5D07-B6242A2E5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956" y="939800"/>
            <a:ext cx="10627717" cy="5416549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Tensorflow</a:t>
            </a:r>
            <a:endParaRPr lang="en-US" dirty="0"/>
          </a:p>
          <a:p>
            <a:pPr lvl="1"/>
            <a:r>
              <a:rPr lang="en-US" dirty="0"/>
              <a:t>Open source flexible library for building NN</a:t>
            </a:r>
          </a:p>
          <a:p>
            <a:pPr lvl="1"/>
            <a:r>
              <a:rPr lang="en-US" dirty="0"/>
              <a:t>Low level language creates a steep learning curve</a:t>
            </a:r>
          </a:p>
          <a:p>
            <a:r>
              <a:rPr lang="en-US" dirty="0" err="1"/>
              <a:t>Keras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Higher level ”building blocks” interface to </a:t>
            </a:r>
            <a:r>
              <a:rPr lang="en-US" dirty="0" err="1"/>
              <a:t>Tensorflow</a:t>
            </a:r>
            <a:r>
              <a:rPr lang="en-US" dirty="0"/>
              <a:t> (and other tools) makes it good for beginners (see class notebook) </a:t>
            </a:r>
          </a:p>
          <a:p>
            <a:pPr lvl="1"/>
            <a:r>
              <a:rPr lang="en-US" dirty="0"/>
              <a:t>Cant build deeper more complex architectures – but good for beginners</a:t>
            </a:r>
          </a:p>
          <a:p>
            <a:r>
              <a:rPr lang="en-US" dirty="0" err="1"/>
              <a:t>PyTorch</a:t>
            </a:r>
            <a:endParaRPr lang="en-US" dirty="0"/>
          </a:p>
          <a:p>
            <a:pPr lvl="1"/>
            <a:r>
              <a:rPr lang="en-US" dirty="0"/>
              <a:t>More complicated / flexible </a:t>
            </a:r>
          </a:p>
          <a:p>
            <a:pPr lvl="1"/>
            <a:r>
              <a:rPr lang="en-US" dirty="0"/>
              <a:t>Built for integration into Python, with lots of control</a:t>
            </a:r>
          </a:p>
          <a:p>
            <a:pPr lvl="1"/>
            <a:r>
              <a:rPr lang="en-US" dirty="0"/>
              <a:t>Open source!! Has a large user community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openai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import OpenAI </a:t>
            </a:r>
          </a:p>
          <a:p>
            <a:pPr lvl="1"/>
            <a:r>
              <a:rPr lang="en-US" dirty="0"/>
              <a:t>requires </a:t>
            </a:r>
            <a:r>
              <a:rPr lang="en-US" dirty="0" err="1"/>
              <a:t>api</a:t>
            </a:r>
            <a:r>
              <a:rPr lang="en-US" dirty="0"/>
              <a:t>-key</a:t>
            </a:r>
          </a:p>
          <a:p>
            <a:pPr marL="342900" lvl="1" indent="0">
              <a:buNone/>
            </a:pPr>
            <a:endParaRPr lang="en-US" dirty="0"/>
          </a:p>
          <a:p>
            <a:r>
              <a:rPr lang="en-US" dirty="0"/>
              <a:t>By the time I type this slide it is outdated – it is a rapidly changing field .. 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EDABBD-F510-6DCF-F74C-E68C251A2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001559"/>
          </a:xfrm>
        </p:spPr>
        <p:txBody>
          <a:bodyPr/>
          <a:lstStyle/>
          <a:p>
            <a:r>
              <a:rPr lang="en-US" dirty="0"/>
              <a:t>Deep Learning – Useful Tools</a:t>
            </a:r>
          </a:p>
        </p:txBody>
      </p:sp>
    </p:spTree>
    <p:extLst>
      <p:ext uri="{BB962C8B-B14F-4D97-AF65-F5344CB8AC3E}">
        <p14:creationId xmlns:p14="http://schemas.microsoft.com/office/powerpoint/2010/main" val="1339061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F064B5-A62D-A63F-2EE8-557D570BF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31023-2351-FFAB-3725-66B0DF7C1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471" y="692993"/>
            <a:ext cx="11377913" cy="580040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Another powerful model was developed by researchers at Google in 2017: </a:t>
            </a:r>
            <a:endParaRPr lang="en-US" i="1" dirty="0"/>
          </a:p>
          <a:p>
            <a:pPr lvl="1"/>
            <a:r>
              <a:rPr lang="en-US" i="1" dirty="0"/>
              <a:t>Attention is All You Need  </a:t>
            </a:r>
            <a:r>
              <a:rPr lang="en-US" dirty="0"/>
              <a:t>(</a:t>
            </a:r>
            <a:r>
              <a:rPr lang="en-US" dirty="0" err="1"/>
              <a:t>Vaswani,et</a:t>
            </a:r>
            <a:r>
              <a:rPr lang="en-US" dirty="0"/>
              <a:t> al) – introduced </a:t>
            </a:r>
            <a:r>
              <a:rPr lang="en-US" b="1" i="1" dirty="0"/>
              <a:t>Transformer</a:t>
            </a:r>
            <a:r>
              <a:rPr lang="en-US" dirty="0"/>
              <a:t> models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Attention allows NNs to </a:t>
            </a:r>
          </a:p>
          <a:p>
            <a:pPr lvl="2"/>
            <a:r>
              <a:rPr lang="en-US" dirty="0"/>
              <a:t>Evaluate a whole page of text at once, not just one word at a time</a:t>
            </a:r>
          </a:p>
          <a:p>
            <a:pPr lvl="2"/>
            <a:r>
              <a:rPr lang="en-US" dirty="0"/>
              <a:t>Considers how each word relates to all other words in the sentence and page</a:t>
            </a:r>
          </a:p>
          <a:p>
            <a:pPr lvl="2"/>
            <a:r>
              <a:rPr lang="en-US" dirty="0"/>
              <a:t>Learns patterns of language (e.g. adjectives come before nouns) </a:t>
            </a:r>
          </a:p>
          <a:p>
            <a:pPr lvl="3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D68064-48F9-78FF-9B44-A960A406C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71" y="0"/>
            <a:ext cx="10060329" cy="729214"/>
          </a:xfrm>
        </p:spPr>
        <p:txBody>
          <a:bodyPr>
            <a:normAutofit/>
          </a:bodyPr>
          <a:lstStyle/>
          <a:p>
            <a:r>
              <a:rPr lang="en-US" dirty="0"/>
              <a:t>Deep Learning into Generative AI</a:t>
            </a:r>
          </a:p>
        </p:txBody>
      </p:sp>
      <p:pic>
        <p:nvPicPr>
          <p:cNvPr id="7" name="Picture 6" descr="A close-up of a diagram&#10;&#10;AI-generated content may be incorrect.">
            <a:extLst>
              <a:ext uri="{FF2B5EF4-FFF2-40B4-BE49-F238E27FC236}">
                <a16:creationId xmlns:a16="http://schemas.microsoft.com/office/drawing/2014/main" id="{A261F0D2-25C0-00FC-7564-41B521CEF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6963" y="4282748"/>
            <a:ext cx="6242613" cy="2438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916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C75DE-844A-F48B-D730-2AA1FB3E3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ortrait of a beautiful African American woman in her twenties.  She is wearing a purple shirt and black jacket.  She has long strait brown hair.  She has her hand on her chin, looking up with a thoughtful expression. Shot taken with a Canon 5D Mark 3 camera.  rm">
            <a:extLst>
              <a:ext uri="{FF2B5EF4-FFF2-40B4-BE49-F238E27FC236}">
                <a16:creationId xmlns:a16="http://schemas.microsoft.com/office/drawing/2014/main" id="{C3DB9B65-970D-5BBD-C4D1-614D2E619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6961" y="4291789"/>
            <a:ext cx="2492380" cy="165996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EF35B-4805-33F1-F711-30A449024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6DCE5-70F8-DA5B-B24B-63D7C320B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274" y="729215"/>
            <a:ext cx="9238528" cy="2517569"/>
          </a:xfrm>
        </p:spPr>
        <p:txBody>
          <a:bodyPr>
            <a:normAutofit fontScale="85000" lnSpcReduction="20000"/>
          </a:bodyPr>
          <a:lstStyle/>
          <a:p>
            <a:pPr lvl="1" indent="-342900"/>
            <a:endParaRPr lang="en-US" dirty="0"/>
          </a:p>
          <a:p>
            <a:pPr lvl="1" indent="-342900"/>
            <a:endParaRPr lang="en-US" dirty="0"/>
          </a:p>
          <a:p>
            <a:r>
              <a:rPr lang="en-US" dirty="0"/>
              <a:t>Transformers are complicated NN architectures using Attention</a:t>
            </a:r>
          </a:p>
          <a:p>
            <a:pPr lvl="2"/>
            <a:r>
              <a:rPr lang="en-US" sz="2100" dirty="0"/>
              <a:t>Including millions or billions of parameters</a:t>
            </a:r>
          </a:p>
          <a:p>
            <a:endParaRPr lang="en-US" dirty="0"/>
          </a:p>
          <a:p>
            <a:r>
              <a:rPr lang="en-US" dirty="0"/>
              <a:t>GPT was built from Transformers</a:t>
            </a:r>
          </a:p>
          <a:p>
            <a:r>
              <a:rPr lang="en-US" dirty="0"/>
              <a:t>So…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9A4FC6-498B-4982-25DC-D90ED91B2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27" y="136525"/>
            <a:ext cx="8229600" cy="729214"/>
          </a:xfrm>
        </p:spPr>
        <p:txBody>
          <a:bodyPr/>
          <a:lstStyle/>
          <a:p>
            <a:r>
              <a:rPr lang="en-US" dirty="0"/>
              <a:t>Transformers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97CE06-0026-932D-92AD-5BFDBD5AA96C}"/>
              </a:ext>
            </a:extLst>
          </p:cNvPr>
          <p:cNvSpPr txBox="1"/>
          <p:nvPr/>
        </p:nvSpPr>
        <p:spPr>
          <a:xfrm>
            <a:off x="2118361" y="3611219"/>
            <a:ext cx="37037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is GPT anyway?????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AF4D67-ACBF-C59D-5DE4-0E7A142B54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1594" y="2413181"/>
            <a:ext cx="4019150" cy="302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000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E358C58-35EF-B94F-B029-58E78064CAFB}"/>
              </a:ext>
            </a:extLst>
          </p:cNvPr>
          <p:cNvSpPr/>
          <p:nvPr/>
        </p:nvSpPr>
        <p:spPr bwMode="auto">
          <a:xfrm>
            <a:off x="263207" y="1696988"/>
            <a:ext cx="1149985" cy="2672382"/>
          </a:xfrm>
          <a:prstGeom prst="roundRect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None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User Prompt:</a:t>
            </a:r>
          </a:p>
          <a:p>
            <a:pPr>
              <a:buNone/>
            </a:pP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>
              <a:buNone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”I need a gluten free recipe for carrot cake.  Make it delicious!”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E4750-EFDB-7CB1-D242-13B08B3A4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C11A3-5669-9DAC-E89D-C31AEFE7D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52" y="79150"/>
            <a:ext cx="8229600" cy="729214"/>
          </a:xfrm>
        </p:spPr>
        <p:txBody>
          <a:bodyPr/>
          <a:lstStyle/>
          <a:p>
            <a:r>
              <a:rPr lang="en-US" dirty="0"/>
              <a:t>GPT (simplified)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5D36451-3E39-80D0-7927-BC876840F0C7}"/>
              </a:ext>
            </a:extLst>
          </p:cNvPr>
          <p:cNvSpPr/>
          <p:nvPr/>
        </p:nvSpPr>
        <p:spPr bwMode="auto">
          <a:xfrm>
            <a:off x="4679391" y="1318145"/>
            <a:ext cx="2506980" cy="4335780"/>
          </a:xfrm>
          <a:prstGeom prst="roundRect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buNone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Transformer+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4738951-8EF8-B4A2-4AC7-F2E09DD7A4E2}"/>
              </a:ext>
            </a:extLst>
          </p:cNvPr>
          <p:cNvSpPr/>
          <p:nvPr/>
        </p:nvSpPr>
        <p:spPr bwMode="auto">
          <a:xfrm>
            <a:off x="7368541" y="1340962"/>
            <a:ext cx="2506980" cy="3986408"/>
          </a:xfrm>
          <a:prstGeom prst="roundRect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None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8719C7-6AC6-63F6-A29D-7BC24A2AD9C3}"/>
              </a:ext>
            </a:extLst>
          </p:cNvPr>
          <p:cNvSpPr txBox="1"/>
          <p:nvPr/>
        </p:nvSpPr>
        <p:spPr>
          <a:xfrm>
            <a:off x="3188076" y="713824"/>
            <a:ext cx="12736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 Input</a:t>
            </a:r>
          </a:p>
          <a:p>
            <a:pPr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(features)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BB28B4-B715-EEF2-1479-F24361AEED11}"/>
              </a:ext>
            </a:extLst>
          </p:cNvPr>
          <p:cNvSpPr txBox="1"/>
          <p:nvPr/>
        </p:nvSpPr>
        <p:spPr>
          <a:xfrm>
            <a:off x="5504717" y="823670"/>
            <a:ext cx="8563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62CAE3-8101-6143-1A70-C56BCF498CA4}"/>
              </a:ext>
            </a:extLst>
          </p:cNvPr>
          <p:cNvSpPr txBox="1"/>
          <p:nvPr/>
        </p:nvSpPr>
        <p:spPr>
          <a:xfrm>
            <a:off x="7849864" y="613864"/>
            <a:ext cx="1812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 Output</a:t>
            </a:r>
          </a:p>
          <a:p>
            <a:pPr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(target)</a:t>
            </a:r>
          </a:p>
        </p:txBody>
      </p:sp>
      <p:pic>
        <p:nvPicPr>
          <p:cNvPr id="15" name="Picture 14" descr="A diagram of a graph&#10;&#10;AI-generated content may be incorrect.">
            <a:extLst>
              <a:ext uri="{FF2B5EF4-FFF2-40B4-BE49-F238E27FC236}">
                <a16:creationId xmlns:a16="http://schemas.microsoft.com/office/drawing/2014/main" id="{3619B4F2-8749-81F8-B840-1300D7A99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111701" y="2677710"/>
            <a:ext cx="3642358" cy="1892531"/>
          </a:xfrm>
          <a:prstGeom prst="rect">
            <a:avLst/>
          </a:prstGeom>
        </p:spPr>
      </p:pic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CB6CEF8-2E91-46C7-4880-D070C817C2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572909"/>
              </p:ext>
            </p:extLst>
          </p:nvPr>
        </p:nvGraphicFramePr>
        <p:xfrm>
          <a:off x="7754446" y="1506139"/>
          <a:ext cx="1907970" cy="32996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716">
                  <a:extLst>
                    <a:ext uri="{9D8B030D-6E8A-4147-A177-3AD203B41FA5}">
                      <a16:colId xmlns:a16="http://schemas.microsoft.com/office/drawing/2014/main" val="3173340531"/>
                    </a:ext>
                  </a:extLst>
                </a:gridCol>
                <a:gridCol w="958254">
                  <a:extLst>
                    <a:ext uri="{9D8B030D-6E8A-4147-A177-3AD203B41FA5}">
                      <a16:colId xmlns:a16="http://schemas.microsoft.com/office/drawing/2014/main" val="1854979"/>
                    </a:ext>
                  </a:extLst>
                </a:gridCol>
              </a:tblGrid>
              <a:tr h="285209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Token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P(token)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2430347"/>
                  </a:ext>
                </a:extLst>
              </a:tr>
              <a:tr h="355901">
                <a:tc>
                  <a:txBody>
                    <a:bodyPr/>
                    <a:lstStyle/>
                    <a:p>
                      <a:r>
                        <a:rPr lang="en-US" sz="1200" dirty="0"/>
                        <a:t>jumped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0.030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4150331"/>
                  </a:ext>
                </a:extLst>
              </a:tr>
              <a:tr h="523097">
                <a:tc>
                  <a:txBody>
                    <a:bodyPr/>
                    <a:lstStyle/>
                    <a:p>
                      <a:r>
                        <a:rPr lang="en-US" sz="1200" dirty="0"/>
                        <a:t>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983509"/>
                  </a:ext>
                </a:extLst>
              </a:tr>
              <a:tr h="355901">
                <a:tc>
                  <a:txBody>
                    <a:bodyPr/>
                    <a:lstStyle/>
                    <a:p>
                      <a:r>
                        <a:rPr lang="en-US" sz="12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822010"/>
                  </a:ext>
                </a:extLst>
              </a:tr>
              <a:tr h="355901">
                <a:tc>
                  <a:txBody>
                    <a:bodyPr/>
                    <a:lstStyle/>
                    <a:p>
                      <a:r>
                        <a:rPr lang="en-US" sz="1200" dirty="0"/>
                        <a:t>went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7079663"/>
                  </a:ext>
                </a:extLst>
              </a:tr>
              <a:tr h="355901">
                <a:tc>
                  <a:txBody>
                    <a:bodyPr/>
                    <a:lstStyle/>
                    <a:p>
                      <a:r>
                        <a:rPr lang="en-US" sz="1200" dirty="0"/>
                        <a:t>wants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0.002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2886295"/>
                  </a:ext>
                </a:extLst>
              </a:tr>
              <a:tr h="355901">
                <a:tc>
                  <a:txBody>
                    <a:bodyPr/>
                    <a:lstStyle/>
                    <a:p>
                      <a:r>
                        <a:rPr lang="en-US" sz="1200" dirty="0"/>
                        <a:t>plays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5666949"/>
                  </a:ext>
                </a:extLst>
              </a:tr>
              <a:tr h="355901">
                <a:tc>
                  <a:txBody>
                    <a:bodyPr/>
                    <a:lstStyle/>
                    <a:p>
                      <a:r>
                        <a:rPr lang="en-US" sz="1200" dirty="0"/>
                        <a:t>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782701"/>
                  </a:ext>
                </a:extLst>
              </a:tr>
              <a:tr h="355901">
                <a:tc>
                  <a:txBody>
                    <a:bodyPr/>
                    <a:lstStyle/>
                    <a:p>
                      <a:r>
                        <a:rPr lang="en-US" sz="1200" dirty="0"/>
                        <a:t>,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490478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6A6DC99D-BE7A-65EC-4EB0-A202D226899F}"/>
              </a:ext>
            </a:extLst>
          </p:cNvPr>
          <p:cNvSpPr txBox="1"/>
          <p:nvPr/>
        </p:nvSpPr>
        <p:spPr>
          <a:xfrm>
            <a:off x="7732882" y="4954191"/>
            <a:ext cx="18426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Across entire vocabulary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66E996-309A-0910-F17F-340025A730BE}"/>
              </a:ext>
            </a:extLst>
          </p:cNvPr>
          <p:cNvSpPr txBox="1"/>
          <p:nvPr/>
        </p:nvSpPr>
        <p:spPr>
          <a:xfrm>
            <a:off x="3972939" y="6378740"/>
            <a:ext cx="33204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Training set? : Everything!!!</a:t>
            </a:r>
          </a:p>
        </p:txBody>
      </p:sp>
      <p:sp>
        <p:nvSpPr>
          <p:cNvPr id="25" name="Bent-Up Arrow 24">
            <a:extLst>
              <a:ext uri="{FF2B5EF4-FFF2-40B4-BE49-F238E27FC236}">
                <a16:creationId xmlns:a16="http://schemas.microsoft.com/office/drawing/2014/main" id="{1C559E00-639E-4117-5E17-B9F245CBBADE}"/>
              </a:ext>
            </a:extLst>
          </p:cNvPr>
          <p:cNvSpPr/>
          <p:nvPr/>
        </p:nvSpPr>
        <p:spPr bwMode="auto">
          <a:xfrm flipH="1">
            <a:off x="2189234" y="5812021"/>
            <a:ext cx="6798326" cy="505835"/>
          </a:xfrm>
          <a:prstGeom prst="bentUpArrow">
            <a:avLst>
              <a:gd name="adj1" fmla="val 9655"/>
              <a:gd name="adj2" fmla="val 15214"/>
              <a:gd name="adj3" fmla="val 22090"/>
            </a:avLst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endParaRPr lang="en-US">
              <a:cs typeface="Arial" pitchFamily="34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5E5FD3D-46BA-BA03-A6F3-86D2F702B2F8}"/>
              </a:ext>
            </a:extLst>
          </p:cNvPr>
          <p:cNvSpPr/>
          <p:nvPr/>
        </p:nvSpPr>
        <p:spPr bwMode="auto">
          <a:xfrm>
            <a:off x="3299260" y="1351456"/>
            <a:ext cx="1051314" cy="4335780"/>
          </a:xfrm>
          <a:prstGeom prst="roundRect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buNone/>
            </a:pP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Embedding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052FF78-07DD-ADC8-73CB-E5B6FDA286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470874"/>
              </p:ext>
            </p:extLst>
          </p:nvPr>
        </p:nvGraphicFramePr>
        <p:xfrm>
          <a:off x="3428252" y="1851430"/>
          <a:ext cx="825500" cy="3257148"/>
        </p:xfrm>
        <a:graphic>
          <a:graphicData uri="http://schemas.openxmlformats.org/drawingml/2006/table">
            <a:tbl>
              <a:tblPr/>
              <a:tblGrid>
                <a:gridCol w="825500">
                  <a:extLst>
                    <a:ext uri="{9D8B030D-6E8A-4147-A177-3AD203B41FA5}">
                      <a16:colId xmlns:a16="http://schemas.microsoft.com/office/drawing/2014/main" val="3279779132"/>
                    </a:ext>
                  </a:extLst>
                </a:gridCol>
              </a:tblGrid>
              <a:tr h="2714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-1.302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539732"/>
                  </a:ext>
                </a:extLst>
              </a:tr>
              <a:tr h="2714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0.146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5045641"/>
                  </a:ext>
                </a:extLst>
              </a:tr>
              <a:tr h="2714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0.386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0013897"/>
                  </a:ext>
                </a:extLst>
              </a:tr>
              <a:tr h="2714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-1.051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6121901"/>
                  </a:ext>
                </a:extLst>
              </a:tr>
              <a:tr h="2714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-1.163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461367"/>
                  </a:ext>
                </a:extLst>
              </a:tr>
              <a:tr h="2714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-1.961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9431784"/>
                  </a:ext>
                </a:extLst>
              </a:tr>
              <a:tr h="2714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427065"/>
                  </a:ext>
                </a:extLst>
              </a:tr>
              <a:tr h="2714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31762"/>
                  </a:ext>
                </a:extLst>
              </a:tr>
              <a:tr h="2714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896207"/>
                  </a:ext>
                </a:extLst>
              </a:tr>
              <a:tr h="2714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-0.115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6442767"/>
                  </a:ext>
                </a:extLst>
              </a:tr>
              <a:tr h="2714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8884665"/>
                  </a:ext>
                </a:extLst>
              </a:tr>
              <a:tr h="2714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-0.287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906845"/>
                  </a:ext>
                </a:extLst>
              </a:tr>
            </a:tbl>
          </a:graphicData>
        </a:graphic>
      </p:graphicFrame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CCD9619-4C28-B3AB-4C25-771A8B701F36}"/>
              </a:ext>
            </a:extLst>
          </p:cNvPr>
          <p:cNvSpPr/>
          <p:nvPr/>
        </p:nvSpPr>
        <p:spPr bwMode="auto">
          <a:xfrm>
            <a:off x="1595362" y="1442054"/>
            <a:ext cx="1535940" cy="4003101"/>
          </a:xfrm>
          <a:prstGeom prst="roundRect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None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Context Window:</a:t>
            </a:r>
          </a:p>
          <a:p>
            <a:pPr>
              <a:buNone/>
            </a:pP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Fixed number of tokens:</a:t>
            </a:r>
          </a:p>
          <a:p>
            <a:pPr>
              <a:buNone/>
            </a:pP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Append user prompt (plus context and  conversation)  to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/>
              </a:rPr>
              <a:t>system prompt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 </a:t>
            </a:r>
          </a:p>
          <a:p>
            <a:r>
              <a:rPr lang="en-US" sz="12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“You are ChatGPT. You are a highly capable, thoughtful, and precise assistant…”</a:t>
            </a:r>
          </a:p>
          <a:p>
            <a:pPr>
              <a:buNone/>
            </a:pP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862DDF8C-8A54-EFDC-CB6D-9B2E375398FA}"/>
              </a:ext>
            </a:extLst>
          </p:cNvPr>
          <p:cNvSpPr/>
          <p:nvPr/>
        </p:nvSpPr>
        <p:spPr>
          <a:xfrm>
            <a:off x="1391335" y="2996228"/>
            <a:ext cx="268093" cy="4153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51C21E9A-342C-308B-A7B4-F4F6B93D1A3F}"/>
              </a:ext>
            </a:extLst>
          </p:cNvPr>
          <p:cNvSpPr/>
          <p:nvPr/>
        </p:nvSpPr>
        <p:spPr>
          <a:xfrm>
            <a:off x="3054029" y="3028783"/>
            <a:ext cx="268093" cy="4153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1CC85025-0484-E50E-CD52-7FC47781C8D2}"/>
              </a:ext>
            </a:extLst>
          </p:cNvPr>
          <p:cNvSpPr/>
          <p:nvPr/>
        </p:nvSpPr>
        <p:spPr>
          <a:xfrm>
            <a:off x="4398783" y="3035483"/>
            <a:ext cx="268093" cy="4153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C84353D9-56D1-E7C8-6477-9BED767E2F96}"/>
              </a:ext>
            </a:extLst>
          </p:cNvPr>
          <p:cNvSpPr/>
          <p:nvPr/>
        </p:nvSpPr>
        <p:spPr>
          <a:xfrm>
            <a:off x="7159354" y="3070423"/>
            <a:ext cx="268093" cy="4153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own Arrow 18">
            <a:extLst>
              <a:ext uri="{FF2B5EF4-FFF2-40B4-BE49-F238E27FC236}">
                <a16:creationId xmlns:a16="http://schemas.microsoft.com/office/drawing/2014/main" id="{2914892E-FE1D-C51A-90D8-B723408E5A18}"/>
              </a:ext>
            </a:extLst>
          </p:cNvPr>
          <p:cNvSpPr/>
          <p:nvPr/>
        </p:nvSpPr>
        <p:spPr>
          <a:xfrm>
            <a:off x="8849532" y="5466906"/>
            <a:ext cx="138028" cy="849338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46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 animBg="1"/>
      <p:bldP spid="8" grpId="0" build="allAtOnce" animBg="1"/>
      <p:bldP spid="9" grpId="0" animBg="1"/>
      <p:bldP spid="11" grpId="0"/>
      <p:bldP spid="12" grpId="0"/>
      <p:bldP spid="13" grpId="0"/>
      <p:bldP spid="23" grpId="0"/>
      <p:bldP spid="24" grpId="0"/>
      <p:bldP spid="25" grpId="0" animBg="1"/>
      <p:bldP spid="3" grpId="0" build="allAtOnce" animBg="1"/>
      <p:bldP spid="6" grpId="0" build="allAtOnce" animBg="1"/>
      <p:bldP spid="10" grpId="0" animBg="1"/>
      <p:bldP spid="14" grpId="0" animBg="1"/>
      <p:bldP spid="17" grpId="0" animBg="1"/>
      <p:bldP spid="18" grpId="0" animBg="1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5CEF89-55EC-DD59-3BAB-5255C7DDE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15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AB4F06F-6283-0B56-3B0A-B8F4843BF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510" y="1877500"/>
            <a:ext cx="9701514" cy="481420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Andrej </a:t>
            </a:r>
            <a:r>
              <a:rPr lang="en-US" dirty="0" err="1"/>
              <a:t>Karpathy</a:t>
            </a:r>
            <a:r>
              <a:rPr lang="en-US" dirty="0"/>
              <a:t>: “Intro to Large Language Models”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F6583C0-5588-E8C2-7485-1D48C7AA2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2471"/>
            <a:ext cx="10515600" cy="1001559"/>
          </a:xfrm>
        </p:spPr>
        <p:txBody>
          <a:bodyPr/>
          <a:lstStyle/>
          <a:p>
            <a:r>
              <a:rPr lang="en-US" dirty="0"/>
              <a:t>Transformers =&gt; Gen 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455942-9BA1-3C81-C130-38B1217AC457}"/>
              </a:ext>
            </a:extLst>
          </p:cNvPr>
          <p:cNvSpPr txBox="1"/>
          <p:nvPr/>
        </p:nvSpPr>
        <p:spPr>
          <a:xfrm>
            <a:off x="2166552" y="5944975"/>
            <a:ext cx="48990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/>
              </a:rPr>
              <a:t>https://yout</a:t>
            </a:r>
            <a:r>
              <a: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/>
              </a:rPr>
              <a:t>	u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/>
              </a:rPr>
              <a:t>.be/zjkBMFhNj_g?t=699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00473D05-F18B-EA7A-7218-005CF0C617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6084" y="2498617"/>
            <a:ext cx="6489700" cy="3149600"/>
          </a:xfrm>
          <a:prstGeom prst="rect">
            <a:avLst/>
          </a:prstGeom>
        </p:spPr>
      </p:pic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E70E6DD6-9917-972C-B0CC-D9B3D05BB71E}"/>
              </a:ext>
            </a:extLst>
          </p:cNvPr>
          <p:cNvSpPr/>
          <p:nvPr/>
        </p:nvSpPr>
        <p:spPr bwMode="auto">
          <a:xfrm>
            <a:off x="7133968" y="3597167"/>
            <a:ext cx="3534032" cy="476250"/>
          </a:xfrm>
          <a:prstGeom prst="wedgeRoundRectCallout">
            <a:avLst>
              <a:gd name="adj1" fmla="val -1825"/>
              <a:gd name="adj2" fmla="val 146809"/>
              <a:gd name="adj3" fmla="val 16667"/>
            </a:avLst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buNone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don’t know how these work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70B02B9-FA74-799A-11A0-6105D52DDC8B}"/>
              </a:ext>
            </a:extLst>
          </p:cNvPr>
          <p:cNvSpPr/>
          <p:nvPr/>
        </p:nvSpPr>
        <p:spPr bwMode="auto">
          <a:xfrm>
            <a:off x="6891756" y="5964994"/>
            <a:ext cx="2613453" cy="726708"/>
          </a:xfrm>
          <a:prstGeom prst="roundRect">
            <a:avLst/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Andrej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Karpathy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>
              <a:buNone/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Cofounder of OpenAI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5666CB-FC29-AFC9-3129-C7BE5235996E}"/>
              </a:ext>
            </a:extLst>
          </p:cNvPr>
          <p:cNvSpPr txBox="1"/>
          <p:nvPr/>
        </p:nvSpPr>
        <p:spPr>
          <a:xfrm>
            <a:off x="487510" y="843882"/>
            <a:ext cx="97015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 models got larger, so did functionality</a:t>
            </a:r>
          </a:p>
          <a:p>
            <a:pPr marL="342900" indent="-342900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Q&amp;A =&gt; jokes =&gt; dialogue =&gt; coding =&gt; translation =&gt; reasoning</a:t>
            </a:r>
          </a:p>
        </p:txBody>
      </p:sp>
    </p:spTree>
    <p:extLst>
      <p:ext uri="{BB962C8B-B14F-4D97-AF65-F5344CB8AC3E}">
        <p14:creationId xmlns:p14="http://schemas.microsoft.com/office/powerpoint/2010/main" val="1918916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3" grpId="0"/>
      <p:bldP spid="8" grpId="1" animBg="1"/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96DFA-9A1B-2E66-9202-E6CF13C61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94293"/>
            <a:ext cx="10515600" cy="1001559"/>
          </a:xfrm>
        </p:spPr>
        <p:txBody>
          <a:bodyPr/>
          <a:lstStyle/>
          <a:p>
            <a:r>
              <a:rPr lang="en-US" dirty="0"/>
              <a:t>Gen AI Applications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853269-8BCF-5767-D28A-6744ED565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5506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355EA7-349E-C064-3B7C-A1A01B055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408210-8E0A-97AF-A93B-27890D3DD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544" y="1174330"/>
            <a:ext cx="5674456" cy="38217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Background</a:t>
            </a:r>
            <a:r>
              <a:rPr lang="en-US" sz="2000" b="1" dirty="0"/>
              <a:t>:</a:t>
            </a:r>
          </a:p>
          <a:p>
            <a:pPr marL="0" indent="0">
              <a:buNone/>
            </a:pPr>
            <a:br>
              <a:rPr lang="en-US" sz="2000" dirty="0"/>
            </a:br>
            <a:r>
              <a:rPr lang="en-US" sz="2000" dirty="0"/>
              <a:t>Starlight Bank wants to deploy an AI assistant to help customers understand:</a:t>
            </a:r>
          </a:p>
          <a:p>
            <a:r>
              <a:rPr lang="en-US" sz="2000" dirty="0"/>
              <a:t>credit card benefits</a:t>
            </a:r>
          </a:p>
          <a:p>
            <a:r>
              <a:rPr lang="en-US" sz="2000" dirty="0"/>
              <a:t>loan eligibility rules</a:t>
            </a:r>
          </a:p>
          <a:p>
            <a:r>
              <a:rPr lang="en-US" sz="2000" dirty="0"/>
              <a:t>dispute resolution steps</a:t>
            </a:r>
          </a:p>
          <a:p>
            <a:r>
              <a:rPr lang="en-US" sz="2000" dirty="0"/>
              <a:t>fees and interest policies</a:t>
            </a:r>
          </a:p>
          <a:p>
            <a:r>
              <a:rPr lang="en-US" sz="2000" dirty="0"/>
              <a:t>branch-specific requirements</a:t>
            </a:r>
            <a:br>
              <a:rPr lang="en-US" sz="2000" dirty="0"/>
            </a:br>
            <a:endParaRPr lang="en-US" sz="2000" dirty="0"/>
          </a:p>
          <a:p>
            <a:pPr marL="0" indent="0">
              <a:buNone/>
            </a:pPr>
            <a:r>
              <a:rPr lang="en-US" sz="2000" dirty="0"/>
              <a:t>Their policies change </a:t>
            </a:r>
            <a:r>
              <a:rPr lang="en-US" sz="2000" b="1" dirty="0"/>
              <a:t>monthly</a:t>
            </a:r>
            <a:r>
              <a:rPr lang="en-US" sz="2000" dirty="0"/>
              <a:t>, vary by </a:t>
            </a:r>
            <a:r>
              <a:rPr lang="en-US" sz="2000" b="1" dirty="0"/>
              <a:t>state</a:t>
            </a:r>
            <a:r>
              <a:rPr lang="en-US" sz="2000" dirty="0"/>
              <a:t>, and include </a:t>
            </a:r>
            <a:r>
              <a:rPr lang="en-US" sz="2000" b="1" dirty="0"/>
              <a:t>hundreds of pages</a:t>
            </a:r>
            <a:r>
              <a:rPr lang="en-US" sz="2000" dirty="0"/>
              <a:t> of fine print.</a:t>
            </a:r>
          </a:p>
          <a:p>
            <a:r>
              <a:rPr lang="en-US" sz="2000" dirty="0"/>
              <a:t>Customer reps currently struggle to stay updated.</a:t>
            </a: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5B8C96-B216-E553-2BB6-6F97E7648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90"/>
            <a:ext cx="10515600" cy="1001559"/>
          </a:xfrm>
        </p:spPr>
        <p:txBody>
          <a:bodyPr/>
          <a:lstStyle/>
          <a:p>
            <a:r>
              <a:rPr lang="en-US" dirty="0"/>
              <a:t>GenAI use case: Starlight Bank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7581CE8-9637-C66E-1906-39230B392D79}"/>
              </a:ext>
            </a:extLst>
          </p:cNvPr>
          <p:cNvSpPr txBox="1">
            <a:spLocks/>
          </p:cNvSpPr>
          <p:nvPr/>
        </p:nvSpPr>
        <p:spPr>
          <a:xfrm>
            <a:off x="6924260" y="1174330"/>
            <a:ext cx="5267740" cy="455763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75000"/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60000"/>
              <a:buFont typeface="Wingdings" pitchFamily="2" charset="2"/>
              <a:buChar char="v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7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7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Goal: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Starlight wants the AI assistant to:</a:t>
            </a:r>
          </a:p>
          <a:p>
            <a:pPr lvl="1"/>
            <a:r>
              <a:rPr lang="en-US" sz="2000" dirty="0"/>
              <a:t>Give accurate, up-to-date answers</a:t>
            </a:r>
          </a:p>
          <a:p>
            <a:pPr lvl="1"/>
            <a:r>
              <a:rPr lang="en-US" sz="2000" dirty="0"/>
              <a:t>Use Starlight’s official brand voice (formal, concise, risk-averse)</a:t>
            </a:r>
          </a:p>
          <a:p>
            <a:pPr lvl="1"/>
            <a:r>
              <a:rPr lang="en-US" sz="2000" dirty="0"/>
              <a:t>Classify customer inquiry types (fraud, balance transfer, new card, etc.)</a:t>
            </a:r>
          </a:p>
          <a:p>
            <a:pPr lvl="1"/>
            <a:r>
              <a:rPr lang="en-US" sz="2000" dirty="0"/>
              <a:t>Draft customer emails that match compliance standards</a:t>
            </a:r>
          </a:p>
          <a:p>
            <a:pPr lvl="1"/>
            <a:r>
              <a:rPr lang="en-US" sz="2000" dirty="0"/>
              <a:t>Scale to millions of queries per month</a:t>
            </a:r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  <a:p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4808E1-9F24-0EE4-2C5A-5DC62ACFCD90}"/>
              </a:ext>
            </a:extLst>
          </p:cNvPr>
          <p:cNvSpPr txBox="1"/>
          <p:nvPr/>
        </p:nvSpPr>
        <p:spPr>
          <a:xfrm>
            <a:off x="2789695" y="6044339"/>
            <a:ext cx="68948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dirty="0">
                <a:latin typeface="Montserrat" pitchFamily="2" charset="77"/>
              </a:rPr>
              <a:t>Two approaches: Pre-trained vs. Fine-tuned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AABB65-F555-DEED-8B29-52FB1F17B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0909" y="169065"/>
            <a:ext cx="1433593" cy="1433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035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/>
      <p:bldP spid="5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8F668B-FB22-DA25-4459-CB3F6393E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5F779-EBDA-A0A4-E934-170B662DF9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55223" y="1137295"/>
            <a:ext cx="5869984" cy="41039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Fine Tuned:</a:t>
            </a:r>
          </a:p>
          <a:p>
            <a:r>
              <a:rPr lang="en-US" sz="1800" dirty="0"/>
              <a:t>Start with general model but train it further on own data</a:t>
            </a:r>
          </a:p>
          <a:p>
            <a:pPr lvl="1"/>
            <a:r>
              <a:rPr lang="en-US" sz="1800" dirty="0"/>
              <a:t>Give it specific examples as guidelines</a:t>
            </a:r>
          </a:p>
          <a:p>
            <a:pPr lvl="1"/>
            <a:r>
              <a:rPr lang="en-US" sz="1800" dirty="0"/>
              <a:t>Changes models internal weights</a:t>
            </a:r>
          </a:p>
          <a:p>
            <a:pPr lvl="1"/>
            <a:r>
              <a:rPr lang="en-US" sz="1800" dirty="0"/>
              <a:t>The model “absorbs” those patterns into its parameters</a:t>
            </a:r>
          </a:p>
          <a:p>
            <a:pPr lvl="1"/>
            <a:endParaRPr lang="en-US" sz="1800" dirty="0"/>
          </a:p>
          <a:p>
            <a:r>
              <a:rPr lang="en-US" sz="1800" b="1" dirty="0"/>
              <a:t>Use cases:</a:t>
            </a:r>
            <a:endParaRPr lang="en-US" sz="1800" dirty="0"/>
          </a:p>
          <a:p>
            <a:pPr lvl="1"/>
            <a:r>
              <a:rPr lang="en-US" sz="1800" dirty="0"/>
              <a:t>Domain-specific classification (claims, fraud)</a:t>
            </a:r>
          </a:p>
          <a:p>
            <a:pPr lvl="1"/>
            <a:r>
              <a:rPr lang="en-US" sz="1800" dirty="0"/>
              <a:t>Structured outputs that must follow strict formats</a:t>
            </a:r>
          </a:p>
          <a:p>
            <a:pPr lvl="1"/>
            <a:r>
              <a:rPr lang="en-US" sz="1800" dirty="0"/>
              <a:t>Proprietary information not found in public data</a:t>
            </a:r>
          </a:p>
          <a:p>
            <a:pPr marL="0" indent="0">
              <a:buNone/>
            </a:pPr>
            <a:endParaRPr lang="en-US" sz="2200" dirty="0"/>
          </a:p>
          <a:p>
            <a:pPr lvl="1"/>
            <a:endParaRPr lang="en-US" sz="1800" dirty="0"/>
          </a:p>
          <a:p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55215-BDAF-C6A2-EBC2-FD68517553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331" y="1133093"/>
            <a:ext cx="5986669" cy="475661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/>
              <a:t>Pre-trained</a:t>
            </a:r>
          </a:p>
          <a:p>
            <a:r>
              <a:rPr lang="en-US" sz="1800" dirty="0"/>
              <a:t>Start with general purpose AI</a:t>
            </a:r>
          </a:p>
          <a:p>
            <a:pPr lvl="1"/>
            <a:r>
              <a:rPr lang="en-US" sz="1800" dirty="0"/>
              <a:t>GPT, Claude, </a:t>
            </a:r>
            <a:r>
              <a:rPr lang="en-US" sz="1800" dirty="0" err="1"/>
              <a:t>etc</a:t>
            </a:r>
            <a:endParaRPr lang="en-US" sz="1800" dirty="0"/>
          </a:p>
          <a:p>
            <a:r>
              <a:rPr lang="en-US" sz="1800" dirty="0"/>
              <a:t>Feed it relevant documents (Policies, manuals, </a:t>
            </a:r>
            <a:r>
              <a:rPr lang="en-US" sz="1800" dirty="0" err="1"/>
              <a:t>etc</a:t>
            </a:r>
            <a:r>
              <a:rPr lang="en-US" sz="1800" dirty="0"/>
              <a:t>)</a:t>
            </a:r>
          </a:p>
          <a:p>
            <a:pPr lvl="1"/>
            <a:r>
              <a:rPr lang="en-US" sz="1800" dirty="0"/>
              <a:t>Known as RAG: Retrieval Augmented Generation</a:t>
            </a:r>
          </a:p>
          <a:p>
            <a:r>
              <a:rPr lang="en-US" sz="1800" dirty="0"/>
              <a:t>Produces chunks of the inputs, and synthesizes into a cohesive output</a:t>
            </a:r>
          </a:p>
          <a:p>
            <a:r>
              <a:rPr lang="en-US" sz="1800" dirty="0"/>
              <a:t>Doesn’t change the model — you change the </a:t>
            </a:r>
            <a:r>
              <a:rPr lang="en-US" sz="1800" i="1" dirty="0"/>
              <a:t>context</a:t>
            </a:r>
            <a:r>
              <a:rPr lang="en-US" sz="1800" dirty="0"/>
              <a:t> you provide to it.</a:t>
            </a:r>
          </a:p>
          <a:p>
            <a:endParaRPr lang="en-US" sz="1800" dirty="0"/>
          </a:p>
          <a:p>
            <a:r>
              <a:rPr lang="en-US" sz="1800" b="1" dirty="0"/>
              <a:t>Use Cases:</a:t>
            </a:r>
          </a:p>
          <a:p>
            <a:pPr lvl="1"/>
            <a:r>
              <a:rPr lang="en-US" sz="1800" dirty="0"/>
              <a:t>Customer service using updated policy documents</a:t>
            </a:r>
          </a:p>
          <a:p>
            <a:pPr lvl="1"/>
            <a:r>
              <a:rPr lang="en-US" sz="1800" dirty="0"/>
              <a:t>Search over large internal HR repositories</a:t>
            </a:r>
          </a:p>
          <a:p>
            <a:endParaRPr lang="en-US" sz="1800" dirty="0"/>
          </a:p>
          <a:p>
            <a:endParaRPr lang="en-US" sz="1800" dirty="0"/>
          </a:p>
          <a:p>
            <a:pPr lvl="1"/>
            <a:endParaRPr lang="en-US" sz="18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025A2DE-A576-D185-C29D-A3FD1A792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1" y="0"/>
            <a:ext cx="10515600" cy="1005840"/>
          </a:xfrm>
        </p:spPr>
        <p:txBody>
          <a:bodyPr/>
          <a:lstStyle/>
          <a:p>
            <a:r>
              <a:rPr lang="en-US" dirty="0"/>
              <a:t>GenAI: Pre-trained vs. fine-tuned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7F8BCF-1BEC-38B1-EEC4-1BBF81A2CFB3}"/>
              </a:ext>
            </a:extLst>
          </p:cNvPr>
          <p:cNvSpPr txBox="1"/>
          <p:nvPr/>
        </p:nvSpPr>
        <p:spPr>
          <a:xfrm>
            <a:off x="2733959" y="5889703"/>
            <a:ext cx="6724085" cy="830997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Fine Tuning can be expensive!</a:t>
            </a:r>
          </a:p>
          <a:p>
            <a:pPr algn="ctr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Many tasks can be done with Pre-trained + RAG</a:t>
            </a:r>
          </a:p>
        </p:txBody>
      </p:sp>
    </p:spTree>
    <p:extLst>
      <p:ext uri="{BB962C8B-B14F-4D97-AF65-F5344CB8AC3E}">
        <p14:creationId xmlns:p14="http://schemas.microsoft.com/office/powerpoint/2010/main" val="3363769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5A94E1-0A6A-DA06-4B2C-E29779D64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ED2CC-CA47-EF76-722C-7D5EBEE86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105" y="1138084"/>
            <a:ext cx="10515600" cy="457430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Pre-trained + RAG</a:t>
            </a:r>
          </a:p>
          <a:p>
            <a:pPr lvl="1"/>
            <a:r>
              <a:rPr lang="en-US" dirty="0"/>
              <a:t>Allows them to create a general purpose customer information query engine</a:t>
            </a:r>
          </a:p>
          <a:p>
            <a:pPr lvl="1"/>
            <a:r>
              <a:rPr lang="en-US" dirty="0"/>
              <a:t>Great for info, loan eligibility, policies, state-specific guidelines</a:t>
            </a:r>
          </a:p>
          <a:p>
            <a:pPr lvl="1"/>
            <a:r>
              <a:rPr lang="en-US" dirty="0"/>
              <a:t>Can be updated easily behind the </a:t>
            </a:r>
            <a:r>
              <a:rPr lang="en-US" dirty="0" err="1"/>
              <a:t>scences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Fine-tuned</a:t>
            </a:r>
          </a:p>
          <a:p>
            <a:pPr lvl="1"/>
            <a:r>
              <a:rPr lang="en-US" dirty="0"/>
              <a:t>Can classify dispute cases where consistency with previous precedent is important</a:t>
            </a:r>
          </a:p>
          <a:p>
            <a:pPr lvl="1"/>
            <a:r>
              <a:rPr lang="en-US" dirty="0"/>
              <a:t>Requires training from human-labelled cases (thousands) </a:t>
            </a:r>
          </a:p>
          <a:p>
            <a:pPr lvl="1"/>
            <a:r>
              <a:rPr lang="en-US" dirty="0"/>
              <a:t>Will be better at matching company tone, and use required language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4A47252-64FE-7C3B-1041-A8A5898CB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9" y="136525"/>
            <a:ext cx="10515600" cy="1001559"/>
          </a:xfrm>
        </p:spPr>
        <p:txBody>
          <a:bodyPr/>
          <a:lstStyle/>
          <a:p>
            <a:r>
              <a:rPr lang="en-US" dirty="0"/>
              <a:t>Back to Starlight Bank…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634BCF-DBDA-02A9-A9E6-12E359D87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0909" y="169065"/>
            <a:ext cx="1433593" cy="14335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171CF8-A9F8-A53D-4CE8-AD8EC2A7DB46}"/>
              </a:ext>
            </a:extLst>
          </p:cNvPr>
          <p:cNvSpPr txBox="1"/>
          <p:nvPr/>
        </p:nvSpPr>
        <p:spPr>
          <a:xfrm>
            <a:off x="1513717" y="5766055"/>
            <a:ext cx="9584386" cy="46166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latin typeface="Montserrat" pitchFamily="2" charset="77"/>
              </a:rPr>
              <a:t>Do pre-trained where you can and fine-tuned where needed</a:t>
            </a:r>
          </a:p>
        </p:txBody>
      </p:sp>
    </p:spTree>
    <p:extLst>
      <p:ext uri="{BB962C8B-B14F-4D97-AF65-F5344CB8AC3E}">
        <p14:creationId xmlns:p14="http://schemas.microsoft.com/office/powerpoint/2010/main" val="1489530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583917-C41B-BFAF-6835-3A8D035A0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CAFC0-9D4F-6765-415D-563C21A23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528" y="968713"/>
            <a:ext cx="5454112" cy="441230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dirty="0" err="1"/>
              <a:t>MetroCare</a:t>
            </a:r>
            <a:r>
              <a:rPr lang="en-US" sz="2400" dirty="0"/>
              <a:t> Health is a large regional healthcare network with:</a:t>
            </a:r>
          </a:p>
          <a:p>
            <a:r>
              <a:rPr lang="en-US" sz="2400" dirty="0"/>
              <a:t>12 hospitals</a:t>
            </a:r>
          </a:p>
          <a:p>
            <a:r>
              <a:rPr lang="en-US" sz="2400" dirty="0"/>
              <a:t>80 outpatient clinics</a:t>
            </a:r>
          </a:p>
          <a:p>
            <a:r>
              <a:rPr lang="en-US" sz="2400" dirty="0"/>
              <a:t>thousands of patient calls per day</a:t>
            </a:r>
          </a:p>
          <a:p>
            <a:r>
              <a:rPr lang="en-US" sz="2400" dirty="0"/>
              <a:t>complex Medicare/Medicaid billing rules</a:t>
            </a:r>
          </a:p>
          <a:p>
            <a:r>
              <a:rPr lang="en-US" sz="2400" dirty="0"/>
              <a:t>constantly changing treatment guidelines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They want to build an AI assistant for </a:t>
            </a:r>
            <a:r>
              <a:rPr lang="en-US" sz="2400" b="1" dirty="0"/>
              <a:t>two tasks</a:t>
            </a:r>
            <a:r>
              <a:rPr lang="en-US" sz="2400" dirty="0"/>
              <a:t>:</a:t>
            </a:r>
          </a:p>
          <a:p>
            <a:endParaRPr lang="en-US" sz="24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76C3B12-C21E-A33A-F009-2C9BA8F65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773" y="136525"/>
            <a:ext cx="10515600" cy="1001559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Example: </a:t>
            </a:r>
            <a:r>
              <a:rPr lang="en-US" dirty="0" err="1"/>
              <a:t>MetroCare</a:t>
            </a:r>
            <a:r>
              <a:rPr lang="en-US" dirty="0"/>
              <a:t> Health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9BAC0EA-6AD4-A1ED-5601-90F1B1CF5499}"/>
              </a:ext>
            </a:extLst>
          </p:cNvPr>
          <p:cNvSpPr txBox="1">
            <a:spLocks/>
          </p:cNvSpPr>
          <p:nvPr/>
        </p:nvSpPr>
        <p:spPr>
          <a:xfrm>
            <a:off x="6737888" y="1366684"/>
            <a:ext cx="5454112" cy="48102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75000"/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60000"/>
              <a:buFont typeface="Wingdings" pitchFamily="2" charset="2"/>
              <a:buChar char="v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7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7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578088F-0584-4428-D6F8-B775D75E8796}"/>
              </a:ext>
            </a:extLst>
          </p:cNvPr>
          <p:cNvSpPr txBox="1">
            <a:spLocks/>
          </p:cNvSpPr>
          <p:nvPr/>
        </p:nvSpPr>
        <p:spPr>
          <a:xfrm>
            <a:off x="6345264" y="1023860"/>
            <a:ext cx="5454112" cy="481027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75000"/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60000"/>
              <a:buFont typeface="Wingdings" pitchFamily="2" charset="2"/>
              <a:buChar char="v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7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7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r>
              <a:rPr lang="en-US" dirty="0"/>
              <a:t>Classifying incoming patient messages from email, chat, phone systems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Need to classify cases for proper routing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Need to identify urgent cases quickly, and treat them with high precision</a:t>
            </a:r>
          </a:p>
          <a:p>
            <a:pPr lvl="1">
              <a:lnSpc>
                <a:spcPct val="110000"/>
              </a:lnSpc>
            </a:pPr>
            <a:endParaRPr lang="en-US" dirty="0"/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dirty="0"/>
              <a:t>Clinical Summaries for doctors and nurses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Must match consistent tone and formatting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Structured summaries for charts need to be in consistent format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54E1C6-4290-BD3D-B1D1-7E9EC6269D2A}"/>
              </a:ext>
            </a:extLst>
          </p:cNvPr>
          <p:cNvSpPr txBox="1"/>
          <p:nvPr/>
        </p:nvSpPr>
        <p:spPr>
          <a:xfrm>
            <a:off x="1813471" y="5609621"/>
            <a:ext cx="8670964" cy="830997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Montserrat" pitchFamily="2" charset="77"/>
              </a:rPr>
              <a:t>Async question</a:t>
            </a:r>
            <a:r>
              <a:rPr lang="en-US" sz="2400" dirty="0">
                <a:latin typeface="Montserrat" pitchFamily="2" charset="77"/>
              </a:rPr>
              <a:t>: which approach would you argue for?</a:t>
            </a:r>
          </a:p>
          <a:p>
            <a:pPr algn="ctr"/>
            <a:r>
              <a:rPr lang="en-US" sz="2400" dirty="0">
                <a:latin typeface="Montserrat" pitchFamily="2" charset="77"/>
              </a:rPr>
              <a:t>Pre-trained, fine tuned, or a hybrid? </a:t>
            </a:r>
          </a:p>
        </p:txBody>
      </p:sp>
    </p:spTree>
    <p:extLst>
      <p:ext uri="{BB962C8B-B14F-4D97-AF65-F5344CB8AC3E}">
        <p14:creationId xmlns:p14="http://schemas.microsoft.com/office/powerpoint/2010/main" val="4192818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45A500-19A0-69B6-E449-D63D6B61A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21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0E4E3-F4EB-A72F-153E-D938060FC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421" y="1321465"/>
            <a:ext cx="5748579" cy="436825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Lots to consider!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use a more expensive pre-trained model?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less expensive model fine-tuned model?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802448-B86C-5429-9191-59E12AA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626"/>
            <a:ext cx="10515600" cy="1001559"/>
          </a:xfrm>
        </p:spPr>
        <p:txBody>
          <a:bodyPr/>
          <a:lstStyle/>
          <a:p>
            <a:r>
              <a:rPr lang="en-US" dirty="0"/>
              <a:t>Business Applications</a:t>
            </a:r>
          </a:p>
        </p:txBody>
      </p:sp>
      <p:pic>
        <p:nvPicPr>
          <p:cNvPr id="6" name="Picture 5" descr="A screenshot of a screen&#10;&#10;AI-generated content may be incorrect.">
            <a:extLst>
              <a:ext uri="{FF2B5EF4-FFF2-40B4-BE49-F238E27FC236}">
                <a16:creationId xmlns:a16="http://schemas.microsoft.com/office/drawing/2014/main" id="{72D2C360-DC01-18F4-E809-0D7FD89C9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716" y="511405"/>
            <a:ext cx="4919528" cy="2994187"/>
          </a:xfrm>
          <a:prstGeom prst="rect">
            <a:avLst/>
          </a:prstGeom>
        </p:spPr>
      </p:pic>
      <p:pic>
        <p:nvPicPr>
          <p:cNvPr id="8" name="Picture 7" descr="A screenshot of a phone&#10;&#10;AI-generated content may be incorrect.">
            <a:extLst>
              <a:ext uri="{FF2B5EF4-FFF2-40B4-BE49-F238E27FC236}">
                <a16:creationId xmlns:a16="http://schemas.microsoft.com/office/drawing/2014/main" id="{0C5BE53F-06F8-72E6-EC1C-0F4CE64E75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279" y="4507149"/>
            <a:ext cx="5353480" cy="18135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9919DD-6AFC-A137-6503-C346C5D109BF}"/>
              </a:ext>
            </a:extLst>
          </p:cNvPr>
          <p:cNvSpPr txBox="1"/>
          <p:nvPr/>
        </p:nvSpPr>
        <p:spPr>
          <a:xfrm>
            <a:off x="8773449" y="3775538"/>
            <a:ext cx="5020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dirty="0">
                <a:latin typeface="Montserrat" pitchFamily="2" charset="77"/>
              </a:rPr>
              <a:t>vs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72715-BBFE-EF3D-98EE-590180B4C45E}"/>
              </a:ext>
            </a:extLst>
          </p:cNvPr>
          <p:cNvSpPr txBox="1"/>
          <p:nvPr/>
        </p:nvSpPr>
        <p:spPr>
          <a:xfrm>
            <a:off x="8821975" y="49740"/>
            <a:ext cx="3130985" cy="461665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2400" dirty="0" err="1">
                <a:latin typeface="Montserrat" pitchFamily="2" charset="77"/>
              </a:rPr>
              <a:t>pricepertoken.com</a:t>
            </a:r>
            <a:endParaRPr lang="en-US" sz="2400" dirty="0">
              <a:latin typeface="Montserrat" pitchFamily="2" charset="77"/>
            </a:endParaRPr>
          </a:p>
        </p:txBody>
      </p:sp>
      <p:pic>
        <p:nvPicPr>
          <p:cNvPr id="3074" name="Picture 2" descr="Shrug - Free people icons">
            <a:extLst>
              <a:ext uri="{FF2B5EF4-FFF2-40B4-BE49-F238E27FC236}">
                <a16:creationId xmlns:a16="http://schemas.microsoft.com/office/drawing/2014/main" id="{ADBC7E6B-A674-9925-FCE3-3A2EE9209A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331" y="5016446"/>
            <a:ext cx="1705029" cy="1705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2071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1F7E21-D475-F14E-0BCA-7941511F6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34D233-AE5A-17B1-288D-CB5B531BB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023" y="724077"/>
            <a:ext cx="7085013" cy="472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428780"/>
      </p:ext>
    </p:extLst>
  </p:cSld>
  <p:clrMapOvr>
    <a:masterClrMapping/>
  </p:clrMapOvr>
</p:sld>
</file>

<file path=ppt/theme/theme1.xml><?xml version="1.0" encoding="utf-8"?>
<a:theme xmlns:a="http://schemas.openxmlformats.org/drawingml/2006/main" name="LSL_PowerPoint_Template">
  <a:themeElements>
    <a:clrScheme name="Stern Color Palette">
      <a:dk1>
        <a:srgbClr val="000000"/>
      </a:dk1>
      <a:lt1>
        <a:srgbClr val="FFFFFF"/>
      </a:lt1>
      <a:dk2>
        <a:srgbClr val="0E2841"/>
      </a:dk2>
      <a:lt2>
        <a:srgbClr val="EEE6F3"/>
      </a:lt2>
      <a:accent1>
        <a:srgbClr val="57068C"/>
      </a:accent1>
      <a:accent2>
        <a:srgbClr val="8900E1"/>
      </a:accent2>
      <a:accent3>
        <a:srgbClr val="330661"/>
      </a:accent3>
      <a:accent4>
        <a:srgbClr val="702B9D"/>
      </a:accent4>
      <a:accent5>
        <a:srgbClr val="A02B93"/>
      </a:accent5>
      <a:accent6>
        <a:srgbClr val="7B59A6"/>
      </a:accent6>
      <a:hlink>
        <a:srgbClr val="009B8A"/>
      </a:hlink>
      <a:folHlink>
        <a:srgbClr val="FB0F78"/>
      </a:folHlink>
    </a:clrScheme>
    <a:fontScheme name="LSL Template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2400" dirty="0" smtClean="0">
            <a:latin typeface="Montserrat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SL_PowerPoint_Template" id="{21962180-B26F-4A46-B8B0-B7D5112C3D72}" vid="{BB355436-7ED7-E64D-88EB-D09D3F4BC2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LSL_PowerPoint_Template</Template>
  <TotalTime>23304</TotalTime>
  <Words>1696</Words>
  <Application>Microsoft Macintosh PowerPoint</Application>
  <PresentationFormat>Widescreen</PresentationFormat>
  <Paragraphs>320</Paragraphs>
  <Slides>22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Aptos Narrow</vt:lpstr>
      <vt:lpstr>Arial</vt:lpstr>
      <vt:lpstr>Calibri</vt:lpstr>
      <vt:lpstr>Consolas</vt:lpstr>
      <vt:lpstr>Montserrat</vt:lpstr>
      <vt:lpstr>Montserrat SemiBold</vt:lpstr>
      <vt:lpstr>Tahoma</vt:lpstr>
      <vt:lpstr>Wingdings</vt:lpstr>
      <vt:lpstr>LSL_PowerPoint_Template</vt:lpstr>
      <vt:lpstr>Topic 12  – Neural Nets, Deep Learning, and GenAI </vt:lpstr>
      <vt:lpstr>Deep Learning - Intro</vt:lpstr>
      <vt:lpstr>Recap: Single Layer Neural Network</vt:lpstr>
      <vt:lpstr>Neural Nets – Deep Learning</vt:lpstr>
      <vt:lpstr>Extensions of Neural Nets</vt:lpstr>
      <vt:lpstr>Convolutional Neural Nets (CNN) </vt:lpstr>
      <vt:lpstr>Convolutional Neural Nets (CNN) </vt:lpstr>
      <vt:lpstr>CNN wins!  MNIST data</vt:lpstr>
      <vt:lpstr>Recurrent Neural Networks (RNN)</vt:lpstr>
      <vt:lpstr>Long Short-Term Memory (LSTM)</vt:lpstr>
      <vt:lpstr>Deep Learning – Useful Tools</vt:lpstr>
      <vt:lpstr>Deep Learning into Generative AI</vt:lpstr>
      <vt:lpstr>Transformers</vt:lpstr>
      <vt:lpstr>GPT (simplified)</vt:lpstr>
      <vt:lpstr>Transformers =&gt; Gen AI</vt:lpstr>
      <vt:lpstr>Gen AI Applications</vt:lpstr>
      <vt:lpstr>GenAI use case: Starlight Bank</vt:lpstr>
      <vt:lpstr>GenAI: Pre-trained vs. fine-tuned</vt:lpstr>
      <vt:lpstr>Back to Starlight Bank…</vt:lpstr>
      <vt:lpstr>Example: MetroCare Health </vt:lpstr>
      <vt:lpstr>Business Applications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 volinsky</dc:creator>
  <cp:lastModifiedBy>chris volinsky</cp:lastModifiedBy>
  <cp:revision>42</cp:revision>
  <cp:lastPrinted>2025-11-22T21:45:01Z</cp:lastPrinted>
  <dcterms:created xsi:type="dcterms:W3CDTF">2023-07-07T20:20:38Z</dcterms:created>
  <dcterms:modified xsi:type="dcterms:W3CDTF">2025-11-23T20:49:16Z</dcterms:modified>
</cp:coreProperties>
</file>