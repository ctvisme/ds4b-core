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22"/>
  </p:notesMasterIdLst>
  <p:sldIdLst>
    <p:sldId id="838" r:id="rId2"/>
    <p:sldId id="258" r:id="rId3"/>
    <p:sldId id="259" r:id="rId4"/>
    <p:sldId id="277" r:id="rId5"/>
    <p:sldId id="265" r:id="rId6"/>
    <p:sldId id="288" r:id="rId7"/>
    <p:sldId id="278" r:id="rId8"/>
    <p:sldId id="283" r:id="rId9"/>
    <p:sldId id="284" r:id="rId10"/>
    <p:sldId id="287" r:id="rId11"/>
    <p:sldId id="279" r:id="rId12"/>
    <p:sldId id="280" r:id="rId13"/>
    <p:sldId id="261" r:id="rId14"/>
    <p:sldId id="275" r:id="rId15"/>
    <p:sldId id="276" r:id="rId16"/>
    <p:sldId id="281" r:id="rId17"/>
    <p:sldId id="270" r:id="rId18"/>
    <p:sldId id="266" r:id="rId19"/>
    <p:sldId id="839" r:id="rId20"/>
    <p:sldId id="8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02"/>
    <p:restoredTop sz="79199"/>
  </p:normalViewPr>
  <p:slideViewPr>
    <p:cSldViewPr snapToGrid="0">
      <p:cViewPr varScale="1">
        <p:scale>
          <a:sx n="84" d="100"/>
          <a:sy n="84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98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13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Toolbox</a:t>
            </a:r>
          </a:p>
          <a:p>
            <a:r>
              <a:rPr lang="en-US" dirty="0"/>
              <a:t>Improve data literacy</a:t>
            </a:r>
          </a:p>
          <a:p>
            <a:endParaRPr lang="en-US" dirty="0"/>
          </a:p>
          <a:p>
            <a:r>
              <a:rPr lang="en-US" dirty="0"/>
              <a:t>Class is meant to be practical, focused on data literacy.  </a:t>
            </a:r>
          </a:p>
          <a:p>
            <a:endParaRPr lang="en-US" dirty="0"/>
          </a:p>
          <a:p>
            <a:r>
              <a:rPr lang="en-US" dirty="0"/>
              <a:t>Not a programming class, not an AI class. </a:t>
            </a:r>
          </a:p>
          <a:p>
            <a:endParaRPr lang="en-US" dirty="0"/>
          </a:p>
          <a:p>
            <a:r>
              <a:rPr lang="en-US" dirty="0"/>
              <a:t>Class is not: engineering, math heavy, big data or databases.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21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Tukey said “Statistician” but he was really the world’s first data scientist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BC241-93B4-8B40-9597-9B8B9F1B1E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1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 DS got to work with people in many different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64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9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13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7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04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77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17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19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21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BC241-93B4-8B40-9597-9B8B9F1B1E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35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3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BC241-93B4-8B40-9597-9B8B9F1B1E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36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Plaigiarism</a:t>
            </a:r>
            <a:r>
              <a:rPr lang="en-US" dirty="0"/>
              <a:t> point: can detect when it is used due to certain words “commendable, intricate, versatile, meticulous”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AI is a natural progression:</a:t>
            </a:r>
          </a:p>
          <a:p>
            <a:pPr marL="171450" indent="-171450">
              <a:buFontTx/>
              <a:buChar char="-"/>
            </a:pPr>
            <a:r>
              <a:rPr lang="en-US" dirty="0"/>
              <a:t>Phones we didn’t have to remember numbers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Internet we didn’t have to remember facts</a:t>
            </a:r>
          </a:p>
          <a:p>
            <a:pPr marL="171450" indent="-171450">
              <a:buFontTx/>
              <a:buChar char="-"/>
            </a:pPr>
            <a:r>
              <a:rPr lang="en-US" dirty="0"/>
              <a:t>Email storage we didn’t need to remember </a:t>
            </a:r>
            <a:r>
              <a:rPr lang="en-US" dirty="0" err="1"/>
              <a:t>ocnversations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We just have to adjust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Don’t need to build the car, need to drive the car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BC241-93B4-8B40-9597-9B8B9F1B1E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00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56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rmAutofit/>
          </a:bodyPr>
          <a:lstStyle>
            <a:lvl1pPr marL="0" indent="0" algn="l">
              <a:buNone/>
              <a:defRPr sz="36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lesson title, faculty name, etc.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1057047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</p:spTree>
    <p:extLst>
      <p:ext uri="{BB962C8B-B14F-4D97-AF65-F5344CB8AC3E}">
        <p14:creationId xmlns:p14="http://schemas.microsoft.com/office/powerpoint/2010/main" val="302517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9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70377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6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40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00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93024869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5733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5409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7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24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6490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61395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54796733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78705692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13916657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1696746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44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C7800-B276-A64A-8AB0-19972C98F17B}" type="datetime1">
              <a:rPr lang="en-US" smtClean="0"/>
              <a:t>9/3/25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775125-7C05-15FA-5541-A1CBF69CEB14}"/>
              </a:ext>
            </a:extLst>
          </p:cNvPr>
          <p:cNvSpPr txBox="1">
            <a:spLocks/>
          </p:cNvSpPr>
          <p:nvPr/>
        </p:nvSpPr>
        <p:spPr bwMode="auto">
          <a:xfrm>
            <a:off x="0" y="1454155"/>
            <a:ext cx="12192000" cy="133667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ClrTx/>
              <a:buNone/>
            </a:pPr>
            <a:endParaRPr lang="en-US" sz="3300" kern="0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9757C-6FB8-ABB8-2866-BBCAA0333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3367" y="1645376"/>
            <a:ext cx="9288945" cy="954225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822037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47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7" r:id="rId18"/>
    <p:sldLayoutId id="2147483748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4NhWQtbU3iKjLhnZr0_CvM6OqKwSCr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9" descr="Gould Plaza and the entrance to NYU Stern.">
            <a:extLst>
              <a:ext uri="{FF2B5EF4-FFF2-40B4-BE49-F238E27FC236}">
                <a16:creationId xmlns:a16="http://schemas.microsoft.com/office/drawing/2014/main" id="{F17365F4-1E30-C933-8686-832E1115072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7813" b="7813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C2083-E159-5D73-81B8-E41ED22A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02E90-7C54-47EB-C2F3-880E692B8E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Science and AI for Business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C408D0-47BE-6C66-ED8D-D1BC2132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343"/>
            <a:ext cx="7053943" cy="1199020"/>
          </a:xfrm>
        </p:spPr>
        <p:txBody>
          <a:bodyPr/>
          <a:lstStyle/>
          <a:p>
            <a:r>
              <a:rPr lang="en-US" dirty="0"/>
              <a:t>Topic 1 – Class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0093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896B1-E8FD-60C6-6A01-FCCC917A4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 dirty="0"/>
          </a:p>
        </p:txBody>
      </p:sp>
      <p:pic>
        <p:nvPicPr>
          <p:cNvPr id="2050" name="Picture 2" descr="Generated by DALL·E">
            <a:extLst>
              <a:ext uri="{FF2B5EF4-FFF2-40B4-BE49-F238E27FC236}">
                <a16:creationId xmlns:a16="http://schemas.microsoft.com/office/drawing/2014/main" id="{AA26FB74-A64F-65AA-E2D7-6960D7AD4E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516" y="983386"/>
            <a:ext cx="5447073" cy="311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F1712D-6C5F-5500-F147-D9E6EF550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-45095"/>
            <a:ext cx="11956473" cy="100155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do you hope to get out of this course?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6AA742-198A-F8F2-7CA2-57220B7BB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239" y="956464"/>
            <a:ext cx="3139536" cy="3139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F4E42A-268F-F829-AFFC-5541BEF698D3}"/>
              </a:ext>
            </a:extLst>
          </p:cNvPr>
          <p:cNvSpPr txBox="1"/>
          <p:nvPr/>
        </p:nvSpPr>
        <p:spPr>
          <a:xfrm>
            <a:off x="744419" y="4921568"/>
            <a:ext cx="5779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bridge technical analysis with business strategy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3578F-AD75-505F-903F-8963C196FEA0}"/>
              </a:ext>
            </a:extLst>
          </p:cNvPr>
          <p:cNvSpPr txBox="1"/>
          <p:nvPr/>
        </p:nvSpPr>
        <p:spPr>
          <a:xfrm>
            <a:off x="394339" y="5379215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gain foundational knowledge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CF0AD-82FA-CDB3-1D1E-FC77DCEF4022}"/>
              </a:ext>
            </a:extLst>
          </p:cNvPr>
          <p:cNvSpPr txBox="1"/>
          <p:nvPr/>
        </p:nvSpPr>
        <p:spPr>
          <a:xfrm>
            <a:off x="5096788" y="5302135"/>
            <a:ext cx="7095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effectively communicate with data science team members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E42F7-7F95-1F02-C862-05B4E802EC1A}"/>
              </a:ext>
            </a:extLst>
          </p:cNvPr>
          <p:cNvSpPr txBox="1"/>
          <p:nvPr/>
        </p:nvSpPr>
        <p:spPr>
          <a:xfrm>
            <a:off x="6363345" y="4626156"/>
            <a:ext cx="501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be competitive for AI PM roles in Big Tech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567E51-C8D6-A4B8-32F1-1BCA6E23962C}"/>
              </a:ext>
            </a:extLst>
          </p:cNvPr>
          <p:cNvSpPr txBox="1"/>
          <p:nvPr/>
        </p:nvSpPr>
        <p:spPr>
          <a:xfrm>
            <a:off x="4480052" y="4279255"/>
            <a:ext cx="523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 required course for the Tech MBA program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1E661-3DFC-A956-1628-45596713D14C}"/>
              </a:ext>
            </a:extLst>
          </p:cNvPr>
          <p:cNvSpPr txBox="1"/>
          <p:nvPr/>
        </p:nvSpPr>
        <p:spPr>
          <a:xfrm>
            <a:off x="5760063" y="5725171"/>
            <a:ext cx="659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be better equipped to be a data driven decision maker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D780D-30DF-E1B8-A1A2-ECFC5129085D}"/>
              </a:ext>
            </a:extLst>
          </p:cNvPr>
          <p:cNvSpPr txBox="1"/>
          <p:nvPr/>
        </p:nvSpPr>
        <p:spPr>
          <a:xfrm>
            <a:off x="46597" y="5851843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understand the fundamentals of data science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51357-2E04-13FE-FC4B-8BCE2E49AF48}"/>
              </a:ext>
            </a:extLst>
          </p:cNvPr>
          <p:cNvSpPr txBox="1"/>
          <p:nvPr/>
        </p:nvSpPr>
        <p:spPr>
          <a:xfrm>
            <a:off x="3341079" y="6335439"/>
            <a:ext cx="550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understand the business side of AI companies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63B31-8A17-DAE0-0C88-E704CFFA6152}"/>
              </a:ext>
            </a:extLst>
          </p:cNvPr>
          <p:cNvSpPr txBox="1"/>
          <p:nvPr/>
        </p:nvSpPr>
        <p:spPr>
          <a:xfrm>
            <a:off x="394339" y="4463921"/>
            <a:ext cx="384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become a better data scientist 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15118-D586-90C4-5A45-0888B74FE430}"/>
              </a:ext>
            </a:extLst>
          </p:cNvPr>
          <p:cNvSpPr txBox="1"/>
          <p:nvPr/>
        </p:nvSpPr>
        <p:spPr>
          <a:xfrm>
            <a:off x="3640276" y="3625414"/>
            <a:ext cx="5766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i="1" dirty="0">
                <a:highlight>
                  <a:srgbClr val="C0C0C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[AI Prompt : image of a successful data scientist]</a:t>
            </a:r>
          </a:p>
        </p:txBody>
      </p:sp>
    </p:spTree>
    <p:extLst>
      <p:ext uri="{BB962C8B-B14F-4D97-AF65-F5344CB8AC3E}">
        <p14:creationId xmlns:p14="http://schemas.microsoft.com/office/powerpoint/2010/main" val="134851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BEF32-84BA-0247-15DB-2731A362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DBCCE-F357-9CF1-BD44-777090FD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159525"/>
            <a:ext cx="10515600" cy="1001559"/>
          </a:xfrm>
        </p:spPr>
        <p:txBody>
          <a:bodyPr/>
          <a:lstStyle/>
          <a:p>
            <a:r>
              <a:rPr lang="en-US" dirty="0"/>
              <a:t>(My) Class Goals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667708-69DD-B5F4-1EE4-63938749B10A}"/>
              </a:ext>
            </a:extLst>
          </p:cNvPr>
          <p:cNvSpPr txBox="1">
            <a:spLocks/>
          </p:cNvSpPr>
          <p:nvPr/>
        </p:nvSpPr>
        <p:spPr bwMode="auto">
          <a:xfrm>
            <a:off x="7137387" y="3528457"/>
            <a:ext cx="4481689" cy="353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ClrTx/>
              <a:buNone/>
            </a:pPr>
            <a:r>
              <a:rPr lang="en-US" sz="1400" kern="0" dirty="0"/>
              <a:t>[Professor teaching data science to business students]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DC6BF-32F7-CDAC-5928-D8AFC265E310}"/>
              </a:ext>
            </a:extLst>
          </p:cNvPr>
          <p:cNvSpPr txBox="1"/>
          <p:nvPr/>
        </p:nvSpPr>
        <p:spPr>
          <a:xfrm>
            <a:off x="7200640" y="3874660"/>
            <a:ext cx="4397603" cy="248169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+mn-lt"/>
              </a:rPr>
              <a:t>Incoming expectations</a:t>
            </a:r>
            <a:r>
              <a:rPr lang="en-US" sz="1800" dirty="0">
                <a:latin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Basic statistical knowledge</a:t>
            </a:r>
          </a:p>
          <a:p>
            <a:pPr lvl="1"/>
            <a:r>
              <a:rPr lang="en-US" sz="1600" dirty="0">
                <a:latin typeface="+mn-lt"/>
              </a:rPr>
              <a:t>Mean v median, spread</a:t>
            </a:r>
          </a:p>
          <a:p>
            <a:pPr lvl="1"/>
            <a:r>
              <a:rPr lang="en-US" sz="1600" dirty="0">
                <a:latin typeface="+mn-lt"/>
              </a:rPr>
              <a:t>Variation, sampling</a:t>
            </a:r>
          </a:p>
          <a:p>
            <a:pPr lvl="1"/>
            <a:r>
              <a:rPr lang="en-US" sz="1600" dirty="0">
                <a:latin typeface="+mn-lt"/>
              </a:rPr>
              <a:t>Concepts of hypothesis testing</a:t>
            </a:r>
          </a:p>
          <a:p>
            <a:pPr lvl="1"/>
            <a:r>
              <a:rPr lang="en-US" sz="1600" dirty="0">
                <a:latin typeface="+mn-lt"/>
              </a:rPr>
              <a:t>Ability to read statistical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Basic python (or other programming) knowledge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DBBD4-3B23-84B6-2D90-D769343DAD9A}"/>
              </a:ext>
            </a:extLst>
          </p:cNvPr>
          <p:cNvSpPr txBox="1"/>
          <p:nvPr/>
        </p:nvSpPr>
        <p:spPr>
          <a:xfrm>
            <a:off x="279288" y="1143188"/>
            <a:ext cx="664498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Learn how to approach business problems data-analytically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Appreciate the full range of the data science process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Build (or expand) your knowledge of data science models and methods 🧰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Hands on experience with data science tools and algorithms on real problems (using Python and GenAI tools)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a typeface="Tahoma" panose="020B0604030504040204" pitchFamily="34" charset="0"/>
                <a:cs typeface="Tahoma" panose="020B0604030504040204" pitchFamily="34" charset="0"/>
              </a:rPr>
              <a:t>Understand application of methods to real business problems through use cases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A84E62-49BF-D400-2E93-7FC3C42B1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883" y="67067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1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D75AAD5E-ABB1-911A-B9F7-EAA5CA0CC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6395" y="4585791"/>
            <a:ext cx="5758578" cy="1334508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/>
              <a:t>The best part about being a [data scientist]  is you get to play in everyone’s backyard.</a:t>
            </a:r>
          </a:p>
          <a:p>
            <a:pPr marL="0" indent="0" algn="ctr">
              <a:buNone/>
            </a:pPr>
            <a:r>
              <a:rPr lang="en-US" sz="1600" i="1" dirty="0"/>
              <a:t>- John Tukey, AT&amp;T Bell Labs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6898-E0ED-93C2-13B2-1E52C48C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50" y="146950"/>
            <a:ext cx="8229600" cy="550310"/>
          </a:xfrm>
        </p:spPr>
        <p:txBody>
          <a:bodyPr wrap="square" anchor="ctr">
            <a:normAutofit fontScale="90000"/>
          </a:bodyPr>
          <a:lstStyle/>
          <a:p>
            <a:r>
              <a:rPr lang="en-US" dirty="0"/>
              <a:t>About Me</a:t>
            </a:r>
          </a:p>
        </p:txBody>
      </p:sp>
      <p:pic>
        <p:nvPicPr>
          <p:cNvPr id="4" name="Picture 2" descr="University of Washington - Alpha Gamma Delta">
            <a:extLst>
              <a:ext uri="{FF2B5EF4-FFF2-40B4-BE49-F238E27FC236}">
                <a16:creationId xmlns:a16="http://schemas.microsoft.com/office/drawing/2014/main" id="{8A4F321E-8264-5F2D-7EE6-22CEE9823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133" y="1629045"/>
            <a:ext cx="2452867" cy="245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w York University">
            <a:extLst>
              <a:ext uri="{FF2B5EF4-FFF2-40B4-BE49-F238E27FC236}">
                <a16:creationId xmlns:a16="http://schemas.microsoft.com/office/drawing/2014/main" id="{0551D378-4008-38A0-AC7E-3BD0D69E9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9619" y="1805079"/>
            <a:ext cx="1925911" cy="192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University at Buffalo Technology ...">
            <a:extLst>
              <a:ext uri="{FF2B5EF4-FFF2-40B4-BE49-F238E27FC236}">
                <a16:creationId xmlns:a16="http://schemas.microsoft.com/office/drawing/2014/main" id="{80E5482F-1917-8075-3A83-D83E91E54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51" y="1805079"/>
            <a:ext cx="2801644" cy="187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T&amp;T's legislative solution for carrier ...">
            <a:extLst>
              <a:ext uri="{FF2B5EF4-FFF2-40B4-BE49-F238E27FC236}">
                <a16:creationId xmlns:a16="http://schemas.microsoft.com/office/drawing/2014/main" id="{FF2A693E-AE8E-F036-B1C5-CF1C62213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11019"/>
            <a:ext cx="2977822" cy="208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98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172F-710D-0906-3661-F06720AA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99" y="309757"/>
            <a:ext cx="8229600" cy="560249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Science Projects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5D49EA-53C6-4C41-735D-69EB1A6E5D99}"/>
              </a:ext>
            </a:extLst>
          </p:cNvPr>
          <p:cNvGrpSpPr/>
          <p:nvPr/>
        </p:nvGrpSpPr>
        <p:grpSpPr>
          <a:xfrm>
            <a:off x="6896249" y="936407"/>
            <a:ext cx="2974991" cy="2720344"/>
            <a:chOff x="652910" y="3518849"/>
            <a:chExt cx="2974991" cy="2720344"/>
          </a:xfrm>
        </p:grpSpPr>
        <p:pic>
          <p:nvPicPr>
            <p:cNvPr id="7" name="Picture 6" descr="A screenshot of a video&#10;&#10;Description automatically generated">
              <a:extLst>
                <a:ext uri="{FF2B5EF4-FFF2-40B4-BE49-F238E27FC236}">
                  <a16:creationId xmlns:a16="http://schemas.microsoft.com/office/drawing/2014/main" id="{D2260E32-54B9-91CA-5BD3-A044EE2D6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910" y="3893027"/>
              <a:ext cx="2974991" cy="234616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B2BCF4-3263-5692-832E-D71544A8B127}"/>
                </a:ext>
              </a:extLst>
            </p:cNvPr>
            <p:cNvSpPr txBox="1"/>
            <p:nvPr/>
          </p:nvSpPr>
          <p:spPr>
            <a:xfrm>
              <a:off x="974861" y="3518849"/>
              <a:ext cx="2331087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TV and Video Consumption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6DB2F7-29E8-9E21-42AD-B95743D2BD5C}"/>
              </a:ext>
            </a:extLst>
          </p:cNvPr>
          <p:cNvGrpSpPr/>
          <p:nvPr/>
        </p:nvGrpSpPr>
        <p:grpSpPr>
          <a:xfrm>
            <a:off x="1231922" y="3910857"/>
            <a:ext cx="2668051" cy="2637386"/>
            <a:chOff x="5774187" y="3840225"/>
            <a:chExt cx="2954153" cy="2637386"/>
          </a:xfrm>
        </p:grpSpPr>
        <p:pic>
          <p:nvPicPr>
            <p:cNvPr id="17" name="Picture 16" descr="Screenshot 2016-11-30 23.28.58.png">
              <a:extLst>
                <a:ext uri="{FF2B5EF4-FFF2-40B4-BE49-F238E27FC236}">
                  <a16:creationId xmlns:a16="http://schemas.microsoft.com/office/drawing/2014/main" id="{18465E38-5290-AB67-3801-0EA385AD4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187" y="3840225"/>
              <a:ext cx="2181225" cy="183621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203603-B7DA-4054-D71B-E92BA9BC7795}"/>
                </a:ext>
              </a:extLst>
            </p:cNvPr>
            <p:cNvSpPr txBox="1"/>
            <p:nvPr/>
          </p:nvSpPr>
          <p:spPr>
            <a:xfrm>
              <a:off x="7021950" y="5738947"/>
              <a:ext cx="1706390" cy="738664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Content Recommender Systems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2077BE-D822-6BB2-C8C4-03C9BBF9845E}"/>
              </a:ext>
            </a:extLst>
          </p:cNvPr>
          <p:cNvGrpSpPr/>
          <p:nvPr/>
        </p:nvGrpSpPr>
        <p:grpSpPr>
          <a:xfrm>
            <a:off x="478701" y="1002808"/>
            <a:ext cx="4287492" cy="2426192"/>
            <a:chOff x="254691" y="1002808"/>
            <a:chExt cx="4287492" cy="242619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7A9EE06-B45A-9CE7-2C49-591179A0C239}"/>
                </a:ext>
              </a:extLst>
            </p:cNvPr>
            <p:cNvGrpSpPr/>
            <p:nvPr/>
          </p:nvGrpSpPr>
          <p:grpSpPr>
            <a:xfrm>
              <a:off x="254691" y="1002808"/>
              <a:ext cx="4287492" cy="2426192"/>
              <a:chOff x="254691" y="1002808"/>
              <a:chExt cx="4287492" cy="2426192"/>
            </a:xfrm>
          </p:grpSpPr>
          <p:pic>
            <p:nvPicPr>
              <p:cNvPr id="10" name="Picture 9" descr="A screenshot of a map&#10;&#10;Description automatically generated">
                <a:extLst>
                  <a:ext uri="{FF2B5EF4-FFF2-40B4-BE49-F238E27FC236}">
                    <a16:creationId xmlns:a16="http://schemas.microsoft.com/office/drawing/2014/main" id="{7A89BE2B-479E-88D3-FACF-EB1A8844A7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691" y="1326322"/>
                <a:ext cx="4287492" cy="2102678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A9707A-9CB3-83BC-C5C7-E7D62842E434}"/>
                  </a:ext>
                </a:extLst>
              </p:cNvPr>
              <p:cNvSpPr txBox="1"/>
              <p:nvPr/>
            </p:nvSpPr>
            <p:spPr>
              <a:xfrm>
                <a:off x="1381411" y="1002808"/>
                <a:ext cx="158408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en-US" sz="1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Network analytics</a:t>
                </a:r>
              </a:p>
            </p:txBody>
          </p:sp>
        </p:grpSp>
        <p:pic>
          <p:nvPicPr>
            <p:cNvPr id="24" name="Screen Shot 2023-06-05 at 9.30.58 AM.png" descr="Screen Shot 2023-06-05 at 9.30.58 AM.png">
              <a:extLst>
                <a:ext uri="{FF2B5EF4-FFF2-40B4-BE49-F238E27FC236}">
                  <a16:creationId xmlns:a16="http://schemas.microsoft.com/office/drawing/2014/main" id="{F3F3B76B-EED7-E804-76FE-F81CB17DE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63000" y="1466835"/>
              <a:ext cx="2511521" cy="1802192"/>
            </a:xfrm>
            <a:prstGeom prst="rect">
              <a:avLst/>
            </a:prstGeom>
            <a:ln w="88900">
              <a:miter lim="400000"/>
            </a:ln>
          </p:spPr>
        </p:pic>
      </p:grpSp>
      <p:pic>
        <p:nvPicPr>
          <p:cNvPr id="3" name="Picture 2" descr="Netflix Never Used Its $1 Million Algorithm Due To Engineering Costs | WIRED">
            <a:extLst>
              <a:ext uri="{FF2B5EF4-FFF2-40B4-BE49-F238E27FC236}">
                <a16:creationId xmlns:a16="http://schemas.microsoft.com/office/drawing/2014/main" id="{9B600661-F605-0315-AB57-3F1E68F2D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984" y="3910857"/>
            <a:ext cx="4108637" cy="215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Screen shot 2012-05-29 at 9.04.52 PM.png" descr="Screen shot 2012-05-29 at 9.04.52 PM.png">
            <a:extLst>
              <a:ext uri="{FF2B5EF4-FFF2-40B4-BE49-F238E27FC236}">
                <a16:creationId xmlns:a16="http://schemas.microsoft.com/office/drawing/2014/main" id="{D8E0C466-52CD-644D-F4A9-6D02B18C2F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641" y="3880713"/>
            <a:ext cx="3877812" cy="2867697"/>
          </a:xfrm>
          <a:prstGeom prst="rect">
            <a:avLst/>
          </a:prstGeom>
          <a:ln w="889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019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3FC2-07F6-F538-A119-71B56A28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57592" cy="792541"/>
          </a:xfrm>
        </p:spPr>
        <p:txBody>
          <a:bodyPr wrap="square" anchor="ctr">
            <a:normAutofit fontScale="90000"/>
          </a:bodyPr>
          <a:lstStyle/>
          <a:p>
            <a:r>
              <a:rPr lang="en-US" dirty="0"/>
              <a:t>About you…</a:t>
            </a:r>
            <a:br>
              <a:rPr lang="en-US" dirty="0"/>
            </a:b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C99FEC-8971-CC88-B7AE-C2A3AC24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54" y="909184"/>
            <a:ext cx="6509792" cy="5802736"/>
          </a:xfrm>
          <a:prstGeom prst="rect">
            <a:avLst/>
          </a:prstGeom>
        </p:spPr>
      </p:pic>
      <p:pic>
        <p:nvPicPr>
          <p:cNvPr id="9" name="Picture 8" descr="A cartoon of a group of kids sitting at desks&#10;&#10;AI-generated content may be incorrect.">
            <a:extLst>
              <a:ext uri="{FF2B5EF4-FFF2-40B4-BE49-F238E27FC236}">
                <a16:creationId xmlns:a16="http://schemas.microsoft.com/office/drawing/2014/main" id="{DF55F1AD-C9A9-85EE-E525-770AC2149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55" y="2571105"/>
            <a:ext cx="4705844" cy="22502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489B8A-B5C6-F35B-B184-E6E25A71CB83}"/>
              </a:ext>
            </a:extLst>
          </p:cNvPr>
          <p:cNvSpPr txBox="1"/>
          <p:nvPr/>
        </p:nvSpPr>
        <p:spPr>
          <a:xfrm>
            <a:off x="4632960" y="678351"/>
            <a:ext cx="3339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Where are we from?</a:t>
            </a:r>
          </a:p>
        </p:txBody>
      </p:sp>
    </p:spTree>
    <p:extLst>
      <p:ext uri="{BB962C8B-B14F-4D97-AF65-F5344CB8AC3E}">
        <p14:creationId xmlns:p14="http://schemas.microsoft.com/office/powerpoint/2010/main" val="43894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0+ data science memes to fight the weekday blues | Data ...">
            <a:extLst>
              <a:ext uri="{FF2B5EF4-FFF2-40B4-BE49-F238E27FC236}">
                <a16:creationId xmlns:a16="http://schemas.microsoft.com/office/drawing/2014/main" id="{AB4A49E1-F9EF-87F7-EE94-A62FD2BA7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679471"/>
            <a:ext cx="2490267" cy="249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BB2381AF-077A-FC75-863C-6ACC521D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40" y="92471"/>
            <a:ext cx="7102565" cy="406004"/>
          </a:xfrm>
        </p:spPr>
        <p:txBody>
          <a:bodyPr>
            <a:normAutofit fontScale="90000"/>
          </a:bodyPr>
          <a:lstStyle/>
          <a:p>
            <a:r>
              <a:rPr lang="en-US" dirty="0"/>
              <a:t>Tools and experience…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844695-CC23-AC52-DB82-6405704C7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607" y="136524"/>
            <a:ext cx="3627856" cy="32338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F3F885-4F0E-2CD8-9DE7-39EBC8A3AB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422" y="3429000"/>
            <a:ext cx="3627856" cy="32338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66DEAB-465E-5F52-9AEB-48775C4E1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73" y="3312025"/>
            <a:ext cx="3890311" cy="34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02492-4376-A216-48AA-1EBE811D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7629" y="6389229"/>
            <a:ext cx="1351034" cy="365125"/>
          </a:xfrm>
        </p:spPr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BC6A864-367D-0426-E8B2-FA004EAA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936" y="123760"/>
            <a:ext cx="1931437" cy="973818"/>
          </a:xfrm>
        </p:spPr>
        <p:txBody>
          <a:bodyPr>
            <a:normAutofit fontScale="90000"/>
          </a:bodyPr>
          <a:lstStyle/>
          <a:p>
            <a:r>
              <a:rPr lang="en-US"/>
              <a:t>GenAI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12682-2C0B-BE53-E9B9-AA43E18E6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578"/>
            <a:ext cx="5253571" cy="4682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8022D-0A51-DD32-2619-479D3FAE6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616" y="1870925"/>
            <a:ext cx="6761384" cy="334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7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9A2AB-7E17-A1D3-611C-D8F1E057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ABBEE3BA-F264-1746-880E-39AD601DF2B1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1583832-71C8-EBC7-4FF6-A3C90B24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6525"/>
            <a:ext cx="8229600" cy="729214"/>
          </a:xfrm>
        </p:spPr>
        <p:txBody>
          <a:bodyPr/>
          <a:lstStyle/>
          <a:p>
            <a:r>
              <a:rPr lang="en-US" dirty="0"/>
              <a:t>Five Years On..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1D456-BCE8-DC70-945A-B1B8AA37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62" y="1335505"/>
            <a:ext cx="9642165" cy="452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3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B1271-FEA8-5221-44E9-D6AF25C0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413F8-4A07-20C8-286A-E97A820D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502" y="83835"/>
            <a:ext cx="8229600" cy="729214"/>
          </a:xfrm>
        </p:spPr>
        <p:txBody>
          <a:bodyPr/>
          <a:lstStyle/>
          <a:p>
            <a:r>
              <a:rPr lang="en-US" dirty="0"/>
              <a:t>Music and Food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18DA2-EF0B-6E5B-AB93-1BCA5DD1D726}"/>
              </a:ext>
            </a:extLst>
          </p:cNvPr>
          <p:cNvSpPr txBox="1"/>
          <p:nvPr/>
        </p:nvSpPr>
        <p:spPr>
          <a:xfrm>
            <a:off x="3065119" y="6087238"/>
            <a:ext cx="6061761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lists posted on Brightspace / Discussions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6836B3-0B6F-F961-617E-E07EC523B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12269"/>
              </p:ext>
            </p:extLst>
          </p:nvPr>
        </p:nvGraphicFramePr>
        <p:xfrm>
          <a:off x="838200" y="1169931"/>
          <a:ext cx="3200407" cy="45922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12555">
                  <a:extLst>
                    <a:ext uri="{9D8B030D-6E8A-4147-A177-3AD203B41FA5}">
                      <a16:colId xmlns:a16="http://schemas.microsoft.com/office/drawing/2014/main" val="325452842"/>
                    </a:ext>
                  </a:extLst>
                </a:gridCol>
                <a:gridCol w="587852">
                  <a:extLst>
                    <a:ext uri="{9D8B030D-6E8A-4147-A177-3AD203B41FA5}">
                      <a16:colId xmlns:a16="http://schemas.microsoft.com/office/drawing/2014/main" val="3602930151"/>
                    </a:ext>
                  </a:extLst>
                </a:gridCol>
              </a:tblGrid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Taylor Swift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2765636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Bad Bunny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589996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Chappell Roan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6232970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Coldplay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6318980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Dominic Fike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3988475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 Sheeran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095289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Grateful Dead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6285192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Khruangbin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4787489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Morgan Wallen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5076678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Mt Joy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3965297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Tame Impala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9284277"/>
                  </a:ext>
                </a:extLst>
              </a:tr>
              <a:tr h="38268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+ 60 Others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22510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FEB134-77D3-B9A1-D812-792302B5E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329558"/>
              </p:ext>
            </p:extLst>
          </p:nvPr>
        </p:nvGraphicFramePr>
        <p:xfrm>
          <a:off x="8409724" y="370652"/>
          <a:ext cx="3187916" cy="27734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21120">
                  <a:extLst>
                    <a:ext uri="{9D8B030D-6E8A-4147-A177-3AD203B41FA5}">
                      <a16:colId xmlns:a16="http://schemas.microsoft.com/office/drawing/2014/main" val="2025823240"/>
                    </a:ext>
                  </a:extLst>
                </a:gridCol>
                <a:gridCol w="766796">
                  <a:extLst>
                    <a:ext uri="{9D8B030D-6E8A-4147-A177-3AD203B41FA5}">
                      <a16:colId xmlns:a16="http://schemas.microsoft.com/office/drawing/2014/main" val="1954988466"/>
                    </a:ext>
                  </a:extLst>
                </a:gridCol>
              </a:tblGrid>
              <a:tr h="44888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Naya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7541143"/>
                  </a:ext>
                </a:extLst>
              </a:tr>
              <a:tr h="387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Pura Vida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616039"/>
                  </a:ext>
                </a:extLst>
              </a:tr>
              <a:tr h="387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Brown Bag Sandwich 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5943433"/>
                  </a:ext>
                </a:extLst>
              </a:tr>
              <a:tr h="387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 Inn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9807372"/>
                  </a:ext>
                </a:extLst>
              </a:tr>
              <a:tr h="387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Mamoun’s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4511128"/>
                  </a:ext>
                </a:extLst>
              </a:tr>
              <a:tr h="3874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Springbone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01267920"/>
                  </a:ext>
                </a:extLst>
              </a:tr>
              <a:tr h="38743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+ 12 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6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6215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6D68A-130D-18A9-24E7-B9ADD6408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9467"/>
              </p:ext>
            </p:extLst>
          </p:nvPr>
        </p:nvGraphicFramePr>
        <p:xfrm>
          <a:off x="8409724" y="3597227"/>
          <a:ext cx="3200407" cy="21649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8668">
                  <a:extLst>
                    <a:ext uri="{9D8B030D-6E8A-4147-A177-3AD203B41FA5}">
                      <a16:colId xmlns:a16="http://schemas.microsoft.com/office/drawing/2014/main" val="2200133879"/>
                    </a:ext>
                  </a:extLst>
                </a:gridCol>
                <a:gridCol w="971739">
                  <a:extLst>
                    <a:ext uri="{9D8B030D-6E8A-4147-A177-3AD203B41FA5}">
                      <a16:colId xmlns:a16="http://schemas.microsoft.com/office/drawing/2014/main" val="3587502796"/>
                    </a:ext>
                  </a:extLst>
                </a:gridCol>
              </a:tblGrid>
              <a:tr h="360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Stumptown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8929284"/>
                  </a:ext>
                </a:extLst>
              </a:tr>
              <a:tr h="360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Matto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2293323"/>
                  </a:ext>
                </a:extLst>
              </a:tr>
              <a:tr h="360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Third Rail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0644219"/>
                  </a:ext>
                </a:extLst>
              </a:tr>
              <a:tr h="360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Cabra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8200354"/>
                  </a:ext>
                </a:extLst>
              </a:tr>
              <a:tr h="360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HeyTea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4109993"/>
                  </a:ext>
                </a:extLst>
              </a:tr>
              <a:tr h="360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+ 17 More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039903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45B87CC-14A8-516B-5394-6278A99AA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852" y="1492690"/>
            <a:ext cx="2475920" cy="371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6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A5BC-7DB4-48F4-7193-74740819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1542" y="3264581"/>
            <a:ext cx="8229600" cy="55031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About this class…</a:t>
            </a:r>
          </a:p>
        </p:txBody>
      </p:sp>
    </p:spTree>
    <p:extLst>
      <p:ext uri="{BB962C8B-B14F-4D97-AF65-F5344CB8AC3E}">
        <p14:creationId xmlns:p14="http://schemas.microsoft.com/office/powerpoint/2010/main" val="4273112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BB2F9-E317-D7EB-4F7E-2F8E32AD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DAD93-5D9D-0EE4-6EAC-2BDC91EC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721" y="142179"/>
            <a:ext cx="8229600" cy="476250"/>
          </a:xfrm>
        </p:spPr>
        <p:txBody>
          <a:bodyPr>
            <a:normAutofit fontScale="90000"/>
          </a:bodyPr>
          <a:lstStyle/>
          <a:p>
            <a:r>
              <a:rPr lang="en-US" dirty="0"/>
              <a:t>Meet your 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93B807-7645-7310-4405-1B9DFDCE3EB4}"/>
              </a:ext>
            </a:extLst>
          </p:cNvPr>
          <p:cNvSpPr txBox="1">
            <a:spLocks/>
          </p:cNvSpPr>
          <p:nvPr/>
        </p:nvSpPr>
        <p:spPr bwMode="auto">
          <a:xfrm>
            <a:off x="1794658" y="3091680"/>
            <a:ext cx="8602684" cy="1957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ClrTx/>
              <a:buNone/>
            </a:pPr>
            <a:endParaRPr lang="en-US" kern="0" dirty="0"/>
          </a:p>
          <a:p>
            <a:pPr marL="0" indent="0">
              <a:buClrTx/>
              <a:buNone/>
            </a:pPr>
            <a:endParaRPr lang="en-US" kern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1ED44B-B4A2-E14E-CA7E-B0B00245E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54" y="1163186"/>
            <a:ext cx="11294125" cy="48765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Adam Peterson</a:t>
            </a:r>
          </a:p>
          <a:p>
            <a:endParaRPr lang="en-US" dirty="0"/>
          </a:p>
          <a:p>
            <a:r>
              <a:rPr lang="en-US" dirty="0"/>
              <a:t>Office Hours</a:t>
            </a:r>
          </a:p>
          <a:p>
            <a:pPr lvl="1"/>
            <a:r>
              <a:rPr lang="en-US" dirty="0"/>
              <a:t>TBD</a:t>
            </a:r>
          </a:p>
          <a:p>
            <a:pPr lvl="1"/>
            <a:endParaRPr lang="en-US" dirty="0"/>
          </a:p>
          <a:p>
            <a:r>
              <a:rPr lang="en-US" dirty="0"/>
              <a:t>Python/HW questions should start with TA</a:t>
            </a:r>
          </a:p>
          <a:p>
            <a:r>
              <a:rPr lang="en-US" dirty="0"/>
              <a:t>Course related or Project related questions can come to 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Helpful:  </a:t>
            </a:r>
            <a:r>
              <a:rPr lang="en-US" i="1" dirty="0"/>
              <a:t>Let us know</a:t>
            </a:r>
            <a:r>
              <a:rPr lang="en-US" dirty="0"/>
              <a:t> if you are coming to office hours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pic>
        <p:nvPicPr>
          <p:cNvPr id="1026" name="Picture 2" descr="Adam Peterson">
            <a:extLst>
              <a:ext uri="{FF2B5EF4-FFF2-40B4-BE49-F238E27FC236}">
                <a16:creationId xmlns:a16="http://schemas.microsoft.com/office/drawing/2014/main" id="{F1C8E174-50A1-8032-9756-082C5AD5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846" y="331176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5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heat-sheet for Google Colab. In this tutorial, you will learn how to… | by  Tanu N Prabhu | Towards Data Science">
            <a:extLst>
              <a:ext uri="{FF2B5EF4-FFF2-40B4-BE49-F238E27FC236}">
                <a16:creationId xmlns:a16="http://schemas.microsoft.com/office/drawing/2014/main" id="{96E8A923-BC84-8397-99B2-A6AF2088C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881" y="1940395"/>
            <a:ext cx="2237003" cy="98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7109C-AC9D-44E3-31DD-8E94868E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6E739-2FA3-C058-3843-3D99156C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29" y="1021899"/>
            <a:ext cx="10818563" cy="5223326"/>
          </a:xfrm>
        </p:spPr>
        <p:txBody>
          <a:bodyPr>
            <a:normAutofit/>
          </a:bodyPr>
          <a:lstStyle/>
          <a:p>
            <a:r>
              <a:rPr lang="en-US" dirty="0"/>
              <a:t>Work through the introductory notebooks (HW0)</a:t>
            </a:r>
          </a:p>
          <a:p>
            <a:pPr lvl="1"/>
            <a:r>
              <a:rPr lang="en-US" dirty="0"/>
              <a:t>if you have trouble at this level lets discuss. </a:t>
            </a:r>
          </a:p>
          <a:p>
            <a:pPr lvl="1"/>
            <a:r>
              <a:rPr lang="en-US" dirty="0"/>
              <a:t>Due Friday!  (graded only on completion)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Python IDE:</a:t>
            </a:r>
          </a:p>
          <a:p>
            <a:pPr lvl="1"/>
            <a:r>
              <a:rPr lang="en-US" dirty="0" err="1"/>
              <a:t>Colab</a:t>
            </a:r>
            <a:r>
              <a:rPr lang="en-US" dirty="0"/>
              <a:t> will be what we use in class </a:t>
            </a:r>
          </a:p>
          <a:p>
            <a:pPr lvl="1"/>
            <a:r>
              <a:rPr lang="en-US" dirty="0"/>
              <a:t>For HW, projects you may use other IDEs (</a:t>
            </a:r>
            <a:r>
              <a:rPr lang="en-US" dirty="0" err="1"/>
              <a:t>VScode</a:t>
            </a:r>
            <a:r>
              <a:rPr lang="en-US" dirty="0"/>
              <a:t>, PyCharm, </a:t>
            </a:r>
            <a:r>
              <a:rPr lang="en-US" dirty="0" err="1"/>
              <a:t>etc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HW submitted on BS as .</a:t>
            </a:r>
            <a:r>
              <a:rPr lang="en-US" dirty="0" err="1"/>
              <a:t>ipynb</a:t>
            </a:r>
            <a:r>
              <a:rPr lang="en-US" dirty="0"/>
              <a:t> file</a:t>
            </a:r>
          </a:p>
          <a:p>
            <a:pPr lvl="1"/>
            <a:endParaRPr lang="en-US" dirty="0"/>
          </a:p>
          <a:p>
            <a:r>
              <a:rPr lang="en-US" dirty="0"/>
              <a:t>Pro Tip : Save all </a:t>
            </a:r>
            <a:r>
              <a:rPr lang="en-US" dirty="0" err="1"/>
              <a:t>CoLab</a:t>
            </a:r>
            <a:r>
              <a:rPr lang="en-US" dirty="0"/>
              <a:t> notebooks to your own Google Drive!!!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705FF-AAE6-E861-73DD-2BC2B722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5" y="181560"/>
            <a:ext cx="8229600" cy="729214"/>
          </a:xfrm>
        </p:spPr>
        <p:txBody>
          <a:bodyPr/>
          <a:lstStyle/>
          <a:p>
            <a:r>
              <a:rPr lang="en-US" dirty="0"/>
              <a:t>Let’s talk about Python</a:t>
            </a:r>
          </a:p>
        </p:txBody>
      </p:sp>
    </p:spTree>
    <p:extLst>
      <p:ext uri="{BB962C8B-B14F-4D97-AF65-F5344CB8AC3E}">
        <p14:creationId xmlns:p14="http://schemas.microsoft.com/office/powerpoint/2010/main" val="57722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44495-8244-126D-8EC9-89B40303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A4F1-8169-F656-FED1-2DA257351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289" y="1118503"/>
            <a:ext cx="8024115" cy="5409337"/>
          </a:xfrm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</a:rPr>
              <a:t>Required Text: </a:t>
            </a:r>
            <a:r>
              <a:rPr lang="en-US" sz="1800" i="1" dirty="0">
                <a:latin typeface="+mn-lt"/>
              </a:rPr>
              <a:t>Data Science for Business 2e </a:t>
            </a:r>
            <a:r>
              <a:rPr lang="en-US" sz="1800" b="1" dirty="0">
                <a:latin typeface="+mn-lt"/>
              </a:rPr>
              <a:t>[DSB]</a:t>
            </a:r>
          </a:p>
          <a:p>
            <a:pPr lvl="1"/>
            <a:r>
              <a:rPr lang="en-US" sz="1800" dirty="0">
                <a:latin typeface="+mn-lt"/>
              </a:rPr>
              <a:t>Digital version available  through bookstore - see Brightspace for details</a:t>
            </a:r>
          </a:p>
          <a:p>
            <a:pPr lvl="1"/>
            <a:r>
              <a:rPr lang="en-US" sz="1800" dirty="0">
                <a:latin typeface="+mn-lt"/>
              </a:rPr>
              <a:t>Main text – data analytic thinking, business context</a:t>
            </a:r>
          </a:p>
          <a:p>
            <a:pPr marL="257175" lvl="1" indent="0">
              <a:buNone/>
            </a:pPr>
            <a:endParaRPr lang="en-US" sz="1800" dirty="0">
              <a:latin typeface="+mn-lt"/>
            </a:endParaRPr>
          </a:p>
          <a:p>
            <a:pPr marL="0" indent="0">
              <a:buNone/>
            </a:pPr>
            <a:r>
              <a:rPr lang="en-US" sz="1800" dirty="0">
                <a:latin typeface="+mn-lt"/>
              </a:rPr>
              <a:t>Optional Texts  (all freely available – see syllabus):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+mn-lt"/>
              </a:rPr>
              <a:t>Learning</a:t>
            </a:r>
          </a:p>
          <a:p>
            <a:r>
              <a:rPr lang="en-US" sz="1800" i="1" dirty="0">
                <a:latin typeface="+mn-lt"/>
              </a:rPr>
              <a:t>Data Mining for Business Analytics (with applications in Python) </a:t>
            </a:r>
            <a:r>
              <a:rPr lang="en-US" sz="1800" b="1" dirty="0">
                <a:latin typeface="+mn-lt"/>
              </a:rPr>
              <a:t>[Shmueli]</a:t>
            </a:r>
          </a:p>
          <a:p>
            <a:pPr lvl="1"/>
            <a:r>
              <a:rPr lang="en-US" sz="1800" dirty="0">
                <a:latin typeface="+mn-lt"/>
              </a:rPr>
              <a:t>Lots of good examples and code</a:t>
            </a:r>
          </a:p>
          <a:p>
            <a:pPr marL="457200" lvl="1" indent="0">
              <a:buNone/>
            </a:pPr>
            <a:endParaRPr lang="en-US" sz="1800" dirty="0">
              <a:latin typeface="+mn-lt"/>
            </a:endParaRPr>
          </a:p>
          <a:p>
            <a:r>
              <a:rPr lang="en-US" sz="1800" i="1" dirty="0">
                <a:latin typeface="+mn-lt"/>
              </a:rPr>
              <a:t>An Introduction to Statistical Learning (with applications in Python) </a:t>
            </a:r>
            <a:r>
              <a:rPr lang="en-US" sz="1800" b="1" dirty="0">
                <a:latin typeface="+mn-lt"/>
              </a:rPr>
              <a:t>[ISLP] </a:t>
            </a:r>
            <a:endParaRPr lang="en-US" sz="1800" dirty="0">
              <a:latin typeface="+mn-lt"/>
            </a:endParaRPr>
          </a:p>
          <a:p>
            <a:pPr lvl="1"/>
            <a:r>
              <a:rPr lang="en-US" sz="1800" i="1" dirty="0">
                <a:latin typeface="+mn-lt"/>
              </a:rPr>
              <a:t>More technical, deeper topics, python code</a:t>
            </a:r>
          </a:p>
          <a:p>
            <a:endParaRPr lang="en-US" sz="1800" i="1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A828B-5F92-6608-8FE1-C1E99ABB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1" y="54547"/>
            <a:ext cx="10515600" cy="1001559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Textbooks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AE85F39-D7BA-8BF7-5B43-EEC99CA4F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808" y="793159"/>
            <a:ext cx="1695273" cy="222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75A664-1C5E-ADA3-9503-1CD81EDA8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893" y="3756431"/>
            <a:ext cx="1372280" cy="195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E6FADBFE-2350-EF26-DD4E-D8B0A64AD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662" y="3750614"/>
            <a:ext cx="1372280" cy="19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38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87A4-5F04-506E-4739-D60D3DB5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5" y="-173771"/>
            <a:ext cx="82296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2D6AB-7090-8D60-1EC7-FC97CA4325C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31935" y="2348149"/>
            <a:ext cx="5557971" cy="418852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Data Project 35%</a:t>
            </a:r>
          </a:p>
          <a:p>
            <a:pPr lvl="1"/>
            <a:r>
              <a:rPr lang="en-US" sz="1600" dirty="0"/>
              <a:t>Groups of 4</a:t>
            </a:r>
          </a:p>
          <a:p>
            <a:pPr lvl="1"/>
            <a:r>
              <a:rPr lang="en-US" sz="1600" dirty="0"/>
              <a:t>Select your own groups by next week  or I will select for you</a:t>
            </a:r>
          </a:p>
          <a:p>
            <a:pPr lvl="1"/>
            <a:r>
              <a:rPr lang="en-US" sz="1600" dirty="0"/>
              <a:t>Multiple deliverables throughout the year</a:t>
            </a:r>
          </a:p>
          <a:p>
            <a:r>
              <a:rPr lang="en-US" sz="1600" dirty="0">
                <a:highlight>
                  <a:srgbClr val="FFFF00"/>
                </a:highlight>
              </a:rPr>
              <a:t>HW (4) 30%</a:t>
            </a:r>
          </a:p>
          <a:p>
            <a:pPr lvl="1"/>
            <a:r>
              <a:rPr lang="en-US" sz="1600" dirty="0"/>
              <a:t>Assigned and collected in Brightspace</a:t>
            </a:r>
          </a:p>
          <a:p>
            <a:pPr lvl="1"/>
            <a:r>
              <a:rPr lang="en-US" sz="1600" dirty="0"/>
              <a:t>Late HW:</a:t>
            </a:r>
          </a:p>
          <a:p>
            <a:pPr lvl="2"/>
            <a:r>
              <a:rPr lang="en-US" sz="1600" dirty="0"/>
              <a:t>25% reduction &lt; 24 </a:t>
            </a:r>
            <a:r>
              <a:rPr lang="en-US" sz="1600" dirty="0" err="1"/>
              <a:t>hr</a:t>
            </a:r>
            <a:endParaRPr lang="en-US" sz="1600" dirty="0"/>
          </a:p>
          <a:p>
            <a:pPr lvl="2"/>
            <a:r>
              <a:rPr lang="en-US" sz="1600" dirty="0"/>
              <a:t>50% reduction &lt; 72 </a:t>
            </a:r>
            <a:r>
              <a:rPr lang="en-US" sz="1600" dirty="0" err="1"/>
              <a:t>hr</a:t>
            </a:r>
            <a:endParaRPr lang="en-US" sz="1600" dirty="0"/>
          </a:p>
          <a:p>
            <a:pPr lvl="1"/>
            <a:r>
              <a:rPr lang="en-US" sz="1600" dirty="0"/>
              <a:t>HW are detailed</a:t>
            </a:r>
          </a:p>
          <a:p>
            <a:pPr lvl="2"/>
            <a:r>
              <a:rPr lang="en-US" sz="1600" dirty="0"/>
              <a:t>Start early!</a:t>
            </a:r>
          </a:p>
          <a:p>
            <a:pPr lvl="2"/>
            <a:r>
              <a:rPr lang="en-US" sz="1600" dirty="0"/>
              <a:t>Take advantage of TA office hours</a:t>
            </a:r>
          </a:p>
          <a:p>
            <a:pPr lvl="2"/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6567-E99A-0504-CFE8-7D52CAE03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859" y="1166018"/>
            <a:ext cx="5093206" cy="45259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1"/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Quiz/Exams (2) 30%</a:t>
            </a:r>
          </a:p>
          <a:p>
            <a:pPr lvl="1"/>
            <a:r>
              <a:rPr lang="en-US" sz="1600" dirty="0"/>
              <a:t> 2 in-class quizzes, non-cumulative</a:t>
            </a:r>
          </a:p>
          <a:p>
            <a:pPr lvl="2"/>
            <a:r>
              <a:rPr lang="en-US" sz="1600" dirty="0"/>
              <a:t>At start of class (30 min)</a:t>
            </a:r>
          </a:p>
          <a:p>
            <a:pPr lvl="1"/>
            <a:r>
              <a:rPr lang="en-US" sz="1600" dirty="0"/>
              <a:t>One page of notes allowed</a:t>
            </a:r>
          </a:p>
          <a:p>
            <a:pPr lvl="1"/>
            <a:r>
              <a:rPr lang="en-US" sz="1600" dirty="0"/>
              <a:t>No makeups!  </a:t>
            </a:r>
          </a:p>
          <a:p>
            <a:pPr lvl="2"/>
            <a:r>
              <a:rPr lang="en-US" sz="1600" dirty="0"/>
              <a:t>Let me know of conflicts in advance</a:t>
            </a:r>
          </a:p>
          <a:p>
            <a:pPr lvl="1"/>
            <a:r>
              <a:rPr lang="en-US" sz="1600" dirty="0"/>
              <a:t>No final exam</a:t>
            </a:r>
          </a:p>
          <a:p>
            <a:pPr marL="342900" lvl="1" indent="0">
              <a:buNone/>
            </a:pPr>
            <a:endParaRPr lang="en-US" sz="1600" dirty="0"/>
          </a:p>
          <a:p>
            <a:r>
              <a:rPr lang="en-US" sz="1600" dirty="0">
                <a:highlight>
                  <a:srgbClr val="FFFF00"/>
                </a:highlight>
              </a:rPr>
              <a:t>Participation / Attendance : 5% </a:t>
            </a:r>
          </a:p>
          <a:p>
            <a:pPr lvl="1"/>
            <a:r>
              <a:rPr lang="en-US" sz="1600" dirty="0"/>
              <a:t>Show up, engage, participate! </a:t>
            </a:r>
          </a:p>
          <a:p>
            <a:pPr lvl="1"/>
            <a:r>
              <a:rPr lang="en-US" sz="1600" dirty="0"/>
              <a:t>Attendance will be taken</a:t>
            </a:r>
          </a:p>
          <a:p>
            <a:pPr lvl="2"/>
            <a:r>
              <a:rPr lang="en-US" sz="1600" dirty="0"/>
              <a:t>3 “freebies”</a:t>
            </a:r>
          </a:p>
          <a:p>
            <a:pPr lvl="1"/>
            <a:r>
              <a:rPr lang="en-US" sz="1600" dirty="0"/>
              <a:t>Brightspace discussions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2052" name="Picture 4" descr="Exactly! Some Thoughts on the Exclamation Point. - The Simple Catholic">
            <a:extLst>
              <a:ext uri="{FF2B5EF4-FFF2-40B4-BE49-F238E27FC236}">
                <a16:creationId xmlns:a16="http://schemas.microsoft.com/office/drawing/2014/main" id="{D4D3CF7F-9294-6373-6314-BF768F30C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134" y="982494"/>
            <a:ext cx="804154" cy="80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829424-35F2-8C9E-D5EF-94523C892C63}"/>
              </a:ext>
            </a:extLst>
          </p:cNvPr>
          <p:cNvSpPr txBox="1"/>
          <p:nvPr/>
        </p:nvSpPr>
        <p:spPr>
          <a:xfrm>
            <a:off x="455817" y="982494"/>
            <a:ext cx="4628801" cy="80415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lvl="1" indent="-214313" eaLnBrk="1" hangingPunct="1">
              <a:buChar char="–"/>
              <a:defRPr sz="1800" ker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dirty="0">
                <a:latin typeface="+mn-lt"/>
              </a:rPr>
              <a:t>As per Stern Policy, </a:t>
            </a:r>
          </a:p>
          <a:p>
            <a:pPr algn="ctr">
              <a:lnSpc>
                <a:spcPct val="110000"/>
              </a:lnSpc>
            </a:pPr>
            <a:r>
              <a:rPr lang="en-US" sz="1800" dirty="0">
                <a:latin typeface="+mn-lt"/>
              </a:rPr>
              <a:t>At most  35% of class will get A/A-</a:t>
            </a:r>
          </a:p>
        </p:txBody>
      </p:sp>
    </p:spTree>
    <p:extLst>
      <p:ext uri="{BB962C8B-B14F-4D97-AF65-F5344CB8AC3E}">
        <p14:creationId xmlns:p14="http://schemas.microsoft.com/office/powerpoint/2010/main" val="244303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61C60-5018-D63B-1B99-695E6E10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DE249-9BFB-156D-86A9-04FCD344C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" y="729214"/>
            <a:ext cx="10359045" cy="5992261"/>
          </a:xfrm>
        </p:spPr>
        <p:txBody>
          <a:bodyPr>
            <a:noAutofit/>
          </a:bodyPr>
          <a:lstStyle/>
          <a:p>
            <a:r>
              <a:rPr lang="en-US" sz="1800" dirty="0"/>
              <a:t>Groups of 4 – selected by you or me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Goal: Find a data set that can address a business problem of interest. Use learnings from class to follow the data science process, analyze the data and evaluate the business impact. 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Deliverables:</a:t>
            </a:r>
          </a:p>
          <a:p>
            <a:pPr lvl="1"/>
            <a:r>
              <a:rPr lang="en-US" sz="1800" dirty="0"/>
              <a:t>Week 2: Finalize teams of 4</a:t>
            </a:r>
          </a:p>
          <a:p>
            <a:pPr lvl="1"/>
            <a:r>
              <a:rPr lang="en-US" sz="1800" dirty="0"/>
              <a:t>Week 4: Initial Topic / Data Proposal </a:t>
            </a:r>
          </a:p>
          <a:p>
            <a:pPr lvl="1"/>
            <a:r>
              <a:rPr lang="en-US" sz="1800" dirty="0"/>
              <a:t>Mid-year: Status Report submitted</a:t>
            </a:r>
          </a:p>
          <a:p>
            <a:pPr lvl="1"/>
            <a:r>
              <a:rPr lang="en-US" sz="1800" dirty="0"/>
              <a:t>Last two weeks of class: </a:t>
            </a:r>
            <a:r>
              <a:rPr lang="en-US" sz="1800" b="1" dirty="0"/>
              <a:t>In-class Presentations </a:t>
            </a:r>
          </a:p>
          <a:p>
            <a:pPr lvl="1"/>
            <a:r>
              <a:rPr lang="en-US" sz="1800" dirty="0"/>
              <a:t>Finals Week: </a:t>
            </a:r>
            <a:r>
              <a:rPr lang="en-US" sz="1800" b="1" dirty="0"/>
              <a:t>Written reports (~20 pages) due</a:t>
            </a:r>
          </a:p>
          <a:p>
            <a:pPr marL="342900" lvl="1" indent="0">
              <a:buNone/>
            </a:pPr>
            <a:endParaRPr lang="en-US" sz="1800" dirty="0"/>
          </a:p>
          <a:p>
            <a:r>
              <a:rPr lang="en-US" sz="1800" dirty="0"/>
              <a:t>Notes:</a:t>
            </a:r>
          </a:p>
          <a:p>
            <a:pPr lvl="1"/>
            <a:r>
              <a:rPr lang="en-US" sz="1800" dirty="0"/>
              <a:t>Finding a good data set is worth the time and effort – start early!!!</a:t>
            </a:r>
          </a:p>
          <a:p>
            <a:pPr lvl="1"/>
            <a:r>
              <a:rPr lang="en-US" sz="1800" dirty="0"/>
              <a:t>Come with your group to at least one of my office hours to discuss ideas/progress</a:t>
            </a:r>
          </a:p>
          <a:p>
            <a:pPr lvl="1"/>
            <a:r>
              <a:rPr lang="en-US" sz="1800" dirty="0"/>
              <a:t>See detailed description on Brightspace, will discuss more next week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5870C-2F96-F6A9-2D64-D7385755D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729214"/>
          </a:xfrm>
        </p:spPr>
        <p:txBody>
          <a:bodyPr/>
          <a:lstStyle/>
          <a:p>
            <a:r>
              <a:rPr lang="en-US" dirty="0"/>
              <a:t>Class Data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5627F-E4F6-F48C-3C30-43CAAD2BD430}"/>
              </a:ext>
            </a:extLst>
          </p:cNvPr>
          <p:cNvSpPr txBox="1"/>
          <p:nvPr/>
        </p:nvSpPr>
        <p:spPr>
          <a:xfrm>
            <a:off x="7874000" y="2736502"/>
            <a:ext cx="2568532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Groups of 4 to be finalized next week!</a:t>
            </a:r>
          </a:p>
        </p:txBody>
      </p:sp>
    </p:spTree>
    <p:extLst>
      <p:ext uri="{BB962C8B-B14F-4D97-AF65-F5344CB8AC3E}">
        <p14:creationId xmlns:p14="http://schemas.microsoft.com/office/powerpoint/2010/main" val="292165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0083-8273-1ADB-DC4E-8B5B5559E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751" y="1577562"/>
            <a:ext cx="4347029" cy="2081198"/>
          </a:xfrm>
        </p:spPr>
        <p:txBody>
          <a:bodyPr>
            <a:normAutofit fontScale="92500"/>
          </a:bodyPr>
          <a:lstStyle/>
          <a:p>
            <a:r>
              <a:rPr lang="en-US" dirty="0"/>
              <a:t>Religious Holidays</a:t>
            </a:r>
          </a:p>
          <a:p>
            <a:r>
              <a:rPr lang="en-US" dirty="0"/>
              <a:t>Accommodations</a:t>
            </a:r>
          </a:p>
          <a:p>
            <a:r>
              <a:rPr lang="en-US" dirty="0"/>
              <a:t>Academic Integrity</a:t>
            </a:r>
          </a:p>
          <a:p>
            <a:r>
              <a:rPr lang="en-US" dirty="0"/>
              <a:t>Stern Code of Conduct</a:t>
            </a:r>
          </a:p>
          <a:p>
            <a:pPr marL="257175" lvl="1" indent="0">
              <a:buNone/>
            </a:pPr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AED5A-4726-EA0C-7577-3198F8F1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2" y="161322"/>
            <a:ext cx="8229600" cy="560249"/>
          </a:xfrm>
        </p:spPr>
        <p:txBody>
          <a:bodyPr>
            <a:normAutofit fontScale="90000"/>
          </a:bodyPr>
          <a:lstStyle/>
          <a:p>
            <a:r>
              <a:rPr lang="en-US" dirty="0"/>
              <a:t>Policies</a:t>
            </a:r>
          </a:p>
        </p:txBody>
      </p:sp>
      <p:pic>
        <p:nvPicPr>
          <p:cNvPr id="2050" name="Picture 2" descr="policies policies everywhere - Buzz and Woody (Toy Story) Meme | Make a Meme">
            <a:extLst>
              <a:ext uri="{FF2B5EF4-FFF2-40B4-BE49-F238E27FC236}">
                <a16:creationId xmlns:a16="http://schemas.microsoft.com/office/drawing/2014/main" id="{DFD15BF9-1AFF-6BB0-D771-C0CB3E58E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28" y="1436497"/>
            <a:ext cx="4347029" cy="236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0D4740-FF23-BC3C-BBB3-76CAFF0C3D71}"/>
              </a:ext>
            </a:extLst>
          </p:cNvPr>
          <p:cNvSpPr txBox="1"/>
          <p:nvPr/>
        </p:nvSpPr>
        <p:spPr>
          <a:xfrm>
            <a:off x="3547449" y="4653810"/>
            <a:ext cx="509710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Please check online syllabus for links and details</a:t>
            </a:r>
          </a:p>
        </p:txBody>
      </p:sp>
    </p:spTree>
    <p:extLst>
      <p:ext uri="{BB962C8B-B14F-4D97-AF65-F5344CB8AC3E}">
        <p14:creationId xmlns:p14="http://schemas.microsoft.com/office/powerpoint/2010/main" val="2338810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632F-8026-4314-EAC3-54259CFE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7" y="56812"/>
            <a:ext cx="8229600" cy="729214"/>
          </a:xfrm>
        </p:spPr>
        <p:txBody>
          <a:bodyPr/>
          <a:lstStyle/>
          <a:p>
            <a:r>
              <a:rPr lang="en-US" dirty="0"/>
              <a:t>Generative AI Policy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86A90-9229-93E1-E067-0F9E3E2AB35F}"/>
              </a:ext>
            </a:extLst>
          </p:cNvPr>
          <p:cNvSpPr txBox="1"/>
          <p:nvPr/>
        </p:nvSpPr>
        <p:spPr>
          <a:xfrm>
            <a:off x="4243137" y="6369491"/>
            <a:ext cx="3237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“use AI to train your brain”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AAB54-EF3B-3D66-DCA0-0AFACB3BF731}"/>
              </a:ext>
            </a:extLst>
          </p:cNvPr>
          <p:cNvSpPr txBox="1"/>
          <p:nvPr/>
        </p:nvSpPr>
        <p:spPr>
          <a:xfrm>
            <a:off x="259621" y="889843"/>
            <a:ext cx="796703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kern="0" dirty="0">
                <a:solidFill>
                  <a:schemeClr val="accent2"/>
                </a:solidFill>
              </a:rPr>
              <a:t>Class Policy:  Use of GenAI tools is freely allowed</a:t>
            </a:r>
          </a:p>
          <a:p>
            <a:endParaRPr lang="en-US" kern="0" dirty="0"/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b="1" i="1" kern="0" dirty="0"/>
              <a:t>Don’t</a:t>
            </a:r>
            <a:r>
              <a:rPr lang="en-US" kern="0" dirty="0"/>
              <a:t> use GenAI to simply provide the answer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Copy/paste strategy is a) obvious to grader and b) not a good way to learn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It can be wrong! </a:t>
            </a:r>
          </a:p>
          <a:p>
            <a:pPr>
              <a:buClrTx/>
            </a:pPr>
            <a:endParaRPr lang="en-US" b="1" i="1" kern="0" dirty="0"/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b="1" i="1" kern="0" dirty="0"/>
              <a:t>Do</a:t>
            </a:r>
            <a:r>
              <a:rPr lang="en-US" kern="0" dirty="0"/>
              <a:t> use GenAI for 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Getting over stumbling blocks for coding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Debugging / error messages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Brainstorming ideas for directions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Explaining code 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Why would I use method A over method B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Why might I be seeing these (strange)results?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kern="0" dirty="0"/>
              <a:t>A “study buddy”</a:t>
            </a:r>
          </a:p>
          <a:p>
            <a:pPr marL="257175" lvl="1" indent="0">
              <a:buClrTx/>
              <a:buNone/>
            </a:pPr>
            <a:endParaRPr lang="en-US" kern="0" dirty="0"/>
          </a:p>
          <a:p>
            <a:pPr>
              <a:buClrTx/>
            </a:pPr>
            <a:r>
              <a:rPr lang="en-US" kern="0" dirty="0"/>
              <a:t>GenAI is the best learning tool we have ever seen.  Use it that way!  Ask it questions, dig deeper</a:t>
            </a:r>
            <a:endParaRPr lang="en-US" sz="2400" dirty="0">
              <a:latin typeface="Montserrat" pitchFamily="2" charset="77"/>
            </a:endParaRPr>
          </a:p>
        </p:txBody>
      </p:sp>
      <p:pic>
        <p:nvPicPr>
          <p:cNvPr id="5" name="Picture 4" descr="r/ProgrammerHumor - Days before OpenAI Developer coding - 2 hours Days after OpenAI ChatGPT generates Codes - 5 min Developer debugging - 6 hours Developer debugging - 24 hours">
            <a:extLst>
              <a:ext uri="{FF2B5EF4-FFF2-40B4-BE49-F238E27FC236}">
                <a16:creationId xmlns:a16="http://schemas.microsoft.com/office/drawing/2014/main" id="{E7339B7E-F070-D38E-FEFA-0432C40FC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255" y="2126458"/>
            <a:ext cx="4405745" cy="276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0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A14FC-084F-1F48-518E-D087DFD3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19</a:t>
            </a:fld>
            <a:endParaRPr lang="en-US"/>
          </a:p>
        </p:txBody>
      </p:sp>
      <p:pic>
        <p:nvPicPr>
          <p:cNvPr id="6" name="Content Placeholder 5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5740806-9F2A-86A0-455F-707D7479B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2594" y="342611"/>
            <a:ext cx="5500605" cy="6051747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FAE59AA-7593-734F-F91D-23A5C32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4" y="136525"/>
            <a:ext cx="10515600" cy="1001559"/>
          </a:xfrm>
        </p:spPr>
        <p:txBody>
          <a:bodyPr/>
          <a:lstStyle/>
          <a:p>
            <a:r>
              <a:rPr lang="en-US" dirty="0"/>
              <a:t>Class Calendar</a:t>
            </a:r>
          </a:p>
        </p:txBody>
      </p:sp>
    </p:spTree>
    <p:extLst>
      <p:ext uri="{BB962C8B-B14F-4D97-AF65-F5344CB8AC3E}">
        <p14:creationId xmlns:p14="http://schemas.microsoft.com/office/powerpoint/2010/main" val="2814434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1A0601-6FF9-52A2-B58C-8FEE12DE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78B34-3BE7-76BE-6CF5-5E40E5CA2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17513" y="1715313"/>
            <a:ext cx="8356974" cy="914400"/>
          </a:xfrm>
        </p:spPr>
        <p:txBody>
          <a:bodyPr/>
          <a:lstStyle/>
          <a:p>
            <a:r>
              <a:rPr lang="en-US" dirty="0">
                <a:latin typeface="+mj-lt"/>
              </a:rPr>
              <a:t>Input and Manage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E3059-0FE4-571F-694F-E6FAC2DCDF83}"/>
              </a:ext>
            </a:extLst>
          </p:cNvPr>
          <p:cNvSpPr txBox="1"/>
          <p:nvPr/>
        </p:nvSpPr>
        <p:spPr>
          <a:xfrm>
            <a:off x="603275" y="3167390"/>
            <a:ext cx="549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T1_Managing_data.ipynb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9CC94F-E785-CC74-3698-B3694B524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41" y="3006436"/>
            <a:ext cx="5327226" cy="37150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53698047"/>
      </p:ext>
    </p:extLst>
  </p:cSld>
  <p:clrMapOvr>
    <a:masterClrMapping/>
  </p:clrMapOvr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5B459A6-3B81-9948-862F-C5322F25B76B}" vid="{E6621C74-0CCA-3C4A-9CAC-AE34D62BAA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39787</TotalTime>
  <Words>1143</Words>
  <Application>Microsoft Macintosh PowerPoint</Application>
  <PresentationFormat>Widescreen</PresentationFormat>
  <Paragraphs>251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Consolas</vt:lpstr>
      <vt:lpstr>Montserrat</vt:lpstr>
      <vt:lpstr>Montserrat SemiBold</vt:lpstr>
      <vt:lpstr>Tahoma</vt:lpstr>
      <vt:lpstr>LSL_PowerPoint_Template</vt:lpstr>
      <vt:lpstr>Topic 1 – Class Introduction</vt:lpstr>
      <vt:lpstr>What do you hope to get out of this course?</vt:lpstr>
      <vt:lpstr>(My) Class Goals</vt:lpstr>
      <vt:lpstr>About Me</vt:lpstr>
      <vt:lpstr>Data Science Projects</vt:lpstr>
      <vt:lpstr>About you… </vt:lpstr>
      <vt:lpstr>Tools and experience…</vt:lpstr>
      <vt:lpstr>GenAI</vt:lpstr>
      <vt:lpstr>Five Years On..</vt:lpstr>
      <vt:lpstr>Music and Food</vt:lpstr>
      <vt:lpstr>About this class…</vt:lpstr>
      <vt:lpstr>Meet your TA</vt:lpstr>
      <vt:lpstr>Let’s talk about Python</vt:lpstr>
      <vt:lpstr>Textbooks</vt:lpstr>
      <vt:lpstr>Grades</vt:lpstr>
      <vt:lpstr>Class Data Project</vt:lpstr>
      <vt:lpstr>Policies</vt:lpstr>
      <vt:lpstr>Generative AI Policy</vt:lpstr>
      <vt:lpstr>Class Calendar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64</cp:revision>
  <cp:lastPrinted>2024-08-20T17:36:06Z</cp:lastPrinted>
  <dcterms:created xsi:type="dcterms:W3CDTF">2023-07-07T20:20:38Z</dcterms:created>
  <dcterms:modified xsi:type="dcterms:W3CDTF">2025-09-03T20:51:33Z</dcterms:modified>
</cp:coreProperties>
</file>