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29"/>
  </p:notesMasterIdLst>
  <p:sldIdLst>
    <p:sldId id="256" r:id="rId2"/>
    <p:sldId id="258" r:id="rId3"/>
    <p:sldId id="637" r:id="rId4"/>
    <p:sldId id="638" r:id="rId5"/>
    <p:sldId id="619" r:id="rId6"/>
    <p:sldId id="620" r:id="rId7"/>
    <p:sldId id="655" r:id="rId8"/>
    <p:sldId id="621" r:id="rId9"/>
    <p:sldId id="625" r:id="rId10"/>
    <p:sldId id="627" r:id="rId11"/>
    <p:sldId id="628" r:id="rId12"/>
    <p:sldId id="629" r:id="rId13"/>
    <p:sldId id="630" r:id="rId14"/>
    <p:sldId id="261" r:id="rId15"/>
    <p:sldId id="532" r:id="rId16"/>
    <p:sldId id="656" r:id="rId17"/>
    <p:sldId id="616" r:id="rId18"/>
    <p:sldId id="543" r:id="rId19"/>
    <p:sldId id="640" r:id="rId20"/>
    <p:sldId id="632" r:id="rId21"/>
    <p:sldId id="639" r:id="rId22"/>
    <p:sldId id="633" r:id="rId23"/>
    <p:sldId id="635" r:id="rId24"/>
    <p:sldId id="636" r:id="rId25"/>
    <p:sldId id="657" r:id="rId26"/>
    <p:sldId id="653" r:id="rId27"/>
    <p:sldId id="65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0592"/>
    <a:srgbClr val="4A04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10"/>
    <p:restoredTop sz="82387"/>
  </p:normalViewPr>
  <p:slideViewPr>
    <p:cSldViewPr snapToGrid="0">
      <p:cViewPr varScale="1">
        <p:scale>
          <a:sx n="75" d="100"/>
          <a:sy n="75" d="100"/>
        </p:scale>
        <p:origin x="200" y="648"/>
      </p:cViewPr>
      <p:guideLst/>
    </p:cSldViewPr>
  </p:slideViewPr>
  <p:notesTextViewPr>
    <p:cViewPr>
      <p:scale>
        <a:sx n="1" d="1"/>
        <a:sy n="1" d="1"/>
      </p:scale>
      <p:origin x="0" y="0"/>
    </p:cViewPr>
  </p:notesTextViewPr>
  <p:sorterViewPr>
    <p:cViewPr>
      <p:scale>
        <a:sx n="128" d="100"/>
        <a:sy n="128"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13ED7A-E0CC-A14D-8702-3DBB30C4345D}"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12B09-6666-2149-A7EC-89A035875DEE}" type="slidenum">
              <a:rPr lang="en-US" smtClean="0"/>
              <a:t>‹#›</a:t>
            </a:fld>
            <a:endParaRPr lang="en-US"/>
          </a:p>
        </p:txBody>
      </p:sp>
    </p:spTree>
    <p:extLst>
      <p:ext uri="{BB962C8B-B14F-4D97-AF65-F5344CB8AC3E}">
        <p14:creationId xmlns:p14="http://schemas.microsoft.com/office/powerpoint/2010/main" val="2405811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Ask them how they think we can detect this as spam</a:t>
            </a:r>
          </a:p>
        </p:txBody>
      </p:sp>
      <p:sp>
        <p:nvSpPr>
          <p:cNvPr id="4" name="Slide Number Placeholder 3"/>
          <p:cNvSpPr>
            <a:spLocks noGrp="1"/>
          </p:cNvSpPr>
          <p:nvPr>
            <p:ph type="sldNum" sz="quarter" idx="5"/>
          </p:nvPr>
        </p:nvSpPr>
        <p:spPr/>
        <p:txBody>
          <a:bodyPr/>
          <a:lstStyle/>
          <a:p>
            <a:fld id="{85312B09-6666-2149-A7EC-89A035875DEE}" type="slidenum">
              <a:rPr lang="en-US" smtClean="0"/>
              <a:t>2</a:t>
            </a:fld>
            <a:endParaRPr lang="en-US"/>
          </a:p>
        </p:txBody>
      </p:sp>
    </p:spTree>
    <p:extLst>
      <p:ext uri="{BB962C8B-B14F-4D97-AF65-F5344CB8AC3E}">
        <p14:creationId xmlns:p14="http://schemas.microsoft.com/office/powerpoint/2010/main" val="866810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are fundamentally different than what you are about to learn, although there are some common tools (e.g. embeddings)</a:t>
            </a:r>
          </a:p>
        </p:txBody>
      </p:sp>
      <p:sp>
        <p:nvSpPr>
          <p:cNvPr id="4" name="Slide Number Placeholder 3"/>
          <p:cNvSpPr>
            <a:spLocks noGrp="1"/>
          </p:cNvSpPr>
          <p:nvPr>
            <p:ph type="sldNum" sz="quarter" idx="5"/>
          </p:nvPr>
        </p:nvSpPr>
        <p:spPr/>
        <p:txBody>
          <a:bodyPr/>
          <a:lstStyle/>
          <a:p>
            <a:fld id="{85312B09-6666-2149-A7EC-89A035875DEE}" type="slidenum">
              <a:rPr lang="en-US" smtClean="0"/>
              <a:t>4</a:t>
            </a:fld>
            <a:endParaRPr lang="en-US"/>
          </a:p>
        </p:txBody>
      </p:sp>
    </p:spTree>
    <p:extLst>
      <p:ext uri="{BB962C8B-B14F-4D97-AF65-F5344CB8AC3E}">
        <p14:creationId xmlns:p14="http://schemas.microsoft.com/office/powerpoint/2010/main" val="2240290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5</a:t>
            </a:fld>
            <a:endParaRPr lang="en-US"/>
          </a:p>
        </p:txBody>
      </p:sp>
    </p:spTree>
    <p:extLst>
      <p:ext uri="{BB962C8B-B14F-4D97-AF65-F5344CB8AC3E}">
        <p14:creationId xmlns:p14="http://schemas.microsoft.com/office/powerpoint/2010/main" val="4143478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How do we get this in a form ready for DS?</a:t>
            </a:r>
          </a:p>
          <a:p>
            <a:endParaRPr lang="en-US" dirty="0"/>
          </a:p>
          <a:p>
            <a:r>
              <a:rPr lang="en-US" dirty="0"/>
              <a:t>Feature engineering!!</a:t>
            </a:r>
          </a:p>
          <a:p>
            <a:endParaRPr lang="en-US" dirty="0"/>
          </a:p>
          <a:p>
            <a:r>
              <a:rPr lang="en-US" dirty="0"/>
              <a:t>Also remind them of the spam example…</a:t>
            </a:r>
          </a:p>
        </p:txBody>
      </p:sp>
      <p:sp>
        <p:nvSpPr>
          <p:cNvPr id="4" name="Slide Number Placeholder 3"/>
          <p:cNvSpPr>
            <a:spLocks noGrp="1"/>
          </p:cNvSpPr>
          <p:nvPr>
            <p:ph type="sldNum" sz="quarter" idx="5"/>
          </p:nvPr>
        </p:nvSpPr>
        <p:spPr/>
        <p:txBody>
          <a:bodyPr/>
          <a:lstStyle/>
          <a:p>
            <a:fld id="{85312B09-6666-2149-A7EC-89A035875DEE}" type="slidenum">
              <a:rPr lang="en-US" smtClean="0"/>
              <a:t>6</a:t>
            </a:fld>
            <a:endParaRPr lang="en-US"/>
          </a:p>
        </p:txBody>
      </p:sp>
    </p:spTree>
    <p:extLst>
      <p:ext uri="{BB962C8B-B14F-4D97-AF65-F5344CB8AC3E}">
        <p14:creationId xmlns:p14="http://schemas.microsoft.com/office/powerpoint/2010/main" val="2745741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8</a:t>
            </a:fld>
            <a:endParaRPr lang="en-US"/>
          </a:p>
        </p:txBody>
      </p:sp>
    </p:spTree>
    <p:extLst>
      <p:ext uri="{BB962C8B-B14F-4D97-AF65-F5344CB8AC3E}">
        <p14:creationId xmlns:p14="http://schemas.microsoft.com/office/powerpoint/2010/main" val="2817293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sz="1800" dirty="0"/>
          </a:p>
        </p:txBody>
      </p:sp>
      <p:sp>
        <p:nvSpPr>
          <p:cNvPr id="4" name="Slide Number Placeholder 3"/>
          <p:cNvSpPr>
            <a:spLocks noGrp="1"/>
          </p:cNvSpPr>
          <p:nvPr>
            <p:ph type="sldNum" sz="quarter" idx="5"/>
          </p:nvPr>
        </p:nvSpPr>
        <p:spPr/>
        <p:txBody>
          <a:bodyPr/>
          <a:lstStyle/>
          <a:p>
            <a:fld id="{85312B09-6666-2149-A7EC-89A035875DEE}" type="slidenum">
              <a:rPr lang="en-US" smtClean="0"/>
              <a:t>9</a:t>
            </a:fld>
            <a:endParaRPr lang="en-US"/>
          </a:p>
        </p:txBody>
      </p:sp>
    </p:spTree>
    <p:extLst>
      <p:ext uri="{BB962C8B-B14F-4D97-AF65-F5344CB8AC3E}">
        <p14:creationId xmlns:p14="http://schemas.microsoft.com/office/powerpoint/2010/main" val="3507530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10</a:t>
            </a:fld>
            <a:endParaRPr lang="en-US"/>
          </a:p>
        </p:txBody>
      </p:sp>
    </p:spTree>
    <p:extLst>
      <p:ext uri="{BB962C8B-B14F-4D97-AF65-F5344CB8AC3E}">
        <p14:creationId xmlns:p14="http://schemas.microsoft.com/office/powerpoint/2010/main" val="1013118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11</a:t>
            </a:fld>
            <a:endParaRPr lang="en-US"/>
          </a:p>
        </p:txBody>
      </p:sp>
    </p:spTree>
    <p:extLst>
      <p:ext uri="{BB962C8B-B14F-4D97-AF65-F5344CB8AC3E}">
        <p14:creationId xmlns:p14="http://schemas.microsoft.com/office/powerpoint/2010/main" val="2712206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High</a:t>
            </a:r>
          </a:p>
        </p:txBody>
      </p:sp>
      <p:sp>
        <p:nvSpPr>
          <p:cNvPr id="4" name="Slide Number Placeholder 3"/>
          <p:cNvSpPr>
            <a:spLocks noGrp="1"/>
          </p:cNvSpPr>
          <p:nvPr>
            <p:ph type="sldNum" sz="quarter" idx="5"/>
          </p:nvPr>
        </p:nvSpPr>
        <p:spPr/>
        <p:txBody>
          <a:bodyPr/>
          <a:lstStyle/>
          <a:p>
            <a:fld id="{85312B09-6666-2149-A7EC-89A035875DEE}" type="slidenum">
              <a:rPr lang="en-US" smtClean="0"/>
              <a:t>12</a:t>
            </a:fld>
            <a:endParaRPr lang="en-US"/>
          </a:p>
        </p:txBody>
      </p:sp>
    </p:spTree>
    <p:extLst>
      <p:ext uri="{BB962C8B-B14F-4D97-AF65-F5344CB8AC3E}">
        <p14:creationId xmlns:p14="http://schemas.microsoft.com/office/powerpoint/2010/main" val="3608989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13</a:t>
            </a:fld>
            <a:endParaRPr lang="en-US"/>
          </a:p>
        </p:txBody>
      </p:sp>
    </p:spTree>
    <p:extLst>
      <p:ext uri="{BB962C8B-B14F-4D97-AF65-F5344CB8AC3E}">
        <p14:creationId xmlns:p14="http://schemas.microsoft.com/office/powerpoint/2010/main" val="996837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14</a:t>
            </a:fld>
            <a:endParaRPr lang="en-US"/>
          </a:p>
        </p:txBody>
      </p:sp>
    </p:spTree>
    <p:extLst>
      <p:ext uri="{BB962C8B-B14F-4D97-AF65-F5344CB8AC3E}">
        <p14:creationId xmlns:p14="http://schemas.microsoft.com/office/powerpoint/2010/main" val="1791081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12813"/>
            <a:fld id="{7775204D-4597-4EBD-A874-8C6C8D6213F5}" type="slidenum">
              <a:rPr lang="en-US" smtClean="0"/>
              <a:pPr defTabSz="912813"/>
              <a:t>15</a:t>
            </a:fld>
            <a:endParaRPr lang="en-US"/>
          </a:p>
        </p:txBody>
      </p:sp>
      <p:sp>
        <p:nvSpPr>
          <p:cNvPr id="40963" name="Rectangle 2"/>
          <p:cNvSpPr>
            <a:spLocks noGrp="1" noRot="1" noChangeAspect="1" noChangeArrowheads="1" noTextEdit="1"/>
          </p:cNvSpPr>
          <p:nvPr>
            <p:ph type="sldImg"/>
          </p:nvPr>
        </p:nvSpPr>
        <p:spPr>
          <a:xfrm>
            <a:off x="685800" y="1143000"/>
            <a:ext cx="5486400" cy="3086100"/>
          </a:xfrm>
          <a:ln/>
        </p:spPr>
      </p:sp>
      <p:sp>
        <p:nvSpPr>
          <p:cNvPr id="40964" name="Rectangle 3"/>
          <p:cNvSpPr>
            <a:spLocks noGrp="1" noChangeArrowheads="1"/>
          </p:cNvSpPr>
          <p:nvPr>
            <p:ph type="body" idx="1"/>
          </p:nvPr>
        </p:nvSpPr>
        <p:spPr>
          <a:noFill/>
          <a:ln/>
        </p:spPr>
        <p:txBody>
          <a:bodyPr/>
          <a:lstStyle/>
          <a:p>
            <a:pPr eaLnBrk="1" hangingPunct="1"/>
            <a:r>
              <a:rPr lang="en-US" dirty="0"/>
              <a:t>note complications with new case – values not present in training data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99CF-09DA-F780-9B9D-2CC4768AC7C8}"/>
            </a:ext>
          </a:extLst>
        </p:cNvPr>
        <p:cNvGrpSpPr/>
        <p:nvPr/>
      </p:nvGrpSpPr>
      <p:grpSpPr>
        <a:xfrm>
          <a:off x="0" y="0"/>
          <a:ext cx="0" cy="0"/>
          <a:chOff x="0" y="0"/>
          <a:chExt cx="0" cy="0"/>
        </a:xfrm>
      </p:grpSpPr>
      <p:sp>
        <p:nvSpPr>
          <p:cNvPr id="40962" name="Rectangle 7">
            <a:extLst>
              <a:ext uri="{FF2B5EF4-FFF2-40B4-BE49-F238E27FC236}">
                <a16:creationId xmlns:a16="http://schemas.microsoft.com/office/drawing/2014/main" id="{D560B7B3-7BBF-8DDC-6D78-ED3EC72BB396}"/>
              </a:ext>
            </a:extLst>
          </p:cNvPr>
          <p:cNvSpPr>
            <a:spLocks noGrp="1" noChangeArrowheads="1"/>
          </p:cNvSpPr>
          <p:nvPr>
            <p:ph type="sldNum" sz="quarter" idx="5"/>
          </p:nvPr>
        </p:nvSpPr>
        <p:spPr>
          <a:noFill/>
        </p:spPr>
        <p:txBody>
          <a:bodyPr/>
          <a:lstStyle/>
          <a:p>
            <a:pPr defTabSz="912813"/>
            <a:fld id="{7775204D-4597-4EBD-A874-8C6C8D6213F5}" type="slidenum">
              <a:rPr lang="en-US" smtClean="0"/>
              <a:pPr defTabSz="912813"/>
              <a:t>16</a:t>
            </a:fld>
            <a:endParaRPr lang="en-US"/>
          </a:p>
        </p:txBody>
      </p:sp>
      <p:sp>
        <p:nvSpPr>
          <p:cNvPr id="40963" name="Rectangle 2">
            <a:extLst>
              <a:ext uri="{FF2B5EF4-FFF2-40B4-BE49-F238E27FC236}">
                <a16:creationId xmlns:a16="http://schemas.microsoft.com/office/drawing/2014/main" id="{89880508-0E0E-DDBC-36AE-7365C349D9C5}"/>
              </a:ext>
            </a:extLst>
          </p:cNvPr>
          <p:cNvSpPr>
            <a:spLocks noGrp="1" noRot="1" noChangeAspect="1" noChangeArrowheads="1" noTextEdit="1"/>
          </p:cNvSpPr>
          <p:nvPr>
            <p:ph type="sldImg"/>
          </p:nvPr>
        </p:nvSpPr>
        <p:spPr>
          <a:xfrm>
            <a:off x="685800" y="1143000"/>
            <a:ext cx="5486400" cy="3086100"/>
          </a:xfrm>
          <a:ln/>
        </p:spPr>
      </p:sp>
      <p:sp>
        <p:nvSpPr>
          <p:cNvPr id="40964" name="Rectangle 3">
            <a:extLst>
              <a:ext uri="{FF2B5EF4-FFF2-40B4-BE49-F238E27FC236}">
                <a16:creationId xmlns:a16="http://schemas.microsoft.com/office/drawing/2014/main" id="{B6F4AC68-FB85-7826-47B2-4C1F5AA4A13A}"/>
              </a:ext>
            </a:extLst>
          </p:cNvPr>
          <p:cNvSpPr>
            <a:spLocks noGrp="1" noChangeArrowheads="1"/>
          </p:cNvSpPr>
          <p:nvPr>
            <p:ph type="body" idx="1"/>
          </p:nvPr>
        </p:nvSpPr>
        <p:spPr>
          <a:noFill/>
          <a:ln/>
        </p:spPr>
        <p:txBody>
          <a:bodyPr/>
          <a:lstStyle/>
          <a:p>
            <a:pPr eaLnBrk="1" hangingPunct="1"/>
            <a:r>
              <a:rPr lang="en-US" dirty="0"/>
              <a:t>note complications with new case – values not present in training data</a:t>
            </a:r>
          </a:p>
        </p:txBody>
      </p:sp>
    </p:spTree>
    <p:extLst>
      <p:ext uri="{BB962C8B-B14F-4D97-AF65-F5344CB8AC3E}">
        <p14:creationId xmlns:p14="http://schemas.microsoft.com/office/powerpoint/2010/main" val="3918632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17</a:t>
            </a:fld>
            <a:endParaRPr lang="en-US"/>
          </a:p>
        </p:txBody>
      </p:sp>
    </p:spTree>
    <p:extLst>
      <p:ext uri="{BB962C8B-B14F-4D97-AF65-F5344CB8AC3E}">
        <p14:creationId xmlns:p14="http://schemas.microsoft.com/office/powerpoint/2010/main" val="4088710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685800" y="1143000"/>
            <a:ext cx="5486400" cy="3086100"/>
          </a:xfrm>
          <a:ln/>
        </p:spPr>
      </p:sp>
      <p:sp>
        <p:nvSpPr>
          <p:cNvPr id="45059"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MinionPro"/>
              </a:rPr>
              <a:t>This difference is important: the act of clicking “Like” on a page is different from simply liking it, and the data we have are on the former and not the latter. It is also important to consider that this is an act of </a:t>
            </a:r>
            <a:r>
              <a:rPr lang="en-US" sz="1800" i="1" dirty="0">
                <a:effectLst/>
                <a:latin typeface="MinionPro"/>
              </a:rPr>
              <a:t>public signaling</a:t>
            </a:r>
            <a:r>
              <a:rPr lang="en-US" sz="1800" dirty="0">
                <a:effectLst/>
                <a:latin typeface="MinionPro"/>
              </a:rPr>
              <a:t>: a Facebook user is openly declaring to friends that they like something, and the rea‐ sons for this may not be obvious.11 </a:t>
            </a:r>
            <a:endParaRPr lang="en-US" dirty="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stuff you just learned just </a:t>
            </a:r>
            <a:r>
              <a:rPr lang="en-US" dirty="0" err="1"/>
              <a:t>scrathes</a:t>
            </a:r>
            <a:r>
              <a:rPr lang="en-US" dirty="0"/>
              <a:t> the surface of NLP, now I will go rapid fire through some other topics…</a:t>
            </a:r>
          </a:p>
        </p:txBody>
      </p:sp>
      <p:sp>
        <p:nvSpPr>
          <p:cNvPr id="4" name="Slide Number Placeholder 3"/>
          <p:cNvSpPr>
            <a:spLocks noGrp="1"/>
          </p:cNvSpPr>
          <p:nvPr>
            <p:ph type="sldNum" sz="quarter" idx="5"/>
          </p:nvPr>
        </p:nvSpPr>
        <p:spPr/>
        <p:txBody>
          <a:bodyPr/>
          <a:lstStyle/>
          <a:p>
            <a:fld id="{85312B09-6666-2149-A7EC-89A035875DEE}" type="slidenum">
              <a:rPr lang="en-US" smtClean="0"/>
              <a:t>20</a:t>
            </a:fld>
            <a:endParaRPr lang="en-US"/>
          </a:p>
        </p:txBody>
      </p:sp>
    </p:spTree>
    <p:extLst>
      <p:ext uri="{BB962C8B-B14F-4D97-AF65-F5344CB8AC3E}">
        <p14:creationId xmlns:p14="http://schemas.microsoft.com/office/powerpoint/2010/main" val="4005061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22</a:t>
            </a:fld>
            <a:endParaRPr lang="en-US"/>
          </a:p>
        </p:txBody>
      </p:sp>
    </p:spTree>
    <p:extLst>
      <p:ext uri="{BB962C8B-B14F-4D97-AF65-F5344CB8AC3E}">
        <p14:creationId xmlns:p14="http://schemas.microsoft.com/office/powerpoint/2010/main" val="16027304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err="1"/>
              <a:t>Afinn</a:t>
            </a:r>
            <a:r>
              <a:rPr lang="en-US" dirty="0"/>
              <a:t> is +5 to -5</a:t>
            </a:r>
          </a:p>
          <a:p>
            <a:endParaRPr lang="en-US" dirty="0"/>
          </a:p>
          <a:p>
            <a:r>
              <a:rPr lang="en-US" dirty="0"/>
              <a:t>-5 is REALLY bad</a:t>
            </a:r>
          </a:p>
        </p:txBody>
      </p:sp>
      <p:sp>
        <p:nvSpPr>
          <p:cNvPr id="4" name="Slide Number Placeholder 3"/>
          <p:cNvSpPr>
            <a:spLocks noGrp="1"/>
          </p:cNvSpPr>
          <p:nvPr>
            <p:ph type="sldNum" sz="quarter" idx="5"/>
          </p:nvPr>
        </p:nvSpPr>
        <p:spPr/>
        <p:txBody>
          <a:bodyPr/>
          <a:lstStyle/>
          <a:p>
            <a:fld id="{85312B09-6666-2149-A7EC-89A035875DEE}" type="slidenum">
              <a:rPr lang="en-US" smtClean="0"/>
              <a:t>23</a:t>
            </a:fld>
            <a:endParaRPr lang="en-US"/>
          </a:p>
        </p:txBody>
      </p:sp>
    </p:spTree>
    <p:extLst>
      <p:ext uri="{BB962C8B-B14F-4D97-AF65-F5344CB8AC3E}">
        <p14:creationId xmlns:p14="http://schemas.microsoft.com/office/powerpoint/2010/main" val="4258988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Magic of embeddings is that they are not trained by knowing the definition of words, they simply are trained on gobs of text.  </a:t>
            </a:r>
          </a:p>
          <a:p>
            <a:endParaRPr lang="en-US" dirty="0"/>
          </a:p>
          <a:p>
            <a:r>
              <a:rPr lang="en-US" dirty="0"/>
              <a:t>BERT can look at the entire sentence and not just adjacent words – it is one of the foundations of modern generative AI tools. </a:t>
            </a:r>
          </a:p>
        </p:txBody>
      </p:sp>
      <p:sp>
        <p:nvSpPr>
          <p:cNvPr id="4" name="Slide Number Placeholder 3"/>
          <p:cNvSpPr>
            <a:spLocks noGrp="1"/>
          </p:cNvSpPr>
          <p:nvPr>
            <p:ph type="sldNum" sz="quarter" idx="5"/>
          </p:nvPr>
        </p:nvSpPr>
        <p:spPr/>
        <p:txBody>
          <a:bodyPr/>
          <a:lstStyle/>
          <a:p>
            <a:fld id="{85312B09-6666-2149-A7EC-89A035875DEE}" type="slidenum">
              <a:rPr lang="en-US" smtClean="0"/>
              <a:t>24</a:t>
            </a:fld>
            <a:endParaRPr lang="en-US"/>
          </a:p>
        </p:txBody>
      </p:sp>
    </p:spTree>
    <p:extLst>
      <p:ext uri="{BB962C8B-B14F-4D97-AF65-F5344CB8AC3E}">
        <p14:creationId xmlns:p14="http://schemas.microsoft.com/office/powerpoint/2010/main" val="2240140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difference of TFIDF and embeddings</a:t>
            </a:r>
          </a:p>
        </p:txBody>
      </p:sp>
      <p:sp>
        <p:nvSpPr>
          <p:cNvPr id="4" name="Slide Number Placeholder 3"/>
          <p:cNvSpPr>
            <a:spLocks noGrp="1"/>
          </p:cNvSpPr>
          <p:nvPr>
            <p:ph type="sldNum" sz="quarter" idx="5"/>
          </p:nvPr>
        </p:nvSpPr>
        <p:spPr/>
        <p:txBody>
          <a:bodyPr/>
          <a:lstStyle/>
          <a:p>
            <a:fld id="{85312B09-6666-2149-A7EC-89A035875DEE}" type="slidenum">
              <a:rPr lang="en-US" smtClean="0"/>
              <a:t>25</a:t>
            </a:fld>
            <a:endParaRPr lang="en-US"/>
          </a:p>
        </p:txBody>
      </p:sp>
    </p:spTree>
    <p:extLst>
      <p:ext uri="{BB962C8B-B14F-4D97-AF65-F5344CB8AC3E}">
        <p14:creationId xmlns:p14="http://schemas.microsoft.com/office/powerpoint/2010/main" val="1272974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26</a:t>
            </a:fld>
            <a:endParaRPr lang="en-US"/>
          </a:p>
        </p:txBody>
      </p:sp>
    </p:spTree>
    <p:extLst>
      <p:ext uri="{BB962C8B-B14F-4D97-AF65-F5344CB8AC3E}">
        <p14:creationId xmlns:p14="http://schemas.microsoft.com/office/powerpoint/2010/main" val="4255018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27</a:t>
            </a:fld>
            <a:endParaRPr lang="en-US"/>
          </a:p>
        </p:txBody>
      </p:sp>
    </p:spTree>
    <p:extLst>
      <p:ext uri="{BB962C8B-B14F-4D97-AF65-F5344CB8AC3E}">
        <p14:creationId xmlns:p14="http://schemas.microsoft.com/office/powerpoint/2010/main" val="19068912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lvl1pPr>
              <a:defRPr>
                <a:solidFill>
                  <a:schemeClr val="bg2"/>
                </a:solidFill>
              </a:defRPr>
            </a:lvl1pPr>
          </a:lstStyle>
          <a:p>
            <a:fld id="{59F43C82-9B9B-AC4F-98CD-0ADC587116F3}" type="datetime1">
              <a:rPr lang="en-US" smtClean="0"/>
              <a:t>11/10/25</a:t>
            </a:fld>
            <a:endParaRPr lang="en-US"/>
          </a:p>
        </p:txBody>
      </p:sp>
      <p:sp>
        <p:nvSpPr>
          <p:cNvPr id="5" name="Foote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cNvSpPr>
            <a:spLocks noGrp="1"/>
          </p:cNvSpPr>
          <p:nvPr>
            <p:ph type="sldNum" sz="quarter" idx="12"/>
          </p:nvPr>
        </p:nvSpPr>
        <p:spPr/>
        <p:txBody>
          <a:bodyPr/>
          <a:lstStyle>
            <a:lvl1pPr algn="l">
              <a:defRPr>
                <a:solidFill>
                  <a:schemeClr val="bg2"/>
                </a:solidFill>
              </a:defRPr>
            </a:lvl1pPr>
          </a:lstStyle>
          <a:p>
            <a:fld id="{ABBEE3BA-F264-1746-880E-39AD601DF2B1}" type="slidenum">
              <a:rPr lang="en-US" smtClean="0"/>
              <a:t>‹#›</a:t>
            </a:fld>
            <a:endParaRPr lang="en-US"/>
          </a:p>
        </p:txBody>
      </p:sp>
      <p:sp>
        <p:nvSpPr>
          <p:cNvPr id="3" name="Subtitle"/>
          <p:cNvSpPr>
            <a:spLocks noGrp="1"/>
          </p:cNvSpPr>
          <p:nvPr>
            <p:ph type="subTitle" idx="1" hasCustomPrompt="1"/>
          </p:nvPr>
        </p:nvSpPr>
        <p:spPr>
          <a:xfrm>
            <a:off x="4254946" y="3467480"/>
            <a:ext cx="6912587" cy="1402207"/>
          </a:xfrm>
        </p:spPr>
        <p:txBody>
          <a:bodyPr lIns="91440" anchor="t">
            <a:noAutofit/>
          </a:bodyPr>
          <a:lstStyle>
            <a:lvl1pPr marL="0" indent="0" algn="l">
              <a:buNone/>
              <a:defRPr sz="2800" b="1" i="0">
                <a:solidFill>
                  <a:schemeClr val="bg2"/>
                </a:solidFill>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Data Science and AI for Business</a:t>
            </a:r>
          </a:p>
          <a:p>
            <a:r>
              <a:rPr lang="en-US" dirty="0"/>
              <a:t>Prof: Chris Volinsky</a:t>
            </a:r>
          </a:p>
          <a:p>
            <a:r>
              <a:rPr lang="en-US" dirty="0"/>
              <a:t>Fall 2025</a:t>
            </a:r>
          </a:p>
        </p:txBody>
      </p:sp>
      <p:sp>
        <p:nvSpPr>
          <p:cNvPr id="2" name="Title"/>
          <p:cNvSpPr>
            <a:spLocks noGrp="1"/>
          </p:cNvSpPr>
          <p:nvPr>
            <p:ph type="ctrTitle" hasCustomPrompt="1"/>
          </p:nvPr>
        </p:nvSpPr>
        <p:spPr>
          <a:xfrm>
            <a:off x="4254946" y="567189"/>
            <a:ext cx="6912587" cy="2387600"/>
          </a:xfrm>
          <a:noFill/>
        </p:spPr>
        <p:txBody>
          <a:bodyPr anchor="b"/>
          <a:lstStyle>
            <a:lvl1pPr algn="l">
              <a:defRPr sz="6000" b="1">
                <a:solidFill>
                  <a:schemeClr val="bg1"/>
                </a:solidFill>
              </a:defRPr>
            </a:lvl1pPr>
          </a:lstStyle>
          <a:p>
            <a:r>
              <a:rPr lang="en-US" dirty="0"/>
              <a:t>Topic X – Topic Name</a:t>
            </a:r>
          </a:p>
        </p:txBody>
      </p:sp>
      <p:pic>
        <p:nvPicPr>
          <p:cNvPr id="7" name="Picture 6">
            <a:extLst>
              <a:ext uri="{FF2B5EF4-FFF2-40B4-BE49-F238E27FC236}">
                <a16:creationId xmlns:a16="http://schemas.microsoft.com/office/drawing/2014/main" id="{27267519-03DE-1D2E-EB0A-E9C6F33A2511}"/>
              </a:ext>
            </a:extLst>
          </p:cNvPr>
          <p:cNvPicPr>
            <a:picLocks noChangeAspect="1"/>
          </p:cNvPicPr>
          <p:nvPr userDrawn="1"/>
        </p:nvPicPr>
        <p:blipFill>
          <a:blip r:embed="rId3"/>
          <a:stretch>
            <a:fillRect/>
          </a:stretch>
        </p:blipFill>
        <p:spPr>
          <a:xfrm>
            <a:off x="2575339" y="3429000"/>
            <a:ext cx="6431721" cy="2717402"/>
          </a:xfrm>
          <a:prstGeom prst="rect">
            <a:avLst/>
          </a:prstGeom>
        </p:spPr>
      </p:pic>
    </p:spTree>
    <p:extLst>
      <p:ext uri="{BB962C8B-B14F-4D97-AF65-F5344CB8AC3E}">
        <p14:creationId xmlns:p14="http://schemas.microsoft.com/office/powerpoint/2010/main" val="164997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Gould">
    <p:spTree>
      <p:nvGrpSpPr>
        <p:cNvPr id="1" name=""/>
        <p:cNvGrpSpPr/>
        <p:nvPr/>
      </p:nvGrpSpPr>
      <p:grpSpPr>
        <a:xfrm>
          <a:off x="0" y="0"/>
          <a:ext cx="0" cy="0"/>
          <a:chOff x="0" y="0"/>
          <a:chExt cx="0" cy="0"/>
        </a:xfrm>
      </p:grpSpPr>
      <p:pic>
        <p:nvPicPr>
          <p:cNvPr id="8" name="Picture 7" descr="A building with stairs and people walking&#10;&#10;AI-generated content may be incorrect.">
            <a:extLst>
              <a:ext uri="{FF2B5EF4-FFF2-40B4-BE49-F238E27FC236}">
                <a16:creationId xmlns:a16="http://schemas.microsoft.com/office/drawing/2014/main" id="{10B997DA-7AA6-CF7E-FDED-D6EF7D28ED6F}"/>
              </a:ext>
            </a:extLst>
          </p:cNvPr>
          <p:cNvPicPr>
            <a:picLocks noChangeAspect="1"/>
          </p:cNvPicPr>
          <p:nvPr/>
        </p:nvPicPr>
        <p:blipFill>
          <a:blip r:embed="rId2"/>
          <a:stretch>
            <a:fillRect/>
          </a:stretch>
        </p:blipFill>
        <p:spPr>
          <a:xfrm>
            <a:off x="0" y="0"/>
            <a:ext cx="12192000" cy="6858000"/>
          </a:xfrm>
          <a:prstGeom prst="rect">
            <a:avLst/>
          </a:prstGeom>
        </p:spPr>
      </p:pic>
      <p:sp>
        <p:nvSpPr>
          <p:cNvPr id="3" name="Date">
            <a:extLst>
              <a:ext uri="{FF2B5EF4-FFF2-40B4-BE49-F238E27FC236}">
                <a16:creationId xmlns:a16="http://schemas.microsoft.com/office/drawing/2014/main" id="{5BF72350-7C98-FBEB-2F3B-2484C5946840}"/>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EE8AD11E-DA5D-22C0-7E98-72840ACE0BFB}"/>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5F3E7FD-E179-CFF4-29F5-C801F3EC40C8}"/>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7" name="Caption">
            <a:extLst>
              <a:ext uri="{FF2B5EF4-FFF2-40B4-BE49-F238E27FC236}">
                <a16:creationId xmlns:a16="http://schemas.microsoft.com/office/drawing/2014/main" id="{D0F66A68-CFCE-76B6-AA53-FDBE844F5700}"/>
              </a:ext>
            </a:extLst>
          </p:cNvPr>
          <p:cNvSpPr>
            <a:spLocks noGrp="1"/>
          </p:cNvSpPr>
          <p:nvPr>
            <p:ph type="body" sz="quarter" idx="13" hasCustomPrompt="1"/>
          </p:nvPr>
        </p:nvSpPr>
        <p:spPr>
          <a:xfrm>
            <a:off x="0" y="5737651"/>
            <a:ext cx="5872095" cy="587375"/>
          </a:xfrm>
          <a:solidFill>
            <a:schemeClr val="accent6"/>
          </a:solidFill>
        </p:spPr>
        <p:txBody>
          <a:bodyPr lIns="822960" anchor="ctr">
            <a:normAutofit/>
          </a:bodyPr>
          <a:lstStyle>
            <a:lvl1pPr marL="0" indent="0">
              <a:buNone/>
              <a:defRPr sz="2400">
                <a:solidFill>
                  <a:schemeClr val="bg1"/>
                </a:solidFill>
              </a:defRPr>
            </a:lvl1pPr>
          </a:lstStyle>
          <a:p>
            <a:pPr lvl="0"/>
            <a:r>
              <a:rPr lang="en-US" dirty="0"/>
              <a:t>Add image caption</a:t>
            </a:r>
          </a:p>
        </p:txBody>
      </p:sp>
      <p:sp>
        <p:nvSpPr>
          <p:cNvPr id="2" name="Title">
            <a:extLst>
              <a:ext uri="{FF2B5EF4-FFF2-40B4-BE49-F238E27FC236}">
                <a16:creationId xmlns:a16="http://schemas.microsoft.com/office/drawing/2014/main" id="{A8B02C69-13B3-AF45-CE38-55FAC6F83018}"/>
              </a:ext>
            </a:extLst>
          </p:cNvPr>
          <p:cNvSpPr>
            <a:spLocks noGrp="1"/>
          </p:cNvSpPr>
          <p:nvPr>
            <p:ph type="title" hasCustomPrompt="1"/>
          </p:nvPr>
        </p:nvSpPr>
        <p:spPr>
          <a:xfrm>
            <a:off x="0" y="4901609"/>
            <a:ext cx="6171117" cy="836754"/>
          </a:xfrm>
          <a:solidFill>
            <a:schemeClr val="accent1"/>
          </a:solidFill>
        </p:spPr>
        <p:txBody>
          <a:bodyPr lIns="822960">
            <a:noAutofit/>
          </a:bodyPr>
          <a:lstStyle>
            <a:lvl1pPr>
              <a:defRPr sz="3200">
                <a:solidFill>
                  <a:schemeClr val="bg1"/>
                </a:solidFill>
                <a:effectLst/>
              </a:defRPr>
            </a:lvl1pPr>
          </a:lstStyle>
          <a:p>
            <a:r>
              <a:rPr lang="en-US" dirty="0"/>
              <a:t>Click to add image title</a:t>
            </a:r>
          </a:p>
        </p:txBody>
      </p:sp>
    </p:spTree>
    <p:extLst>
      <p:ext uri="{BB962C8B-B14F-4D97-AF65-F5344CB8AC3E}">
        <p14:creationId xmlns:p14="http://schemas.microsoft.com/office/powerpoint/2010/main" val="352684022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pic>
        <p:nvPicPr>
          <p:cNvPr id="8" name="Picture 7" descr="A building with stairs and people walking&#10;&#10;AI-generated content may be incorrect.">
            <a:extLst>
              <a:ext uri="{FF2B5EF4-FFF2-40B4-BE49-F238E27FC236}">
                <a16:creationId xmlns:a16="http://schemas.microsoft.com/office/drawing/2014/main" id="{F9871B73-938C-45E7-7799-A9A54437054D}"/>
              </a:ext>
            </a:extLst>
          </p:cNvPr>
          <p:cNvPicPr>
            <a:picLocks noChangeAspect="1"/>
          </p:cNvPicPr>
          <p:nvPr/>
        </p:nvPicPr>
        <p:blipFill>
          <a:blip r:embed="rId2">
            <a:alphaModFix amt="30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78E9548-3B4B-2F9B-6B67-2F904307859E}"/>
              </a:ext>
            </a:extLst>
          </p:cNvPr>
          <p:cNvSpPr>
            <a:spLocks noGrp="1"/>
          </p:cNvSpPr>
          <p:nvPr>
            <p:ph type="title"/>
          </p:nvPr>
        </p:nvSpPr>
        <p:spPr>
          <a:xfrm>
            <a:off x="402771" y="2063296"/>
            <a:ext cx="10515600" cy="1001559"/>
          </a:xfrm>
          <a:solidFill>
            <a:schemeClr val="accent1"/>
          </a:solidFill>
        </p:spPr>
        <p:txBody>
          <a:bodyPr/>
          <a:lstStyle>
            <a:lvl1pPr>
              <a:defRPr>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92C5894B-C677-E349-FCAF-7A2C8488A663}"/>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Placeholder 3">
            <a:extLst>
              <a:ext uri="{FF2B5EF4-FFF2-40B4-BE49-F238E27FC236}">
                <a16:creationId xmlns:a16="http://schemas.microsoft.com/office/drawing/2014/main" id="{0119CEAD-DE05-890A-43F5-E308410EE9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4C1DE4-B54C-87DD-FB01-5F8941577D75}"/>
              </a:ext>
            </a:extLst>
          </p:cNvPr>
          <p:cNvSpPr>
            <a:spLocks noGrp="1"/>
          </p:cNvSpPr>
          <p:nvPr>
            <p:ph type="sldNum" sz="quarter" idx="12"/>
          </p:nvPr>
        </p:nvSpPr>
        <p:spPr/>
        <p:txBody>
          <a:bodyPr/>
          <a:lstStyle/>
          <a:p>
            <a:fld id="{ABBEE3BA-F264-1746-880E-39AD601DF2B1}" type="slidenum">
              <a:rPr lang="en-US" smtClean="0"/>
              <a:t>‹#›</a:t>
            </a:fld>
            <a:endParaRPr lang="en-US"/>
          </a:p>
        </p:txBody>
      </p:sp>
    </p:spTree>
    <p:extLst>
      <p:ext uri="{BB962C8B-B14F-4D97-AF65-F5344CB8AC3E}">
        <p14:creationId xmlns:p14="http://schemas.microsoft.com/office/powerpoint/2010/main" val="361479321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A2647533-C89B-7F4F-A98B-2DD0B0DD654B}" type="datetimeFigureOut">
              <a:rPr lang="en-US" smtClean="0"/>
              <a:t>11/10/25</a:t>
            </a:fld>
            <a:endParaRPr lang="en-US" dirty="0"/>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Content"/>
          <p:cNvSpPr>
            <a:spLocks noGrp="1"/>
          </p:cNvSpPr>
          <p:nvPr>
            <p:ph idx="1"/>
          </p:nvPr>
        </p:nvSpPr>
        <p:spPr/>
        <p:txBody>
          <a:bodyPr/>
          <a:lstStyle>
            <a:lvl1pPr>
              <a:lnSpc>
                <a:spcPct val="100000"/>
              </a:lnSpc>
              <a:spcBef>
                <a:spcPts val="600"/>
              </a:spcBef>
              <a:defRPr/>
            </a:lvl1pPr>
            <a:lvl2pPr marL="685800" indent="-228600">
              <a:lnSpc>
                <a:spcPct val="100000"/>
              </a:lnSpc>
              <a:spcBef>
                <a:spcPts val="600"/>
              </a:spcBef>
              <a:buSzPct val="75000"/>
              <a:buFont typeface="Wingdings" pitchFamily="2" charset="2"/>
              <a:buChar char="§"/>
              <a:defRPr/>
            </a:lvl2pPr>
            <a:lvl3pPr marL="1143000" indent="-228600">
              <a:lnSpc>
                <a:spcPct val="100000"/>
              </a:lnSpc>
              <a:spcBef>
                <a:spcPts val="600"/>
              </a:spcBef>
              <a:buSzPct val="60000"/>
              <a:buFont typeface="Wingdings" pitchFamily="2" charset="2"/>
              <a:buChar char="v"/>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62717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lvl1pPr>
              <a:defRPr>
                <a:solidFill>
                  <a:schemeClr val="bg2"/>
                </a:solidFill>
              </a:defRPr>
            </a:lvl1pPr>
          </a:lstStyle>
          <a:p>
            <a:fld id="{C3BC7800-B276-A64A-8AB0-19972C98F17B}" type="datetime1">
              <a:rPr lang="en-US" smtClean="0"/>
              <a:t>11/10/25</a:t>
            </a:fld>
            <a:endParaRPr lang="en-US"/>
          </a:p>
        </p:txBody>
      </p:sp>
      <p:sp>
        <p:nvSpPr>
          <p:cNvPr id="5" name="Foote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cNvSpPr>
            <a:spLocks noGrp="1"/>
          </p:cNvSpPr>
          <p:nvPr>
            <p:ph type="sldNum" sz="quarter" idx="12"/>
          </p:nvPr>
        </p:nvSpPr>
        <p:spPr/>
        <p:txBody>
          <a:bodyPr/>
          <a:lstStyle>
            <a:lvl1pPr>
              <a:defRPr>
                <a:solidFill>
                  <a:schemeClr val="bg2"/>
                </a:solidFill>
              </a:defRPr>
            </a:lvl1pPr>
          </a:lstStyle>
          <a:p>
            <a:fld id="{ABBEE3BA-F264-1746-880E-39AD601DF2B1}" type="slidenum">
              <a:rPr lang="en-US" smtClean="0"/>
              <a:t>‹#›</a:t>
            </a:fld>
            <a:endParaRPr lang="en-US"/>
          </a:p>
        </p:txBody>
      </p:sp>
      <p:sp>
        <p:nvSpPr>
          <p:cNvPr id="3" name="Subtitle"/>
          <p:cNvSpPr>
            <a:spLocks noGrp="1"/>
          </p:cNvSpPr>
          <p:nvPr>
            <p:ph type="body" idx="1"/>
          </p:nvPr>
        </p:nvSpPr>
        <p:spPr>
          <a:xfrm>
            <a:off x="1674006" y="3447259"/>
            <a:ext cx="8160774" cy="1500187"/>
          </a:xfrm>
        </p:spPr>
        <p:txBody>
          <a:bodyPr lIns="91440">
            <a:normAutofit/>
          </a:bodyPr>
          <a:lstStyle>
            <a:lvl1pPr marL="0" indent="0">
              <a:buNone/>
              <a:defRPr sz="3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2" name="Title"/>
          <p:cNvSpPr>
            <a:spLocks noGrp="1"/>
          </p:cNvSpPr>
          <p:nvPr>
            <p:ph type="title"/>
          </p:nvPr>
        </p:nvSpPr>
        <p:spPr>
          <a:xfrm>
            <a:off x="1674006" y="1555276"/>
            <a:ext cx="8160774" cy="1864995"/>
          </a:xfrm>
          <a:noFill/>
        </p:spPr>
        <p:txBody>
          <a:bodyPr anchor="b">
            <a:normAutofit/>
          </a:bodyPr>
          <a:lstStyle>
            <a:lvl1pPr>
              <a:defRPr lang="en-US" dirty="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54682643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8D5B1BC2-7DC9-274F-9AA5-41AD410B73E8}" type="datetime1">
              <a:rPr lang="en-US" smtClean="0"/>
              <a:t>11/10/25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4" name="Content 2"/>
          <p:cNvSpPr>
            <a:spLocks noGrp="1"/>
          </p:cNvSpPr>
          <p:nvPr>
            <p:ph sz="half" idx="2"/>
          </p:nvPr>
        </p:nvSpPr>
        <p:spPr>
          <a:xfrm>
            <a:off x="6172200" y="1602658"/>
            <a:ext cx="5181600" cy="4574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1"/>
          <p:cNvSpPr>
            <a:spLocks noGrp="1"/>
          </p:cNvSpPr>
          <p:nvPr>
            <p:ph sz="half" idx="1"/>
          </p:nvPr>
        </p:nvSpPr>
        <p:spPr>
          <a:xfrm>
            <a:off x="838200" y="1602658"/>
            <a:ext cx="5181600" cy="4574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838200" y="365126"/>
            <a:ext cx="10515600" cy="1005840"/>
          </a:xfrm>
        </p:spPr>
        <p:txBody>
          <a:bodyPr/>
          <a:lstStyle/>
          <a:p>
            <a:r>
              <a:rPr lang="en-US"/>
              <a:t>Click to edit Master title style</a:t>
            </a:r>
            <a:endParaRPr lang="en-US" dirty="0"/>
          </a:p>
        </p:txBody>
      </p:sp>
    </p:spTree>
    <p:extLst>
      <p:ext uri="{BB962C8B-B14F-4D97-AF65-F5344CB8AC3E}">
        <p14:creationId xmlns:p14="http://schemas.microsoft.com/office/powerpoint/2010/main" val="621840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cNvSpPr>
            <a:spLocks noGrp="1"/>
          </p:cNvSpPr>
          <p:nvPr>
            <p:ph type="dt" sz="half" idx="10"/>
          </p:nvPr>
        </p:nvSpPr>
        <p:spPr/>
        <p:txBody>
          <a:bodyPr/>
          <a:lstStyle/>
          <a:p>
            <a:fld id="{B7F9541A-B732-0842-A74F-0C72DB237063}" type="datetime1">
              <a:rPr lang="en-US" smtClean="0"/>
              <a:t>11/10/25</a:t>
            </a:fld>
            <a:endParaRPr lang="en-US"/>
          </a:p>
        </p:txBody>
      </p:sp>
      <p:sp>
        <p:nvSpPr>
          <p:cNvPr id="8" name="Footer"/>
          <p:cNvSpPr>
            <a:spLocks noGrp="1"/>
          </p:cNvSpPr>
          <p:nvPr>
            <p:ph type="ftr" sz="quarter" idx="11"/>
          </p:nvPr>
        </p:nvSpPr>
        <p:spPr/>
        <p:txBody>
          <a:bodyPr/>
          <a:lstStyle/>
          <a:p>
            <a:endParaRPr lang="en-US"/>
          </a:p>
        </p:txBody>
      </p:sp>
      <p:sp>
        <p:nvSpPr>
          <p:cNvPr id="9"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6" name="Content 2"/>
          <p:cNvSpPr>
            <a:spLocks noGrp="1"/>
          </p:cNvSpPr>
          <p:nvPr>
            <p:ph sz="quarter" idx="4"/>
          </p:nvPr>
        </p:nvSpPr>
        <p:spPr>
          <a:xfrm>
            <a:off x="6172200" y="2424112"/>
            <a:ext cx="5183188" cy="3765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Heading 2"/>
          <p:cNvSpPr>
            <a:spLocks noGrp="1"/>
          </p:cNvSpPr>
          <p:nvPr>
            <p:ph type="body" sz="quarter" idx="3"/>
          </p:nvPr>
        </p:nvSpPr>
        <p:spPr>
          <a:xfrm>
            <a:off x="6172200" y="16002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1"/>
          <p:cNvSpPr>
            <a:spLocks noGrp="1"/>
          </p:cNvSpPr>
          <p:nvPr>
            <p:ph sz="half" idx="2"/>
          </p:nvPr>
        </p:nvSpPr>
        <p:spPr>
          <a:xfrm>
            <a:off x="839788" y="2424112"/>
            <a:ext cx="5157787" cy="3765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Heading 1"/>
          <p:cNvSpPr>
            <a:spLocks noGrp="1"/>
          </p:cNvSpPr>
          <p:nvPr>
            <p:ph type="body" idx="1"/>
          </p:nvPr>
        </p:nvSpPr>
        <p:spPr>
          <a:xfrm>
            <a:off x="839788" y="16002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p:cNvSpPr>
            <a:spLocks noGrp="1"/>
          </p:cNvSpPr>
          <p:nvPr>
            <p:ph type="title"/>
          </p:nvPr>
        </p:nvSpPr>
        <p:spPr>
          <a:xfrm>
            <a:off x="839788" y="365125"/>
            <a:ext cx="10515600" cy="1005840"/>
          </a:xfrm>
        </p:spPr>
        <p:txBody>
          <a:bodyPr/>
          <a:lstStyle>
            <a:lvl1pPr>
              <a:defRPr lang="en-US" dirty="0"/>
            </a:lvl1pPr>
          </a:lstStyle>
          <a:p>
            <a:r>
              <a:rPr lang="en-US"/>
              <a:t>Click to edit Master title style</a:t>
            </a:r>
            <a:endParaRPr lang="en-US" dirty="0"/>
          </a:p>
        </p:txBody>
      </p:sp>
    </p:spTree>
    <p:extLst>
      <p:ext uri="{BB962C8B-B14F-4D97-AF65-F5344CB8AC3E}">
        <p14:creationId xmlns:p14="http://schemas.microsoft.com/office/powerpoint/2010/main" val="376623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cNvSpPr>
            <a:spLocks noGrp="1"/>
          </p:cNvSpPr>
          <p:nvPr>
            <p:ph type="dt" sz="half" idx="10"/>
          </p:nvPr>
        </p:nvSpPr>
        <p:spPr/>
        <p:txBody>
          <a:bodyPr/>
          <a:lstStyle/>
          <a:p>
            <a:fld id="{F397BA72-28C9-9A46-8637-8A409BF0CACF}" type="datetime1">
              <a:rPr lang="en-US" smtClean="0"/>
              <a:t>11/10/25</a:t>
            </a:fld>
            <a:endParaRPr lang="en-US"/>
          </a:p>
        </p:txBody>
      </p:sp>
      <p:sp>
        <p:nvSpPr>
          <p:cNvPr id="4" name="Footer"/>
          <p:cNvSpPr>
            <a:spLocks noGrp="1"/>
          </p:cNvSpPr>
          <p:nvPr>
            <p:ph type="ftr" sz="quarter" idx="11"/>
          </p:nvPr>
        </p:nvSpPr>
        <p:spPr/>
        <p:txBody>
          <a:bodyPr/>
          <a:lstStyle/>
          <a:p>
            <a:endParaRPr lang="en-US"/>
          </a:p>
        </p:txBody>
      </p:sp>
      <p:sp>
        <p:nvSpPr>
          <p:cNvPr id="5"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6560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cNvSpPr>
            <a:spLocks noGrp="1"/>
          </p:cNvSpPr>
          <p:nvPr>
            <p:ph type="dt" sz="half" idx="10"/>
          </p:nvPr>
        </p:nvSpPr>
        <p:spPr/>
        <p:txBody>
          <a:bodyPr/>
          <a:lstStyle/>
          <a:p>
            <a:fld id="{C3BC7800-B276-A64A-8AB0-19972C98F17B}" type="datetime1">
              <a:rPr lang="en-US" smtClean="0"/>
              <a:t>11/10/25</a:t>
            </a:fld>
            <a:endParaRPr lang="en-US"/>
          </a:p>
        </p:txBody>
      </p:sp>
      <p:sp>
        <p:nvSpPr>
          <p:cNvPr id="3" name="Footer"/>
          <p:cNvSpPr>
            <a:spLocks noGrp="1"/>
          </p:cNvSpPr>
          <p:nvPr>
            <p:ph type="ftr" sz="quarter" idx="11"/>
          </p:nvPr>
        </p:nvSpPr>
        <p:spPr/>
        <p:txBody>
          <a:bodyPr/>
          <a:lstStyle/>
          <a:p>
            <a:endParaRPr lang="en-US"/>
          </a:p>
        </p:txBody>
      </p:sp>
      <p:sp>
        <p:nvSpPr>
          <p:cNvPr id="4"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5" name="Hidden Title">
            <a:extLst>
              <a:ext uri="{FF2B5EF4-FFF2-40B4-BE49-F238E27FC236}">
                <a16:creationId xmlns:a16="http://schemas.microsoft.com/office/drawing/2014/main" id="{2BFCB23C-FD7A-DDAB-2F31-3EA04039618B}"/>
              </a:ext>
            </a:extLst>
          </p:cNvPr>
          <p:cNvSpPr>
            <a:spLocks noGrp="1"/>
          </p:cNvSpPr>
          <p:nvPr>
            <p:ph type="title" hasCustomPrompt="1"/>
          </p:nvPr>
        </p:nvSpPr>
        <p:spPr>
          <a:xfrm>
            <a:off x="838200" y="-1139584"/>
            <a:ext cx="10515600" cy="1001559"/>
          </a:xfrm>
        </p:spPr>
        <p:txBody>
          <a:bodyPr/>
          <a:lstStyle/>
          <a:p>
            <a:r>
              <a:rPr lang="en-US" dirty="0"/>
              <a:t>Click to edit title (this will display for screen readers and outlines)</a:t>
            </a:r>
          </a:p>
        </p:txBody>
      </p:sp>
    </p:spTree>
    <p:extLst>
      <p:ext uri="{BB962C8B-B14F-4D97-AF65-F5344CB8AC3E}">
        <p14:creationId xmlns:p14="http://schemas.microsoft.com/office/powerpoint/2010/main" val="179942097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C3BC7800-B276-A64A-8AB0-19972C98F17B}" type="datetime1">
              <a:rPr lang="en-US" smtClean="0"/>
              <a:t>11/10/25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Content"/>
          <p:cNvSpPr>
            <a:spLocks noGrp="1"/>
          </p:cNvSpPr>
          <p:nvPr>
            <p:ph idx="1"/>
          </p:nvPr>
        </p:nvSpPr>
        <p:spPr>
          <a:xfrm>
            <a:off x="5183188" y="457201"/>
            <a:ext cx="6172200" cy="5403850"/>
          </a:xfrm>
        </p:spPr>
        <p:txBody>
          <a:bodyPr tIns="18288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aption">
            <a:extLst>
              <a:ext uri="{FF2B5EF4-FFF2-40B4-BE49-F238E27FC236}">
                <a16:creationId xmlns:a16="http://schemas.microsoft.com/office/drawing/2014/main" id="{F7BEC92A-23B7-BAAB-4CE5-D6D7A6417B7F}"/>
              </a:ext>
            </a:extLst>
          </p:cNvPr>
          <p:cNvSpPr>
            <a:spLocks noGrp="1"/>
          </p:cNvSpPr>
          <p:nvPr>
            <p:ph type="body" sz="quarter" idx="13"/>
          </p:nvPr>
        </p:nvSpPr>
        <p:spPr>
          <a:xfrm>
            <a:off x="836612" y="2057400"/>
            <a:ext cx="3935413" cy="380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839788" y="457200"/>
            <a:ext cx="3932237" cy="1600200"/>
          </a:xfrm>
        </p:spPr>
        <p:txBody>
          <a:bodyPr rIns="274320" anchor="ct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6850902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C3BC7800-B276-A64A-8AB0-19972C98F17B}" type="datetime1">
              <a:rPr lang="en-US" smtClean="0"/>
              <a:t>11/10/25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Picture"/>
          <p:cNvSpPr>
            <a:spLocks noGrp="1" noChangeAspect="1"/>
          </p:cNvSpPr>
          <p:nvPr>
            <p:ph type="pic" idx="1"/>
          </p:nvPr>
        </p:nvSpPr>
        <p:spPr>
          <a:xfrm>
            <a:off x="5183188" y="457201"/>
            <a:ext cx="6172200" cy="5403850"/>
          </a:xfrm>
        </p:spPr>
        <p:txBody>
          <a:bodyPr tIns="18288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Caption">
            <a:extLst>
              <a:ext uri="{FF2B5EF4-FFF2-40B4-BE49-F238E27FC236}">
                <a16:creationId xmlns:a16="http://schemas.microsoft.com/office/drawing/2014/main" id="{7D76AD61-182C-13DD-7E32-DAED6ED8CDEB}"/>
              </a:ext>
            </a:extLst>
          </p:cNvPr>
          <p:cNvSpPr>
            <a:spLocks noGrp="1"/>
          </p:cNvSpPr>
          <p:nvPr>
            <p:ph type="body" sz="quarter" idx="13"/>
          </p:nvPr>
        </p:nvSpPr>
        <p:spPr>
          <a:xfrm>
            <a:off x="836612" y="2057401"/>
            <a:ext cx="3935413" cy="380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839788" y="457200"/>
            <a:ext cx="3932237" cy="1600200"/>
          </a:xfrm>
        </p:spPr>
        <p:txBody>
          <a:bodyPr rIns="274320" anchor="ct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90768348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F1178AE4-2A10-5F42-AC8C-4BD01A79A0D1}" type="datetime1">
              <a:rPr lang="en-US" smtClean="0"/>
              <a:t>11/10/25</a:t>
            </a:fld>
            <a:endParaRPr lang="en-US"/>
          </a:p>
        </p:txBody>
      </p:sp>
      <p:sp>
        <p:nvSpPr>
          <p:cNvPr id="5" name="Footer"/>
          <p:cNvSpPr>
            <a:spLocks noGrp="1"/>
          </p:cNvSpPr>
          <p:nvPr>
            <p:ph type="ftr" sz="quarter" idx="11"/>
          </p:nvPr>
        </p:nvSpPr>
        <p:spPr/>
        <p:txBody>
          <a:bodyPr/>
          <a:lstStyle/>
          <a:p>
            <a:endParaRPr lang="en-US"/>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Vertical Text"/>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99846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E675C519-8308-2748-8B0B-F7B055AE4297}" type="datetime1">
              <a:rPr lang="en-US" smtClean="0"/>
              <a:t>11/10/25</a:t>
            </a:fld>
            <a:endParaRPr lang="en-US"/>
          </a:p>
        </p:txBody>
      </p:sp>
      <p:sp>
        <p:nvSpPr>
          <p:cNvPr id="5" name="Footer"/>
          <p:cNvSpPr>
            <a:spLocks noGrp="1"/>
          </p:cNvSpPr>
          <p:nvPr>
            <p:ph type="ftr" sz="quarter" idx="11"/>
          </p:nvPr>
        </p:nvSpPr>
        <p:spPr/>
        <p:txBody>
          <a:bodyPr/>
          <a:lstStyle/>
          <a:p>
            <a:endParaRPr lang="en-US"/>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Vertical Text"/>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Vertical Title"/>
          <p:cNvSpPr>
            <a:spLocks noGrp="1"/>
          </p:cNvSpPr>
          <p:nvPr>
            <p:ph type="title" orient="vert"/>
          </p:nvPr>
        </p:nvSpPr>
        <p:spPr>
          <a:xfrm>
            <a:off x="8724900" y="365125"/>
            <a:ext cx="2628900" cy="5811838"/>
          </a:xfrm>
        </p:spPr>
        <p:txBody>
          <a:bodyPr vert="eaVert" tIns="182880" bIns="182880"/>
          <a:lstStyle/>
          <a:p>
            <a:r>
              <a:rPr lang="en-US"/>
              <a:t>Click to edit Master title style</a:t>
            </a:r>
            <a:endParaRPr lang="en-US" dirty="0"/>
          </a:p>
        </p:txBody>
      </p:sp>
    </p:spTree>
    <p:extLst>
      <p:ext uri="{BB962C8B-B14F-4D97-AF65-F5344CB8AC3E}">
        <p14:creationId xmlns:p14="http://schemas.microsoft.com/office/powerpoint/2010/main" val="3544836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iographical profile">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E0315FA0-DFBB-0494-15F4-F94FA37BC439}"/>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248D3A38-8D3E-6EB0-FE34-FBB6F9AFC164}"/>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3331D1D9-60E1-36A2-EDA8-C31A7ED84877}"/>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6" name="Text 2">
            <a:extLst>
              <a:ext uri="{FF2B5EF4-FFF2-40B4-BE49-F238E27FC236}">
                <a16:creationId xmlns:a16="http://schemas.microsoft.com/office/drawing/2014/main" id="{AC4533C5-D85B-5D93-12B0-136A51D73C68}"/>
              </a:ext>
            </a:extLst>
          </p:cNvPr>
          <p:cNvSpPr>
            <a:spLocks noGrp="1"/>
          </p:cNvSpPr>
          <p:nvPr>
            <p:ph type="body" sz="quarter" idx="15"/>
          </p:nvPr>
        </p:nvSpPr>
        <p:spPr>
          <a:xfrm>
            <a:off x="5684088" y="565150"/>
            <a:ext cx="5672170" cy="5511800"/>
          </a:xfrm>
          <a:solidFill>
            <a:schemeClr val="bg2"/>
          </a:solidFill>
        </p:spPr>
        <p:txBody>
          <a:bodyPr lIns="365760" tIns="45720" rIns="36576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1">
            <a:extLst>
              <a:ext uri="{FF2B5EF4-FFF2-40B4-BE49-F238E27FC236}">
                <a16:creationId xmlns:a16="http://schemas.microsoft.com/office/drawing/2014/main" id="{8F52A58E-1F73-C381-F411-54304E513F36}"/>
              </a:ext>
            </a:extLst>
          </p:cNvPr>
          <p:cNvSpPr>
            <a:spLocks noGrp="1"/>
          </p:cNvSpPr>
          <p:nvPr>
            <p:ph type="body" sz="quarter" idx="13"/>
          </p:nvPr>
        </p:nvSpPr>
        <p:spPr>
          <a:xfrm>
            <a:off x="1126923" y="5453949"/>
            <a:ext cx="3868300" cy="622409"/>
          </a:xfrm>
        </p:spPr>
        <p:txBody>
          <a:bodyPr tIns="91440">
            <a:noAutofit/>
          </a:bodyPr>
          <a:lstStyle>
            <a:lvl1pPr marL="0" indent="0" algn="ctr">
              <a:lnSpc>
                <a:spcPct val="100000"/>
              </a:lnSpc>
              <a:spcBef>
                <a:spcPts val="0"/>
              </a:spcBef>
              <a:buNone/>
              <a:defRPr sz="1800"/>
            </a:lvl1pPr>
          </a:lstStyle>
          <a:p>
            <a:pPr lvl="0"/>
            <a:r>
              <a:rPr lang="en-US"/>
              <a:t>Click to edit Master text styles</a:t>
            </a:r>
          </a:p>
        </p:txBody>
      </p:sp>
      <p:sp>
        <p:nvSpPr>
          <p:cNvPr id="2" name="Title">
            <a:extLst>
              <a:ext uri="{FF2B5EF4-FFF2-40B4-BE49-F238E27FC236}">
                <a16:creationId xmlns:a16="http://schemas.microsoft.com/office/drawing/2014/main" id="{8DF94145-6C3C-7197-F652-4095F3D46474}"/>
              </a:ext>
            </a:extLst>
          </p:cNvPr>
          <p:cNvSpPr>
            <a:spLocks noGrp="1"/>
          </p:cNvSpPr>
          <p:nvPr>
            <p:ph type="title" hasCustomPrompt="1"/>
          </p:nvPr>
        </p:nvSpPr>
        <p:spPr>
          <a:xfrm>
            <a:off x="1126923" y="4557832"/>
            <a:ext cx="3867807" cy="896117"/>
          </a:xfrm>
        </p:spPr>
        <p:txBody>
          <a:bodyPr lIns="91440" anchor="ctr">
            <a:noAutofit/>
          </a:bodyPr>
          <a:lstStyle>
            <a:lvl1pPr algn="ctr">
              <a:defRPr sz="2800"/>
            </a:lvl1pPr>
          </a:lstStyle>
          <a:p>
            <a:r>
              <a:rPr lang="en-US" dirty="0"/>
              <a:t>Click to edit slide title</a:t>
            </a:r>
          </a:p>
        </p:txBody>
      </p:sp>
      <p:sp>
        <p:nvSpPr>
          <p:cNvPr id="14" name="Biographical Portrait">
            <a:extLst>
              <a:ext uri="{FF2B5EF4-FFF2-40B4-BE49-F238E27FC236}">
                <a16:creationId xmlns:a16="http://schemas.microsoft.com/office/drawing/2014/main" id="{C01C33A2-E0D6-52C6-B10A-B3D8B056EAC7}"/>
              </a:ext>
            </a:extLst>
          </p:cNvPr>
          <p:cNvSpPr>
            <a:spLocks noGrp="1"/>
          </p:cNvSpPr>
          <p:nvPr>
            <p:ph sz="quarter" idx="14"/>
          </p:nvPr>
        </p:nvSpPr>
        <p:spPr>
          <a:xfrm>
            <a:off x="1126923" y="490278"/>
            <a:ext cx="3867808" cy="4022020"/>
          </a:xfrm>
          <a:custGeom>
            <a:avLst/>
            <a:gdLst>
              <a:gd name="connsiteX0" fmla="*/ 1933904 w 3867808"/>
              <a:gd name="connsiteY0" fmla="*/ 0 h 4022020"/>
              <a:gd name="connsiteX1" fmla="*/ 3867808 w 3867808"/>
              <a:gd name="connsiteY1" fmla="*/ 2011366 h 4022020"/>
              <a:gd name="connsiteX2" fmla="*/ 2131635 w 3867808"/>
              <a:gd name="connsiteY2" fmla="*/ 4012348 h 4022020"/>
              <a:gd name="connsiteX3" fmla="*/ 1947462 w 3867808"/>
              <a:gd name="connsiteY3" fmla="*/ 4022020 h 4022020"/>
              <a:gd name="connsiteX4" fmla="*/ 1920347 w 3867808"/>
              <a:gd name="connsiteY4" fmla="*/ 4022020 h 4022020"/>
              <a:gd name="connsiteX5" fmla="*/ 1736174 w 3867808"/>
              <a:gd name="connsiteY5" fmla="*/ 4012348 h 4022020"/>
              <a:gd name="connsiteX6" fmla="*/ 0 w 3867808"/>
              <a:gd name="connsiteY6" fmla="*/ 2011366 h 4022020"/>
              <a:gd name="connsiteX7" fmla="*/ 1933904 w 3867808"/>
              <a:gd name="connsiteY7" fmla="*/ 0 h 402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7808" h="4022020">
                <a:moveTo>
                  <a:pt x="1933904" y="0"/>
                </a:moveTo>
                <a:cubicBezTo>
                  <a:pt x="3001970" y="0"/>
                  <a:pt x="3867808" y="900519"/>
                  <a:pt x="3867808" y="2011366"/>
                </a:cubicBezTo>
                <a:cubicBezTo>
                  <a:pt x="3867808" y="3052785"/>
                  <a:pt x="3106818" y="3909346"/>
                  <a:pt x="2131635" y="4012348"/>
                </a:cubicBezTo>
                <a:lnTo>
                  <a:pt x="1947462" y="4022020"/>
                </a:lnTo>
                <a:lnTo>
                  <a:pt x="1920347" y="4022020"/>
                </a:lnTo>
                <a:lnTo>
                  <a:pt x="1736174" y="4012348"/>
                </a:lnTo>
                <a:cubicBezTo>
                  <a:pt x="760991" y="3909346"/>
                  <a:pt x="0" y="3052785"/>
                  <a:pt x="0" y="2011366"/>
                </a:cubicBezTo>
                <a:cubicBezTo>
                  <a:pt x="0" y="900519"/>
                  <a:pt x="865838" y="0"/>
                  <a:pt x="1933904" y="0"/>
                </a:cubicBez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76344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x2 Grid">
    <p:spTree>
      <p:nvGrpSpPr>
        <p:cNvPr id="1" name=""/>
        <p:cNvGrpSpPr/>
        <p:nvPr/>
      </p:nvGrpSpPr>
      <p:grpSpPr>
        <a:xfrm>
          <a:off x="0" y="0"/>
          <a:ext cx="0" cy="0"/>
          <a:chOff x="0" y="0"/>
          <a:chExt cx="0" cy="0"/>
        </a:xfrm>
      </p:grpSpPr>
      <p:sp>
        <p:nvSpPr>
          <p:cNvPr id="22" name="Upper Right Background">
            <a:extLst>
              <a:ext uri="{FF2B5EF4-FFF2-40B4-BE49-F238E27FC236}">
                <a16:creationId xmlns:a16="http://schemas.microsoft.com/office/drawing/2014/main" id="{741348CF-8AE0-CDA7-6AF8-73CBD508D9C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096000" y="1362456"/>
            <a:ext cx="4389120" cy="228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Lower Left Background">
            <a:extLst>
              <a:ext uri="{FF2B5EF4-FFF2-40B4-BE49-F238E27FC236}">
                <a16:creationId xmlns:a16="http://schemas.microsoft.com/office/drawing/2014/main" id="{7A022FAC-8470-0247-48BA-724E9DA0456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706879" y="3664139"/>
            <a:ext cx="4389120" cy="228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Vertical Divider">
            <a:extLst>
              <a:ext uri="{FF2B5EF4-FFF2-40B4-BE49-F238E27FC236}">
                <a16:creationId xmlns:a16="http://schemas.microsoft.com/office/drawing/2014/main" id="{56653F9A-22F3-01A3-08FE-B872A42C741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6096000" y="1362456"/>
            <a:ext cx="0" cy="4572000"/>
          </a:xfrm>
          <a:prstGeom prst="line">
            <a:avLst/>
          </a:prstGeom>
          <a:ln w="28575">
            <a:solidFill>
              <a:srgbClr val="330662"/>
            </a:solidFill>
          </a:ln>
        </p:spPr>
        <p:style>
          <a:lnRef idx="2">
            <a:schemeClr val="accent1"/>
          </a:lnRef>
          <a:fillRef idx="0">
            <a:schemeClr val="accent1"/>
          </a:fillRef>
          <a:effectRef idx="1">
            <a:schemeClr val="accent1"/>
          </a:effectRef>
          <a:fontRef idx="minor">
            <a:schemeClr val="tx1"/>
          </a:fontRef>
        </p:style>
      </p:cxnSp>
      <p:cxnSp>
        <p:nvCxnSpPr>
          <p:cNvPr id="9" name="Horizontal Divider">
            <a:extLst>
              <a:ext uri="{FF2B5EF4-FFF2-40B4-BE49-F238E27FC236}">
                <a16:creationId xmlns:a16="http://schemas.microsoft.com/office/drawing/2014/main" id="{FD96D644-BABC-710D-9181-F5F1CFE255B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1706880" y="3648456"/>
            <a:ext cx="8778240"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sp>
        <p:nvSpPr>
          <p:cNvPr id="3" name="Date">
            <a:extLst>
              <a:ext uri="{FF2B5EF4-FFF2-40B4-BE49-F238E27FC236}">
                <a16:creationId xmlns:a16="http://schemas.microsoft.com/office/drawing/2014/main" id="{8C45C620-8DCA-F412-3FAF-615D5BE68A0C}"/>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01FB36B0-30B4-5161-4F34-C0DB33DF0497}"/>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0834D6B-037D-B08E-B56B-6F63524B7455}"/>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28" name="Lower Right Content">
            <a:extLst>
              <a:ext uri="{FF2B5EF4-FFF2-40B4-BE49-F238E27FC236}">
                <a16:creationId xmlns:a16="http://schemas.microsoft.com/office/drawing/2014/main" id="{59A8F6BE-E970-A0F4-7DDA-8524CD5C332D}"/>
              </a:ext>
            </a:extLst>
          </p:cNvPr>
          <p:cNvSpPr>
            <a:spLocks noGrp="1"/>
          </p:cNvSpPr>
          <p:nvPr>
            <p:ph sz="quarter" idx="24"/>
          </p:nvPr>
        </p:nvSpPr>
        <p:spPr>
          <a:xfrm>
            <a:off x="6095840" y="3740145"/>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Lower Right Label 2">
            <a:extLst>
              <a:ext uri="{FF2B5EF4-FFF2-40B4-BE49-F238E27FC236}">
                <a16:creationId xmlns:a16="http://schemas.microsoft.com/office/drawing/2014/main" id="{CFD30BF1-A505-9ACC-025A-469B5F029781}"/>
              </a:ext>
            </a:extLst>
          </p:cNvPr>
          <p:cNvSpPr>
            <a:spLocks noGrp="1"/>
          </p:cNvSpPr>
          <p:nvPr>
            <p:ph type="body" sz="quarter" idx="20" hasCustomPrompt="1"/>
          </p:nvPr>
        </p:nvSpPr>
        <p:spPr>
          <a:xfrm>
            <a:off x="10503409" y="4654295"/>
            <a:ext cx="1487423" cy="392113"/>
          </a:xfrm>
        </p:spPr>
        <p:txBody>
          <a:bodyPr>
            <a:noAutofit/>
          </a:bodyPr>
          <a:lstStyle>
            <a:lvl1pPr marL="0" indent="0" algn="l">
              <a:buNone/>
              <a:defRPr sz="2400" b="1"/>
            </a:lvl1pPr>
          </a:lstStyle>
          <a:p>
            <a:pPr lvl="0"/>
            <a:r>
              <a:rPr lang="en-US" dirty="0"/>
              <a:t>Label</a:t>
            </a:r>
          </a:p>
        </p:txBody>
      </p:sp>
      <p:sp>
        <p:nvSpPr>
          <p:cNvPr id="17" name="Lower Right Label 1">
            <a:extLst>
              <a:ext uri="{FF2B5EF4-FFF2-40B4-BE49-F238E27FC236}">
                <a16:creationId xmlns:a16="http://schemas.microsoft.com/office/drawing/2014/main" id="{C1877750-E333-F03B-47EC-F2033B802A89}"/>
              </a:ext>
            </a:extLst>
          </p:cNvPr>
          <p:cNvSpPr>
            <a:spLocks noGrp="1"/>
          </p:cNvSpPr>
          <p:nvPr>
            <p:ph type="body" sz="quarter" idx="16" hasCustomPrompt="1"/>
          </p:nvPr>
        </p:nvSpPr>
        <p:spPr>
          <a:xfrm>
            <a:off x="6095524" y="5962966"/>
            <a:ext cx="4389117" cy="457200"/>
          </a:xfrm>
        </p:spPr>
        <p:txBody>
          <a:bodyPr>
            <a:normAutofit/>
          </a:bodyPr>
          <a:lstStyle>
            <a:lvl1pPr marL="0" indent="0" algn="ctr">
              <a:buNone/>
              <a:defRPr sz="2400" b="1"/>
            </a:lvl1pPr>
          </a:lstStyle>
          <a:p>
            <a:pPr lvl="0"/>
            <a:r>
              <a:rPr lang="en-US" dirty="0"/>
              <a:t>Label</a:t>
            </a:r>
          </a:p>
        </p:txBody>
      </p:sp>
      <p:sp>
        <p:nvSpPr>
          <p:cNvPr id="27" name="Lower Left Content">
            <a:extLst>
              <a:ext uri="{FF2B5EF4-FFF2-40B4-BE49-F238E27FC236}">
                <a16:creationId xmlns:a16="http://schemas.microsoft.com/office/drawing/2014/main" id="{6EB568C5-C36C-C3B6-B84E-33585ED25B11}"/>
              </a:ext>
            </a:extLst>
          </p:cNvPr>
          <p:cNvSpPr>
            <a:spLocks noGrp="1"/>
          </p:cNvSpPr>
          <p:nvPr>
            <p:ph sz="quarter" idx="23"/>
          </p:nvPr>
        </p:nvSpPr>
        <p:spPr>
          <a:xfrm>
            <a:off x="1706563" y="3740145"/>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Lower Left Label 2">
            <a:extLst>
              <a:ext uri="{FF2B5EF4-FFF2-40B4-BE49-F238E27FC236}">
                <a16:creationId xmlns:a16="http://schemas.microsoft.com/office/drawing/2014/main" id="{837C4CC4-7EAF-DC30-D4DD-8B9A27E114F7}"/>
              </a:ext>
            </a:extLst>
          </p:cNvPr>
          <p:cNvSpPr>
            <a:spLocks noGrp="1"/>
          </p:cNvSpPr>
          <p:nvPr>
            <p:ph type="body" sz="quarter" idx="18" hasCustomPrompt="1"/>
          </p:nvPr>
        </p:nvSpPr>
        <p:spPr>
          <a:xfrm>
            <a:off x="201168" y="4654295"/>
            <a:ext cx="1487423" cy="392113"/>
          </a:xfrm>
        </p:spPr>
        <p:txBody>
          <a:bodyPr>
            <a:noAutofit/>
          </a:bodyPr>
          <a:lstStyle>
            <a:lvl1pPr marL="0" indent="0" algn="r">
              <a:buNone/>
              <a:defRPr sz="2400" b="1"/>
            </a:lvl1pPr>
          </a:lstStyle>
          <a:p>
            <a:pPr lvl="0"/>
            <a:r>
              <a:rPr lang="en-US" dirty="0"/>
              <a:t>Label</a:t>
            </a:r>
          </a:p>
        </p:txBody>
      </p:sp>
      <p:sp>
        <p:nvSpPr>
          <p:cNvPr id="16" name="Lower Left Label 1">
            <a:extLst>
              <a:ext uri="{FF2B5EF4-FFF2-40B4-BE49-F238E27FC236}">
                <a16:creationId xmlns:a16="http://schemas.microsoft.com/office/drawing/2014/main" id="{4B5B599D-1D6D-2F42-226C-68559DBA7D13}"/>
              </a:ext>
            </a:extLst>
          </p:cNvPr>
          <p:cNvSpPr>
            <a:spLocks noGrp="1"/>
          </p:cNvSpPr>
          <p:nvPr>
            <p:ph type="body" sz="quarter" idx="15" hasCustomPrompt="1"/>
          </p:nvPr>
        </p:nvSpPr>
        <p:spPr>
          <a:xfrm>
            <a:off x="1706406" y="5962966"/>
            <a:ext cx="4389119" cy="457200"/>
          </a:xfrm>
        </p:spPr>
        <p:txBody>
          <a:bodyPr>
            <a:normAutofit/>
          </a:bodyPr>
          <a:lstStyle>
            <a:lvl1pPr marL="0" indent="0" algn="ctr">
              <a:buNone/>
              <a:defRPr sz="2400" b="1"/>
            </a:lvl1pPr>
          </a:lstStyle>
          <a:p>
            <a:pPr lvl="0"/>
            <a:r>
              <a:rPr lang="en-US" dirty="0"/>
              <a:t>Label</a:t>
            </a:r>
          </a:p>
        </p:txBody>
      </p:sp>
      <p:sp>
        <p:nvSpPr>
          <p:cNvPr id="26" name="Upper Right Content">
            <a:extLst>
              <a:ext uri="{FF2B5EF4-FFF2-40B4-BE49-F238E27FC236}">
                <a16:creationId xmlns:a16="http://schemas.microsoft.com/office/drawing/2014/main" id="{C9BA5D50-354F-362B-0D00-D2581CEB93AE}"/>
              </a:ext>
            </a:extLst>
          </p:cNvPr>
          <p:cNvSpPr>
            <a:spLocks noGrp="1"/>
          </p:cNvSpPr>
          <p:nvPr>
            <p:ph sz="quarter" idx="22"/>
          </p:nvPr>
        </p:nvSpPr>
        <p:spPr>
          <a:xfrm>
            <a:off x="6095840" y="1358773"/>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Upper Right Label 2">
            <a:extLst>
              <a:ext uri="{FF2B5EF4-FFF2-40B4-BE49-F238E27FC236}">
                <a16:creationId xmlns:a16="http://schemas.microsoft.com/office/drawing/2014/main" id="{95D7251D-C3E9-D88C-6B59-37FDF825BC98}"/>
              </a:ext>
            </a:extLst>
          </p:cNvPr>
          <p:cNvSpPr>
            <a:spLocks noGrp="1"/>
          </p:cNvSpPr>
          <p:nvPr>
            <p:ph type="body" sz="quarter" idx="19" hasCustomPrompt="1"/>
          </p:nvPr>
        </p:nvSpPr>
        <p:spPr>
          <a:xfrm>
            <a:off x="10503409" y="2176811"/>
            <a:ext cx="1487423" cy="392113"/>
          </a:xfrm>
        </p:spPr>
        <p:txBody>
          <a:bodyPr>
            <a:noAutofit/>
          </a:bodyPr>
          <a:lstStyle>
            <a:lvl1pPr marL="0" indent="0" algn="l">
              <a:buNone/>
              <a:defRPr sz="2400" b="1"/>
            </a:lvl1pPr>
          </a:lstStyle>
          <a:p>
            <a:pPr lvl="0"/>
            <a:r>
              <a:rPr lang="en-US" dirty="0"/>
              <a:t>Label</a:t>
            </a:r>
          </a:p>
        </p:txBody>
      </p:sp>
      <p:sp>
        <p:nvSpPr>
          <p:cNvPr id="15" name="Upper Right Label 1">
            <a:extLst>
              <a:ext uri="{FF2B5EF4-FFF2-40B4-BE49-F238E27FC236}">
                <a16:creationId xmlns:a16="http://schemas.microsoft.com/office/drawing/2014/main" id="{01DC97BE-4E44-4321-55D1-58467CA8CD69}"/>
              </a:ext>
            </a:extLst>
          </p:cNvPr>
          <p:cNvSpPr>
            <a:spLocks noGrp="1"/>
          </p:cNvSpPr>
          <p:nvPr>
            <p:ph type="body" sz="quarter" idx="14" hasCustomPrompt="1"/>
          </p:nvPr>
        </p:nvSpPr>
        <p:spPr>
          <a:xfrm>
            <a:off x="6095524" y="904718"/>
            <a:ext cx="4389117" cy="457200"/>
          </a:xfrm>
        </p:spPr>
        <p:txBody>
          <a:bodyPr anchor="b">
            <a:normAutofit/>
          </a:bodyPr>
          <a:lstStyle>
            <a:lvl1pPr marL="0" indent="0" algn="ctr">
              <a:buNone/>
              <a:defRPr sz="2400" b="1"/>
            </a:lvl1pPr>
          </a:lstStyle>
          <a:p>
            <a:pPr lvl="0"/>
            <a:r>
              <a:rPr lang="en-US" dirty="0"/>
              <a:t>Label</a:t>
            </a:r>
          </a:p>
        </p:txBody>
      </p:sp>
      <p:sp>
        <p:nvSpPr>
          <p:cNvPr id="25" name="Upper Left Content">
            <a:extLst>
              <a:ext uri="{FF2B5EF4-FFF2-40B4-BE49-F238E27FC236}">
                <a16:creationId xmlns:a16="http://schemas.microsoft.com/office/drawing/2014/main" id="{34ADB10B-DD8F-366C-2FE7-EB6B19010DCA}"/>
              </a:ext>
            </a:extLst>
          </p:cNvPr>
          <p:cNvSpPr>
            <a:spLocks noGrp="1"/>
          </p:cNvSpPr>
          <p:nvPr>
            <p:ph sz="quarter" idx="21"/>
          </p:nvPr>
        </p:nvSpPr>
        <p:spPr>
          <a:xfrm>
            <a:off x="1706563" y="1358773"/>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Upper Left Label 2">
            <a:extLst>
              <a:ext uri="{FF2B5EF4-FFF2-40B4-BE49-F238E27FC236}">
                <a16:creationId xmlns:a16="http://schemas.microsoft.com/office/drawing/2014/main" id="{A2A1B410-A6E6-1BF0-054A-670E8ED31FDA}"/>
              </a:ext>
            </a:extLst>
          </p:cNvPr>
          <p:cNvSpPr>
            <a:spLocks noGrp="1"/>
          </p:cNvSpPr>
          <p:nvPr>
            <p:ph type="body" sz="quarter" idx="17" hasCustomPrompt="1"/>
          </p:nvPr>
        </p:nvSpPr>
        <p:spPr>
          <a:xfrm>
            <a:off x="201168" y="2176811"/>
            <a:ext cx="1487423" cy="392113"/>
          </a:xfrm>
        </p:spPr>
        <p:txBody>
          <a:bodyPr>
            <a:noAutofit/>
          </a:bodyPr>
          <a:lstStyle>
            <a:lvl1pPr marL="0" indent="0" algn="r">
              <a:buNone/>
              <a:defRPr sz="2400" b="1"/>
            </a:lvl1pPr>
          </a:lstStyle>
          <a:p>
            <a:pPr lvl="0"/>
            <a:r>
              <a:rPr lang="en-US" dirty="0"/>
              <a:t>Label</a:t>
            </a:r>
          </a:p>
        </p:txBody>
      </p:sp>
      <p:sp>
        <p:nvSpPr>
          <p:cNvPr id="14" name="Upper Left Label 1">
            <a:extLst>
              <a:ext uri="{FF2B5EF4-FFF2-40B4-BE49-F238E27FC236}">
                <a16:creationId xmlns:a16="http://schemas.microsoft.com/office/drawing/2014/main" id="{49583889-99E8-7796-E87C-F99F6EE72DE7}"/>
              </a:ext>
            </a:extLst>
          </p:cNvPr>
          <p:cNvSpPr>
            <a:spLocks noGrp="1"/>
          </p:cNvSpPr>
          <p:nvPr>
            <p:ph type="body" sz="quarter" idx="13" hasCustomPrompt="1"/>
          </p:nvPr>
        </p:nvSpPr>
        <p:spPr>
          <a:xfrm>
            <a:off x="1706406" y="904718"/>
            <a:ext cx="4389119" cy="457200"/>
          </a:xfrm>
        </p:spPr>
        <p:txBody>
          <a:bodyPr anchor="b">
            <a:normAutofit/>
          </a:bodyPr>
          <a:lstStyle>
            <a:lvl1pPr marL="0" indent="0" algn="ctr">
              <a:buNone/>
              <a:defRPr sz="2400" b="1"/>
            </a:lvl1pPr>
          </a:lstStyle>
          <a:p>
            <a:pPr lvl="0"/>
            <a:r>
              <a:rPr lang="en-US" dirty="0"/>
              <a:t>Label</a:t>
            </a:r>
          </a:p>
        </p:txBody>
      </p:sp>
      <p:sp>
        <p:nvSpPr>
          <p:cNvPr id="2" name="Title">
            <a:extLst>
              <a:ext uri="{FF2B5EF4-FFF2-40B4-BE49-F238E27FC236}">
                <a16:creationId xmlns:a16="http://schemas.microsoft.com/office/drawing/2014/main" id="{1C5C5A4C-3D9C-8F95-687D-4440AD423F6B}"/>
              </a:ext>
            </a:extLst>
          </p:cNvPr>
          <p:cNvSpPr>
            <a:spLocks noGrp="1"/>
          </p:cNvSpPr>
          <p:nvPr>
            <p:ph type="title" hasCustomPrompt="1"/>
          </p:nvPr>
        </p:nvSpPr>
        <p:spPr>
          <a:xfrm>
            <a:off x="838200" y="365126"/>
            <a:ext cx="10515600" cy="542736"/>
          </a:xfrm>
        </p:spPr>
        <p:txBody>
          <a:bodyPr>
            <a:noAutofit/>
          </a:bodyPr>
          <a:lstStyle>
            <a:lvl1pPr>
              <a:defRPr sz="3200"/>
            </a:lvl1pPr>
          </a:lstStyle>
          <a:p>
            <a:r>
              <a:rPr lang="en-US" dirty="0"/>
              <a:t>Click to edit slide title</a:t>
            </a:r>
          </a:p>
        </p:txBody>
      </p:sp>
    </p:spTree>
    <p:extLst>
      <p:ext uri="{BB962C8B-B14F-4D97-AF65-F5344CB8AC3E}">
        <p14:creationId xmlns:p14="http://schemas.microsoft.com/office/powerpoint/2010/main" val="224615008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5BF72350-7C98-FBEB-2F3B-2484C5946840}"/>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EE8AD11E-DA5D-22C0-7E98-72840ACE0BFB}"/>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5F3E7FD-E179-CFF4-29F5-C801F3EC40C8}"/>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9" name="Picture">
            <a:extLst>
              <a:ext uri="{FF2B5EF4-FFF2-40B4-BE49-F238E27FC236}">
                <a16:creationId xmlns:a16="http://schemas.microsoft.com/office/drawing/2014/main" id="{924D0665-6B62-D94C-6BB9-A5F32444BAF7}"/>
              </a:ext>
            </a:extLst>
          </p:cNvPr>
          <p:cNvSpPr>
            <a:spLocks noGrp="1"/>
          </p:cNvSpPr>
          <p:nvPr>
            <p:ph type="pic" sz="quarter" idx="14" hasCustomPrompt="1"/>
          </p:nvPr>
        </p:nvSpPr>
        <p:spPr>
          <a:xfrm>
            <a:off x="0" y="0"/>
            <a:ext cx="12192000" cy="6858000"/>
          </a:xfrm>
        </p:spPr>
        <p:txBody>
          <a:bodyPr tIns="2743200"/>
          <a:lstStyle>
            <a:lvl1pPr marL="0" indent="0" algn="ctr">
              <a:buNone/>
              <a:defRPr/>
            </a:lvl1pPr>
          </a:lstStyle>
          <a:p>
            <a:r>
              <a:rPr lang="en-US" dirty="0"/>
              <a:t>Click icon to add picture. Resize to fill screen if necessary.</a:t>
            </a:r>
          </a:p>
        </p:txBody>
      </p:sp>
      <p:sp>
        <p:nvSpPr>
          <p:cNvPr id="7" name="Caption">
            <a:extLst>
              <a:ext uri="{FF2B5EF4-FFF2-40B4-BE49-F238E27FC236}">
                <a16:creationId xmlns:a16="http://schemas.microsoft.com/office/drawing/2014/main" id="{D0F66A68-CFCE-76B6-AA53-FDBE844F5700}"/>
              </a:ext>
            </a:extLst>
          </p:cNvPr>
          <p:cNvSpPr>
            <a:spLocks noGrp="1"/>
          </p:cNvSpPr>
          <p:nvPr>
            <p:ph type="body" sz="quarter" idx="13" hasCustomPrompt="1"/>
          </p:nvPr>
        </p:nvSpPr>
        <p:spPr>
          <a:xfrm>
            <a:off x="0" y="5737651"/>
            <a:ext cx="5872095" cy="587375"/>
          </a:xfrm>
          <a:solidFill>
            <a:schemeClr val="accent6"/>
          </a:solidFill>
        </p:spPr>
        <p:txBody>
          <a:bodyPr lIns="822960" anchor="ctr">
            <a:normAutofit/>
          </a:bodyPr>
          <a:lstStyle>
            <a:lvl1pPr marL="0" indent="0">
              <a:buNone/>
              <a:defRPr sz="2400">
                <a:solidFill>
                  <a:schemeClr val="bg1"/>
                </a:solidFill>
              </a:defRPr>
            </a:lvl1pPr>
          </a:lstStyle>
          <a:p>
            <a:pPr lvl="0"/>
            <a:r>
              <a:rPr lang="en-US" dirty="0"/>
              <a:t>Add image caption</a:t>
            </a:r>
          </a:p>
        </p:txBody>
      </p:sp>
      <p:sp>
        <p:nvSpPr>
          <p:cNvPr id="2" name="Title">
            <a:extLst>
              <a:ext uri="{FF2B5EF4-FFF2-40B4-BE49-F238E27FC236}">
                <a16:creationId xmlns:a16="http://schemas.microsoft.com/office/drawing/2014/main" id="{A8B02C69-13B3-AF45-CE38-55FAC6F83018}"/>
              </a:ext>
            </a:extLst>
          </p:cNvPr>
          <p:cNvSpPr>
            <a:spLocks noGrp="1"/>
          </p:cNvSpPr>
          <p:nvPr>
            <p:ph type="title" hasCustomPrompt="1"/>
          </p:nvPr>
        </p:nvSpPr>
        <p:spPr>
          <a:xfrm>
            <a:off x="0" y="4901609"/>
            <a:ext cx="6171117" cy="836754"/>
          </a:xfrm>
          <a:solidFill>
            <a:schemeClr val="accent1"/>
          </a:solidFill>
        </p:spPr>
        <p:txBody>
          <a:bodyPr lIns="822960">
            <a:noAutofit/>
          </a:bodyPr>
          <a:lstStyle>
            <a:lvl1pPr>
              <a:defRPr sz="3200">
                <a:solidFill>
                  <a:schemeClr val="bg1"/>
                </a:solidFill>
                <a:effectLst/>
              </a:defRPr>
            </a:lvl1pPr>
          </a:lstStyle>
          <a:p>
            <a:r>
              <a:rPr lang="en-US" dirty="0"/>
              <a:t>Click to add image title</a:t>
            </a:r>
          </a:p>
        </p:txBody>
      </p:sp>
    </p:spTree>
    <p:extLst>
      <p:ext uri="{BB962C8B-B14F-4D97-AF65-F5344CB8AC3E}">
        <p14:creationId xmlns:p14="http://schemas.microsoft.com/office/powerpoint/2010/main" val="170681299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rge image with capti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5345CF1A-4C10-1E0A-F359-242D961D8EC1}"/>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5F89A3E1-10E8-DF5C-ADA7-7AA1AC1888E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9A5217EA-2F5D-8BD3-F6A4-7D27B940EF71}"/>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1" name="Caption">
            <a:extLst>
              <a:ext uri="{FF2B5EF4-FFF2-40B4-BE49-F238E27FC236}">
                <a16:creationId xmlns:a16="http://schemas.microsoft.com/office/drawing/2014/main" id="{28B89F34-6ED0-DAD7-D81D-47BF20B8B65B}"/>
              </a:ext>
            </a:extLst>
          </p:cNvPr>
          <p:cNvSpPr>
            <a:spLocks noGrp="1"/>
          </p:cNvSpPr>
          <p:nvPr>
            <p:ph type="body" sz="quarter" idx="14" hasCustomPrompt="1"/>
          </p:nvPr>
        </p:nvSpPr>
        <p:spPr>
          <a:xfrm>
            <a:off x="838199" y="5640428"/>
            <a:ext cx="10515601" cy="592656"/>
          </a:xfrm>
        </p:spPr>
        <p:txBody>
          <a:bodyPr/>
          <a:lstStyle>
            <a:lvl1pPr marL="0" indent="0" algn="ctr">
              <a:buNone/>
              <a:defRPr sz="2000" i="1"/>
            </a:lvl1pPr>
          </a:lstStyle>
          <a:p>
            <a:pPr lvl="0"/>
            <a:r>
              <a:rPr lang="en-US" dirty="0"/>
              <a:t>Click to add an image caption</a:t>
            </a:r>
          </a:p>
        </p:txBody>
      </p:sp>
      <p:sp>
        <p:nvSpPr>
          <p:cNvPr id="13" name="Picture or Content">
            <a:extLst>
              <a:ext uri="{FF2B5EF4-FFF2-40B4-BE49-F238E27FC236}">
                <a16:creationId xmlns:a16="http://schemas.microsoft.com/office/drawing/2014/main" id="{CD1EE5D5-5FAF-B62D-975C-50CD0639937E}"/>
              </a:ext>
            </a:extLst>
          </p:cNvPr>
          <p:cNvSpPr>
            <a:spLocks noGrp="1"/>
          </p:cNvSpPr>
          <p:nvPr>
            <p:ph sz="quarter" idx="15"/>
          </p:nvPr>
        </p:nvSpPr>
        <p:spPr>
          <a:xfrm>
            <a:off x="838200" y="1377023"/>
            <a:ext cx="10515600" cy="4253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6EDF3277-C373-C98B-51F8-11BE6680E54C}"/>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19889363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Way Comparis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672552CE-57B0-D785-85F5-225E32E6D2A3}"/>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93EB0BEA-0AF7-A252-24DF-6C97D14F175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54B4D71D-AD5D-4C98-1899-1F087628EB0F}"/>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3" name="Column 3 Content">
            <a:extLst>
              <a:ext uri="{FF2B5EF4-FFF2-40B4-BE49-F238E27FC236}">
                <a16:creationId xmlns:a16="http://schemas.microsoft.com/office/drawing/2014/main" id="{05C1C30C-0CDC-3433-354D-EE9FD3483FE1}"/>
              </a:ext>
            </a:extLst>
          </p:cNvPr>
          <p:cNvSpPr>
            <a:spLocks noGrp="1"/>
          </p:cNvSpPr>
          <p:nvPr>
            <p:ph type="body" sz="quarter" idx="16"/>
          </p:nvPr>
        </p:nvSpPr>
        <p:spPr>
          <a:xfrm>
            <a:off x="8153399"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lumn 3 Header">
            <a:extLst>
              <a:ext uri="{FF2B5EF4-FFF2-40B4-BE49-F238E27FC236}">
                <a16:creationId xmlns:a16="http://schemas.microsoft.com/office/drawing/2014/main" id="{EAD20429-72EA-1AA7-5960-5D9EC8A91AE0}"/>
              </a:ext>
            </a:extLst>
          </p:cNvPr>
          <p:cNvSpPr>
            <a:spLocks noGrp="1"/>
          </p:cNvSpPr>
          <p:nvPr>
            <p:ph type="body" sz="quarter" idx="15"/>
          </p:nvPr>
        </p:nvSpPr>
        <p:spPr>
          <a:xfrm>
            <a:off x="81534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Column 2 Content">
            <a:extLst>
              <a:ext uri="{FF2B5EF4-FFF2-40B4-BE49-F238E27FC236}">
                <a16:creationId xmlns:a16="http://schemas.microsoft.com/office/drawing/2014/main" id="{D0A545A4-8A49-4146-D78B-41174161DC0F}"/>
              </a:ext>
            </a:extLst>
          </p:cNvPr>
          <p:cNvSpPr>
            <a:spLocks noGrp="1"/>
          </p:cNvSpPr>
          <p:nvPr>
            <p:ph type="body" sz="quarter" idx="17"/>
          </p:nvPr>
        </p:nvSpPr>
        <p:spPr>
          <a:xfrm>
            <a:off x="4495799"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lumn 2 Header">
            <a:extLst>
              <a:ext uri="{FF2B5EF4-FFF2-40B4-BE49-F238E27FC236}">
                <a16:creationId xmlns:a16="http://schemas.microsoft.com/office/drawing/2014/main" id="{9314D649-A64C-6E34-2130-1BDF8C873E8E}"/>
              </a:ext>
            </a:extLst>
          </p:cNvPr>
          <p:cNvSpPr>
            <a:spLocks noGrp="1"/>
          </p:cNvSpPr>
          <p:nvPr>
            <p:ph type="body" sz="quarter" idx="14"/>
          </p:nvPr>
        </p:nvSpPr>
        <p:spPr>
          <a:xfrm>
            <a:off x="44958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5" name="Column 1 Content">
            <a:extLst>
              <a:ext uri="{FF2B5EF4-FFF2-40B4-BE49-F238E27FC236}">
                <a16:creationId xmlns:a16="http://schemas.microsoft.com/office/drawing/2014/main" id="{C23072DC-4A0E-C83E-BDE9-54755DDCF746}"/>
              </a:ext>
            </a:extLst>
          </p:cNvPr>
          <p:cNvSpPr>
            <a:spLocks noGrp="1"/>
          </p:cNvSpPr>
          <p:nvPr>
            <p:ph type="body" sz="quarter" idx="18"/>
          </p:nvPr>
        </p:nvSpPr>
        <p:spPr>
          <a:xfrm>
            <a:off x="838198"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lumn 1 Header">
            <a:extLst>
              <a:ext uri="{FF2B5EF4-FFF2-40B4-BE49-F238E27FC236}">
                <a16:creationId xmlns:a16="http://schemas.microsoft.com/office/drawing/2014/main" id="{C9BF1D7D-132C-5DC4-A1F8-16FE0BFECFB3}"/>
              </a:ext>
            </a:extLst>
          </p:cNvPr>
          <p:cNvSpPr>
            <a:spLocks noGrp="1"/>
          </p:cNvSpPr>
          <p:nvPr>
            <p:ph type="body" sz="quarter" idx="13"/>
          </p:nvPr>
        </p:nvSpPr>
        <p:spPr>
          <a:xfrm>
            <a:off x="8382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Title">
            <a:extLst>
              <a:ext uri="{FF2B5EF4-FFF2-40B4-BE49-F238E27FC236}">
                <a16:creationId xmlns:a16="http://schemas.microsoft.com/office/drawing/2014/main" id="{9F6E66BC-C77D-5E9E-4407-6B490F15E21A}"/>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95742848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Way Comparis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672552CE-57B0-D785-85F5-225E32E6D2A3}"/>
              </a:ext>
            </a:extLst>
          </p:cNvPr>
          <p:cNvSpPr>
            <a:spLocks noGrp="1"/>
          </p:cNvSpPr>
          <p:nvPr>
            <p:ph type="dt" sz="half" idx="10"/>
          </p:nvPr>
        </p:nvSpPr>
        <p:spPr/>
        <p:txBody>
          <a:bodyPr/>
          <a:lstStyle/>
          <a:p>
            <a:fld id="{C3BC7800-B276-A64A-8AB0-19972C98F17B}" type="datetime1">
              <a:rPr lang="en-US" smtClean="0"/>
              <a:t>11/10/25</a:t>
            </a:fld>
            <a:endParaRPr lang="en-US"/>
          </a:p>
        </p:txBody>
      </p:sp>
      <p:sp>
        <p:nvSpPr>
          <p:cNvPr id="4" name="Footer">
            <a:extLst>
              <a:ext uri="{FF2B5EF4-FFF2-40B4-BE49-F238E27FC236}">
                <a16:creationId xmlns:a16="http://schemas.microsoft.com/office/drawing/2014/main" id="{93EB0BEA-0AF7-A252-24DF-6C97D14F175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54B4D71D-AD5D-4C98-1899-1F087628EB0F}"/>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7" name="Column 4 Content">
            <a:extLst>
              <a:ext uri="{FF2B5EF4-FFF2-40B4-BE49-F238E27FC236}">
                <a16:creationId xmlns:a16="http://schemas.microsoft.com/office/drawing/2014/main" id="{34C4BCE7-4191-F2A9-F80D-F627E9EA0778}"/>
              </a:ext>
            </a:extLst>
          </p:cNvPr>
          <p:cNvSpPr>
            <a:spLocks noGrp="1"/>
          </p:cNvSpPr>
          <p:nvPr>
            <p:ph type="body" sz="quarter" idx="24"/>
          </p:nvPr>
        </p:nvSpPr>
        <p:spPr>
          <a:xfrm>
            <a:off x="8839198" y="2743198"/>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lumn 4 Header">
            <a:extLst>
              <a:ext uri="{FF2B5EF4-FFF2-40B4-BE49-F238E27FC236}">
                <a16:creationId xmlns:a16="http://schemas.microsoft.com/office/drawing/2014/main" id="{1B8965D5-7659-2A00-C376-DD8B3ACA7130}"/>
              </a:ext>
            </a:extLst>
          </p:cNvPr>
          <p:cNvSpPr>
            <a:spLocks noGrp="1"/>
          </p:cNvSpPr>
          <p:nvPr>
            <p:ph type="body" sz="quarter" idx="23"/>
          </p:nvPr>
        </p:nvSpPr>
        <p:spPr>
          <a:xfrm>
            <a:off x="8839200" y="1828799"/>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2" name="Column 3 Content">
            <a:extLst>
              <a:ext uri="{FF2B5EF4-FFF2-40B4-BE49-F238E27FC236}">
                <a16:creationId xmlns:a16="http://schemas.microsoft.com/office/drawing/2014/main" id="{E901D810-CC36-C6AA-9EDE-FB64CCF9EABF}"/>
              </a:ext>
            </a:extLst>
          </p:cNvPr>
          <p:cNvSpPr>
            <a:spLocks noGrp="1"/>
          </p:cNvSpPr>
          <p:nvPr>
            <p:ph type="body" sz="quarter" idx="22"/>
          </p:nvPr>
        </p:nvSpPr>
        <p:spPr>
          <a:xfrm>
            <a:off x="6179166" y="2743198"/>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lumn 3 Header">
            <a:extLst>
              <a:ext uri="{FF2B5EF4-FFF2-40B4-BE49-F238E27FC236}">
                <a16:creationId xmlns:a16="http://schemas.microsoft.com/office/drawing/2014/main" id="{303B94A8-CAE7-3320-55C2-EC5B8724067F}"/>
              </a:ext>
            </a:extLst>
          </p:cNvPr>
          <p:cNvSpPr>
            <a:spLocks noGrp="1"/>
          </p:cNvSpPr>
          <p:nvPr>
            <p:ph type="body" sz="quarter" idx="21"/>
          </p:nvPr>
        </p:nvSpPr>
        <p:spPr>
          <a:xfrm>
            <a:off x="6172200" y="1828799"/>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Column 2 Content">
            <a:extLst>
              <a:ext uri="{FF2B5EF4-FFF2-40B4-BE49-F238E27FC236}">
                <a16:creationId xmlns:a16="http://schemas.microsoft.com/office/drawing/2014/main" id="{CB09BE5E-E412-C4BE-23E6-1B9E9E610C0A}"/>
              </a:ext>
            </a:extLst>
          </p:cNvPr>
          <p:cNvSpPr>
            <a:spLocks noGrp="1"/>
          </p:cNvSpPr>
          <p:nvPr>
            <p:ph type="body" sz="quarter" idx="20"/>
          </p:nvPr>
        </p:nvSpPr>
        <p:spPr>
          <a:xfrm>
            <a:off x="3498230" y="2743199"/>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lumn 2 Header">
            <a:extLst>
              <a:ext uri="{FF2B5EF4-FFF2-40B4-BE49-F238E27FC236}">
                <a16:creationId xmlns:a16="http://schemas.microsoft.com/office/drawing/2014/main" id="{FE4E8193-CA60-39C5-BF2A-642510ED2AD5}"/>
              </a:ext>
            </a:extLst>
          </p:cNvPr>
          <p:cNvSpPr>
            <a:spLocks noGrp="1"/>
          </p:cNvSpPr>
          <p:nvPr>
            <p:ph type="body" sz="quarter" idx="19"/>
          </p:nvPr>
        </p:nvSpPr>
        <p:spPr>
          <a:xfrm>
            <a:off x="3505200" y="1828800"/>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5" name="Column 1 Content">
            <a:extLst>
              <a:ext uri="{FF2B5EF4-FFF2-40B4-BE49-F238E27FC236}">
                <a16:creationId xmlns:a16="http://schemas.microsoft.com/office/drawing/2014/main" id="{C23072DC-4A0E-C83E-BDE9-54755DDCF746}"/>
              </a:ext>
            </a:extLst>
          </p:cNvPr>
          <p:cNvSpPr>
            <a:spLocks noGrp="1"/>
          </p:cNvSpPr>
          <p:nvPr>
            <p:ph type="body" sz="quarter" idx="18"/>
          </p:nvPr>
        </p:nvSpPr>
        <p:spPr>
          <a:xfrm>
            <a:off x="838198" y="2743199"/>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lumn 1 Header">
            <a:extLst>
              <a:ext uri="{FF2B5EF4-FFF2-40B4-BE49-F238E27FC236}">
                <a16:creationId xmlns:a16="http://schemas.microsoft.com/office/drawing/2014/main" id="{C9BF1D7D-132C-5DC4-A1F8-16FE0BFECFB3}"/>
              </a:ext>
            </a:extLst>
          </p:cNvPr>
          <p:cNvSpPr>
            <a:spLocks noGrp="1"/>
          </p:cNvSpPr>
          <p:nvPr>
            <p:ph type="body" sz="quarter" idx="13"/>
          </p:nvPr>
        </p:nvSpPr>
        <p:spPr>
          <a:xfrm>
            <a:off x="838200" y="1828800"/>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Title">
            <a:extLst>
              <a:ext uri="{FF2B5EF4-FFF2-40B4-BE49-F238E27FC236}">
                <a16:creationId xmlns:a16="http://schemas.microsoft.com/office/drawing/2014/main" id="{9F6E66BC-C77D-5E9E-4407-6B490F15E21A}"/>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18736292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sp>
        <p:nvSpPr>
          <p:cNvPr id="4" name="Rectangle 4"/>
          <p:cNvSpPr>
            <a:spLocks noGrp="1" noChangeArrowheads="1"/>
          </p:cNvSpPr>
          <p:nvPr>
            <p:ph type="dt" sz="half" idx="10"/>
          </p:nvPr>
        </p:nvSpPr>
        <p:spPr>
          <a:ln/>
        </p:spPr>
        <p:txBody>
          <a:bodyPr/>
          <a:lstStyle>
            <a:lvl1pPr>
              <a:defRPr/>
            </a:lvl1pPr>
          </a:lstStyle>
          <a:p>
            <a:fld id="{C3BC7800-B276-A64A-8AB0-19972C98F17B}" type="datetime1">
              <a:rPr lang="en-US" smtClean="0"/>
              <a:t>11/10/25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BBEE3BA-F264-1746-880E-39AD601DF2B1}" type="slidenum">
              <a:rPr lang="en-US" smtClean="0"/>
              <a:t>‹#›</a:t>
            </a:fld>
            <a:endParaRPr lang="en-US"/>
          </a:p>
        </p:txBody>
      </p:sp>
      <p:sp>
        <p:nvSpPr>
          <p:cNvPr id="3" name="Text Placeholder 2">
            <a:extLst>
              <a:ext uri="{FF2B5EF4-FFF2-40B4-BE49-F238E27FC236}">
                <a16:creationId xmlns:a16="http://schemas.microsoft.com/office/drawing/2014/main" id="{39B056C3-2019-B406-B923-FB0A68BB9435}"/>
              </a:ext>
            </a:extLst>
          </p:cNvPr>
          <p:cNvSpPr>
            <a:spLocks noGrp="1"/>
          </p:cNvSpPr>
          <p:nvPr>
            <p:ph type="body" sz="quarter" idx="13" hasCustomPrompt="1"/>
          </p:nvPr>
        </p:nvSpPr>
        <p:spPr>
          <a:xfrm>
            <a:off x="808476" y="1769441"/>
            <a:ext cx="4638168" cy="914400"/>
          </a:xfrm>
        </p:spPr>
        <p:txBody>
          <a:bodyPr/>
          <a:lstStyle>
            <a:lvl1pPr marL="0" indent="0">
              <a:buNone/>
              <a:defRPr sz="3200">
                <a:solidFill>
                  <a:schemeClr val="bg1"/>
                </a:solidFill>
              </a:defRPr>
            </a:lvl1pPr>
          </a:lstStyle>
          <a:p>
            <a:pPr lvl="0"/>
            <a:r>
              <a:rPr lang="en-US" dirty="0"/>
              <a:t>Placeholder</a:t>
            </a:r>
          </a:p>
        </p:txBody>
      </p:sp>
    </p:spTree>
    <p:extLst>
      <p:ext uri="{BB962C8B-B14F-4D97-AF65-F5344CB8AC3E}">
        <p14:creationId xmlns:p14="http://schemas.microsoft.com/office/powerpoint/2010/main" val="41544482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2"/>
          </p:nvPr>
        </p:nvSpPr>
        <p:spPr>
          <a:xfrm>
            <a:off x="6927794" y="6356350"/>
            <a:ext cx="1370926"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3BC7800-B276-A64A-8AB0-19972C98F17B}" type="datetime1">
              <a:rPr lang="en-US" smtClean="0"/>
              <a:t>11/10/25</a:t>
            </a:fld>
            <a:endParaRPr lang="en-US"/>
          </a:p>
        </p:txBody>
      </p:sp>
      <p:sp>
        <p:nvSpPr>
          <p:cNvPr id="5" name="Footer"/>
          <p:cNvSpPr>
            <a:spLocks noGrp="1"/>
          </p:cNvSpPr>
          <p:nvPr>
            <p:ph type="ftr" sz="quarter" idx="3"/>
          </p:nvPr>
        </p:nvSpPr>
        <p:spPr>
          <a:xfrm>
            <a:off x="2501114" y="6356350"/>
            <a:ext cx="41148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cNvSpPr>
            <a:spLocks noGrp="1"/>
          </p:cNvSpPr>
          <p:nvPr>
            <p:ph type="sldNum" sz="quarter" idx="4"/>
          </p:nvPr>
        </p:nvSpPr>
        <p:spPr>
          <a:xfrm>
            <a:off x="838200" y="6356350"/>
            <a:ext cx="1351034"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ABBEE3BA-F264-1746-880E-39AD601DF2B1}" type="slidenum">
              <a:rPr lang="en-US" smtClean="0"/>
              <a:t>‹#›</a:t>
            </a:fld>
            <a:endParaRPr lang="en-US"/>
          </a:p>
        </p:txBody>
      </p:sp>
      <p:sp>
        <p:nvSpPr>
          <p:cNvPr id="3" name="Text"/>
          <p:cNvSpPr>
            <a:spLocks noGrp="1"/>
          </p:cNvSpPr>
          <p:nvPr>
            <p:ph type="body" idx="1"/>
          </p:nvPr>
        </p:nvSpPr>
        <p:spPr>
          <a:xfrm>
            <a:off x="838200" y="1602658"/>
            <a:ext cx="10515600" cy="45743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838200" y="365125"/>
            <a:ext cx="10515600" cy="1001559"/>
          </a:xfrm>
          <a:prstGeom prst="rect">
            <a:avLst/>
          </a:prstGeom>
          <a:noFill/>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71619962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Lst>
  <p:hf hdr="0" ftr="0" dt="0"/>
  <p:txStyles>
    <p:titleStyle>
      <a:lvl1pPr algn="l" defTabSz="914400" rtl="0" eaLnBrk="1" latinLnBrk="0" hangingPunct="1">
        <a:lnSpc>
          <a:spcPct val="90000"/>
        </a:lnSpc>
        <a:spcBef>
          <a:spcPct val="0"/>
        </a:spcBef>
        <a:buNone/>
        <a:defRPr sz="4400" b="1" kern="1200">
          <a:solidFill>
            <a:schemeClr val="accent1"/>
          </a:solidFill>
          <a:latin typeface="Montserrat" pitchFamily="2" charset="77"/>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100000"/>
        </a:lnSpc>
        <a:spcBef>
          <a:spcPts val="500"/>
        </a:spcBef>
        <a:buSzPct val="80000"/>
        <a:buFont typeface="Wingdings"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100000"/>
        </a:lnSpc>
        <a:spcBef>
          <a:spcPts val="500"/>
        </a:spcBef>
        <a:buSzPct val="70000"/>
        <a:buFont typeface="Wingdings"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500"/>
        </a:spcBef>
        <a:buSzPct val="70000"/>
        <a:buFont typeface="Wingdings" pitchFamily="2"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500"/>
        </a:spcBef>
        <a:buSzPct val="70000"/>
        <a:buFont typeface="Wingdings" pitchFamily="2"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AF9755-800C-BAA7-9886-5018A613A8E7}"/>
              </a:ext>
            </a:extLst>
          </p:cNvPr>
          <p:cNvSpPr>
            <a:spLocks noGrp="1"/>
          </p:cNvSpPr>
          <p:nvPr>
            <p:ph type="sldNum" sz="quarter" idx="12"/>
          </p:nvPr>
        </p:nvSpPr>
        <p:spPr>
          <a:xfrm>
            <a:off x="838200" y="6492875"/>
            <a:ext cx="1351034" cy="365125"/>
          </a:xfrm>
        </p:spPr>
        <p:txBody>
          <a:bodyPr/>
          <a:lstStyle/>
          <a:p>
            <a:fld id="{ABBEE3BA-F264-1746-880E-39AD601DF2B1}" type="slidenum">
              <a:rPr lang="en-US" smtClean="0"/>
              <a:t>1</a:t>
            </a:fld>
            <a:endParaRPr lang="en-US"/>
          </a:p>
        </p:txBody>
      </p:sp>
      <p:sp>
        <p:nvSpPr>
          <p:cNvPr id="3" name="Subtitle 2">
            <a:extLst>
              <a:ext uri="{FF2B5EF4-FFF2-40B4-BE49-F238E27FC236}">
                <a16:creationId xmlns:a16="http://schemas.microsoft.com/office/drawing/2014/main" id="{6C775E86-3AC1-27FE-A80E-914C9B637816}"/>
              </a:ext>
            </a:extLst>
          </p:cNvPr>
          <p:cNvSpPr>
            <a:spLocks noGrp="1"/>
          </p:cNvSpPr>
          <p:nvPr>
            <p:ph type="body" sz="quarter" idx="13"/>
          </p:nvPr>
        </p:nvSpPr>
        <p:spPr>
          <a:xfrm>
            <a:off x="0" y="5163688"/>
            <a:ext cx="5872095" cy="587375"/>
          </a:xfrm>
        </p:spPr>
        <p:txBody>
          <a:bodyPr>
            <a:normAutofit fontScale="92500"/>
          </a:bodyPr>
          <a:lstStyle/>
          <a:p>
            <a:r>
              <a:rPr lang="en-US" dirty="0"/>
              <a:t>Data Science for Business – Fall 2025</a:t>
            </a:r>
          </a:p>
        </p:txBody>
      </p:sp>
      <p:sp>
        <p:nvSpPr>
          <p:cNvPr id="2" name="Title 1">
            <a:extLst>
              <a:ext uri="{FF2B5EF4-FFF2-40B4-BE49-F238E27FC236}">
                <a16:creationId xmlns:a16="http://schemas.microsoft.com/office/drawing/2014/main" id="{A92FFC07-3828-6FDB-8B93-EA871DD298E9}"/>
              </a:ext>
            </a:extLst>
          </p:cNvPr>
          <p:cNvSpPr>
            <a:spLocks noGrp="1"/>
          </p:cNvSpPr>
          <p:nvPr>
            <p:ph type="title"/>
          </p:nvPr>
        </p:nvSpPr>
        <p:spPr>
          <a:xfrm>
            <a:off x="0" y="4326934"/>
            <a:ext cx="6171117" cy="836754"/>
          </a:xfrm>
        </p:spPr>
        <p:txBody>
          <a:bodyPr>
            <a:normAutofit/>
          </a:bodyPr>
          <a:lstStyle/>
          <a:p>
            <a:r>
              <a:rPr lang="en-US"/>
              <a:t>Topic 9 </a:t>
            </a:r>
            <a:r>
              <a:rPr lang="en-US" dirty="0"/>
              <a:t>– Text Modelling </a:t>
            </a:r>
          </a:p>
        </p:txBody>
      </p:sp>
      <p:pic>
        <p:nvPicPr>
          <p:cNvPr id="1026" name="Picture 2" descr="Salt-N-Pepa on 50 Years of Hip-Hop: 'We Brought Fun, Fashion and  Femininity' (Exclusive)">
            <a:extLst>
              <a:ext uri="{FF2B5EF4-FFF2-40B4-BE49-F238E27FC236}">
                <a16:creationId xmlns:a16="http://schemas.microsoft.com/office/drawing/2014/main" id="{6052618D-DB08-352B-A4EA-A1E950927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5588" y="3390039"/>
            <a:ext cx="4062050" cy="2710543"/>
          </a:xfrm>
          <a:prstGeom prst="rect">
            <a:avLst/>
          </a:prstGeom>
          <a:noFill/>
          <a:ln w="28575">
            <a:solidFill>
              <a:schemeClr val="bg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A56B8B-527B-C6BC-3615-C6EAB5D8A9A5}"/>
              </a:ext>
            </a:extLst>
          </p:cNvPr>
          <p:cNvSpPr txBox="1"/>
          <p:nvPr/>
        </p:nvSpPr>
        <p:spPr>
          <a:xfrm>
            <a:off x="7974708" y="6125825"/>
            <a:ext cx="3143809" cy="461665"/>
          </a:xfrm>
          <a:prstGeom prst="rect">
            <a:avLst/>
          </a:prstGeom>
          <a:solidFill>
            <a:schemeClr val="bg1"/>
          </a:solidFill>
        </p:spPr>
        <p:txBody>
          <a:bodyPr wrap="none" rtlCol="0">
            <a:spAutoFit/>
          </a:bodyPr>
          <a:lstStyle/>
          <a:p>
            <a:pPr algn="l"/>
            <a:r>
              <a:rPr lang="en-US" sz="2400" dirty="0">
                <a:latin typeface="Segoe Print" panose="02000800000000000000" pitchFamily="2" charset="0"/>
              </a:rPr>
              <a:t>lets talk about text</a:t>
            </a:r>
          </a:p>
        </p:txBody>
      </p:sp>
    </p:spTree>
    <p:extLst>
      <p:ext uri="{BB962C8B-B14F-4D97-AF65-F5344CB8AC3E}">
        <p14:creationId xmlns:p14="http://schemas.microsoft.com/office/powerpoint/2010/main" val="1941828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CD6F5B-6322-0792-DB0C-A59F581695B9}"/>
              </a:ext>
            </a:extLst>
          </p:cNvPr>
          <p:cNvSpPr>
            <a:spLocks noGrp="1"/>
          </p:cNvSpPr>
          <p:nvPr>
            <p:ph type="sldNum" sz="quarter" idx="12"/>
          </p:nvPr>
        </p:nvSpPr>
        <p:spPr>
          <a:xfrm>
            <a:off x="8300578" y="4236813"/>
            <a:ext cx="1983964" cy="449733"/>
          </a:xfrm>
        </p:spPr>
        <p:txBody>
          <a:bodyPr/>
          <a:lstStyle/>
          <a:p>
            <a:fld id="{ABBEE3BA-F264-1746-880E-39AD601DF2B1}" type="slidenum">
              <a:rPr lang="en-US" smtClean="0"/>
              <a:t>2</a:t>
            </a:fld>
            <a:endParaRPr lang="en-US"/>
          </a:p>
        </p:txBody>
      </p:sp>
      <p:sp>
        <p:nvSpPr>
          <p:cNvPr id="2" name="Title 1">
            <a:extLst>
              <a:ext uri="{FF2B5EF4-FFF2-40B4-BE49-F238E27FC236}">
                <a16:creationId xmlns:a16="http://schemas.microsoft.com/office/drawing/2014/main" id="{18CCE053-275C-7F84-3B1A-B401C39AE222}"/>
              </a:ext>
            </a:extLst>
          </p:cNvPr>
          <p:cNvSpPr>
            <a:spLocks noGrp="1"/>
          </p:cNvSpPr>
          <p:nvPr>
            <p:ph type="title"/>
          </p:nvPr>
        </p:nvSpPr>
        <p:spPr>
          <a:xfrm>
            <a:off x="0" y="30551"/>
            <a:ext cx="10515600" cy="1001559"/>
          </a:xfrm>
        </p:spPr>
        <p:txBody>
          <a:bodyPr/>
          <a:lstStyle/>
          <a:p>
            <a:r>
              <a:rPr lang="en-US" dirty="0"/>
              <a:t>Motivating example: Spam</a:t>
            </a:r>
          </a:p>
        </p:txBody>
      </p:sp>
      <p:sp>
        <p:nvSpPr>
          <p:cNvPr id="11" name="Content Placeholder 2">
            <a:extLst>
              <a:ext uri="{FF2B5EF4-FFF2-40B4-BE49-F238E27FC236}">
                <a16:creationId xmlns:a16="http://schemas.microsoft.com/office/drawing/2014/main" id="{73BC4C69-24B7-4363-BAA9-E94A932F3FAE}"/>
              </a:ext>
            </a:extLst>
          </p:cNvPr>
          <p:cNvSpPr txBox="1">
            <a:spLocks/>
          </p:cNvSpPr>
          <p:nvPr/>
        </p:nvSpPr>
        <p:spPr bwMode="auto">
          <a:xfrm>
            <a:off x="7779612" y="1366684"/>
            <a:ext cx="2754388" cy="398922"/>
          </a:xfrm>
          <a:prstGeom prst="rect">
            <a:avLst/>
          </a:prstGeom>
          <a:solidFill>
            <a:schemeClr val="bg2"/>
          </a:solidFill>
          <a:ln>
            <a:noFill/>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marL="0" indent="0">
              <a:buClrTx/>
              <a:buNone/>
            </a:pPr>
            <a:r>
              <a:rPr lang="en-US" kern="0" dirty="0"/>
              <a:t>Recently in my texts:</a:t>
            </a:r>
          </a:p>
        </p:txBody>
      </p:sp>
      <p:sp>
        <p:nvSpPr>
          <p:cNvPr id="12" name="Content Placeholder 2">
            <a:extLst>
              <a:ext uri="{FF2B5EF4-FFF2-40B4-BE49-F238E27FC236}">
                <a16:creationId xmlns:a16="http://schemas.microsoft.com/office/drawing/2014/main" id="{5C4E128A-27BB-4F61-9FAD-5BD407D196BF}"/>
              </a:ext>
            </a:extLst>
          </p:cNvPr>
          <p:cNvSpPr txBox="1">
            <a:spLocks/>
          </p:cNvSpPr>
          <p:nvPr/>
        </p:nvSpPr>
        <p:spPr bwMode="auto">
          <a:xfrm>
            <a:off x="1450258" y="1437965"/>
            <a:ext cx="2962132" cy="422443"/>
          </a:xfrm>
          <a:prstGeom prst="rect">
            <a:avLst/>
          </a:prstGeom>
          <a:solidFill>
            <a:schemeClr val="bg2"/>
          </a:solidFill>
          <a:ln>
            <a:noFill/>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marL="0" indent="0">
              <a:buClrTx/>
              <a:buNone/>
            </a:pPr>
            <a:r>
              <a:rPr lang="en-US" kern="0" dirty="0"/>
              <a:t>Recently in my email:</a:t>
            </a:r>
          </a:p>
        </p:txBody>
      </p:sp>
      <p:pic>
        <p:nvPicPr>
          <p:cNvPr id="15" name="Picture 14" descr="A screenshot of a email&#10;&#10;Description automatically generated">
            <a:extLst>
              <a:ext uri="{FF2B5EF4-FFF2-40B4-BE49-F238E27FC236}">
                <a16:creationId xmlns:a16="http://schemas.microsoft.com/office/drawing/2014/main" id="{3C96C71A-EF8B-B853-AA1D-7FD2768999BF}"/>
              </a:ext>
            </a:extLst>
          </p:cNvPr>
          <p:cNvPicPr>
            <a:picLocks noChangeAspect="1"/>
          </p:cNvPicPr>
          <p:nvPr/>
        </p:nvPicPr>
        <p:blipFill>
          <a:blip r:embed="rId3"/>
          <a:stretch>
            <a:fillRect/>
          </a:stretch>
        </p:blipFill>
        <p:spPr>
          <a:xfrm>
            <a:off x="549025" y="1993212"/>
            <a:ext cx="4519067" cy="4224345"/>
          </a:xfrm>
          <a:prstGeom prst="rect">
            <a:avLst/>
          </a:prstGeom>
        </p:spPr>
      </p:pic>
      <p:pic>
        <p:nvPicPr>
          <p:cNvPr id="10" name="Picture 9" descr="A message on a computer&#10;&#10;Description automatically generated with medium confidence">
            <a:extLst>
              <a:ext uri="{FF2B5EF4-FFF2-40B4-BE49-F238E27FC236}">
                <a16:creationId xmlns:a16="http://schemas.microsoft.com/office/drawing/2014/main" id="{BACBCBF8-45C9-D7FA-6C74-DD790709E9F0}"/>
              </a:ext>
            </a:extLst>
          </p:cNvPr>
          <p:cNvPicPr>
            <a:picLocks noChangeAspect="1"/>
          </p:cNvPicPr>
          <p:nvPr/>
        </p:nvPicPr>
        <p:blipFill>
          <a:blip r:embed="rId4"/>
          <a:stretch>
            <a:fillRect/>
          </a:stretch>
        </p:blipFill>
        <p:spPr>
          <a:xfrm>
            <a:off x="6966730" y="1982325"/>
            <a:ext cx="4387070" cy="3022204"/>
          </a:xfrm>
          <a:prstGeom prst="rect">
            <a:avLst/>
          </a:prstGeom>
        </p:spPr>
      </p:pic>
      <p:sp>
        <p:nvSpPr>
          <p:cNvPr id="3" name="Content Placeholder 2">
            <a:extLst>
              <a:ext uri="{FF2B5EF4-FFF2-40B4-BE49-F238E27FC236}">
                <a16:creationId xmlns:a16="http://schemas.microsoft.com/office/drawing/2014/main" id="{2BB25217-0E01-A79E-57AF-DD1C363A007F}"/>
              </a:ext>
            </a:extLst>
          </p:cNvPr>
          <p:cNvSpPr>
            <a:spLocks noGrp="1"/>
          </p:cNvSpPr>
          <p:nvPr>
            <p:ph idx="1"/>
          </p:nvPr>
        </p:nvSpPr>
        <p:spPr>
          <a:xfrm>
            <a:off x="3810877" y="5004529"/>
            <a:ext cx="3695931" cy="1618883"/>
          </a:xfrm>
          <a:solidFill>
            <a:schemeClr val="bg2"/>
          </a:solidFill>
        </p:spPr>
        <p:txBody>
          <a:bodyPr/>
          <a:lstStyle/>
          <a:p>
            <a:r>
              <a:rPr lang="en-US" sz="1600" dirty="0"/>
              <a:t>What is the business problem?</a:t>
            </a:r>
          </a:p>
          <a:p>
            <a:r>
              <a:rPr lang="en-US" sz="1600" dirty="0"/>
              <a:t>What is the data science problem?</a:t>
            </a:r>
          </a:p>
          <a:p>
            <a:r>
              <a:rPr lang="en-US" sz="1600" dirty="0"/>
              <a:t>What are the costs/benefits? </a:t>
            </a:r>
          </a:p>
          <a:p>
            <a:r>
              <a:rPr lang="en-US" sz="1600" dirty="0"/>
              <a:t>How would you set a threshold?</a:t>
            </a:r>
          </a:p>
          <a:p>
            <a:r>
              <a:rPr lang="en-US" sz="1600" dirty="0"/>
              <a:t>What action would you take?</a:t>
            </a:r>
          </a:p>
        </p:txBody>
      </p:sp>
    </p:spTree>
    <p:extLst>
      <p:ext uri="{BB962C8B-B14F-4D97-AF65-F5344CB8AC3E}">
        <p14:creationId xmlns:p14="http://schemas.microsoft.com/office/powerpoint/2010/main" val="426656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DD001E-D4EC-4AE3-3EDC-D74CFF8671EC}"/>
              </a:ext>
            </a:extLst>
          </p:cNvPr>
          <p:cNvSpPr>
            <a:spLocks noGrp="1"/>
          </p:cNvSpPr>
          <p:nvPr>
            <p:ph type="sldNum" sz="quarter" idx="12"/>
          </p:nvPr>
        </p:nvSpPr>
        <p:spPr/>
        <p:txBody>
          <a:bodyPr/>
          <a:lstStyle/>
          <a:p>
            <a:fld id="{ABBEE3BA-F264-1746-880E-39AD601DF2B1}" type="slidenum">
              <a:rPr lang="en-US" smtClean="0"/>
              <a:t>3</a:t>
            </a:fld>
            <a:endParaRPr lang="en-US"/>
          </a:p>
        </p:txBody>
      </p:sp>
      <p:sp>
        <p:nvSpPr>
          <p:cNvPr id="3" name="Content Placeholder 2">
            <a:extLst>
              <a:ext uri="{FF2B5EF4-FFF2-40B4-BE49-F238E27FC236}">
                <a16:creationId xmlns:a16="http://schemas.microsoft.com/office/drawing/2014/main" id="{F031B7AD-5AAA-D525-C9FF-862162944D84}"/>
              </a:ext>
            </a:extLst>
          </p:cNvPr>
          <p:cNvSpPr>
            <a:spLocks noGrp="1"/>
          </p:cNvSpPr>
          <p:nvPr>
            <p:ph idx="1"/>
          </p:nvPr>
        </p:nvSpPr>
        <p:spPr>
          <a:xfrm>
            <a:off x="371313" y="1012185"/>
            <a:ext cx="9485608" cy="4574305"/>
          </a:xfrm>
        </p:spPr>
        <p:txBody>
          <a:bodyPr>
            <a:noAutofit/>
          </a:bodyPr>
          <a:lstStyle/>
          <a:p>
            <a:pPr>
              <a:lnSpc>
                <a:spcPct val="120000"/>
              </a:lnSpc>
            </a:pPr>
            <a:r>
              <a:rPr lang="en-US" sz="2000" dirty="0"/>
              <a:t>Automatically extracting meaning from a document</a:t>
            </a:r>
          </a:p>
          <a:p>
            <a:pPr>
              <a:lnSpc>
                <a:spcPct val="120000"/>
              </a:lnSpc>
            </a:pPr>
            <a:r>
              <a:rPr lang="en-US" sz="2000" dirty="0"/>
              <a:t>Label a document into one of many known types </a:t>
            </a:r>
          </a:p>
          <a:p>
            <a:pPr lvl="1">
              <a:lnSpc>
                <a:spcPct val="120000"/>
              </a:lnSpc>
            </a:pPr>
            <a:r>
              <a:rPr lang="en-US" sz="2000" dirty="0"/>
              <a:t>E.g. Library categorization</a:t>
            </a:r>
          </a:p>
          <a:p>
            <a:pPr lvl="1">
              <a:lnSpc>
                <a:spcPct val="120000"/>
              </a:lnSpc>
            </a:pPr>
            <a:r>
              <a:rPr lang="en-US" sz="2000" dirty="0"/>
              <a:t>Multi-class classification</a:t>
            </a:r>
          </a:p>
          <a:p>
            <a:pPr>
              <a:lnSpc>
                <a:spcPct val="120000"/>
              </a:lnSpc>
            </a:pPr>
            <a:r>
              <a:rPr lang="en-US" sz="2000" dirty="0"/>
              <a:t>Clustering documents into useful groups</a:t>
            </a:r>
          </a:p>
          <a:p>
            <a:pPr lvl="1">
              <a:lnSpc>
                <a:spcPct val="120000"/>
              </a:lnSpc>
            </a:pPr>
            <a:r>
              <a:rPr lang="en-US" sz="2000" dirty="0"/>
              <a:t>Unsupervised learning</a:t>
            </a:r>
          </a:p>
          <a:p>
            <a:pPr>
              <a:lnSpc>
                <a:spcPct val="120000"/>
              </a:lnSpc>
            </a:pPr>
            <a:r>
              <a:rPr lang="en-US" sz="2000" dirty="0"/>
              <a:t>Query a set of documents for search or to find most similar ones</a:t>
            </a:r>
          </a:p>
          <a:p>
            <a:pPr lvl="1">
              <a:lnSpc>
                <a:spcPct val="120000"/>
              </a:lnSpc>
            </a:pPr>
            <a:r>
              <a:rPr lang="en-US" sz="2000" dirty="0"/>
              <a:t>E.g. legal precedent, patent searches</a:t>
            </a:r>
          </a:p>
          <a:p>
            <a:pPr lvl="1">
              <a:lnSpc>
                <a:spcPct val="120000"/>
              </a:lnSpc>
            </a:pPr>
            <a:endParaRPr lang="en-US" sz="2000" dirty="0"/>
          </a:p>
          <a:p>
            <a:pPr lvl="1">
              <a:lnSpc>
                <a:spcPct val="120000"/>
              </a:lnSpc>
            </a:pPr>
            <a:endParaRPr lang="en-US" sz="2000" dirty="0"/>
          </a:p>
          <a:p>
            <a:pPr>
              <a:lnSpc>
                <a:spcPct val="120000"/>
              </a:lnSpc>
            </a:pPr>
            <a:r>
              <a:rPr lang="en-US" sz="2000" dirty="0"/>
              <a:t>Text-based learning often requires a large collection of labelled documents to learn from – a </a:t>
            </a:r>
            <a:r>
              <a:rPr lang="en-US" sz="2000" i="1" dirty="0"/>
              <a:t>corpus</a:t>
            </a:r>
            <a:r>
              <a:rPr lang="en-US" sz="2000" dirty="0"/>
              <a:t> -  that needs to be pre-processed significantly before analysis. </a:t>
            </a:r>
          </a:p>
          <a:p>
            <a:pPr>
              <a:lnSpc>
                <a:spcPct val="120000"/>
              </a:lnSpc>
            </a:pPr>
            <a:endParaRPr lang="en-US" sz="2000" dirty="0"/>
          </a:p>
        </p:txBody>
      </p:sp>
      <p:sp>
        <p:nvSpPr>
          <p:cNvPr id="2" name="Title 1">
            <a:extLst>
              <a:ext uri="{FF2B5EF4-FFF2-40B4-BE49-F238E27FC236}">
                <a16:creationId xmlns:a16="http://schemas.microsoft.com/office/drawing/2014/main" id="{77BC2F05-372C-6720-9EBF-16B501F98AA4}"/>
              </a:ext>
            </a:extLst>
          </p:cNvPr>
          <p:cNvSpPr>
            <a:spLocks noGrp="1"/>
          </p:cNvSpPr>
          <p:nvPr>
            <p:ph type="title"/>
          </p:nvPr>
        </p:nvSpPr>
        <p:spPr>
          <a:xfrm>
            <a:off x="0" y="10626"/>
            <a:ext cx="10515600" cy="1001559"/>
          </a:xfrm>
        </p:spPr>
        <p:txBody>
          <a:bodyPr/>
          <a:lstStyle/>
          <a:p>
            <a:r>
              <a:rPr lang="en-US" dirty="0"/>
              <a:t>Overview of Text Mining</a:t>
            </a:r>
          </a:p>
        </p:txBody>
      </p:sp>
      <p:pic>
        <p:nvPicPr>
          <p:cNvPr id="1026" name="Picture 2">
            <a:extLst>
              <a:ext uri="{FF2B5EF4-FFF2-40B4-BE49-F238E27FC236}">
                <a16:creationId xmlns:a16="http://schemas.microsoft.com/office/drawing/2014/main" id="{72C6FF91-AC00-D05F-2855-8720EDD6C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8871" y="1665499"/>
            <a:ext cx="2014779" cy="2870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54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3B97CC-85D1-F48D-605C-9C8D8004B1E2}"/>
              </a:ext>
            </a:extLst>
          </p:cNvPr>
          <p:cNvSpPr>
            <a:spLocks noGrp="1"/>
          </p:cNvSpPr>
          <p:nvPr>
            <p:ph type="sldNum" sz="quarter" idx="12"/>
          </p:nvPr>
        </p:nvSpPr>
        <p:spPr/>
        <p:txBody>
          <a:bodyPr/>
          <a:lstStyle/>
          <a:p>
            <a:fld id="{ABBEE3BA-F264-1746-880E-39AD601DF2B1}" type="slidenum">
              <a:rPr lang="en-US" smtClean="0"/>
              <a:t>4</a:t>
            </a:fld>
            <a:endParaRPr lang="en-US"/>
          </a:p>
        </p:txBody>
      </p:sp>
      <p:sp>
        <p:nvSpPr>
          <p:cNvPr id="3" name="Content Placeholder 2">
            <a:extLst>
              <a:ext uri="{FF2B5EF4-FFF2-40B4-BE49-F238E27FC236}">
                <a16:creationId xmlns:a16="http://schemas.microsoft.com/office/drawing/2014/main" id="{5670CAD6-72E9-BF25-B68D-1F5F8F905A4D}"/>
              </a:ext>
            </a:extLst>
          </p:cNvPr>
          <p:cNvSpPr>
            <a:spLocks noGrp="1"/>
          </p:cNvSpPr>
          <p:nvPr>
            <p:ph idx="1"/>
          </p:nvPr>
        </p:nvSpPr>
        <p:spPr>
          <a:xfrm>
            <a:off x="685799" y="1001559"/>
            <a:ext cx="11506201" cy="5354791"/>
          </a:xfrm>
        </p:spPr>
        <p:txBody>
          <a:bodyPr>
            <a:normAutofit fontScale="85000" lnSpcReduction="20000"/>
          </a:bodyPr>
          <a:lstStyle/>
          <a:p>
            <a:pPr>
              <a:lnSpc>
                <a:spcPct val="120000"/>
              </a:lnSpc>
            </a:pPr>
            <a:r>
              <a:rPr lang="en-US" sz="2400" dirty="0"/>
              <a:t>“Boston beat San Francisco in the game last night” vs “San Francisco beat Boston in the game last night” </a:t>
            </a:r>
          </a:p>
          <a:p>
            <a:pPr>
              <a:lnSpc>
                <a:spcPct val="120000"/>
              </a:lnSpc>
            </a:pPr>
            <a:r>
              <a:rPr lang="en-US" sz="2400" dirty="0"/>
              <a:t>“Hitchcock shot The Birds in Bodega Bay”</a:t>
            </a:r>
          </a:p>
          <a:p>
            <a:pPr>
              <a:lnSpc>
                <a:spcPct val="120000"/>
              </a:lnSpc>
            </a:pPr>
            <a:r>
              <a:rPr lang="en-US" sz="2400" dirty="0"/>
              <a:t>“Lets eat, Grandma!”</a:t>
            </a:r>
          </a:p>
          <a:p>
            <a:pPr>
              <a:lnSpc>
                <a:spcPct val="120000"/>
              </a:lnSpc>
            </a:pPr>
            <a:r>
              <a:rPr lang="en-US" sz="2400" dirty="0"/>
              <a:t>“I can’t recommend this person highly enough”</a:t>
            </a:r>
          </a:p>
          <a:p>
            <a:pPr marL="0" indent="0">
              <a:lnSpc>
                <a:spcPct val="120000"/>
              </a:lnSpc>
              <a:buNone/>
            </a:pPr>
            <a:endParaRPr lang="en-US" sz="2400" dirty="0"/>
          </a:p>
          <a:p>
            <a:pPr marL="0" indent="0">
              <a:lnSpc>
                <a:spcPct val="120000"/>
              </a:lnSpc>
              <a:buNone/>
            </a:pPr>
            <a:r>
              <a:rPr lang="en-US" sz="2400" dirty="0"/>
              <a:t>Text is more than just words - understanding language (NLP) is a technical field all to itself</a:t>
            </a:r>
          </a:p>
          <a:p>
            <a:pPr marL="0" indent="0">
              <a:lnSpc>
                <a:spcPct val="120000"/>
              </a:lnSpc>
              <a:buNone/>
            </a:pPr>
            <a:endParaRPr lang="en-US" sz="2400" dirty="0"/>
          </a:p>
          <a:p>
            <a:pPr marL="0" indent="0">
              <a:lnSpc>
                <a:spcPct val="120000"/>
              </a:lnSpc>
              <a:buNone/>
            </a:pPr>
            <a:r>
              <a:rPr lang="en-US" sz="2400" dirty="0"/>
              <a:t>NLP has been upended since 2021 by LLMs.   Core concepts are still important:</a:t>
            </a:r>
          </a:p>
          <a:p>
            <a:pPr>
              <a:lnSpc>
                <a:spcPct val="120000"/>
              </a:lnSpc>
              <a:buFontTx/>
              <a:buChar char="-"/>
            </a:pPr>
            <a:r>
              <a:rPr lang="en-US" sz="2400" dirty="0"/>
              <a:t>When interpretability is important</a:t>
            </a:r>
          </a:p>
          <a:p>
            <a:pPr>
              <a:lnSpc>
                <a:spcPct val="120000"/>
              </a:lnSpc>
              <a:buFontTx/>
              <a:buChar char="-"/>
            </a:pPr>
            <a:r>
              <a:rPr lang="en-US" sz="2400" dirty="0"/>
              <a:t>For smaller problems</a:t>
            </a:r>
          </a:p>
          <a:p>
            <a:pPr>
              <a:lnSpc>
                <a:spcPct val="120000"/>
              </a:lnSpc>
              <a:buFontTx/>
              <a:buChar char="-"/>
            </a:pPr>
            <a:r>
              <a:rPr lang="en-US" sz="2400" dirty="0"/>
              <a:t>Efficiency and cost</a:t>
            </a:r>
          </a:p>
          <a:p>
            <a:pPr>
              <a:lnSpc>
                <a:spcPct val="120000"/>
              </a:lnSpc>
              <a:buFontTx/>
              <a:buChar char="-"/>
            </a:pPr>
            <a:r>
              <a:rPr lang="en-US" sz="2400" dirty="0"/>
              <a:t>More control for domain-specific problems</a:t>
            </a:r>
          </a:p>
          <a:p>
            <a:pPr>
              <a:lnSpc>
                <a:spcPct val="120000"/>
              </a:lnSpc>
              <a:buFontTx/>
              <a:buChar char="-"/>
            </a:pPr>
            <a:r>
              <a:rPr lang="en-US" sz="2400" dirty="0"/>
              <a:t>Complementary : knowing how to pre-process data before sending to LLM is useful. </a:t>
            </a:r>
          </a:p>
        </p:txBody>
      </p:sp>
      <p:sp>
        <p:nvSpPr>
          <p:cNvPr id="2" name="Title 1">
            <a:extLst>
              <a:ext uri="{FF2B5EF4-FFF2-40B4-BE49-F238E27FC236}">
                <a16:creationId xmlns:a16="http://schemas.microsoft.com/office/drawing/2014/main" id="{70CE1912-0119-0BF8-83F3-C86DDE2E9139}"/>
              </a:ext>
            </a:extLst>
          </p:cNvPr>
          <p:cNvSpPr>
            <a:spLocks noGrp="1"/>
          </p:cNvSpPr>
          <p:nvPr>
            <p:ph type="title"/>
          </p:nvPr>
        </p:nvSpPr>
        <p:spPr>
          <a:xfrm>
            <a:off x="0" y="0"/>
            <a:ext cx="10515600" cy="1001559"/>
          </a:xfrm>
        </p:spPr>
        <p:txBody>
          <a:bodyPr/>
          <a:lstStyle/>
          <a:p>
            <a:r>
              <a:rPr lang="en-US" dirty="0"/>
              <a:t>Text Analysis is Hard!</a:t>
            </a:r>
          </a:p>
        </p:txBody>
      </p:sp>
    </p:spTree>
    <p:extLst>
      <p:ext uri="{BB962C8B-B14F-4D97-AF65-F5344CB8AC3E}">
        <p14:creationId xmlns:p14="http://schemas.microsoft.com/office/powerpoint/2010/main" val="126827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A130C-EE7A-E9EA-F081-A963185980EC}"/>
              </a:ext>
            </a:extLst>
          </p:cNvPr>
          <p:cNvSpPr>
            <a:spLocks noGrp="1"/>
          </p:cNvSpPr>
          <p:nvPr>
            <p:ph type="title"/>
          </p:nvPr>
        </p:nvSpPr>
        <p:spPr>
          <a:xfrm>
            <a:off x="0" y="2063296"/>
            <a:ext cx="10515600" cy="1001559"/>
          </a:xfrm>
        </p:spPr>
        <p:txBody>
          <a:bodyPr>
            <a:normAutofit fontScale="90000"/>
          </a:bodyPr>
          <a:lstStyle/>
          <a:p>
            <a:r>
              <a:rPr lang="en-US" dirty="0"/>
              <a:t>Representing Text for Data Science</a:t>
            </a:r>
          </a:p>
        </p:txBody>
      </p:sp>
      <p:sp>
        <p:nvSpPr>
          <p:cNvPr id="2" name="Slide Number Placeholder 1">
            <a:extLst>
              <a:ext uri="{FF2B5EF4-FFF2-40B4-BE49-F238E27FC236}">
                <a16:creationId xmlns:a16="http://schemas.microsoft.com/office/drawing/2014/main" id="{E9C3E0E0-BD78-1A29-1E00-41A4FDAF5FD2}"/>
              </a:ext>
            </a:extLst>
          </p:cNvPr>
          <p:cNvSpPr>
            <a:spLocks noGrp="1"/>
          </p:cNvSpPr>
          <p:nvPr>
            <p:ph type="sldNum" sz="quarter" idx="12"/>
          </p:nvPr>
        </p:nvSpPr>
        <p:spPr/>
        <p:txBody>
          <a:bodyPr/>
          <a:lstStyle/>
          <a:p>
            <a:fld id="{ABBEE3BA-F264-1746-880E-39AD601DF2B1}" type="slidenum">
              <a:rPr lang="en-US" smtClean="0">
                <a:solidFill>
                  <a:schemeClr val="accent1"/>
                </a:solidFill>
              </a:rPr>
              <a:t>5</a:t>
            </a:fld>
            <a:endParaRPr lang="en-US">
              <a:solidFill>
                <a:schemeClr val="accent1"/>
              </a:solidFill>
            </a:endParaRPr>
          </a:p>
        </p:txBody>
      </p:sp>
    </p:spTree>
    <p:extLst>
      <p:ext uri="{BB962C8B-B14F-4D97-AF65-F5344CB8AC3E}">
        <p14:creationId xmlns:p14="http://schemas.microsoft.com/office/powerpoint/2010/main" val="3887734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A7D801-A906-3B7E-A605-5897992D666A}"/>
              </a:ext>
            </a:extLst>
          </p:cNvPr>
          <p:cNvSpPr>
            <a:spLocks noGrp="1"/>
          </p:cNvSpPr>
          <p:nvPr>
            <p:ph type="sldNum" sz="quarter" idx="12"/>
          </p:nvPr>
        </p:nvSpPr>
        <p:spPr/>
        <p:txBody>
          <a:bodyPr/>
          <a:lstStyle/>
          <a:p>
            <a:fld id="{ABBEE3BA-F264-1746-880E-39AD601DF2B1}" type="slidenum">
              <a:rPr lang="en-US" smtClean="0"/>
              <a:t>6</a:t>
            </a:fld>
            <a:endParaRPr lang="en-US"/>
          </a:p>
        </p:txBody>
      </p:sp>
      <p:graphicFrame>
        <p:nvGraphicFramePr>
          <p:cNvPr id="5" name="Content Placeholder 4">
            <a:extLst>
              <a:ext uri="{FF2B5EF4-FFF2-40B4-BE49-F238E27FC236}">
                <a16:creationId xmlns:a16="http://schemas.microsoft.com/office/drawing/2014/main" id="{BB822102-64A0-FF6B-C22D-61C8544BD3A2}"/>
              </a:ext>
            </a:extLst>
          </p:cNvPr>
          <p:cNvGraphicFramePr>
            <a:graphicFrameLocks noGrp="1"/>
          </p:cNvGraphicFramePr>
          <p:nvPr>
            <p:ph idx="1"/>
            <p:extLst>
              <p:ext uri="{D42A27DB-BD31-4B8C-83A1-F6EECF244321}">
                <p14:modId xmlns:p14="http://schemas.microsoft.com/office/powerpoint/2010/main" val="3037497595"/>
              </p:ext>
            </p:extLst>
          </p:nvPr>
        </p:nvGraphicFramePr>
        <p:xfrm>
          <a:off x="2969379" y="1509711"/>
          <a:ext cx="6253241" cy="5029201"/>
        </p:xfrm>
        <a:graphic>
          <a:graphicData uri="http://schemas.openxmlformats.org/drawingml/2006/table">
            <a:tbl>
              <a:tblPr>
                <a:tableStyleId>{5C22544A-7EE6-4342-B048-85BDC9FD1C3A}</a:tableStyleId>
              </a:tblPr>
              <a:tblGrid>
                <a:gridCol w="5188861">
                  <a:extLst>
                    <a:ext uri="{9D8B030D-6E8A-4147-A177-3AD203B41FA5}">
                      <a16:colId xmlns:a16="http://schemas.microsoft.com/office/drawing/2014/main" val="20000"/>
                    </a:ext>
                  </a:extLst>
                </a:gridCol>
                <a:gridCol w="1064380">
                  <a:extLst>
                    <a:ext uri="{9D8B030D-6E8A-4147-A177-3AD203B41FA5}">
                      <a16:colId xmlns:a16="http://schemas.microsoft.com/office/drawing/2014/main" val="20001"/>
                    </a:ext>
                  </a:extLst>
                </a:gridCol>
              </a:tblGrid>
              <a:tr h="212185">
                <a:tc>
                  <a:txBody>
                    <a:bodyPr/>
                    <a:lstStyle/>
                    <a:p>
                      <a:pPr algn="l" fontAlgn="b"/>
                      <a:r>
                        <a:rPr lang="en-US" sz="1100" b="0" i="0" u="none" strike="noStrike" dirty="0">
                          <a:solidFill>
                            <a:schemeClr val="dk1"/>
                          </a:solidFill>
                          <a:effectLst/>
                          <a:latin typeface="+mn-lt"/>
                        </a:rPr>
                        <a:t>Description</a:t>
                      </a:r>
                      <a:endParaRPr lang="en-US" sz="1100" b="1"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dirty="0">
                          <a:solidFill>
                            <a:schemeClr val="dk1"/>
                          </a:solidFill>
                          <a:effectLst/>
                          <a:latin typeface="+mn-lt"/>
                        </a:rPr>
                        <a:t>Loan Default</a:t>
                      </a:r>
                      <a:endParaRPr lang="en-US" sz="1100" b="1"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29863">
                <a:tc>
                  <a:txBody>
                    <a:bodyPr/>
                    <a:lstStyle/>
                    <a:p>
                      <a:pPr algn="l" fontAlgn="b"/>
                      <a:r>
                        <a:rPr lang="en-US" sz="1100" u="none" strike="noStrike" dirty="0">
                          <a:effectLst/>
                        </a:rPr>
                        <a:t>   This loan request is to reduce credit card debt by receiving a more manageable finance charge and payment schedule than what I am currently paying on a monthly basis. I currently meet all my financial obligations without problems. This allows quicker debt reduction.</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a:effectLst/>
                        </a:rPr>
                        <a:t>0</a:t>
                      </a:r>
                      <a:endParaRPr lang="en-US" sz="1100" b="0" i="0" u="none" strike="noStrike">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41649">
                <a:tc>
                  <a:txBody>
                    <a:bodyPr/>
                    <a:lstStyle/>
                    <a:p>
                      <a:pPr algn="l" fontAlgn="b"/>
                      <a:r>
                        <a:rPr lang="en-US" sz="1100" u="none" strike="noStrike" dirty="0">
                          <a:effectLst/>
                        </a:rPr>
                        <a:t>   This loan will lower my interest rate on about $7000 of debt by 2 percentage points!  I have qualified for this great rate by having an outstanding credit score over the last 20 years.  Thank you for helping to fund me.&lt;</a:t>
                      </a:r>
                      <a:r>
                        <a:rPr lang="en-US" sz="1100" u="none" strike="noStrike" dirty="0" err="1">
                          <a:effectLst/>
                        </a:rPr>
                        <a:t>br</a:t>
                      </a:r>
                      <a:r>
                        <a:rPr lang="en-US" sz="1100" u="none" strike="noStrike" dirty="0">
                          <a:effectLst/>
                        </a:rPr>
                        <a:t>&gt;&lt;</a:t>
                      </a:r>
                      <a:r>
                        <a:rPr lang="en-US" sz="1100" u="none" strike="noStrike" dirty="0" err="1">
                          <a:effectLst/>
                        </a:rPr>
                        <a:t>br</a:t>
                      </a:r>
                      <a:r>
                        <a:rPr lang="en-US" sz="1100" u="none" strike="noStrike" dirty="0">
                          <a:effectLst/>
                        </a:rPr>
                        <a:t>&gt;  This short term loan will allow me to lower my interest rate by 2 percentage points.  I have qualified for a great rate due to my solid credit score, etc.  Thank you for helping me to achieve my goals.</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0</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8078">
                <a:tc>
                  <a:txBody>
                    <a:bodyPr/>
                    <a:lstStyle/>
                    <a:p>
                      <a:pPr algn="l" fontAlgn="b"/>
                      <a:r>
                        <a:rPr lang="en-US" sz="1100" u="none" strike="noStrike" dirty="0">
                          <a:effectLst/>
                        </a:rPr>
                        <a:t>   To be financially stable within 3 years.  Pay off all bills and concentrating on paying off my house within 10 years of my plan.</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0</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8078">
                <a:tc>
                  <a:txBody>
                    <a:bodyPr/>
                    <a:lstStyle/>
                    <a:p>
                      <a:pPr algn="l" fontAlgn="b"/>
                      <a:r>
                        <a:rPr lang="en-US" sz="1100" u="none" strike="noStrike" dirty="0">
                          <a:effectLst/>
                        </a:rPr>
                        <a:t>   To </a:t>
                      </a:r>
                      <a:r>
                        <a:rPr lang="en-US" sz="1100" u="none" strike="noStrike" dirty="0" err="1">
                          <a:effectLst/>
                        </a:rPr>
                        <a:t>consildate</a:t>
                      </a:r>
                      <a:r>
                        <a:rPr lang="en-US" sz="1100" u="none" strike="noStrike" dirty="0">
                          <a:effectLst/>
                        </a:rPr>
                        <a:t> credit card debt</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0</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8078">
                <a:tc>
                  <a:txBody>
                    <a:bodyPr/>
                    <a:lstStyle/>
                    <a:p>
                      <a:pPr algn="l" fontAlgn="b"/>
                      <a:r>
                        <a:rPr lang="en-US" sz="1100" u="none" strike="noStrike" dirty="0">
                          <a:effectLst/>
                        </a:rPr>
                        <a:t>   To consolidate bills for one monthly payment.&lt;</a:t>
                      </a:r>
                      <a:r>
                        <a:rPr lang="en-US" sz="1100" u="none" strike="noStrike" dirty="0" err="1">
                          <a:effectLst/>
                        </a:rPr>
                        <a:t>br</a:t>
                      </a:r>
                      <a:r>
                        <a:rPr lang="en-US" sz="1100" u="none" strike="noStrike" dirty="0">
                          <a:effectLst/>
                        </a:rPr>
                        <a:t>&gt;&lt;</a:t>
                      </a:r>
                      <a:r>
                        <a:rPr lang="en-US" sz="1100" u="none" strike="noStrike" dirty="0" err="1">
                          <a:effectLst/>
                        </a:rPr>
                        <a:t>br</a:t>
                      </a:r>
                      <a:r>
                        <a:rPr lang="en-US" sz="1100" u="none" strike="noStrike" dirty="0">
                          <a:effectLst/>
                        </a:rPr>
                        <a:t>&gt;  To pay off credit card debt and have one monthly payment.&lt;</a:t>
                      </a:r>
                      <a:r>
                        <a:rPr lang="en-US" sz="1100" u="none" strike="noStrike" dirty="0" err="1">
                          <a:effectLst/>
                        </a:rPr>
                        <a:t>br</a:t>
                      </a:r>
                      <a:r>
                        <a:rPr lang="en-US" sz="1100" u="none" strike="noStrike" dirty="0">
                          <a:effectLst/>
                        </a:rPr>
                        <a:t>&gt;</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0</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49222">
                <a:tc>
                  <a:txBody>
                    <a:bodyPr/>
                    <a:lstStyle/>
                    <a:p>
                      <a:pPr algn="l" fontAlgn="b"/>
                      <a:r>
                        <a:rPr lang="en-US" sz="1100" u="none" strike="noStrike" dirty="0">
                          <a:effectLst/>
                        </a:rPr>
                        <a:t>   To consolidate credit card bills and be debt free in 5 years&lt;</a:t>
                      </a:r>
                      <a:r>
                        <a:rPr lang="en-US" sz="1100" u="none" strike="noStrike" dirty="0" err="1">
                          <a:effectLst/>
                        </a:rPr>
                        <a:t>br</a:t>
                      </a:r>
                      <a:r>
                        <a:rPr lang="en-US" sz="1100" u="none" strike="noStrike" dirty="0">
                          <a:effectLst/>
                        </a:rPr>
                        <a:t>&gt;</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1</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8078">
                <a:tc>
                  <a:txBody>
                    <a:bodyPr/>
                    <a:lstStyle/>
                    <a:p>
                      <a:pPr algn="l" fontAlgn="b"/>
                      <a:r>
                        <a:rPr lang="en-US" sz="1100" u="none" strike="noStrike">
                          <a:effectLst/>
                        </a:rPr>
                        <a:t>   To consolidate credit card debt.&lt;br&gt;&lt;br&gt;  My loan is to consolidate credit card debt and simplify my payments,&lt;br&gt;</a:t>
                      </a:r>
                      <a:endParaRPr lang="en-US" sz="1100" b="0" i="0" u="none" strike="noStrike">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1</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623970">
                <a:tc>
                  <a:txBody>
                    <a:bodyPr/>
                    <a:lstStyle/>
                    <a:p>
                      <a:pPr algn="l" fontAlgn="b"/>
                      <a:r>
                        <a:rPr lang="en-US" sz="1100" u="none" strike="noStrike">
                          <a:effectLst/>
                        </a:rPr>
                        <a:t>   To consolidate some credit cards and assist my son who is graduating from college relocate to the Washington DC area where he has accepted a full time job.&lt;br&gt;</a:t>
                      </a:r>
                      <a:endParaRPr lang="en-US" sz="1100" b="0" i="0" u="none" strike="noStrike">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u="none" strike="noStrike" dirty="0">
                          <a:effectLst/>
                        </a:rPr>
                        <a:t>0</a:t>
                      </a:r>
                      <a:endParaRPr lang="en-US" sz="1100" b="0" i="0" u="none" strike="noStrike" dirty="0">
                        <a:solidFill>
                          <a:srgbClr val="000000"/>
                        </a:solidFill>
                        <a:effectLst/>
                        <a:latin typeface="Calibri"/>
                      </a:endParaRPr>
                    </a:p>
                  </a:txBody>
                  <a:tcPr marL="3726" marR="3726" marT="37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 name="Title 1">
            <a:extLst>
              <a:ext uri="{FF2B5EF4-FFF2-40B4-BE49-F238E27FC236}">
                <a16:creationId xmlns:a16="http://schemas.microsoft.com/office/drawing/2014/main" id="{2FBCF728-1575-DD39-2FA3-CA8F11CD1E7E}"/>
              </a:ext>
            </a:extLst>
          </p:cNvPr>
          <p:cNvSpPr>
            <a:spLocks noGrp="1"/>
          </p:cNvSpPr>
          <p:nvPr>
            <p:ph type="title"/>
          </p:nvPr>
        </p:nvSpPr>
        <p:spPr>
          <a:xfrm>
            <a:off x="0" y="39323"/>
            <a:ext cx="10515600" cy="1001559"/>
          </a:xfrm>
        </p:spPr>
        <p:txBody>
          <a:bodyPr/>
          <a:lstStyle/>
          <a:p>
            <a:r>
              <a:rPr lang="en-US" dirty="0"/>
              <a:t>Preparing Text for Modelling</a:t>
            </a:r>
          </a:p>
        </p:txBody>
      </p:sp>
    </p:spTree>
    <p:extLst>
      <p:ext uri="{BB962C8B-B14F-4D97-AF65-F5344CB8AC3E}">
        <p14:creationId xmlns:p14="http://schemas.microsoft.com/office/powerpoint/2010/main" val="1053899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264C7D-73FA-4238-D042-D7B846F8F047}"/>
              </a:ext>
            </a:extLst>
          </p:cNvPr>
          <p:cNvSpPr>
            <a:spLocks noGrp="1"/>
          </p:cNvSpPr>
          <p:nvPr>
            <p:ph type="sldNum" sz="quarter" idx="12"/>
          </p:nvPr>
        </p:nvSpPr>
        <p:spPr/>
        <p:txBody>
          <a:bodyPr/>
          <a:lstStyle/>
          <a:p>
            <a:fld id="{ABBEE3BA-F264-1746-880E-39AD601DF2B1}" type="slidenum">
              <a:rPr lang="en-US" smtClean="0"/>
              <a:t>7</a:t>
            </a:fld>
            <a:endParaRPr lang="en-US"/>
          </a:p>
        </p:txBody>
      </p:sp>
      <p:sp>
        <p:nvSpPr>
          <p:cNvPr id="3" name="Title 2">
            <a:extLst>
              <a:ext uri="{FF2B5EF4-FFF2-40B4-BE49-F238E27FC236}">
                <a16:creationId xmlns:a16="http://schemas.microsoft.com/office/drawing/2014/main" id="{320BDB74-4941-3FA7-74C7-86D33F91A3D0}"/>
              </a:ext>
            </a:extLst>
          </p:cNvPr>
          <p:cNvSpPr>
            <a:spLocks noGrp="1"/>
          </p:cNvSpPr>
          <p:nvPr>
            <p:ph type="title"/>
          </p:nvPr>
        </p:nvSpPr>
        <p:spPr>
          <a:xfrm>
            <a:off x="222250" y="136525"/>
            <a:ext cx="10515600" cy="1001559"/>
          </a:xfrm>
        </p:spPr>
        <p:txBody>
          <a:bodyPr/>
          <a:lstStyle/>
          <a:p>
            <a:r>
              <a:rPr lang="en-US" dirty="0"/>
              <a:t>Text Mining: Pre-processing</a:t>
            </a:r>
          </a:p>
        </p:txBody>
      </p:sp>
      <p:graphicFrame>
        <p:nvGraphicFramePr>
          <p:cNvPr id="4" name="Table 3">
            <a:extLst>
              <a:ext uri="{FF2B5EF4-FFF2-40B4-BE49-F238E27FC236}">
                <a16:creationId xmlns:a16="http://schemas.microsoft.com/office/drawing/2014/main" id="{E1481E46-8BBC-F7B6-FB1C-375DA7BB83E2}"/>
              </a:ext>
            </a:extLst>
          </p:cNvPr>
          <p:cNvGraphicFramePr>
            <a:graphicFrameLocks noGrp="1"/>
          </p:cNvGraphicFramePr>
          <p:nvPr>
            <p:extLst>
              <p:ext uri="{D42A27DB-BD31-4B8C-83A1-F6EECF244321}">
                <p14:modId xmlns:p14="http://schemas.microsoft.com/office/powerpoint/2010/main" val="104477017"/>
              </p:ext>
            </p:extLst>
          </p:nvPr>
        </p:nvGraphicFramePr>
        <p:xfrm>
          <a:off x="222250" y="1374857"/>
          <a:ext cx="11855450" cy="3774440"/>
        </p:xfrm>
        <a:graphic>
          <a:graphicData uri="http://schemas.openxmlformats.org/drawingml/2006/table">
            <a:tbl>
              <a:tblPr firstRow="1" bandRow="1">
                <a:tableStyleId>{5C22544A-7EE6-4342-B048-85BDC9FD1C3A}</a:tableStyleId>
              </a:tblPr>
              <a:tblGrid>
                <a:gridCol w="6850528">
                  <a:extLst>
                    <a:ext uri="{9D8B030D-6E8A-4147-A177-3AD203B41FA5}">
                      <a16:colId xmlns:a16="http://schemas.microsoft.com/office/drawing/2014/main" val="991786065"/>
                    </a:ext>
                  </a:extLst>
                </a:gridCol>
                <a:gridCol w="5004922">
                  <a:extLst>
                    <a:ext uri="{9D8B030D-6E8A-4147-A177-3AD203B41FA5}">
                      <a16:colId xmlns:a16="http://schemas.microsoft.com/office/drawing/2014/main" val="100762896"/>
                    </a:ext>
                  </a:extLst>
                </a:gridCol>
              </a:tblGrid>
              <a:tr h="370840">
                <a:tc>
                  <a:txBody>
                    <a:bodyPr/>
                    <a:lstStyle/>
                    <a:p>
                      <a:r>
                        <a:rPr lang="en-US" dirty="0">
                          <a:latin typeface="+mn-lt"/>
                        </a:rPr>
                        <a:t>Text Processing </a:t>
                      </a:r>
                    </a:p>
                  </a:txBody>
                  <a:tcPr/>
                </a:tc>
                <a:tc>
                  <a:txBody>
                    <a:bodyPr/>
                    <a:lstStyle/>
                    <a:p>
                      <a:r>
                        <a:rPr lang="en-US" dirty="0"/>
                        <a:t>Python library</a:t>
                      </a:r>
                    </a:p>
                  </a:txBody>
                  <a:tcPr/>
                </a:tc>
                <a:extLst>
                  <a:ext uri="{0D108BD9-81ED-4DB2-BD59-A6C34878D82A}">
                    <a16:rowId xmlns:a16="http://schemas.microsoft.com/office/drawing/2014/main" val="11398416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latin typeface="+mn-lt"/>
                          <a:ea typeface="Tahoma" panose="020B0604030504040204" pitchFamily="34" charset="0"/>
                          <a:cs typeface="Tahoma" panose="020B0604030504040204" pitchFamily="34" charset="0"/>
                        </a:rPr>
                        <a:t>Unimportant words </a:t>
                      </a:r>
                      <a:r>
                        <a:rPr lang="en-US" sz="1800" b="1" dirty="0">
                          <a:latin typeface="+mn-lt"/>
                          <a:ea typeface="Tahoma" panose="020B0604030504040204" pitchFamily="34" charset="0"/>
                          <a:cs typeface="Tahoma" panose="020B0604030504040204" pitchFamily="34" charset="0"/>
                        </a:rPr>
                        <a:t>:  </a:t>
                      </a:r>
                      <a:r>
                        <a:rPr lang="en-US" sz="1800" b="0" dirty="0">
                          <a:latin typeface="+mn-lt"/>
                          <a:ea typeface="Tahoma" panose="020B0604030504040204" pitchFamily="34" charset="0"/>
                          <a:cs typeface="Tahoma" panose="020B0604030504040204" pitchFamily="34" charset="0"/>
                        </a:rPr>
                        <a:t>Stop-word removal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onsolas" panose="020B0609020204030204" pitchFamily="49" charset="0"/>
                          <a:cs typeface="Consolas" panose="020B0609020204030204" pitchFamily="49" charset="0"/>
                        </a:rPr>
                        <a:t>from</a:t>
                      </a:r>
                      <a:r>
                        <a:rPr lang="en-US" sz="1800" dirty="0">
                          <a:solidFill>
                            <a:srgbClr val="273239"/>
                          </a:solidFill>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nltk.corpus</a:t>
                      </a:r>
                      <a:r>
                        <a:rPr lang="en-US" sz="1800" dirty="0">
                          <a:latin typeface="Consolas" panose="020B0609020204030204" pitchFamily="49" charset="0"/>
                          <a:cs typeface="Consolas" panose="020B0609020204030204" pitchFamily="49" charset="0"/>
                        </a:rPr>
                        <a:t> import</a:t>
                      </a:r>
                      <a:r>
                        <a:rPr lang="en-US" sz="1800" dirty="0">
                          <a:solidFill>
                            <a:srgbClr val="273239"/>
                          </a:solidFill>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stopwords</a:t>
                      </a:r>
                      <a:endParaRPr lang="en-US" sz="1800" dirty="0">
                        <a:latin typeface="Consolas" panose="020B0609020204030204" pitchFamily="49" charset="0"/>
                        <a:ea typeface="Tahoma" panose="020B0604030504040204" pitchFamily="34" charset="0"/>
                        <a:cs typeface="Consolas" panose="020B0609020204030204" pitchFamily="49" charset="0"/>
                      </a:endParaRPr>
                    </a:p>
                  </a:txBody>
                  <a:tcPr/>
                </a:tc>
                <a:extLst>
                  <a:ext uri="{0D108BD9-81ED-4DB2-BD59-A6C34878D82A}">
                    <a16:rowId xmlns:a16="http://schemas.microsoft.com/office/drawing/2014/main" val="990935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Tahoma" panose="020B0604030504040204" pitchFamily="34" charset="0"/>
                          <a:cs typeface="Tahoma" panose="020B0604030504040204" pitchFamily="34" charset="0"/>
                        </a:rPr>
                        <a:t>Removing punctuation, case</a:t>
                      </a:r>
                    </a:p>
                  </a:txBody>
                  <a:tcPr/>
                </a:tc>
                <a:tc>
                  <a:txBody>
                    <a:bodyPr/>
                    <a:lstStyle/>
                    <a:p>
                      <a:r>
                        <a:rPr lang="en-US" dirty="0" err="1">
                          <a:latin typeface="Consolas" panose="020B0609020204030204" pitchFamily="49" charset="0"/>
                          <a:cs typeface="Consolas" panose="020B0609020204030204" pitchFamily="49" charset="0"/>
                        </a:rPr>
                        <a:t>Regexp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string.tolower</a:t>
                      </a:r>
                      <a:r>
                        <a:rPr lang="en-US"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42517394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Tahoma" panose="020B0604030504040204" pitchFamily="34" charset="0"/>
                          <a:cs typeface="Tahoma" panose="020B0604030504040204" pitchFamily="34" charset="0"/>
                        </a:rPr>
                        <a:t>Rare words – words that only appear 1x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CountVectorizer</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min_df</a:t>
                      </a:r>
                      <a:r>
                        <a:rPr lang="en-US" dirty="0">
                          <a:latin typeface="Consolas" panose="020B0609020204030204" pitchFamily="49" charset="0"/>
                          <a:cs typeface="Consolas" panose="020B0609020204030204" pitchFamily="49" charset="0"/>
                        </a:rPr>
                        <a:t>=2) </a:t>
                      </a:r>
                    </a:p>
                  </a:txBody>
                  <a:tcPr/>
                </a:tc>
                <a:extLst>
                  <a:ext uri="{0D108BD9-81ED-4DB2-BD59-A6C34878D82A}">
                    <a16:rowId xmlns:a16="http://schemas.microsoft.com/office/drawing/2014/main" val="16752173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latin typeface="+mn-lt"/>
                          <a:ea typeface="Tahoma" panose="020B0604030504040204" pitchFamily="34" charset="0"/>
                          <a:cs typeface="Tahoma" panose="020B0604030504040204" pitchFamily="34" charset="0"/>
                        </a:rPr>
                        <a:t>Different versions of the same word: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latin typeface="+mn-lt"/>
                          <a:ea typeface="Tahoma" panose="020B0604030504040204" pitchFamily="34" charset="0"/>
                          <a:cs typeface="Tahoma" panose="020B0604030504040204" pitchFamily="34" charset="0"/>
                        </a:rPr>
                        <a:t>Stemming = find word root: </a:t>
                      </a:r>
                      <a:r>
                        <a:rPr lang="en-US" i="0" dirty="0">
                          <a:latin typeface="+mn-lt"/>
                          <a:ea typeface="Tahoma" panose="020B0604030504040204" pitchFamily="34" charset="0"/>
                          <a:cs typeface="Tahoma" panose="020B0604030504040204" pitchFamily="34" charset="0"/>
                        </a:rPr>
                        <a:t>“</a:t>
                      </a:r>
                      <a:r>
                        <a:rPr lang="en-US" i="0" dirty="0" err="1">
                          <a:latin typeface="+mn-lt"/>
                          <a:ea typeface="Tahoma" panose="020B0604030504040204" pitchFamily="34" charset="0"/>
                          <a:cs typeface="Tahoma" panose="020B0604030504040204" pitchFamily="34" charset="0"/>
                        </a:rPr>
                        <a:t>walking”,”walks</a:t>
                      </a:r>
                      <a:r>
                        <a:rPr lang="en-US" i="0" dirty="0">
                          <a:latin typeface="+mn-lt"/>
                          <a:ea typeface="Tahoma" panose="020B0604030504040204" pitchFamily="34" charset="0"/>
                          <a:cs typeface="Tahoma" panose="020B0604030504040204" pitchFamily="34" charset="0"/>
                        </a:rPr>
                        <a:t>” =&gt; “walk”</a:t>
                      </a:r>
                      <a:endParaRPr lang="en-US" dirty="0">
                        <a:latin typeface="+mn-lt"/>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i="0" dirty="0">
                          <a:latin typeface="+mn-lt"/>
                          <a:ea typeface="Tahoma" panose="020B0604030504040204" pitchFamily="34" charset="0"/>
                          <a:cs typeface="Tahoma" panose="020B0604030504040204" pitchFamily="34" charset="0"/>
                        </a:rPr>
                        <a:t>Lemmatization = reduce to core: “better” =&gt; “good”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73239"/>
                          </a:solidFill>
                          <a:latin typeface="Consolas" panose="020B0609020204030204" pitchFamily="49" charset="0"/>
                          <a:cs typeface="Consolas" panose="020B0609020204030204" pitchFamily="49" charset="0"/>
                        </a:rPr>
                        <a:t>from </a:t>
                      </a:r>
                      <a:r>
                        <a:rPr lang="en-US" sz="1800" dirty="0" err="1">
                          <a:solidFill>
                            <a:srgbClr val="273239"/>
                          </a:solidFill>
                          <a:latin typeface="Consolas" panose="020B0609020204030204" pitchFamily="49" charset="0"/>
                          <a:cs typeface="Consolas" panose="020B0609020204030204" pitchFamily="49" charset="0"/>
                        </a:rPr>
                        <a:t>nltk.stem</a:t>
                      </a:r>
                      <a:r>
                        <a:rPr lang="en-US" sz="1800" dirty="0">
                          <a:solidFill>
                            <a:srgbClr val="273239"/>
                          </a:solidFill>
                          <a:latin typeface="Consolas" panose="020B0609020204030204" pitchFamily="49" charset="0"/>
                          <a:cs typeface="Consolas" panose="020B0609020204030204" pitchFamily="49" charset="0"/>
                        </a:rPr>
                        <a:t> import </a:t>
                      </a:r>
                      <a:r>
                        <a:rPr lang="en-US" sz="1800" dirty="0" err="1">
                          <a:solidFill>
                            <a:srgbClr val="273239"/>
                          </a:solidFill>
                          <a:latin typeface="Consolas" panose="020B0609020204030204" pitchFamily="49" charset="0"/>
                          <a:cs typeface="Consolas" panose="020B0609020204030204" pitchFamily="49" charset="0"/>
                        </a:rPr>
                        <a:t>PorterStemmer</a:t>
                      </a:r>
                      <a:endParaRPr lang="en-US" sz="1800" dirty="0">
                        <a:solidFill>
                          <a:srgbClr val="273239"/>
                        </a:solidFill>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1571410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Tahoma" panose="020B0604030504040204" pitchFamily="34" charset="0"/>
                          <a:cs typeface="Tahoma" panose="020B0604030504040204" pitchFamily="34" charset="0"/>
                        </a:rPr>
                        <a:t>Spell correction</a:t>
                      </a:r>
                    </a:p>
                  </a:txBody>
                  <a:tcPr/>
                </a:tc>
                <a:tc>
                  <a:txBody>
                    <a:bodyPr/>
                    <a:lstStyle/>
                    <a:p>
                      <a:r>
                        <a:rPr lang="en-US" dirty="0" err="1">
                          <a:latin typeface="Consolas" panose="020B0609020204030204" pitchFamily="49" charset="0"/>
                          <a:cs typeface="Consolas" panose="020B0609020204030204" pitchFamily="49" charset="0"/>
                        </a:rPr>
                        <a:t>pySpellChecker</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textblob</a:t>
                      </a:r>
                      <a:endParaRPr lang="en-US"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3163639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Tahoma" panose="020B0604030504040204" pitchFamily="34" charset="0"/>
                          <a:cs typeface="Tahoma" panose="020B0604030504040204" pitchFamily="34" charset="0"/>
                        </a:rPr>
                        <a:t>Tokenizing / n-grams:  “double play”, “home run”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from </a:t>
                      </a:r>
                      <a:r>
                        <a:rPr lang="en-US" dirty="0" err="1">
                          <a:latin typeface="Consolas" panose="020B0609020204030204" pitchFamily="49" charset="0"/>
                          <a:cs typeface="Consolas" panose="020B0609020204030204" pitchFamily="49" charset="0"/>
                        </a:rPr>
                        <a:t>nltk.tokenize</a:t>
                      </a:r>
                      <a:r>
                        <a:rPr lang="en-US" dirty="0">
                          <a:latin typeface="Consolas" panose="020B0609020204030204" pitchFamily="49" charset="0"/>
                          <a:cs typeface="Consolas" panose="020B0609020204030204" pitchFamily="49" charset="0"/>
                        </a:rPr>
                        <a:t> import </a:t>
                      </a:r>
                      <a:r>
                        <a:rPr lang="en-US" dirty="0" err="1">
                          <a:latin typeface="Consolas" panose="020B0609020204030204" pitchFamily="49" charset="0"/>
                          <a:cs typeface="Consolas" panose="020B0609020204030204" pitchFamily="49" charset="0"/>
                        </a:rPr>
                        <a:t>word_tokenize</a:t>
                      </a:r>
                      <a:endParaRPr lang="en-US"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897828498"/>
                  </a:ext>
                </a:extLst>
              </a:tr>
              <a:tr h="370840">
                <a:tc>
                  <a:txBody>
                    <a:bodyPr/>
                    <a:lstStyle/>
                    <a:p>
                      <a:r>
                        <a:rPr lang="en-US" dirty="0">
                          <a:latin typeface="+mn-lt"/>
                          <a:ea typeface="Tahoma" panose="020B0604030504040204" pitchFamily="34" charset="0"/>
                          <a:cs typeface="Tahoma" panose="020B0604030504040204" pitchFamily="34" charset="0"/>
                        </a:rPr>
                        <a:t>Accounting for similar concepts / synonyms</a:t>
                      </a:r>
                    </a:p>
                  </a:txBody>
                  <a:tcPr/>
                </a:tc>
                <a:tc>
                  <a:txBody>
                    <a:bodyPr/>
                    <a:lstStyle/>
                    <a:p>
                      <a:r>
                        <a:rPr lang="en-US" dirty="0">
                          <a:latin typeface="Consolas" panose="020B0609020204030204" pitchFamily="49" charset="0"/>
                          <a:cs typeface="Consolas" panose="020B0609020204030204" pitchFamily="49" charset="0"/>
                        </a:rPr>
                        <a:t>Embeddings (word2vec, BERT) </a:t>
                      </a:r>
                    </a:p>
                  </a:txBody>
                  <a:tcPr/>
                </a:tc>
                <a:extLst>
                  <a:ext uri="{0D108BD9-81ED-4DB2-BD59-A6C34878D82A}">
                    <a16:rowId xmlns:a16="http://schemas.microsoft.com/office/drawing/2014/main" val="1487560692"/>
                  </a:ext>
                </a:extLst>
              </a:tr>
            </a:tbl>
          </a:graphicData>
        </a:graphic>
      </p:graphicFrame>
      <p:sp>
        <p:nvSpPr>
          <p:cNvPr id="5" name="TextBox 4">
            <a:extLst>
              <a:ext uri="{FF2B5EF4-FFF2-40B4-BE49-F238E27FC236}">
                <a16:creationId xmlns:a16="http://schemas.microsoft.com/office/drawing/2014/main" id="{55E0853C-7066-9467-B3E5-4E45CEBCD4B9}"/>
              </a:ext>
            </a:extLst>
          </p:cNvPr>
          <p:cNvSpPr txBox="1"/>
          <p:nvPr/>
        </p:nvSpPr>
        <p:spPr>
          <a:xfrm>
            <a:off x="631825" y="5338595"/>
            <a:ext cx="11036300" cy="830997"/>
          </a:xfrm>
          <a:prstGeom prst="rect">
            <a:avLst/>
          </a:prstGeom>
          <a:solidFill>
            <a:schemeClr val="bg2"/>
          </a:solidFill>
        </p:spPr>
        <p:txBody>
          <a:bodyPr wrap="square" rtlCol="0">
            <a:spAutoFit/>
          </a:bodyPr>
          <a:lstStyle/>
          <a:p>
            <a:pPr algn="l"/>
            <a:r>
              <a:rPr lang="en-US" sz="2400" dirty="0">
                <a:latin typeface="Montserrat" pitchFamily="2" charset="77"/>
              </a:rPr>
              <a:t>Python has built much of this functionality into a few functions:</a:t>
            </a:r>
          </a:p>
          <a:p>
            <a:pPr algn="l"/>
            <a:r>
              <a:rPr lang="en-US" sz="2400" dirty="0">
                <a:latin typeface="Consolas" panose="020B0609020204030204" pitchFamily="49" charset="0"/>
                <a:cs typeface="Consolas" panose="020B0609020204030204" pitchFamily="49" charset="0"/>
              </a:rPr>
              <a:t>Vectorizer() </a:t>
            </a:r>
            <a:r>
              <a:rPr lang="en-US" sz="2400" dirty="0">
                <a:latin typeface="Montserrat" pitchFamily="2" charset="77"/>
              </a:rPr>
              <a:t>tools include case regularization, </a:t>
            </a:r>
            <a:r>
              <a:rPr lang="en-US" sz="2400" dirty="0" err="1">
                <a:latin typeface="Montserrat" pitchFamily="2" charset="77"/>
              </a:rPr>
              <a:t>stopwords</a:t>
            </a:r>
            <a:r>
              <a:rPr lang="en-US" sz="2400" dirty="0">
                <a:latin typeface="Montserrat" pitchFamily="2" charset="77"/>
              </a:rPr>
              <a:t>, tokens, </a:t>
            </a:r>
            <a:r>
              <a:rPr lang="en-US" sz="2400" dirty="0" err="1">
                <a:latin typeface="Montserrat" pitchFamily="2" charset="77"/>
              </a:rPr>
              <a:t>etc</a:t>
            </a:r>
            <a:endParaRPr lang="en-US" sz="2400" dirty="0">
              <a:latin typeface="Montserrat" pitchFamily="2" charset="77"/>
            </a:endParaRPr>
          </a:p>
        </p:txBody>
      </p:sp>
      <p:sp>
        <p:nvSpPr>
          <p:cNvPr id="6" name="TextBox 5">
            <a:extLst>
              <a:ext uri="{FF2B5EF4-FFF2-40B4-BE49-F238E27FC236}">
                <a16:creationId xmlns:a16="http://schemas.microsoft.com/office/drawing/2014/main" id="{517AFA01-12A2-6349-B70B-A70B40B9618E}"/>
              </a:ext>
            </a:extLst>
          </p:cNvPr>
          <p:cNvSpPr txBox="1"/>
          <p:nvPr/>
        </p:nvSpPr>
        <p:spPr>
          <a:xfrm>
            <a:off x="2500699" y="6308079"/>
            <a:ext cx="6288901" cy="461665"/>
          </a:xfrm>
          <a:prstGeom prst="rect">
            <a:avLst/>
          </a:prstGeom>
          <a:noFill/>
        </p:spPr>
        <p:txBody>
          <a:bodyPr wrap="none" rtlCol="0">
            <a:spAutoFit/>
          </a:bodyPr>
          <a:lstStyle/>
          <a:p>
            <a:pPr algn="l"/>
            <a:r>
              <a:rPr lang="en-US" sz="2400" dirty="0">
                <a:latin typeface="Montserrat" pitchFamily="2" charset="77"/>
              </a:rPr>
              <a:t>Note: functions may be domain specific</a:t>
            </a:r>
          </a:p>
        </p:txBody>
      </p:sp>
    </p:spTree>
    <p:extLst>
      <p:ext uri="{BB962C8B-B14F-4D97-AF65-F5344CB8AC3E}">
        <p14:creationId xmlns:p14="http://schemas.microsoft.com/office/powerpoint/2010/main" val="220952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9F3999-7EAD-A0B1-1740-1A60E6B155CB}"/>
              </a:ext>
            </a:extLst>
          </p:cNvPr>
          <p:cNvSpPr>
            <a:spLocks noGrp="1"/>
          </p:cNvSpPr>
          <p:nvPr>
            <p:ph type="sldNum" sz="quarter" idx="12"/>
          </p:nvPr>
        </p:nvSpPr>
        <p:spPr/>
        <p:txBody>
          <a:bodyPr/>
          <a:lstStyle/>
          <a:p>
            <a:fld id="{ABBEE3BA-F264-1746-880E-39AD601DF2B1}" type="slidenum">
              <a:rPr lang="en-US" smtClean="0"/>
              <a:t>8</a:t>
            </a:fld>
            <a:endParaRPr lang="en-US"/>
          </a:p>
        </p:txBody>
      </p:sp>
      <p:sp>
        <p:nvSpPr>
          <p:cNvPr id="3" name="Content Placeholder 2">
            <a:extLst>
              <a:ext uri="{FF2B5EF4-FFF2-40B4-BE49-F238E27FC236}">
                <a16:creationId xmlns:a16="http://schemas.microsoft.com/office/drawing/2014/main" id="{D34D9CD4-23F7-0532-FFD1-1A172E0794F9}"/>
              </a:ext>
            </a:extLst>
          </p:cNvPr>
          <p:cNvSpPr>
            <a:spLocks noGrp="1"/>
          </p:cNvSpPr>
          <p:nvPr>
            <p:ph idx="1"/>
          </p:nvPr>
        </p:nvSpPr>
        <p:spPr>
          <a:xfrm>
            <a:off x="1848464" y="865739"/>
            <a:ext cx="8229600" cy="4814202"/>
          </a:xfrm>
        </p:spPr>
        <p:txBody>
          <a:bodyPr/>
          <a:lstStyle/>
          <a:p>
            <a:pPr marL="0" indent="0">
              <a:buNone/>
            </a:pPr>
            <a:r>
              <a:rPr lang="en-US" dirty="0"/>
              <a:t>Each document is simply a bag of words (</a:t>
            </a:r>
            <a:r>
              <a:rPr lang="en-US" dirty="0" err="1"/>
              <a:t>BoW</a:t>
            </a:r>
            <a:r>
              <a:rPr lang="en-US" dirty="0"/>
              <a:t>) using the tokenized data:</a:t>
            </a:r>
          </a:p>
          <a:p>
            <a:pPr marL="0" indent="0">
              <a:buNone/>
            </a:pPr>
            <a:endParaRPr lang="en-US" dirty="0"/>
          </a:p>
          <a:p>
            <a:endParaRPr lang="en-US" dirty="0"/>
          </a:p>
        </p:txBody>
      </p:sp>
      <p:sp>
        <p:nvSpPr>
          <p:cNvPr id="2" name="Title 1">
            <a:extLst>
              <a:ext uri="{FF2B5EF4-FFF2-40B4-BE49-F238E27FC236}">
                <a16:creationId xmlns:a16="http://schemas.microsoft.com/office/drawing/2014/main" id="{8199DFCC-B5A1-E678-B4A6-981B68401E45}"/>
              </a:ext>
            </a:extLst>
          </p:cNvPr>
          <p:cNvSpPr>
            <a:spLocks noGrp="1"/>
          </p:cNvSpPr>
          <p:nvPr>
            <p:ph type="title"/>
          </p:nvPr>
        </p:nvSpPr>
        <p:spPr>
          <a:xfrm>
            <a:off x="0" y="26755"/>
            <a:ext cx="10515600" cy="1001559"/>
          </a:xfrm>
        </p:spPr>
        <p:txBody>
          <a:bodyPr/>
          <a:lstStyle/>
          <a:p>
            <a:r>
              <a:rPr lang="en-US" dirty="0"/>
              <a:t>Simple Analysis: Bag of Words</a:t>
            </a:r>
          </a:p>
        </p:txBody>
      </p:sp>
      <p:sp>
        <p:nvSpPr>
          <p:cNvPr id="5" name="Content Placeholder 2">
            <a:extLst>
              <a:ext uri="{FF2B5EF4-FFF2-40B4-BE49-F238E27FC236}">
                <a16:creationId xmlns:a16="http://schemas.microsoft.com/office/drawing/2014/main" id="{49DA37D2-CB76-E073-6733-59EA214CFC05}"/>
              </a:ext>
            </a:extLst>
          </p:cNvPr>
          <p:cNvSpPr txBox="1">
            <a:spLocks/>
          </p:cNvSpPr>
          <p:nvPr/>
        </p:nvSpPr>
        <p:spPr bwMode="auto">
          <a:xfrm>
            <a:off x="146742" y="1996805"/>
            <a:ext cx="10515599" cy="339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a:buClrTx/>
            </a:pPr>
            <a:r>
              <a:rPr lang="en-US" kern="0" dirty="0"/>
              <a:t>Text:  </a:t>
            </a:r>
            <a:r>
              <a:rPr lang="en-US" i="1" kern="0" dirty="0"/>
              <a:t>“This loan request is to reduce credit card debt by receiving a more manageable finance charge and payment schedule than what I am currently paying on a monthly basis. I currently meet all my financial obligations without problems. This allows quicker debt reduction.”</a:t>
            </a:r>
            <a:endParaRPr lang="en-US" i="1" kern="0" dirty="0">
              <a:solidFill>
                <a:srgbClr val="000000"/>
              </a:solidFill>
              <a:latin typeface="Calibri"/>
            </a:endParaRPr>
          </a:p>
          <a:p>
            <a:pPr>
              <a:buClrTx/>
            </a:pPr>
            <a:endParaRPr lang="en-US" kern="0" dirty="0"/>
          </a:p>
          <a:p>
            <a:pPr>
              <a:buClrTx/>
            </a:pPr>
            <a:r>
              <a:rPr lang="en-US" kern="0" dirty="0"/>
              <a:t>BAG:{without,what,to,this,than,schedule,request,reduction,reduce,receiving,quicker,problems,payment,paying,on,obligations,my,more,monthly,meet,manageable,loan,is,financial,finance,debt,debt,currently,currently,credit,charge,card,by,basis,and,am,allows,all,a,I}</a:t>
            </a:r>
          </a:p>
        </p:txBody>
      </p:sp>
      <p:sp>
        <p:nvSpPr>
          <p:cNvPr id="6" name="TextBox 5">
            <a:extLst>
              <a:ext uri="{FF2B5EF4-FFF2-40B4-BE49-F238E27FC236}">
                <a16:creationId xmlns:a16="http://schemas.microsoft.com/office/drawing/2014/main" id="{FB4007AE-2A1D-796D-62B2-9279915A4527}"/>
              </a:ext>
            </a:extLst>
          </p:cNvPr>
          <p:cNvSpPr txBox="1"/>
          <p:nvPr/>
        </p:nvSpPr>
        <p:spPr>
          <a:xfrm>
            <a:off x="6096000" y="5094368"/>
            <a:ext cx="2384884" cy="1200329"/>
          </a:xfrm>
          <a:prstGeom prst="rect">
            <a:avLst/>
          </a:prstGeom>
          <a:solidFill>
            <a:schemeClr val="bg2"/>
          </a:solidFill>
        </p:spPr>
        <p:txBody>
          <a:bodyPr wrap="none" rtlCol="0">
            <a:spAutoFit/>
          </a:bodyPr>
          <a:lstStyle/>
          <a:p>
            <a:pPr>
              <a:buNone/>
            </a:pPr>
            <a:r>
              <a:rPr lang="en-US" sz="1800" dirty="0">
                <a:latin typeface="Tahoma" panose="020B0604030504040204" pitchFamily="34" charset="0"/>
                <a:ea typeface="Tahoma" panose="020B0604030504040204" pitchFamily="34" charset="0"/>
                <a:cs typeface="Tahoma" panose="020B0604030504040204" pitchFamily="34" charset="0"/>
              </a:rPr>
              <a:t>But, this ignores:</a:t>
            </a:r>
          </a:p>
          <a:p>
            <a:pPr marL="285750" indent="-285750">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Grammar</a:t>
            </a:r>
          </a:p>
          <a:p>
            <a:pPr marL="285750" indent="-285750">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Word order</a:t>
            </a:r>
          </a:p>
          <a:p>
            <a:pPr marL="285750" indent="-285750">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Sentence structure</a:t>
            </a:r>
          </a:p>
        </p:txBody>
      </p:sp>
      <p:sp>
        <p:nvSpPr>
          <p:cNvPr id="7" name="TextBox 6">
            <a:extLst>
              <a:ext uri="{FF2B5EF4-FFF2-40B4-BE49-F238E27FC236}">
                <a16:creationId xmlns:a16="http://schemas.microsoft.com/office/drawing/2014/main" id="{CA82E82C-0FAD-2B52-ECB0-C890225C0AA1}"/>
              </a:ext>
            </a:extLst>
          </p:cNvPr>
          <p:cNvSpPr txBox="1"/>
          <p:nvPr/>
        </p:nvSpPr>
        <p:spPr>
          <a:xfrm>
            <a:off x="2597469" y="5172109"/>
            <a:ext cx="2914254" cy="1015663"/>
          </a:xfrm>
          <a:prstGeom prst="rect">
            <a:avLst/>
          </a:prstGeom>
          <a:solidFill>
            <a:schemeClr val="bg2"/>
          </a:solidFill>
        </p:spPr>
        <p:txBody>
          <a:bodyPr wrap="squar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Tokenizing the data:  taking a document and reducing it to its terms</a:t>
            </a:r>
            <a:endParaRPr lang="en-US" sz="2000" i="1" dirty="0">
              <a:latin typeface="Tahoma" panose="020B0604030504040204" pitchFamily="34" charset="0"/>
              <a:ea typeface="Tahoma" panose="020B0604030504040204" pitchFamily="34" charset="0"/>
              <a:cs typeface="Tahoma" panose="020B0604030504040204" pitchFamily="34" charset="0"/>
            </a:endParaRPr>
          </a:p>
        </p:txBody>
      </p:sp>
      <p:pic>
        <p:nvPicPr>
          <p:cNvPr id="8" name="Picture 2">
            <a:extLst>
              <a:ext uri="{FF2B5EF4-FFF2-40B4-BE49-F238E27FC236}">
                <a16:creationId xmlns:a16="http://schemas.microsoft.com/office/drawing/2014/main" id="{63B800FC-C8FD-D836-080E-8D268900A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2341" y="271106"/>
            <a:ext cx="1264187" cy="1801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47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1BB767-806D-E142-3922-D02CE0E5ADBC}"/>
              </a:ext>
            </a:extLst>
          </p:cNvPr>
          <p:cNvSpPr>
            <a:spLocks noGrp="1"/>
          </p:cNvSpPr>
          <p:nvPr>
            <p:ph type="sldNum" sz="quarter" idx="12"/>
          </p:nvPr>
        </p:nvSpPr>
        <p:spPr/>
        <p:txBody>
          <a:bodyPr/>
          <a:lstStyle/>
          <a:p>
            <a:fld id="{ABBEE3BA-F264-1746-880E-39AD601DF2B1}" type="slidenum">
              <a:rPr lang="en-US" smtClean="0"/>
              <a:t>9</a:t>
            </a:fld>
            <a:endParaRPr lang="en-US"/>
          </a:p>
        </p:txBody>
      </p:sp>
      <p:sp>
        <p:nvSpPr>
          <p:cNvPr id="3" name="Content Placeholder 2">
            <a:extLst>
              <a:ext uri="{FF2B5EF4-FFF2-40B4-BE49-F238E27FC236}">
                <a16:creationId xmlns:a16="http://schemas.microsoft.com/office/drawing/2014/main" id="{97C04140-8552-2BE0-123C-87AABA50922A}"/>
              </a:ext>
            </a:extLst>
          </p:cNvPr>
          <p:cNvSpPr>
            <a:spLocks noGrp="1"/>
          </p:cNvSpPr>
          <p:nvPr>
            <p:ph idx="1"/>
          </p:nvPr>
        </p:nvSpPr>
        <p:spPr>
          <a:xfrm>
            <a:off x="1143000" y="1000624"/>
            <a:ext cx="9372600" cy="939636"/>
          </a:xfrm>
        </p:spPr>
        <p:txBody>
          <a:bodyPr>
            <a:noAutofit/>
          </a:bodyPr>
          <a:lstStyle/>
          <a:p>
            <a:pPr marL="0" indent="0">
              <a:buNone/>
            </a:pPr>
            <a:r>
              <a:rPr lang="en-US" sz="1800" dirty="0"/>
              <a:t>After cleaning and now have a structured </a:t>
            </a:r>
            <a:r>
              <a:rPr lang="en-US" sz="1800" b="1" dirty="0"/>
              <a:t>Term Frequency (TF) table  </a:t>
            </a:r>
            <a:r>
              <a:rPr lang="en-US" sz="1800" dirty="0"/>
              <a:t>for analysis - which words appear in which documents. </a:t>
            </a:r>
          </a:p>
          <a:p>
            <a:endParaRPr lang="en-US" sz="1800" dirty="0"/>
          </a:p>
          <a:p>
            <a:pPr marL="0" indent="0">
              <a:buNone/>
            </a:pPr>
            <a:r>
              <a:rPr lang="en-US" sz="1800" dirty="0"/>
              <a:t>TF(</a:t>
            </a:r>
            <a:r>
              <a:rPr lang="en-US" sz="1800" dirty="0" err="1"/>
              <a:t>d,t</a:t>
            </a:r>
            <a:r>
              <a:rPr lang="en-US" sz="1800" dirty="0"/>
              <a:t>) = # of times term </a:t>
            </a:r>
            <a:r>
              <a:rPr lang="en-US" sz="1800" i="1" dirty="0"/>
              <a:t>t</a:t>
            </a:r>
            <a:r>
              <a:rPr lang="en-US" sz="1800" dirty="0"/>
              <a:t> appears in document </a:t>
            </a:r>
            <a:r>
              <a:rPr lang="en-US" sz="1800" i="1" dirty="0"/>
              <a:t>d</a:t>
            </a:r>
          </a:p>
          <a:p>
            <a:pPr>
              <a:buNone/>
            </a:pPr>
            <a:r>
              <a:rPr lang="en-US" sz="1800" dirty="0"/>
              <a:t>Simple version – binary matrix – does word exist or not? (0,1) </a:t>
            </a:r>
          </a:p>
          <a:p>
            <a:endParaRPr lang="en-US" sz="1800" dirty="0"/>
          </a:p>
        </p:txBody>
      </p:sp>
      <p:sp>
        <p:nvSpPr>
          <p:cNvPr id="2" name="Title 1">
            <a:extLst>
              <a:ext uri="{FF2B5EF4-FFF2-40B4-BE49-F238E27FC236}">
                <a16:creationId xmlns:a16="http://schemas.microsoft.com/office/drawing/2014/main" id="{45B9E8D9-30CC-8805-7B45-773CF9570FEC}"/>
              </a:ext>
            </a:extLst>
          </p:cNvPr>
          <p:cNvSpPr>
            <a:spLocks noGrp="1"/>
          </p:cNvSpPr>
          <p:nvPr>
            <p:ph type="title"/>
          </p:nvPr>
        </p:nvSpPr>
        <p:spPr>
          <a:xfrm>
            <a:off x="0" y="41105"/>
            <a:ext cx="10515600" cy="1001559"/>
          </a:xfrm>
        </p:spPr>
        <p:txBody>
          <a:bodyPr/>
          <a:lstStyle/>
          <a:p>
            <a:r>
              <a:rPr lang="en-US" dirty="0"/>
              <a:t>From Unstructured to Structured</a:t>
            </a:r>
          </a:p>
        </p:txBody>
      </p:sp>
      <p:sp>
        <p:nvSpPr>
          <p:cNvPr id="5" name="Content Placeholder 2">
            <a:extLst>
              <a:ext uri="{FF2B5EF4-FFF2-40B4-BE49-F238E27FC236}">
                <a16:creationId xmlns:a16="http://schemas.microsoft.com/office/drawing/2014/main" id="{948F3A0B-9948-CB46-52FC-10951BFCC85E}"/>
              </a:ext>
            </a:extLst>
          </p:cNvPr>
          <p:cNvSpPr txBox="1">
            <a:spLocks/>
          </p:cNvSpPr>
          <p:nvPr/>
        </p:nvSpPr>
        <p:spPr bwMode="auto">
          <a:xfrm>
            <a:off x="1438247" y="4985826"/>
            <a:ext cx="8853156" cy="169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a:buClrTx/>
            </a:pPr>
            <a:r>
              <a:rPr lang="en-US" kern="0" dirty="0"/>
              <a:t>If you have a target for your documents, these are now features for a supervised classifier</a:t>
            </a:r>
          </a:p>
          <a:p>
            <a:pPr>
              <a:buClrTx/>
            </a:pPr>
            <a:r>
              <a:rPr lang="en-US" kern="0" dirty="0"/>
              <a:t>Good methods for supervised text models:</a:t>
            </a:r>
          </a:p>
          <a:p>
            <a:pPr lvl="1" eaLnBrk="1" hangingPunct="1">
              <a:defRPr/>
            </a:pPr>
            <a:r>
              <a:rPr lang="en-US" sz="2000" dirty="0"/>
              <a:t>Logistic regression (regularized for large feature space)</a:t>
            </a:r>
          </a:p>
          <a:p>
            <a:pPr lvl="1" eaLnBrk="1" hangingPunct="1">
              <a:defRPr/>
            </a:pPr>
            <a:r>
              <a:rPr lang="en-US" sz="2000" dirty="0">
                <a:solidFill>
                  <a:schemeClr val="accent6"/>
                </a:solidFill>
              </a:rPr>
              <a:t>Naïve Bayes</a:t>
            </a:r>
          </a:p>
          <a:p>
            <a:pPr>
              <a:buClrTx/>
            </a:pPr>
            <a:endParaRPr lang="en-US" kern="0" dirty="0"/>
          </a:p>
        </p:txBody>
      </p:sp>
      <p:pic>
        <p:nvPicPr>
          <p:cNvPr id="9" name="Picture 8">
            <a:extLst>
              <a:ext uri="{FF2B5EF4-FFF2-40B4-BE49-F238E27FC236}">
                <a16:creationId xmlns:a16="http://schemas.microsoft.com/office/drawing/2014/main" id="{7290B698-633C-C97D-BFD1-34069118474B}"/>
              </a:ext>
            </a:extLst>
          </p:cNvPr>
          <p:cNvPicPr>
            <a:picLocks noChangeAspect="1"/>
          </p:cNvPicPr>
          <p:nvPr/>
        </p:nvPicPr>
        <p:blipFill>
          <a:blip r:embed="rId3"/>
          <a:stretch>
            <a:fillRect/>
          </a:stretch>
        </p:blipFill>
        <p:spPr>
          <a:xfrm>
            <a:off x="1995019" y="2857772"/>
            <a:ext cx="5700732" cy="1923997"/>
          </a:xfrm>
          <a:prstGeom prst="rect">
            <a:avLst/>
          </a:prstGeom>
        </p:spPr>
      </p:pic>
      <p:sp>
        <p:nvSpPr>
          <p:cNvPr id="10" name="TextBox 9">
            <a:extLst>
              <a:ext uri="{FF2B5EF4-FFF2-40B4-BE49-F238E27FC236}">
                <a16:creationId xmlns:a16="http://schemas.microsoft.com/office/drawing/2014/main" id="{81475693-F08E-F4C3-90C1-3B10FEB8B60B}"/>
              </a:ext>
            </a:extLst>
          </p:cNvPr>
          <p:cNvSpPr txBox="1"/>
          <p:nvPr/>
        </p:nvSpPr>
        <p:spPr>
          <a:xfrm>
            <a:off x="8718685" y="3194534"/>
            <a:ext cx="1963271" cy="1323439"/>
          </a:xfrm>
          <a:prstGeom prst="rect">
            <a:avLst/>
          </a:prstGeom>
          <a:solidFill>
            <a:schemeClr val="bg2"/>
          </a:solidFill>
        </p:spPr>
        <p:txBody>
          <a:bodyPr wrap="squar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Typically hundreds to thousands of columns…</a:t>
            </a:r>
          </a:p>
        </p:txBody>
      </p:sp>
      <p:sp>
        <p:nvSpPr>
          <p:cNvPr id="11" name="TextBox 10">
            <a:extLst>
              <a:ext uri="{FF2B5EF4-FFF2-40B4-BE49-F238E27FC236}">
                <a16:creationId xmlns:a16="http://schemas.microsoft.com/office/drawing/2014/main" id="{08D6D3BA-F001-3839-2060-F08DF3C713E2}"/>
              </a:ext>
            </a:extLst>
          </p:cNvPr>
          <p:cNvSpPr txBox="1"/>
          <p:nvPr/>
        </p:nvSpPr>
        <p:spPr>
          <a:xfrm>
            <a:off x="7844164" y="2791593"/>
            <a:ext cx="394660"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2" name="TextBox 11">
            <a:extLst>
              <a:ext uri="{FF2B5EF4-FFF2-40B4-BE49-F238E27FC236}">
                <a16:creationId xmlns:a16="http://schemas.microsoft.com/office/drawing/2014/main" id="{FD99EA10-157B-2CB1-C911-8FE7FF0F0779}"/>
              </a:ext>
            </a:extLst>
          </p:cNvPr>
          <p:cNvSpPr txBox="1"/>
          <p:nvPr/>
        </p:nvSpPr>
        <p:spPr>
          <a:xfrm>
            <a:off x="7818252" y="3657695"/>
            <a:ext cx="394660"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3" name="TextBox 12">
            <a:extLst>
              <a:ext uri="{FF2B5EF4-FFF2-40B4-BE49-F238E27FC236}">
                <a16:creationId xmlns:a16="http://schemas.microsoft.com/office/drawing/2014/main" id="{A780632D-F8F8-0D15-56E1-75962C88DE5B}"/>
              </a:ext>
            </a:extLst>
          </p:cNvPr>
          <p:cNvSpPr txBox="1"/>
          <p:nvPr/>
        </p:nvSpPr>
        <p:spPr>
          <a:xfrm>
            <a:off x="7837431" y="4013477"/>
            <a:ext cx="394660"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5" name="TextBox 14">
            <a:extLst>
              <a:ext uri="{FF2B5EF4-FFF2-40B4-BE49-F238E27FC236}">
                <a16:creationId xmlns:a16="http://schemas.microsoft.com/office/drawing/2014/main" id="{449873F9-B05C-294B-83CC-2EE5755D46F0}"/>
              </a:ext>
            </a:extLst>
          </p:cNvPr>
          <p:cNvSpPr txBox="1"/>
          <p:nvPr/>
        </p:nvSpPr>
        <p:spPr>
          <a:xfrm>
            <a:off x="7830174" y="4381659"/>
            <a:ext cx="394660"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16" name="TextBox 15">
            <a:extLst>
              <a:ext uri="{FF2B5EF4-FFF2-40B4-BE49-F238E27FC236}">
                <a16:creationId xmlns:a16="http://schemas.microsoft.com/office/drawing/2014/main" id="{8D76DC0E-0F17-46DF-12D5-F400974D3D75}"/>
              </a:ext>
            </a:extLst>
          </p:cNvPr>
          <p:cNvSpPr txBox="1"/>
          <p:nvPr/>
        </p:nvSpPr>
        <p:spPr>
          <a:xfrm>
            <a:off x="7830174" y="3279749"/>
            <a:ext cx="394660"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07045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1BB767-806D-E142-3922-D02CE0E5ADBC}"/>
              </a:ext>
            </a:extLst>
          </p:cNvPr>
          <p:cNvSpPr>
            <a:spLocks noGrp="1"/>
          </p:cNvSpPr>
          <p:nvPr>
            <p:ph type="sldNum" sz="quarter" idx="12"/>
          </p:nvPr>
        </p:nvSpPr>
        <p:spPr/>
        <p:txBody>
          <a:bodyPr/>
          <a:lstStyle/>
          <a:p>
            <a:fld id="{ABBEE3BA-F264-1746-880E-39AD601DF2B1}" type="slidenum">
              <a:rPr lang="en-US" smtClean="0"/>
              <a:t>10</a:t>
            </a:fld>
            <a:endParaRPr lang="en-US"/>
          </a:p>
        </p:txBody>
      </p:sp>
      <p:sp>
        <p:nvSpPr>
          <p:cNvPr id="3" name="Content Placeholder 2">
            <a:extLst>
              <a:ext uri="{FF2B5EF4-FFF2-40B4-BE49-F238E27FC236}">
                <a16:creationId xmlns:a16="http://schemas.microsoft.com/office/drawing/2014/main" id="{97C04140-8552-2BE0-123C-87AABA50922A}"/>
              </a:ext>
            </a:extLst>
          </p:cNvPr>
          <p:cNvSpPr>
            <a:spLocks noGrp="1"/>
          </p:cNvSpPr>
          <p:nvPr>
            <p:ph idx="1"/>
          </p:nvPr>
        </p:nvSpPr>
        <p:spPr>
          <a:xfrm>
            <a:off x="1804222" y="965673"/>
            <a:ext cx="8659268" cy="939636"/>
          </a:xfrm>
        </p:spPr>
        <p:txBody>
          <a:bodyPr>
            <a:normAutofit lnSpcReduction="10000"/>
          </a:bodyPr>
          <a:lstStyle/>
          <a:p>
            <a:pPr marL="0" indent="0">
              <a:buNone/>
            </a:pPr>
            <a:r>
              <a:rPr lang="en-US" dirty="0"/>
              <a:t>Term-Frequency table tells us which words are important in describing a given document</a:t>
            </a:r>
          </a:p>
        </p:txBody>
      </p:sp>
      <p:sp>
        <p:nvSpPr>
          <p:cNvPr id="2" name="Title 1">
            <a:extLst>
              <a:ext uri="{FF2B5EF4-FFF2-40B4-BE49-F238E27FC236}">
                <a16:creationId xmlns:a16="http://schemas.microsoft.com/office/drawing/2014/main" id="{45B9E8D9-30CC-8805-7B45-773CF9570FEC}"/>
              </a:ext>
            </a:extLst>
          </p:cNvPr>
          <p:cNvSpPr>
            <a:spLocks noGrp="1"/>
          </p:cNvSpPr>
          <p:nvPr>
            <p:ph type="title"/>
          </p:nvPr>
        </p:nvSpPr>
        <p:spPr>
          <a:xfrm>
            <a:off x="0" y="34101"/>
            <a:ext cx="10515600" cy="1001559"/>
          </a:xfrm>
        </p:spPr>
        <p:txBody>
          <a:bodyPr/>
          <a:lstStyle/>
          <a:p>
            <a:r>
              <a:rPr lang="en-US" dirty="0"/>
              <a:t>Term-Frequency Table (TF)</a:t>
            </a:r>
          </a:p>
        </p:txBody>
      </p:sp>
      <p:sp>
        <p:nvSpPr>
          <p:cNvPr id="5" name="Content Placeholder 2">
            <a:extLst>
              <a:ext uri="{FF2B5EF4-FFF2-40B4-BE49-F238E27FC236}">
                <a16:creationId xmlns:a16="http://schemas.microsoft.com/office/drawing/2014/main" id="{948F3A0B-9948-CB46-52FC-10951BFCC85E}"/>
              </a:ext>
            </a:extLst>
          </p:cNvPr>
          <p:cNvSpPr txBox="1">
            <a:spLocks/>
          </p:cNvSpPr>
          <p:nvPr/>
        </p:nvSpPr>
        <p:spPr bwMode="auto">
          <a:xfrm>
            <a:off x="0" y="4136630"/>
            <a:ext cx="9484963" cy="192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a:buClrTx/>
            </a:pPr>
            <a:r>
              <a:rPr lang="en-US" sz="2400" kern="0" dirty="0"/>
              <a:t>A word that appears in many documents is not as useful!</a:t>
            </a:r>
          </a:p>
          <a:p>
            <a:pPr lvl="1">
              <a:buClrTx/>
            </a:pPr>
            <a:r>
              <a:rPr lang="en-US" sz="2400" kern="0" dirty="0"/>
              <a:t>“LeBron” is more important than “James” in determining context</a:t>
            </a:r>
          </a:p>
          <a:p>
            <a:pPr lvl="1">
              <a:buClrTx/>
            </a:pPr>
            <a:r>
              <a:rPr lang="en-US" sz="2400" kern="0" dirty="0"/>
              <a:t>A term that is too common is not distinguishing, therefore not useful for classification or clustering (</a:t>
            </a:r>
            <a:r>
              <a:rPr lang="en-US" sz="2400" kern="0" dirty="0" err="1"/>
              <a:t>stopwords</a:t>
            </a:r>
            <a:r>
              <a:rPr lang="en-US" sz="2400" kern="0" dirty="0"/>
              <a:t>, but others too)</a:t>
            </a:r>
          </a:p>
          <a:p>
            <a:pPr>
              <a:buClrTx/>
            </a:pPr>
            <a:endParaRPr lang="en-US" sz="2400" kern="0" dirty="0"/>
          </a:p>
        </p:txBody>
      </p:sp>
      <p:pic>
        <p:nvPicPr>
          <p:cNvPr id="7" name="Picture 6">
            <a:extLst>
              <a:ext uri="{FF2B5EF4-FFF2-40B4-BE49-F238E27FC236}">
                <a16:creationId xmlns:a16="http://schemas.microsoft.com/office/drawing/2014/main" id="{DF9B33F5-6EF2-3747-FB20-A7A25EE404E4}"/>
              </a:ext>
            </a:extLst>
          </p:cNvPr>
          <p:cNvPicPr>
            <a:picLocks noChangeAspect="1"/>
          </p:cNvPicPr>
          <p:nvPr/>
        </p:nvPicPr>
        <p:blipFill>
          <a:blip r:embed="rId3"/>
          <a:stretch>
            <a:fillRect/>
          </a:stretch>
        </p:blipFill>
        <p:spPr>
          <a:xfrm>
            <a:off x="2698622" y="1967232"/>
            <a:ext cx="5700732" cy="1923997"/>
          </a:xfrm>
          <a:prstGeom prst="rect">
            <a:avLst/>
          </a:prstGeom>
        </p:spPr>
      </p:pic>
      <p:sp>
        <p:nvSpPr>
          <p:cNvPr id="11" name="Rectangle 10">
            <a:extLst>
              <a:ext uri="{FF2B5EF4-FFF2-40B4-BE49-F238E27FC236}">
                <a16:creationId xmlns:a16="http://schemas.microsoft.com/office/drawing/2014/main" id="{21C4194C-B689-E8C4-357E-5F8E3A7B9949}"/>
              </a:ext>
            </a:extLst>
          </p:cNvPr>
          <p:cNvSpPr/>
          <p:nvPr/>
        </p:nvSpPr>
        <p:spPr bwMode="auto">
          <a:xfrm>
            <a:off x="7115272" y="3115803"/>
            <a:ext cx="429191" cy="221393"/>
          </a:xfrm>
          <a:prstGeom prst="rect">
            <a:avLst/>
          </a:prstGeom>
          <a:solidFill>
            <a:schemeClr val="accent1">
              <a:alpha val="54551"/>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pic>
        <p:nvPicPr>
          <p:cNvPr id="3074" name="Picture 2" descr="LeBron Face Sticker Sticker">
            <a:extLst>
              <a:ext uri="{FF2B5EF4-FFF2-40B4-BE49-F238E27FC236}">
                <a16:creationId xmlns:a16="http://schemas.microsoft.com/office/drawing/2014/main" id="{805124DF-BA53-1872-E90E-5A2DA4C223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70675" y="2335232"/>
            <a:ext cx="1555997" cy="1555997"/>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9F22574-B293-00B6-A0EC-3079491B53DB}"/>
              </a:ext>
            </a:extLst>
          </p:cNvPr>
          <p:cNvGrpSpPr/>
          <p:nvPr/>
        </p:nvGrpSpPr>
        <p:grpSpPr>
          <a:xfrm>
            <a:off x="9350796" y="1497844"/>
            <a:ext cx="2804883" cy="2859278"/>
            <a:chOff x="9350796" y="1497844"/>
            <a:chExt cx="2804883" cy="2859278"/>
          </a:xfrm>
        </p:grpSpPr>
        <p:pic>
          <p:nvPicPr>
            <p:cNvPr id="3076" name="Picture 4" descr="My Top 3 favorite James faces. : r/thomasthetankengine">
              <a:extLst>
                <a:ext uri="{FF2B5EF4-FFF2-40B4-BE49-F238E27FC236}">
                  <a16:creationId xmlns:a16="http://schemas.microsoft.com/office/drawing/2014/main" id="{9E771D08-7427-95F7-86FC-D349438352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60778" y="3045011"/>
              <a:ext cx="1266771" cy="126677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person with a beard&#10;&#10;AI-generated content may be incorrect.">
              <a:extLst>
                <a:ext uri="{FF2B5EF4-FFF2-40B4-BE49-F238E27FC236}">
                  <a16:creationId xmlns:a16="http://schemas.microsoft.com/office/drawing/2014/main" id="{1D48E472-4F08-013F-BF6B-65090CA69A31}"/>
                </a:ext>
              </a:extLst>
            </p:cNvPr>
            <p:cNvPicPr>
              <a:picLocks noChangeAspect="1"/>
            </p:cNvPicPr>
            <p:nvPr/>
          </p:nvPicPr>
          <p:blipFill>
            <a:blip r:embed="rId6"/>
            <a:stretch>
              <a:fillRect/>
            </a:stretch>
          </p:blipFill>
          <p:spPr>
            <a:xfrm>
              <a:off x="9350796" y="2414022"/>
              <a:ext cx="1244600" cy="1943100"/>
            </a:xfrm>
            <a:prstGeom prst="rect">
              <a:avLst/>
            </a:prstGeom>
          </p:spPr>
        </p:pic>
        <p:pic>
          <p:nvPicPr>
            <p:cNvPr id="13" name="Picture 12" descr="A person smiling for the camera&#10;&#10;AI-generated content may be incorrect.">
              <a:extLst>
                <a:ext uri="{FF2B5EF4-FFF2-40B4-BE49-F238E27FC236}">
                  <a16:creationId xmlns:a16="http://schemas.microsoft.com/office/drawing/2014/main" id="{DAECE1A5-C767-CBF6-8B77-E46803C9CF17}"/>
                </a:ext>
              </a:extLst>
            </p:cNvPr>
            <p:cNvPicPr>
              <a:picLocks noChangeAspect="1"/>
            </p:cNvPicPr>
            <p:nvPr/>
          </p:nvPicPr>
          <p:blipFill>
            <a:blip r:embed="rId7"/>
            <a:stretch>
              <a:fillRect/>
            </a:stretch>
          </p:blipFill>
          <p:spPr>
            <a:xfrm>
              <a:off x="10727301" y="1564112"/>
              <a:ext cx="1428378" cy="1412767"/>
            </a:xfrm>
            <a:prstGeom prst="rect">
              <a:avLst/>
            </a:prstGeom>
          </p:spPr>
        </p:pic>
        <p:pic>
          <p:nvPicPr>
            <p:cNvPr id="15" name="Picture 14" descr="A collage of a person&#10;&#10;AI-generated content may be incorrect.">
              <a:extLst>
                <a:ext uri="{FF2B5EF4-FFF2-40B4-BE49-F238E27FC236}">
                  <a16:creationId xmlns:a16="http://schemas.microsoft.com/office/drawing/2014/main" id="{CA8DFE88-A6A9-8A15-DF2D-DD0454B0539E}"/>
                </a:ext>
              </a:extLst>
            </p:cNvPr>
            <p:cNvPicPr>
              <a:picLocks noChangeAspect="1"/>
            </p:cNvPicPr>
            <p:nvPr/>
          </p:nvPicPr>
          <p:blipFill>
            <a:blip r:embed="rId8"/>
            <a:stretch>
              <a:fillRect/>
            </a:stretch>
          </p:blipFill>
          <p:spPr>
            <a:xfrm>
              <a:off x="9350796" y="1497844"/>
              <a:ext cx="1244600" cy="840946"/>
            </a:xfrm>
            <a:prstGeom prst="rect">
              <a:avLst/>
            </a:prstGeom>
          </p:spPr>
        </p:pic>
      </p:grpSp>
    </p:spTree>
    <p:extLst>
      <p:ext uri="{BB962C8B-B14F-4D97-AF65-F5344CB8AC3E}">
        <p14:creationId xmlns:p14="http://schemas.microsoft.com/office/powerpoint/2010/main" val="281707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FA90D8-FFB1-9CB8-3CE0-E26DC7EFCC85}"/>
              </a:ext>
            </a:extLst>
          </p:cNvPr>
          <p:cNvSpPr>
            <a:spLocks noGrp="1"/>
          </p:cNvSpPr>
          <p:nvPr>
            <p:ph type="sldNum" sz="quarter" idx="12"/>
          </p:nvPr>
        </p:nvSpPr>
        <p:spPr/>
        <p:txBody>
          <a:bodyPr/>
          <a:lstStyle/>
          <a:p>
            <a:fld id="{ABBEE3BA-F264-1746-880E-39AD601DF2B1}" type="slidenum">
              <a:rPr lang="en-US" smtClean="0"/>
              <a:t>11</a:t>
            </a:fld>
            <a:endParaRPr lang="en-US"/>
          </a:p>
        </p:txBody>
      </p:sp>
      <p:sp>
        <p:nvSpPr>
          <p:cNvPr id="3" name="Content Placeholder 2">
            <a:extLst>
              <a:ext uri="{FF2B5EF4-FFF2-40B4-BE49-F238E27FC236}">
                <a16:creationId xmlns:a16="http://schemas.microsoft.com/office/drawing/2014/main" id="{E5812D19-F51D-CCFE-DAE3-C68030633BAF}"/>
              </a:ext>
            </a:extLst>
          </p:cNvPr>
          <p:cNvSpPr>
            <a:spLocks noGrp="1"/>
          </p:cNvSpPr>
          <p:nvPr>
            <p:ph idx="1"/>
          </p:nvPr>
        </p:nvSpPr>
        <p:spPr>
          <a:xfrm>
            <a:off x="1852518" y="1168927"/>
            <a:ext cx="8743626" cy="1097776"/>
          </a:xfrm>
          <a:solidFill>
            <a:schemeClr val="bg2"/>
          </a:solidFill>
        </p:spPr>
        <p:txBody>
          <a:bodyPr/>
          <a:lstStyle/>
          <a:p>
            <a:pPr marL="457200" lvl="1" indent="0">
              <a:buClrTx/>
              <a:buNone/>
            </a:pPr>
            <a:r>
              <a:rPr lang="en-US" sz="3200" kern="0" dirty="0"/>
              <a:t>The fewer documents a word appears in, the more significant it is when it does appear! </a:t>
            </a:r>
          </a:p>
          <a:p>
            <a:pPr lvl="1">
              <a:buClrTx/>
            </a:pPr>
            <a:endParaRPr lang="en-US" dirty="0"/>
          </a:p>
          <a:p>
            <a:pPr lvl="1">
              <a:buClrTx/>
            </a:pPr>
            <a:endParaRPr lang="en-US" dirty="0"/>
          </a:p>
          <a:p>
            <a:pPr marL="342900" lvl="1" indent="0">
              <a:buNone/>
            </a:pPr>
            <a:endParaRPr lang="en-US" dirty="0"/>
          </a:p>
          <a:p>
            <a:pPr marL="0" indent="0">
              <a:buNone/>
            </a:pPr>
            <a:endParaRPr lang="en-US" dirty="0"/>
          </a:p>
        </p:txBody>
      </p:sp>
      <p:sp>
        <p:nvSpPr>
          <p:cNvPr id="2" name="Title 1">
            <a:extLst>
              <a:ext uri="{FF2B5EF4-FFF2-40B4-BE49-F238E27FC236}">
                <a16:creationId xmlns:a16="http://schemas.microsoft.com/office/drawing/2014/main" id="{FB5C5513-9E6E-1D32-99F0-D6103C1D9B05}"/>
              </a:ext>
            </a:extLst>
          </p:cNvPr>
          <p:cNvSpPr>
            <a:spLocks noGrp="1"/>
          </p:cNvSpPr>
          <p:nvPr>
            <p:ph type="title"/>
          </p:nvPr>
        </p:nvSpPr>
        <p:spPr>
          <a:xfrm>
            <a:off x="80544" y="136525"/>
            <a:ext cx="10515600" cy="1001559"/>
          </a:xfrm>
        </p:spPr>
        <p:txBody>
          <a:bodyPr/>
          <a:lstStyle/>
          <a:p>
            <a:r>
              <a:rPr lang="en-US" dirty="0"/>
              <a:t>Inverse Document Frequency (IDF)</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15AEF7D-3051-147B-9F9A-F5D6DFD9A467}"/>
                  </a:ext>
                </a:extLst>
              </p:cNvPr>
              <p:cNvSpPr txBox="1"/>
              <p:nvPr/>
            </p:nvSpPr>
            <p:spPr>
              <a:xfrm>
                <a:off x="2895535" y="2890047"/>
                <a:ext cx="6657592" cy="1421479"/>
              </a:xfrm>
              <a:prstGeom prst="rect">
                <a:avLst/>
              </a:prstGeom>
              <a:noFill/>
            </p:spPr>
            <p:txBody>
              <a:bodyPr wrap="none" rtlCol="0">
                <a:spAutoFit/>
              </a:bodyPr>
              <a:lstStyle/>
              <a:p>
                <a:pPr algn="ctr">
                  <a:buNone/>
                </a:pPr>
                <a:r>
                  <a:rPr lang="en-US" sz="2400" dirty="0">
                    <a:latin typeface="Tahoma" panose="020B0604030504040204" pitchFamily="34" charset="0"/>
                    <a:ea typeface="Tahoma" panose="020B0604030504040204" pitchFamily="34" charset="0"/>
                    <a:cs typeface="Tahoma" panose="020B0604030504040204" pitchFamily="34" charset="0"/>
                  </a:rPr>
                  <a:t>Inverse Document Frequency (IDF) :</a:t>
                </a:r>
              </a:p>
              <a:p>
                <a:pPr algn="ctr">
                  <a:buNone/>
                </a:pPr>
                <a:endParaRPr lang="en-US" sz="2400" dirty="0">
                  <a:latin typeface="Tahoma" panose="020B0604030504040204" pitchFamily="34" charset="0"/>
                  <a:ea typeface="Tahoma" panose="020B0604030504040204" pitchFamily="34" charset="0"/>
                  <a:cs typeface="Tahoma" panose="020B0604030504040204" pitchFamily="34" charset="0"/>
                </a:endParaRPr>
              </a:p>
              <a:p>
                <a:pPr algn="ctr">
                  <a:buNone/>
                </a:pPr>
                <a:r>
                  <a:rPr lang="en-US" sz="2400" dirty="0">
                    <a:latin typeface="Tahoma" panose="020B0604030504040204" pitchFamily="34" charset="0"/>
                    <a:ea typeface="Tahoma" panose="020B0604030504040204" pitchFamily="34" charset="0"/>
                    <a:cs typeface="Tahoma" panose="020B0604030504040204" pitchFamily="34" charset="0"/>
                  </a:rPr>
                  <a:t>IDF(t) = log </a:t>
                </a:r>
                <a14:m>
                  <m:oMath xmlns:m="http://schemas.openxmlformats.org/officeDocument/2006/math">
                    <m:d>
                      <m:dPr>
                        <m:ctrlPr>
                          <a:rPr lang="en-US" sz="2400" i="1">
                            <a:latin typeface="Cambria Math" panose="02040503050406030204" pitchFamily="18" charset="0"/>
                            <a:ea typeface="Tahoma" panose="020B0604030504040204" pitchFamily="34" charset="0"/>
                            <a:cs typeface="Tahoma" panose="020B0604030504040204" pitchFamily="34" charset="0"/>
                          </a:rPr>
                        </m:ctrlPr>
                      </m:dPr>
                      <m:e>
                        <m:f>
                          <m:fPr>
                            <m:ctrlPr>
                              <a:rPr lang="en-US" sz="2400" i="1">
                                <a:latin typeface="Cambria Math" panose="02040503050406030204" pitchFamily="18" charset="0"/>
                                <a:ea typeface="Tahoma" panose="020B0604030504040204" pitchFamily="34" charset="0"/>
                                <a:cs typeface="Tahoma" panose="020B0604030504040204" pitchFamily="34" charset="0"/>
                              </a:rPr>
                            </m:ctrlPr>
                          </m:fPr>
                          <m:num>
                            <m:r>
                              <m:rPr>
                                <m:sty m:val="p"/>
                              </m:rPr>
                              <a:rPr lang="en-US" sz="2400">
                                <a:latin typeface="Cambria Math" panose="02040503050406030204" pitchFamily="18" charset="0"/>
                                <a:ea typeface="Tahoma" panose="020B0604030504040204" pitchFamily="34" charset="0"/>
                                <a:cs typeface="Tahoma" panose="020B0604030504040204" pitchFamily="34" charset="0"/>
                              </a:rPr>
                              <m:t>Total</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number</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of</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documents</m:t>
                            </m:r>
                          </m:num>
                          <m:den>
                            <m:r>
                              <m:rPr>
                                <m:sty m:val="p"/>
                              </m:rPr>
                              <a:rPr lang="en-US" sz="2400">
                                <a:latin typeface="Cambria Math" panose="02040503050406030204" pitchFamily="18" charset="0"/>
                                <a:ea typeface="Tahoma" panose="020B0604030504040204" pitchFamily="34" charset="0"/>
                                <a:cs typeface="Tahoma" panose="020B0604030504040204" pitchFamily="34" charset="0"/>
                              </a:rPr>
                              <m:t>Number</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of</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documents</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containing</m:t>
                            </m:r>
                            <m:r>
                              <a:rPr lang="en-US" sz="2400">
                                <a:latin typeface="Cambria Math" panose="02040503050406030204" pitchFamily="18" charset="0"/>
                                <a:ea typeface="Tahoma" panose="020B0604030504040204" pitchFamily="34" charset="0"/>
                                <a:cs typeface="Tahoma" panose="020B0604030504040204" pitchFamily="34" charset="0"/>
                              </a:rPr>
                              <m:t> </m:t>
                            </m:r>
                            <m:r>
                              <m:rPr>
                                <m:sty m:val="p"/>
                              </m:rPr>
                              <a:rPr lang="en-US" sz="2400">
                                <a:latin typeface="Cambria Math" panose="02040503050406030204" pitchFamily="18" charset="0"/>
                                <a:ea typeface="Tahoma" panose="020B0604030504040204" pitchFamily="34" charset="0"/>
                                <a:cs typeface="Tahoma" panose="020B0604030504040204" pitchFamily="34" charset="0"/>
                              </a:rPr>
                              <m:t>term</m:t>
                            </m:r>
                            <m:r>
                              <a:rPr lang="en-US" sz="2400" i="1">
                                <a:latin typeface="Cambria Math" panose="02040503050406030204" pitchFamily="18" charset="0"/>
                                <a:ea typeface="Tahoma" panose="020B0604030504040204" pitchFamily="34" charset="0"/>
                                <a:cs typeface="Tahoma" panose="020B0604030504040204" pitchFamily="34" charset="0"/>
                              </a:rPr>
                              <m:t> </m:t>
                            </m:r>
                            <m:r>
                              <a:rPr lang="en-US" sz="2400" i="1">
                                <a:latin typeface="Cambria Math" panose="02040503050406030204" pitchFamily="18" charset="0"/>
                                <a:ea typeface="Tahoma" panose="020B0604030504040204" pitchFamily="34" charset="0"/>
                                <a:cs typeface="Tahoma" panose="020B0604030504040204" pitchFamily="34" charset="0"/>
                              </a:rPr>
                              <m:t>𝑡</m:t>
                            </m:r>
                          </m:den>
                        </m:f>
                      </m:e>
                    </m:d>
                  </m:oMath>
                </a14:m>
                <a:r>
                  <a:rPr lang="en-US" sz="2400"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5" name="TextBox 4">
                <a:extLst>
                  <a:ext uri="{FF2B5EF4-FFF2-40B4-BE49-F238E27FC236}">
                    <a16:creationId xmlns:a16="http://schemas.microsoft.com/office/drawing/2014/main" id="{415AEF7D-3051-147B-9F9A-F5D6DFD9A467}"/>
                  </a:ext>
                </a:extLst>
              </p:cNvPr>
              <p:cNvSpPr txBox="1">
                <a:spLocks noRot="1" noChangeAspect="1" noMove="1" noResize="1" noEditPoints="1" noAdjustHandles="1" noChangeArrowheads="1" noChangeShapeType="1" noTextEdit="1"/>
              </p:cNvSpPr>
              <p:nvPr/>
            </p:nvSpPr>
            <p:spPr>
              <a:xfrm>
                <a:off x="2895535" y="2890047"/>
                <a:ext cx="6657592" cy="1421479"/>
              </a:xfrm>
              <a:prstGeom prst="rect">
                <a:avLst/>
              </a:prstGeom>
              <a:blipFill>
                <a:blip r:embed="rId3"/>
                <a:stretch>
                  <a:fillRect l="-952" t="-3540" b="-442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C3E871C-250F-4C55-8C99-65B65DD6AE92}"/>
              </a:ext>
            </a:extLst>
          </p:cNvPr>
          <p:cNvSpPr txBox="1"/>
          <p:nvPr/>
        </p:nvSpPr>
        <p:spPr>
          <a:xfrm>
            <a:off x="2895535" y="4826382"/>
            <a:ext cx="6915483" cy="1384995"/>
          </a:xfrm>
          <a:prstGeom prst="rect">
            <a:avLst/>
          </a:prstGeom>
          <a:solidFill>
            <a:schemeClr val="bg2"/>
          </a:solidFill>
        </p:spPr>
        <p:txBody>
          <a:bodyPr wrap="none" rtlCol="0">
            <a:spAutoFit/>
          </a:bodyPr>
          <a:lstStyle/>
          <a:p>
            <a:pPr marL="342900" indent="-342900" algn="ctr"/>
            <a:r>
              <a:rPr lang="en-US" sz="2800" dirty="0">
                <a:latin typeface="Tahoma" panose="020B0604030504040204" pitchFamily="34" charset="0"/>
                <a:ea typeface="Tahoma" panose="020B0604030504040204" pitchFamily="34" charset="0"/>
                <a:cs typeface="Tahoma" panose="020B0604030504040204" pitchFamily="34" charset="0"/>
              </a:rPr>
              <a:t>IDF is the boost a term gets for being rare</a:t>
            </a:r>
          </a:p>
          <a:p>
            <a:pPr marL="342900" indent="-342900" algn="ctr"/>
            <a:endParaRPr lang="en-US" sz="2800" dirty="0">
              <a:latin typeface="Tahoma" panose="020B0604030504040204" pitchFamily="34" charset="0"/>
              <a:ea typeface="Tahoma" panose="020B0604030504040204" pitchFamily="34" charset="0"/>
              <a:cs typeface="Tahoma" panose="020B0604030504040204" pitchFamily="34" charset="0"/>
            </a:endParaRPr>
          </a:p>
          <a:p>
            <a:pPr marL="342900" indent="-342900" algn="ctr"/>
            <a:r>
              <a:rPr lang="en-US" sz="2800" dirty="0">
                <a:latin typeface="Tahoma" panose="020B0604030504040204" pitchFamily="34" charset="0"/>
                <a:ea typeface="Tahoma" panose="020B0604030504040204" pitchFamily="34" charset="0"/>
                <a:cs typeface="Tahoma" panose="020B0604030504040204" pitchFamily="34" charset="0"/>
              </a:rPr>
              <a:t>Rare terms have high IDF</a:t>
            </a:r>
          </a:p>
        </p:txBody>
      </p:sp>
    </p:spTree>
    <p:extLst>
      <p:ext uri="{BB962C8B-B14F-4D97-AF65-F5344CB8AC3E}">
        <p14:creationId xmlns:p14="http://schemas.microsoft.com/office/powerpoint/2010/main" val="157114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F54F9B-95D1-8010-95DA-8BA2ABB77CE9}"/>
              </a:ext>
            </a:extLst>
          </p:cNvPr>
          <p:cNvSpPr>
            <a:spLocks noGrp="1"/>
          </p:cNvSpPr>
          <p:nvPr>
            <p:ph type="sldNum" sz="quarter" idx="12"/>
          </p:nvPr>
        </p:nvSpPr>
        <p:spPr/>
        <p:txBody>
          <a:bodyPr/>
          <a:lstStyle/>
          <a:p>
            <a:fld id="{ABBEE3BA-F264-1746-880E-39AD601DF2B1}" type="slidenum">
              <a:rPr lang="en-US" smtClean="0"/>
              <a:t>12</a:t>
            </a:fld>
            <a:endParaRPr lang="en-US"/>
          </a:p>
        </p:txBody>
      </p:sp>
      <p:sp>
        <p:nvSpPr>
          <p:cNvPr id="3" name="Content Placeholder 2">
            <a:extLst>
              <a:ext uri="{FF2B5EF4-FFF2-40B4-BE49-F238E27FC236}">
                <a16:creationId xmlns:a16="http://schemas.microsoft.com/office/drawing/2014/main" id="{1763A3B9-D606-40A5-AD20-BD293B7F1551}"/>
              </a:ext>
            </a:extLst>
          </p:cNvPr>
          <p:cNvSpPr>
            <a:spLocks noGrp="1"/>
          </p:cNvSpPr>
          <p:nvPr>
            <p:ph idx="1"/>
          </p:nvPr>
        </p:nvSpPr>
        <p:spPr>
          <a:xfrm>
            <a:off x="1513717" y="1067407"/>
            <a:ext cx="9844009" cy="4944947"/>
          </a:xfrm>
        </p:spPr>
        <p:txBody>
          <a:bodyPr>
            <a:normAutofit lnSpcReduction="10000"/>
          </a:bodyPr>
          <a:lstStyle/>
          <a:p>
            <a:pPr marL="0" indent="0">
              <a:buNone/>
            </a:pPr>
            <a:r>
              <a:rPr lang="en-US" dirty="0"/>
              <a:t>A term is important for a given document if it has:</a:t>
            </a:r>
          </a:p>
          <a:p>
            <a:pPr lvl="1"/>
            <a:r>
              <a:rPr lang="en-US" dirty="0"/>
              <a:t> High TF:  term frequency (it appears a lot)</a:t>
            </a:r>
          </a:p>
          <a:p>
            <a:pPr lvl="1"/>
            <a:r>
              <a:rPr lang="en-US" dirty="0"/>
              <a:t> High IDF (it doesn’t appear in other documents as much)</a:t>
            </a:r>
          </a:p>
          <a:p>
            <a:pPr marL="0" indent="0">
              <a:buNone/>
            </a:pPr>
            <a:endParaRPr lang="en-US" dirty="0"/>
          </a:p>
          <a:p>
            <a:pPr marL="0" indent="0">
              <a:buNone/>
            </a:pPr>
            <a:r>
              <a:rPr lang="en-US" dirty="0"/>
              <a:t>We combine the TF and IDF matrix by multiplying them:</a:t>
            </a:r>
          </a:p>
          <a:p>
            <a:pPr marL="0" indent="0">
              <a:buNone/>
            </a:pPr>
            <a:endParaRPr lang="en-US" dirty="0"/>
          </a:p>
          <a:p>
            <a:pPr marL="0" indent="0" algn="ctr">
              <a:buNone/>
            </a:pPr>
            <a:r>
              <a:rPr lang="en-US" sz="2400" b="1" dirty="0"/>
              <a:t>TFIDF</a:t>
            </a:r>
            <a:r>
              <a:rPr lang="en-US" sz="2400" i="1" dirty="0"/>
              <a:t>(</a:t>
            </a:r>
            <a:r>
              <a:rPr lang="en-US" sz="2400" i="1" dirty="0" err="1"/>
              <a:t>d,t</a:t>
            </a:r>
            <a:r>
              <a:rPr lang="en-US" sz="2400" i="1" dirty="0"/>
              <a:t>)</a:t>
            </a:r>
            <a:r>
              <a:rPr lang="en-US" sz="2400" dirty="0"/>
              <a:t> = TF</a:t>
            </a:r>
            <a:r>
              <a:rPr lang="en-US" sz="2400" i="1" dirty="0"/>
              <a:t>(</a:t>
            </a:r>
            <a:r>
              <a:rPr lang="en-US" sz="2400" i="1" dirty="0" err="1"/>
              <a:t>d,t</a:t>
            </a:r>
            <a:r>
              <a:rPr lang="en-US" sz="2400" i="1" dirty="0"/>
              <a:t>)</a:t>
            </a:r>
            <a:r>
              <a:rPr lang="en-US" sz="2400" dirty="0"/>
              <a:t> x IDF</a:t>
            </a:r>
            <a:r>
              <a:rPr lang="en-US" sz="2400" i="1" dirty="0"/>
              <a:t>(t)</a:t>
            </a:r>
          </a:p>
          <a:p>
            <a:pPr marL="0" indent="0" algn="ctr">
              <a:buNone/>
            </a:pPr>
            <a:endParaRPr lang="en-US" sz="2400" b="1" i="1" dirty="0"/>
          </a:p>
          <a:p>
            <a:pPr marL="0" indent="0" algn="ctr">
              <a:buNone/>
            </a:pPr>
            <a:endParaRPr lang="en-US" sz="2400" b="1" i="1" dirty="0"/>
          </a:p>
          <a:p>
            <a:pPr marL="0" indent="0">
              <a:buNone/>
            </a:pPr>
            <a:r>
              <a:rPr lang="en-US" sz="2400" dirty="0"/>
              <a:t>High values of TFIDF(</a:t>
            </a:r>
            <a:r>
              <a:rPr lang="en-US" sz="2400" i="1" dirty="0" err="1"/>
              <a:t>d,t</a:t>
            </a:r>
            <a:r>
              <a:rPr lang="en-US" sz="2400" i="1" dirty="0"/>
              <a:t>) </a:t>
            </a:r>
            <a:r>
              <a:rPr lang="en-US" sz="2400" dirty="0"/>
              <a:t>mean that term </a:t>
            </a:r>
            <a:r>
              <a:rPr lang="en-US" sz="2400" i="1" dirty="0"/>
              <a:t>t</a:t>
            </a:r>
            <a:r>
              <a:rPr lang="en-US" sz="2400" dirty="0"/>
              <a:t>  has importance in the context of document </a:t>
            </a:r>
            <a:r>
              <a:rPr lang="en-US" sz="2400" i="1" dirty="0"/>
              <a:t>d</a:t>
            </a:r>
            <a:r>
              <a:rPr lang="en-US" sz="2400" dirty="0"/>
              <a:t>. </a:t>
            </a:r>
          </a:p>
        </p:txBody>
      </p:sp>
      <p:sp>
        <p:nvSpPr>
          <p:cNvPr id="2" name="Title 1">
            <a:extLst>
              <a:ext uri="{FF2B5EF4-FFF2-40B4-BE49-F238E27FC236}">
                <a16:creationId xmlns:a16="http://schemas.microsoft.com/office/drawing/2014/main" id="{B1D0F69F-866E-35CD-BF8D-902C05D88E6E}"/>
              </a:ext>
            </a:extLst>
          </p:cNvPr>
          <p:cNvSpPr>
            <a:spLocks noGrp="1"/>
          </p:cNvSpPr>
          <p:nvPr>
            <p:ph type="title"/>
          </p:nvPr>
        </p:nvSpPr>
        <p:spPr>
          <a:xfrm>
            <a:off x="109779" y="20341"/>
            <a:ext cx="10515600" cy="1001559"/>
          </a:xfrm>
        </p:spPr>
        <p:txBody>
          <a:bodyPr/>
          <a:lstStyle/>
          <a:p>
            <a:r>
              <a:rPr lang="en-US" dirty="0"/>
              <a:t>Representing Text: TFIDF</a:t>
            </a:r>
          </a:p>
        </p:txBody>
      </p:sp>
    </p:spTree>
    <p:extLst>
      <p:ext uri="{BB962C8B-B14F-4D97-AF65-F5344CB8AC3E}">
        <p14:creationId xmlns:p14="http://schemas.microsoft.com/office/powerpoint/2010/main" val="295034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094A5B-F090-D086-3DA7-CE96A7932DE3}"/>
              </a:ext>
            </a:extLst>
          </p:cNvPr>
          <p:cNvSpPr>
            <a:spLocks noGrp="1"/>
          </p:cNvSpPr>
          <p:nvPr>
            <p:ph type="sldNum" sz="quarter" idx="12"/>
          </p:nvPr>
        </p:nvSpPr>
        <p:spPr/>
        <p:txBody>
          <a:bodyPr/>
          <a:lstStyle/>
          <a:p>
            <a:fld id="{ABBEE3BA-F264-1746-880E-39AD601DF2B1}" type="slidenum">
              <a:rPr lang="en-US" smtClean="0"/>
              <a:t>13</a:t>
            </a:fld>
            <a:endParaRPr lang="en-US"/>
          </a:p>
        </p:txBody>
      </p:sp>
      <p:sp>
        <p:nvSpPr>
          <p:cNvPr id="3" name="Content Placeholder 2">
            <a:extLst>
              <a:ext uri="{FF2B5EF4-FFF2-40B4-BE49-F238E27FC236}">
                <a16:creationId xmlns:a16="http://schemas.microsoft.com/office/drawing/2014/main" id="{9821AEF3-A034-310A-C197-1E07DDFF5B69}"/>
              </a:ext>
            </a:extLst>
          </p:cNvPr>
          <p:cNvSpPr>
            <a:spLocks noGrp="1"/>
          </p:cNvSpPr>
          <p:nvPr>
            <p:ph idx="1"/>
          </p:nvPr>
        </p:nvSpPr>
        <p:spPr>
          <a:xfrm>
            <a:off x="1981199" y="1021900"/>
            <a:ext cx="9425553" cy="4552991"/>
          </a:xfrm>
        </p:spPr>
        <p:txBody>
          <a:bodyPr/>
          <a:lstStyle/>
          <a:p>
            <a:pPr marL="0" indent="0">
              <a:buNone/>
            </a:pPr>
            <a:r>
              <a:rPr lang="en-US" dirty="0"/>
              <a:t>TF-IDF matrices are the vehicle for doing ML on collections of text</a:t>
            </a:r>
          </a:p>
          <a:p>
            <a:pPr marL="0" indent="0">
              <a:buNone/>
            </a:pPr>
            <a:endParaRPr lang="en-US" dirty="0"/>
          </a:p>
          <a:p>
            <a:pPr marL="0" indent="0">
              <a:buNone/>
            </a:pPr>
            <a:r>
              <a:rPr lang="en-US" dirty="0"/>
              <a:t>Once you have a TFIDF matrix, you can now think about doing </a:t>
            </a:r>
          </a:p>
          <a:p>
            <a:pPr lvl="1"/>
            <a:r>
              <a:rPr lang="en-US" dirty="0"/>
              <a:t>Classification</a:t>
            </a:r>
          </a:p>
          <a:p>
            <a:pPr lvl="1"/>
            <a:r>
              <a:rPr lang="en-US" dirty="0"/>
              <a:t>Clustering</a:t>
            </a:r>
          </a:p>
          <a:p>
            <a:pPr lvl="1"/>
            <a:r>
              <a:rPr lang="en-US" dirty="0" err="1"/>
              <a:t>Similarties</a:t>
            </a:r>
            <a:r>
              <a:rPr lang="en-US" dirty="0"/>
              <a:t> between documents </a:t>
            </a:r>
          </a:p>
          <a:p>
            <a:pPr lvl="1"/>
            <a:r>
              <a:rPr lang="en-US" dirty="0"/>
              <a:t>Search</a:t>
            </a:r>
          </a:p>
        </p:txBody>
      </p:sp>
      <p:sp>
        <p:nvSpPr>
          <p:cNvPr id="2" name="Title 1">
            <a:extLst>
              <a:ext uri="{FF2B5EF4-FFF2-40B4-BE49-F238E27FC236}">
                <a16:creationId xmlns:a16="http://schemas.microsoft.com/office/drawing/2014/main" id="{A3AD57A3-CB30-E1E7-7ACC-95612DF3679A}"/>
              </a:ext>
            </a:extLst>
          </p:cNvPr>
          <p:cNvSpPr>
            <a:spLocks noGrp="1"/>
          </p:cNvSpPr>
          <p:nvPr>
            <p:ph type="title"/>
          </p:nvPr>
        </p:nvSpPr>
        <p:spPr>
          <a:xfrm>
            <a:off x="0" y="20341"/>
            <a:ext cx="10515600" cy="1001559"/>
          </a:xfrm>
        </p:spPr>
        <p:txBody>
          <a:bodyPr/>
          <a:lstStyle/>
          <a:p>
            <a:r>
              <a:rPr lang="en-US" dirty="0"/>
              <a:t>NLP using TFIDF</a:t>
            </a:r>
          </a:p>
        </p:txBody>
      </p:sp>
      <p:sp>
        <p:nvSpPr>
          <p:cNvPr id="6" name="TextBox 5">
            <a:extLst>
              <a:ext uri="{FF2B5EF4-FFF2-40B4-BE49-F238E27FC236}">
                <a16:creationId xmlns:a16="http://schemas.microsoft.com/office/drawing/2014/main" id="{C10ABC13-5965-E5C0-49CB-90D28274B2A4}"/>
              </a:ext>
            </a:extLst>
          </p:cNvPr>
          <p:cNvSpPr txBox="1"/>
          <p:nvPr/>
        </p:nvSpPr>
        <p:spPr>
          <a:xfrm>
            <a:off x="1128794" y="5435990"/>
            <a:ext cx="8507457" cy="400110"/>
          </a:xfrm>
          <a:prstGeom prst="rect">
            <a:avLst/>
          </a:prstGeom>
          <a:solidFill>
            <a:schemeClr val="bg2"/>
          </a:solidFill>
        </p:spPr>
        <p:txBody>
          <a:bodyPr wrap="none" rtlCol="0">
            <a:spAutoFit/>
          </a:bodyPr>
          <a:lstStyle/>
          <a:p>
            <a:pPr>
              <a:buNone/>
            </a:pPr>
            <a:r>
              <a:rPr lang="en-US" sz="2000" dirty="0">
                <a:latin typeface="Consolas" panose="020B0609020204030204" pitchFamily="49" charset="0"/>
                <a:ea typeface="Tahoma" panose="020B0604030504040204" pitchFamily="34" charset="0"/>
                <a:cs typeface="Consolas" panose="020B0609020204030204" pitchFamily="49" charset="0"/>
              </a:rPr>
              <a:t>from </a:t>
            </a:r>
            <a:r>
              <a:rPr lang="en-US" sz="2000" dirty="0" err="1">
                <a:latin typeface="Consolas" panose="020B0609020204030204" pitchFamily="49" charset="0"/>
                <a:ea typeface="Tahoma" panose="020B0604030504040204" pitchFamily="34" charset="0"/>
                <a:cs typeface="Consolas" panose="020B0609020204030204" pitchFamily="49" charset="0"/>
              </a:rPr>
              <a:t>sklearn.feature_extraction.text</a:t>
            </a:r>
            <a:r>
              <a:rPr lang="en-US" sz="2000" dirty="0">
                <a:latin typeface="Consolas" panose="020B0609020204030204" pitchFamily="49" charset="0"/>
                <a:ea typeface="Tahoma" panose="020B0604030504040204" pitchFamily="34" charset="0"/>
                <a:cs typeface="Consolas" panose="020B0609020204030204" pitchFamily="49" charset="0"/>
              </a:rPr>
              <a:t> import </a:t>
            </a:r>
            <a:r>
              <a:rPr lang="en-US" sz="2000" dirty="0" err="1">
                <a:latin typeface="Consolas" panose="020B0609020204030204" pitchFamily="49" charset="0"/>
                <a:ea typeface="Tahoma" panose="020B0604030504040204" pitchFamily="34" charset="0"/>
                <a:cs typeface="Consolas" panose="020B0609020204030204" pitchFamily="49" charset="0"/>
              </a:rPr>
              <a:t>TfidfVectorizer</a:t>
            </a:r>
            <a:endParaRPr lang="en-US" sz="2000" dirty="0">
              <a:latin typeface="Consolas" panose="020B0609020204030204" pitchFamily="49" charset="0"/>
              <a:ea typeface="Tahoma" panose="020B0604030504040204" pitchFamily="34" charset="0"/>
              <a:cs typeface="Consolas" panose="020B0609020204030204" pitchFamily="49" charset="0"/>
            </a:endParaRPr>
          </a:p>
        </p:txBody>
      </p:sp>
      <p:sp>
        <p:nvSpPr>
          <p:cNvPr id="5" name="TextBox 4">
            <a:extLst>
              <a:ext uri="{FF2B5EF4-FFF2-40B4-BE49-F238E27FC236}">
                <a16:creationId xmlns:a16="http://schemas.microsoft.com/office/drawing/2014/main" id="{E0CB4987-D78B-0890-CC3D-36E63F280B8F}"/>
              </a:ext>
            </a:extLst>
          </p:cNvPr>
          <p:cNvSpPr txBox="1"/>
          <p:nvPr/>
        </p:nvSpPr>
        <p:spPr>
          <a:xfrm>
            <a:off x="10015613" y="4645406"/>
            <a:ext cx="1476686" cy="1384995"/>
          </a:xfrm>
          <a:prstGeom prst="rect">
            <a:avLst/>
          </a:prstGeom>
          <a:solidFill>
            <a:schemeClr val="bg2"/>
          </a:solidFill>
        </p:spPr>
        <p:txBody>
          <a:bodyPr wrap="none" rtlCol="0">
            <a:spAutoFit/>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Options:</a:t>
            </a:r>
          </a:p>
          <a:p>
            <a:pPr marL="285750" indent="-285750"/>
            <a:r>
              <a:rPr lang="en-US" sz="1400" dirty="0" err="1">
                <a:latin typeface="Consolas" panose="020B0609020204030204" pitchFamily="49" charset="0"/>
                <a:ea typeface="Tahoma" panose="020B0604030504040204" pitchFamily="34" charset="0"/>
                <a:cs typeface="Consolas" panose="020B0609020204030204" pitchFamily="49" charset="0"/>
              </a:rPr>
              <a:t>strip_accents</a:t>
            </a:r>
            <a:endParaRPr lang="en-US" sz="1400" dirty="0">
              <a:latin typeface="Consolas" panose="020B0609020204030204" pitchFamily="49" charset="0"/>
              <a:ea typeface="Tahoma" panose="020B0604030504040204" pitchFamily="34" charset="0"/>
              <a:cs typeface="Consolas" panose="020B0609020204030204" pitchFamily="49" charset="0"/>
            </a:endParaRPr>
          </a:p>
          <a:p>
            <a:pPr marL="285750" indent="-285750"/>
            <a:r>
              <a:rPr lang="en-US" sz="1400" dirty="0" err="1">
                <a:latin typeface="Consolas" panose="020B0609020204030204" pitchFamily="49" charset="0"/>
                <a:ea typeface="Tahoma" panose="020B0604030504040204" pitchFamily="34" charset="0"/>
                <a:cs typeface="Consolas" panose="020B0609020204030204" pitchFamily="49" charset="0"/>
              </a:rPr>
              <a:t>stop_words</a:t>
            </a:r>
            <a:endParaRPr lang="en-US" sz="1400" dirty="0">
              <a:latin typeface="Consolas" panose="020B0609020204030204" pitchFamily="49" charset="0"/>
              <a:ea typeface="Tahoma" panose="020B0604030504040204" pitchFamily="34" charset="0"/>
              <a:cs typeface="Consolas" panose="020B0609020204030204" pitchFamily="49" charset="0"/>
            </a:endParaRPr>
          </a:p>
          <a:p>
            <a:pPr marL="285750" indent="-285750"/>
            <a:r>
              <a:rPr lang="en-US" sz="1400" dirty="0" err="1">
                <a:latin typeface="Consolas" panose="020B0609020204030204" pitchFamily="49" charset="0"/>
                <a:ea typeface="Tahoma" panose="020B0604030504040204" pitchFamily="34" charset="0"/>
                <a:cs typeface="Consolas" panose="020B0609020204030204" pitchFamily="49" charset="0"/>
              </a:rPr>
              <a:t>ngram</a:t>
            </a:r>
            <a:endParaRPr lang="en-US" sz="1400" dirty="0">
              <a:latin typeface="Consolas" panose="020B0609020204030204" pitchFamily="49" charset="0"/>
              <a:ea typeface="Tahoma" panose="020B0604030504040204" pitchFamily="34" charset="0"/>
              <a:cs typeface="Consolas" panose="020B0609020204030204" pitchFamily="49" charset="0"/>
            </a:endParaRPr>
          </a:p>
          <a:p>
            <a:pPr marL="285750" indent="-285750"/>
            <a:r>
              <a:rPr lang="en-US" sz="1400" dirty="0" err="1">
                <a:latin typeface="Consolas" panose="020B0609020204030204" pitchFamily="49" charset="0"/>
                <a:ea typeface="Tahoma" panose="020B0604030504040204" pitchFamily="34" charset="0"/>
                <a:cs typeface="Consolas" panose="020B0609020204030204" pitchFamily="49" charset="0"/>
              </a:rPr>
              <a:t>max_df</a:t>
            </a:r>
            <a:endParaRPr lang="en-US" sz="1400" dirty="0">
              <a:latin typeface="Consolas" panose="020B0609020204030204" pitchFamily="49" charset="0"/>
              <a:ea typeface="Tahoma" panose="020B0604030504040204" pitchFamily="34" charset="0"/>
              <a:cs typeface="Consolas" panose="020B0609020204030204" pitchFamily="49" charset="0"/>
            </a:endParaRPr>
          </a:p>
          <a:p>
            <a:pPr marL="285750" indent="-285750"/>
            <a:r>
              <a:rPr lang="en-US" sz="1400" dirty="0" err="1">
                <a:latin typeface="Consolas" panose="020B0609020204030204" pitchFamily="49" charset="0"/>
                <a:ea typeface="Tahoma" panose="020B0604030504040204" pitchFamily="34" charset="0"/>
                <a:cs typeface="Consolas" panose="020B0609020204030204" pitchFamily="49" charset="0"/>
              </a:rPr>
              <a:t>min_df</a:t>
            </a:r>
            <a:endParaRPr lang="en-US" sz="1400" dirty="0">
              <a:latin typeface="Consolas" panose="020B0609020204030204" pitchFamily="49" charset="0"/>
              <a:ea typeface="Tahoma" panose="020B0604030504040204" pitchFamily="34" charset="0"/>
              <a:cs typeface="Consolas" panose="020B0609020204030204" pitchFamily="49" charset="0"/>
            </a:endParaRPr>
          </a:p>
        </p:txBody>
      </p:sp>
    </p:spTree>
    <p:extLst>
      <p:ext uri="{BB962C8B-B14F-4D97-AF65-F5344CB8AC3E}">
        <p14:creationId xmlns:p14="http://schemas.microsoft.com/office/powerpoint/2010/main" val="243405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E9A04E-0A5F-0DA1-8967-9302668529D6}"/>
              </a:ext>
            </a:extLst>
          </p:cNvPr>
          <p:cNvSpPr>
            <a:spLocks noGrp="1"/>
          </p:cNvSpPr>
          <p:nvPr>
            <p:ph type="title"/>
          </p:nvPr>
        </p:nvSpPr>
        <p:spPr>
          <a:xfrm>
            <a:off x="402770" y="2063296"/>
            <a:ext cx="11670409" cy="2477707"/>
          </a:xfrm>
        </p:spPr>
        <p:txBody>
          <a:bodyPr>
            <a:normAutofit/>
          </a:bodyPr>
          <a:lstStyle/>
          <a:p>
            <a:r>
              <a:rPr lang="en-US" dirty="0"/>
              <a:t>Naïve Bayes:  Classification for text</a:t>
            </a:r>
            <a:br>
              <a:rPr lang="en-US" dirty="0"/>
            </a:br>
            <a:endParaRPr lang="en-US" dirty="0"/>
          </a:p>
        </p:txBody>
      </p:sp>
      <p:sp>
        <p:nvSpPr>
          <p:cNvPr id="2" name="Slide Number Placeholder 1">
            <a:extLst>
              <a:ext uri="{FF2B5EF4-FFF2-40B4-BE49-F238E27FC236}">
                <a16:creationId xmlns:a16="http://schemas.microsoft.com/office/drawing/2014/main" id="{947FE4D9-860A-325D-F9AA-46428CEA1698}"/>
              </a:ext>
            </a:extLst>
          </p:cNvPr>
          <p:cNvSpPr>
            <a:spLocks noGrp="1"/>
          </p:cNvSpPr>
          <p:nvPr>
            <p:ph type="sldNum" sz="quarter" idx="12"/>
          </p:nvPr>
        </p:nvSpPr>
        <p:spPr/>
        <p:txBody>
          <a:bodyPr/>
          <a:lstStyle/>
          <a:p>
            <a:fld id="{ABBEE3BA-F264-1746-880E-39AD601DF2B1}" type="slidenum">
              <a:rPr lang="en-US" smtClean="0"/>
              <a:t>14</a:t>
            </a:fld>
            <a:endParaRPr lang="en-US"/>
          </a:p>
        </p:txBody>
      </p:sp>
      <p:pic>
        <p:nvPicPr>
          <p:cNvPr id="4" name="Picture 7">
            <a:extLst>
              <a:ext uri="{FF2B5EF4-FFF2-40B4-BE49-F238E27FC236}">
                <a16:creationId xmlns:a16="http://schemas.microsoft.com/office/drawing/2014/main" id="{BF940D2C-8D68-6571-D9C4-62EA2E16E23D}"/>
              </a:ext>
            </a:extLst>
          </p:cNvPr>
          <p:cNvPicPr>
            <a:picLocks noChangeAspect="1" noChangeArrowheads="1"/>
          </p:cNvPicPr>
          <p:nvPr/>
        </p:nvPicPr>
        <p:blipFill>
          <a:blip r:embed="rId3" cstate="print"/>
          <a:srcRect/>
          <a:stretch>
            <a:fillRect/>
          </a:stretch>
        </p:blipFill>
        <p:spPr bwMode="auto">
          <a:xfrm>
            <a:off x="8256847" y="3689193"/>
            <a:ext cx="2133600" cy="2209800"/>
          </a:xfrm>
          <a:prstGeom prst="rect">
            <a:avLst/>
          </a:prstGeom>
          <a:noFill/>
          <a:ln w="9525">
            <a:noFill/>
            <a:miter lim="800000"/>
            <a:headEnd/>
            <a:tailEnd/>
          </a:ln>
        </p:spPr>
      </p:pic>
      <p:sp>
        <p:nvSpPr>
          <p:cNvPr id="7" name="TextBox 6">
            <a:extLst>
              <a:ext uri="{FF2B5EF4-FFF2-40B4-BE49-F238E27FC236}">
                <a16:creationId xmlns:a16="http://schemas.microsoft.com/office/drawing/2014/main" id="{2403B7F8-7DEF-845A-924A-1F6D5A97EEC9}"/>
              </a:ext>
            </a:extLst>
          </p:cNvPr>
          <p:cNvSpPr txBox="1"/>
          <p:nvPr/>
        </p:nvSpPr>
        <p:spPr>
          <a:xfrm>
            <a:off x="11028648" y="2207217"/>
            <a:ext cx="1221596" cy="830997"/>
          </a:xfrm>
          <a:prstGeom prst="rect">
            <a:avLst/>
          </a:prstGeom>
          <a:noFill/>
        </p:spPr>
        <p:txBody>
          <a:bodyPr wrap="square">
            <a:spAutoFit/>
          </a:bodyPr>
          <a:lstStyle/>
          <a:p>
            <a:pPr>
              <a:buNone/>
            </a:pPr>
            <a:r>
              <a:rPr lang="en-US" sz="4800" dirty="0">
                <a:effectLst/>
                <a:latin typeface="Helvetica Neue" panose="02000503000000020004" pitchFamily="2" charset="0"/>
              </a:rPr>
              <a:t>🧰</a:t>
            </a:r>
          </a:p>
        </p:txBody>
      </p:sp>
    </p:spTree>
    <p:extLst>
      <p:ext uri="{BB962C8B-B14F-4D97-AF65-F5344CB8AC3E}">
        <p14:creationId xmlns:p14="http://schemas.microsoft.com/office/powerpoint/2010/main" val="361294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0" y="22894"/>
            <a:ext cx="8153400" cy="914400"/>
          </a:xfrm>
        </p:spPr>
        <p:txBody>
          <a:bodyPr>
            <a:normAutofit/>
          </a:bodyPr>
          <a:lstStyle/>
          <a:p>
            <a:pPr>
              <a:defRPr/>
            </a:pPr>
            <a:r>
              <a:rPr lang="en-US" sz="3200" dirty="0"/>
              <a:t>Naïve Bayes for Classification </a:t>
            </a:r>
          </a:p>
        </p:txBody>
      </p:sp>
      <p:graphicFrame>
        <p:nvGraphicFramePr>
          <p:cNvPr id="2" name="Table 1"/>
          <p:cNvGraphicFramePr>
            <a:graphicFrameLocks noGrp="1"/>
          </p:cNvGraphicFramePr>
          <p:nvPr>
            <p:extLst>
              <p:ext uri="{D42A27DB-BD31-4B8C-83A1-F6EECF244321}">
                <p14:modId xmlns:p14="http://schemas.microsoft.com/office/powerpoint/2010/main" val="3677510865"/>
              </p:ext>
            </p:extLst>
          </p:nvPr>
        </p:nvGraphicFramePr>
        <p:xfrm>
          <a:off x="5115403" y="1505012"/>
          <a:ext cx="2235724" cy="3175000"/>
        </p:xfrm>
        <a:graphic>
          <a:graphicData uri="http://schemas.openxmlformats.org/drawingml/2006/table">
            <a:tbl>
              <a:tblPr/>
              <a:tblGrid>
                <a:gridCol w="1279331">
                  <a:extLst>
                    <a:ext uri="{9D8B030D-6E8A-4147-A177-3AD203B41FA5}">
                      <a16:colId xmlns:a16="http://schemas.microsoft.com/office/drawing/2014/main" val="20000"/>
                    </a:ext>
                  </a:extLst>
                </a:gridCol>
                <a:gridCol w="956393">
                  <a:extLst>
                    <a:ext uri="{9D8B030D-6E8A-4147-A177-3AD203B41FA5}">
                      <a16:colId xmlns:a16="http://schemas.microsoft.com/office/drawing/2014/main" val="20001"/>
                    </a:ext>
                  </a:extLst>
                </a:gridCol>
              </a:tblGrid>
              <a:tr h="236025">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Text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Spam?</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296976">
                <a:tc>
                  <a:txBody>
                    <a:bodyPr/>
                    <a:lstStyle/>
                    <a:p>
                      <a:pPr marL="0" indent="0" algn="l" rtl="0" fontAlgn="base">
                        <a:spcBef>
                          <a:spcPct val="20000"/>
                        </a:spcBef>
                        <a:spcAft>
                          <a:spcPct val="0"/>
                        </a:spcAft>
                        <a:buClr>
                          <a:srgbClr val="8E0D30"/>
                        </a:buClr>
                        <a:buNone/>
                      </a:pPr>
                      <a:r>
                        <a:rPr lang="it-IT" sz="2000" kern="1200" dirty="0">
                          <a:solidFill>
                            <a:schemeClr val="tx1"/>
                          </a:solidFill>
                          <a:latin typeface="+mj-lt"/>
                          <a:ea typeface="Tahoma" panose="020B0604030504040204" pitchFamily="34" charset="0"/>
                          <a:cs typeface="Tahoma" panose="020B0604030504040204" pitchFamily="34" charset="0"/>
                        </a:rPr>
                        <a:t>a l c</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6976">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b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6976">
                <a:tc>
                  <a:txBody>
                    <a:bodyPr/>
                    <a:lstStyle/>
                    <a:p>
                      <a:pPr marL="0" indent="0" algn="l" rtl="0" fontAlgn="base">
                        <a:spcBef>
                          <a:spcPct val="20000"/>
                        </a:spcBef>
                        <a:spcAft>
                          <a:spcPct val="0"/>
                        </a:spcAft>
                        <a:buClr>
                          <a:srgbClr val="8E0D30"/>
                        </a:buClr>
                        <a:buNone/>
                      </a:pPr>
                      <a:r>
                        <a:rPr lang="it-IT" sz="2000" kern="1200" dirty="0">
                          <a:solidFill>
                            <a:schemeClr val="tx1"/>
                          </a:solidFill>
                          <a:latin typeface="+mj-lt"/>
                          <a:ea typeface="Tahoma" panose="020B0604030504040204" pitchFamily="34" charset="0"/>
                          <a:cs typeface="Tahoma" panose="020B0604030504040204" pitchFamily="34" charset="0"/>
                        </a:rPr>
                        <a:t>c e k</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6976">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c f g</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b c</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2444326"/>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b d f</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7710058"/>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b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956962"/>
                  </a:ext>
                </a:extLst>
              </a:tr>
            </a:tbl>
          </a:graphicData>
        </a:graphic>
      </p:graphicFrame>
      <p:sp>
        <p:nvSpPr>
          <p:cNvPr id="3" name="TextBox 2">
            <a:extLst>
              <a:ext uri="{FF2B5EF4-FFF2-40B4-BE49-F238E27FC236}">
                <a16:creationId xmlns:a16="http://schemas.microsoft.com/office/drawing/2014/main" id="{7EBBD7EA-253E-DED6-BEC5-229CFCB0779A}"/>
              </a:ext>
            </a:extLst>
          </p:cNvPr>
          <p:cNvSpPr txBox="1"/>
          <p:nvPr/>
        </p:nvSpPr>
        <p:spPr>
          <a:xfrm>
            <a:off x="278970" y="927497"/>
            <a:ext cx="6853158" cy="461665"/>
          </a:xfrm>
          <a:prstGeom prst="rect">
            <a:avLst/>
          </a:prstGeom>
          <a:noFill/>
        </p:spPr>
        <p:txBody>
          <a:bodyPr wrap="none" rtlCol="0">
            <a:spAutoFit/>
          </a:bodyPr>
          <a:lstStyle/>
          <a:p>
            <a:pPr algn="l"/>
            <a:r>
              <a:rPr lang="en-US" sz="2400" dirty="0">
                <a:latin typeface="Montserrat" pitchFamily="2" charset="77"/>
              </a:rPr>
              <a:t>Consider an (oversimplified) spam problem:</a:t>
            </a:r>
          </a:p>
        </p:txBody>
      </p:sp>
      <p:sp>
        <p:nvSpPr>
          <p:cNvPr id="4" name="TextBox 3">
            <a:extLst>
              <a:ext uri="{FF2B5EF4-FFF2-40B4-BE49-F238E27FC236}">
                <a16:creationId xmlns:a16="http://schemas.microsoft.com/office/drawing/2014/main" id="{F8561172-DFBA-B084-1057-CE174C006078}"/>
              </a:ext>
            </a:extLst>
          </p:cNvPr>
          <p:cNvSpPr txBox="1"/>
          <p:nvPr/>
        </p:nvSpPr>
        <p:spPr>
          <a:xfrm>
            <a:off x="861396" y="1611064"/>
            <a:ext cx="3930884" cy="461665"/>
          </a:xfrm>
          <a:prstGeom prst="rect">
            <a:avLst/>
          </a:prstGeom>
          <a:noFill/>
        </p:spPr>
        <p:txBody>
          <a:bodyPr wrap="none" rtlCol="0">
            <a:spAutoFit/>
          </a:bodyPr>
          <a:lstStyle/>
          <a:p>
            <a:pPr algn="l"/>
            <a:r>
              <a:rPr lang="en-US" sz="2400" dirty="0">
                <a:latin typeface="Montserrat" pitchFamily="2" charset="77"/>
              </a:rPr>
              <a:t>Letters represent words:</a:t>
            </a:r>
          </a:p>
        </p:txBody>
      </p:sp>
      <p:sp>
        <p:nvSpPr>
          <p:cNvPr id="6" name="TextBox 5">
            <a:extLst>
              <a:ext uri="{FF2B5EF4-FFF2-40B4-BE49-F238E27FC236}">
                <a16:creationId xmlns:a16="http://schemas.microsoft.com/office/drawing/2014/main" id="{D8BA1821-528B-048D-D821-88D53E318ACD}"/>
              </a:ext>
            </a:extLst>
          </p:cNvPr>
          <p:cNvSpPr txBox="1"/>
          <p:nvPr/>
        </p:nvSpPr>
        <p:spPr>
          <a:xfrm>
            <a:off x="628962" y="5106218"/>
            <a:ext cx="10963770" cy="1384995"/>
          </a:xfrm>
          <a:prstGeom prst="rect">
            <a:avLst/>
          </a:prstGeom>
          <a:noFill/>
        </p:spPr>
        <p:txBody>
          <a:bodyPr wrap="square" rtlCol="0">
            <a:spAutoFit/>
          </a:bodyPr>
          <a:lstStyle/>
          <a:p>
            <a:pPr>
              <a:buNone/>
            </a:pPr>
            <a:r>
              <a:rPr lang="en-US" sz="2400" dirty="0">
                <a:latin typeface="Tahoma" panose="020B0604030504040204" pitchFamily="34" charset="0"/>
                <a:ea typeface="Tahoma" panose="020B0604030504040204" pitchFamily="34" charset="0"/>
                <a:cs typeface="Tahoma" panose="020B0604030504040204" pitchFamily="34" charset="0"/>
              </a:rPr>
              <a:t>In general, we can think of all predictive models as conditional probabilities:</a:t>
            </a:r>
          </a:p>
          <a:p>
            <a:endParaRPr lang="en-US" sz="2000" dirty="0"/>
          </a:p>
          <a:p>
            <a:pPr algn="ctr"/>
            <a:r>
              <a:rPr lang="en-US" sz="2000" dirty="0">
                <a:latin typeface="Tahoma" panose="020B0604030504040204" pitchFamily="34" charset="0"/>
                <a:ea typeface="Tahoma" panose="020B0604030504040204" pitchFamily="34" charset="0"/>
                <a:cs typeface="Tahoma" panose="020B0604030504040204" pitchFamily="34" charset="0"/>
              </a:rPr>
              <a:t>	What we are trying to calculate:   P(Spam = 1 | </a:t>
            </a:r>
            <a:r>
              <a:rPr lang="en-US" sz="2000" i="1" dirty="0" err="1">
                <a:latin typeface="Tahoma" panose="020B0604030504040204" pitchFamily="34" charset="0"/>
                <a:ea typeface="Tahoma" panose="020B0604030504040204" pitchFamily="34" charset="0"/>
                <a:cs typeface="Tahoma" panose="020B0604030504040204" pitchFamily="34" charset="0"/>
              </a:rPr>
              <a:t>abd</a:t>
            </a:r>
            <a:r>
              <a:rPr lang="en-US" sz="2000" i="1"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a:t>
            </a:r>
          </a:p>
          <a:p>
            <a:pPr>
              <a:buNone/>
            </a:pP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30B1711F-C994-6EB5-76F1-15BB715AAD59}"/>
              </a:ext>
            </a:extLst>
          </p:cNvPr>
          <p:cNvSpPr txBox="1"/>
          <p:nvPr/>
        </p:nvSpPr>
        <p:spPr>
          <a:xfrm>
            <a:off x="7768446" y="2804644"/>
            <a:ext cx="4423554" cy="1200329"/>
          </a:xfrm>
          <a:prstGeom prst="rect">
            <a:avLst/>
          </a:prstGeom>
          <a:solidFill>
            <a:schemeClr val="bg2"/>
          </a:solidFill>
        </p:spPr>
        <p:txBody>
          <a:bodyPr wrap="square" rtlCol="0">
            <a:spAutoFit/>
          </a:bodyPr>
          <a:lstStyle/>
          <a:p>
            <a:pPr algn="l"/>
            <a:r>
              <a:rPr lang="en-US" sz="2400" dirty="0">
                <a:latin typeface="Montserrat" pitchFamily="2" charset="77"/>
              </a:rPr>
              <a:t>Bayes’ Rule:</a:t>
            </a:r>
          </a:p>
          <a:p>
            <a:r>
              <a:rPr lang="en-US" sz="2400" dirty="0"/>
              <a:t>P(A|B) = P(B|A) x P(A) / P(B)</a:t>
            </a:r>
            <a:endParaRPr lang="en-US" sz="2400" dirty="0">
              <a:latin typeface="Montserrat" pitchFamily="2" charset="77"/>
            </a:endParaRPr>
          </a:p>
          <a:p>
            <a:pPr algn="l"/>
            <a:endParaRPr lang="en-US" sz="2400" dirty="0">
              <a:latin typeface="Montserrat" pitchFamily="2" charset="77"/>
            </a:endParaRPr>
          </a:p>
        </p:txBody>
      </p:sp>
    </p:spTree>
    <p:extLst>
      <p:ext uri="{BB962C8B-B14F-4D97-AF65-F5344CB8AC3E}">
        <p14:creationId xmlns:p14="http://schemas.microsoft.com/office/powerpoint/2010/main" val="236642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3EA0A-CCC3-E501-5FAF-96A25408C024}"/>
            </a:ext>
          </a:extLst>
        </p:cNvPr>
        <p:cNvGrpSpPr/>
        <p:nvPr/>
      </p:nvGrpSpPr>
      <p:grpSpPr>
        <a:xfrm>
          <a:off x="0" y="0"/>
          <a:ext cx="0" cy="0"/>
          <a:chOff x="0" y="0"/>
          <a:chExt cx="0" cy="0"/>
        </a:xfrm>
      </p:grpSpPr>
      <p:sp>
        <p:nvSpPr>
          <p:cNvPr id="179202" name="Rectangle 2">
            <a:extLst>
              <a:ext uri="{FF2B5EF4-FFF2-40B4-BE49-F238E27FC236}">
                <a16:creationId xmlns:a16="http://schemas.microsoft.com/office/drawing/2014/main" id="{CA78335B-9CC9-CAE6-5B2F-DAA6DED8EEB3}"/>
              </a:ext>
            </a:extLst>
          </p:cNvPr>
          <p:cNvSpPr>
            <a:spLocks noGrp="1" noChangeArrowheads="1"/>
          </p:cNvSpPr>
          <p:nvPr>
            <p:ph type="title"/>
          </p:nvPr>
        </p:nvSpPr>
        <p:spPr>
          <a:xfrm>
            <a:off x="0" y="22894"/>
            <a:ext cx="8153400" cy="914400"/>
          </a:xfrm>
        </p:spPr>
        <p:txBody>
          <a:bodyPr>
            <a:normAutofit/>
          </a:bodyPr>
          <a:lstStyle/>
          <a:p>
            <a:pPr>
              <a:defRPr/>
            </a:pPr>
            <a:r>
              <a:rPr lang="en-US" sz="3200" dirty="0"/>
              <a:t>Naïve Bayes for Classification </a:t>
            </a:r>
          </a:p>
        </p:txBody>
      </p:sp>
      <p:graphicFrame>
        <p:nvGraphicFramePr>
          <p:cNvPr id="2" name="Table 1">
            <a:extLst>
              <a:ext uri="{FF2B5EF4-FFF2-40B4-BE49-F238E27FC236}">
                <a16:creationId xmlns:a16="http://schemas.microsoft.com/office/drawing/2014/main" id="{684B5065-FA68-3731-1DDD-CDF4DB91D99B}"/>
              </a:ext>
            </a:extLst>
          </p:cNvPr>
          <p:cNvGraphicFramePr>
            <a:graphicFrameLocks noGrp="1"/>
          </p:cNvGraphicFramePr>
          <p:nvPr>
            <p:extLst>
              <p:ext uri="{D42A27DB-BD31-4B8C-83A1-F6EECF244321}">
                <p14:modId xmlns:p14="http://schemas.microsoft.com/office/powerpoint/2010/main" val="1002027349"/>
              </p:ext>
            </p:extLst>
          </p:nvPr>
        </p:nvGraphicFramePr>
        <p:xfrm>
          <a:off x="369893" y="3429000"/>
          <a:ext cx="2235724" cy="3175000"/>
        </p:xfrm>
        <a:graphic>
          <a:graphicData uri="http://schemas.openxmlformats.org/drawingml/2006/table">
            <a:tbl>
              <a:tblPr/>
              <a:tblGrid>
                <a:gridCol w="1279331">
                  <a:extLst>
                    <a:ext uri="{9D8B030D-6E8A-4147-A177-3AD203B41FA5}">
                      <a16:colId xmlns:a16="http://schemas.microsoft.com/office/drawing/2014/main" val="20000"/>
                    </a:ext>
                  </a:extLst>
                </a:gridCol>
                <a:gridCol w="956393">
                  <a:extLst>
                    <a:ext uri="{9D8B030D-6E8A-4147-A177-3AD203B41FA5}">
                      <a16:colId xmlns:a16="http://schemas.microsoft.com/office/drawing/2014/main" val="20001"/>
                    </a:ext>
                  </a:extLst>
                </a:gridCol>
              </a:tblGrid>
              <a:tr h="236025">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Text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Spam?</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296976">
                <a:tc>
                  <a:txBody>
                    <a:bodyPr/>
                    <a:lstStyle/>
                    <a:p>
                      <a:pPr marL="0" indent="0" algn="l" rtl="0" fontAlgn="base">
                        <a:spcBef>
                          <a:spcPct val="20000"/>
                        </a:spcBef>
                        <a:spcAft>
                          <a:spcPct val="0"/>
                        </a:spcAft>
                        <a:buClr>
                          <a:srgbClr val="8E0D30"/>
                        </a:buClr>
                        <a:buNone/>
                      </a:pPr>
                      <a:r>
                        <a:rPr lang="it-IT" sz="2000" kern="1200" dirty="0">
                          <a:solidFill>
                            <a:schemeClr val="tx1"/>
                          </a:solidFill>
                          <a:latin typeface="+mj-lt"/>
                          <a:ea typeface="Tahoma" panose="020B0604030504040204" pitchFamily="34" charset="0"/>
                          <a:cs typeface="Tahoma" panose="020B0604030504040204" pitchFamily="34" charset="0"/>
                        </a:rPr>
                        <a:t>a l c</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6976">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b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6976">
                <a:tc>
                  <a:txBody>
                    <a:bodyPr/>
                    <a:lstStyle/>
                    <a:p>
                      <a:pPr marL="0" indent="0" algn="l" rtl="0" fontAlgn="base">
                        <a:spcBef>
                          <a:spcPct val="20000"/>
                        </a:spcBef>
                        <a:spcAft>
                          <a:spcPct val="0"/>
                        </a:spcAft>
                        <a:buClr>
                          <a:srgbClr val="8E0D30"/>
                        </a:buClr>
                        <a:buNone/>
                      </a:pPr>
                      <a:r>
                        <a:rPr lang="it-IT" sz="2000" kern="1200" dirty="0">
                          <a:solidFill>
                            <a:schemeClr val="tx1"/>
                          </a:solidFill>
                          <a:latin typeface="+mj-lt"/>
                          <a:ea typeface="Tahoma" panose="020B0604030504040204" pitchFamily="34" charset="0"/>
                          <a:cs typeface="Tahoma" panose="020B0604030504040204" pitchFamily="34" charset="0"/>
                        </a:rPr>
                        <a:t>c e k</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6976">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c f g</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c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b c</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2444326"/>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b d f</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7710058"/>
                  </a:ext>
                </a:extLst>
              </a:tr>
              <a:tr h="296976">
                <a:tc>
                  <a:txBody>
                    <a:bodyPr/>
                    <a:lstStyle/>
                    <a:p>
                      <a:pPr marL="0" indent="0" algn="l" rtl="0" fontAlgn="base">
                        <a:spcBef>
                          <a:spcPct val="20000"/>
                        </a:spcBef>
                        <a:spcAft>
                          <a:spcPct val="0"/>
                        </a:spcAft>
                        <a:buClr>
                          <a:srgbClr val="8E0D30"/>
                        </a:buClr>
                        <a:buNone/>
                      </a:pPr>
                      <a:r>
                        <a:rPr lang="fr-FR" sz="2000" kern="1200" dirty="0">
                          <a:solidFill>
                            <a:schemeClr val="tx1"/>
                          </a:solidFill>
                          <a:latin typeface="+mj-lt"/>
                          <a:ea typeface="Tahoma" panose="020B0604030504040204" pitchFamily="34" charset="0"/>
                          <a:cs typeface="Tahoma" panose="020B0604030504040204" pitchFamily="34" charset="0"/>
                        </a:rPr>
                        <a:t>a b 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rtl="0" fontAlgn="base">
                        <a:spcBef>
                          <a:spcPct val="20000"/>
                        </a:spcBef>
                        <a:spcAft>
                          <a:spcPct val="0"/>
                        </a:spcAft>
                        <a:buClr>
                          <a:srgbClr val="8E0D30"/>
                        </a:buClr>
                        <a:buNone/>
                      </a:pPr>
                      <a:r>
                        <a:rPr lang="en-US" sz="2000" kern="1200" dirty="0">
                          <a:solidFill>
                            <a:schemeClr val="tx1"/>
                          </a:solidFill>
                          <a:latin typeface="+mj-lt"/>
                          <a:ea typeface="Tahoma" panose="020B0604030504040204" pitchFamily="34" charset="0"/>
                          <a:cs typeface="Tahoma" panose="020B0604030504040204" pitchFamily="34" charset="0"/>
                        </a:rPr>
                        <a: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956962"/>
                  </a:ext>
                </a:extLst>
              </a:tr>
            </a:tbl>
          </a:graphicData>
        </a:graphic>
      </p:graphicFrame>
      <p:sp>
        <p:nvSpPr>
          <p:cNvPr id="5" name="Text Box 178">
            <a:extLst>
              <a:ext uri="{FF2B5EF4-FFF2-40B4-BE49-F238E27FC236}">
                <a16:creationId xmlns:a16="http://schemas.microsoft.com/office/drawing/2014/main" id="{EE65F3F1-3CD5-3A9D-6F9C-A949C48844C7}"/>
              </a:ext>
            </a:extLst>
          </p:cNvPr>
          <p:cNvSpPr txBox="1">
            <a:spLocks noChangeArrowheads="1"/>
          </p:cNvSpPr>
          <p:nvPr/>
        </p:nvSpPr>
        <p:spPr bwMode="auto">
          <a:xfrm>
            <a:off x="2343381" y="1297476"/>
            <a:ext cx="309700" cy="523220"/>
          </a:xfrm>
          <a:prstGeom prst="rect">
            <a:avLst/>
          </a:prstGeom>
          <a:noFill/>
          <a:ln w="9525">
            <a:noFill/>
            <a:miter lim="800000"/>
            <a:headEnd/>
            <a:tailEnd/>
          </a:ln>
        </p:spPr>
        <p:txBody>
          <a:bodyPr wrap="none">
            <a:spAutoFit/>
          </a:bodyPr>
          <a:lstStyle/>
          <a:p>
            <a:pPr algn="l"/>
            <a:endParaRPr lang="en-GB" sz="2800"/>
          </a:p>
        </p:txBody>
      </p:sp>
      <p:sp>
        <p:nvSpPr>
          <p:cNvPr id="7" name="Text Box 179">
            <a:extLst>
              <a:ext uri="{FF2B5EF4-FFF2-40B4-BE49-F238E27FC236}">
                <a16:creationId xmlns:a16="http://schemas.microsoft.com/office/drawing/2014/main" id="{7D94A77C-3A5E-6B19-3DE0-6B3C18FED405}"/>
              </a:ext>
            </a:extLst>
          </p:cNvPr>
          <p:cNvSpPr txBox="1">
            <a:spLocks noChangeArrowheads="1"/>
          </p:cNvSpPr>
          <p:nvPr/>
        </p:nvSpPr>
        <p:spPr bwMode="auto">
          <a:xfrm>
            <a:off x="2800581" y="1907076"/>
            <a:ext cx="309700" cy="523220"/>
          </a:xfrm>
          <a:prstGeom prst="rect">
            <a:avLst/>
          </a:prstGeom>
          <a:noFill/>
          <a:ln w="9525">
            <a:noFill/>
            <a:miter lim="800000"/>
            <a:headEnd/>
            <a:tailEnd/>
          </a:ln>
        </p:spPr>
        <p:txBody>
          <a:bodyPr wrap="none">
            <a:spAutoFit/>
          </a:bodyPr>
          <a:lstStyle/>
          <a:p>
            <a:pPr algn="l"/>
            <a:endParaRPr lang="en-GB" sz="2800"/>
          </a:p>
        </p:txBody>
      </p:sp>
      <p:sp>
        <p:nvSpPr>
          <p:cNvPr id="8" name="Line 180">
            <a:extLst>
              <a:ext uri="{FF2B5EF4-FFF2-40B4-BE49-F238E27FC236}">
                <a16:creationId xmlns:a16="http://schemas.microsoft.com/office/drawing/2014/main" id="{FFCDB71A-028F-AA83-87FD-2885225C2B57}"/>
              </a:ext>
            </a:extLst>
          </p:cNvPr>
          <p:cNvSpPr>
            <a:spLocks noChangeShapeType="1"/>
          </p:cNvSpPr>
          <p:nvPr/>
        </p:nvSpPr>
        <p:spPr bwMode="auto">
          <a:xfrm>
            <a:off x="3613103" y="1751879"/>
            <a:ext cx="3186113" cy="0"/>
          </a:xfrm>
          <a:prstGeom prst="line">
            <a:avLst/>
          </a:prstGeom>
          <a:noFill/>
          <a:ln w="11176">
            <a:solidFill>
              <a:schemeClr val="tx1"/>
            </a:solidFill>
            <a:round/>
            <a:headEnd/>
            <a:tailEnd/>
          </a:ln>
        </p:spPr>
        <p:txBody>
          <a:bodyPr/>
          <a:lstStyle/>
          <a:p>
            <a:endParaRPr lang="en-US"/>
          </a:p>
        </p:txBody>
      </p:sp>
      <p:sp>
        <p:nvSpPr>
          <p:cNvPr id="9" name="Text Box 181">
            <a:extLst>
              <a:ext uri="{FF2B5EF4-FFF2-40B4-BE49-F238E27FC236}">
                <a16:creationId xmlns:a16="http://schemas.microsoft.com/office/drawing/2014/main" id="{C82703AE-C6D5-4DC8-E00A-DFA95D24063E}"/>
              </a:ext>
            </a:extLst>
          </p:cNvPr>
          <p:cNvSpPr txBox="1">
            <a:spLocks noChangeArrowheads="1"/>
          </p:cNvSpPr>
          <p:nvPr/>
        </p:nvSpPr>
        <p:spPr bwMode="auto">
          <a:xfrm>
            <a:off x="278970" y="1511788"/>
            <a:ext cx="27414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t" anchorCtr="0" compatLnSpc="1">
            <a:prstTxWarp prst="textNoShape">
              <a:avLst/>
            </a:prstTxWarp>
            <a:spAutoFit/>
          </a:bodyPr>
          <a:lstStyle>
            <a:lvl1pPr marL="0" indent="0" eaLnBrk="1" hangingPunct="1">
              <a:buNone/>
              <a:defRPr sz="2000">
                <a:latin typeface="Tahoma" panose="020B0604030504040204" pitchFamily="34" charset="0"/>
                <a:ea typeface="Tahoma" panose="020B0604030504040204" pitchFamily="34" charset="0"/>
                <a:cs typeface="Tahoma" panose="020B0604030504040204" pitchFamily="34" charset="0"/>
              </a:defRPr>
            </a:lvl1pPr>
            <a:lvl2pPr marL="557213" indent="-214313" eaLnBrk="1" hangingPunct="1">
              <a:buChar char="–"/>
              <a:defRPr sz="1800">
                <a:latin typeface="Tahoma" panose="020B0604030504040204" pitchFamily="34" charset="0"/>
                <a:ea typeface="Tahoma" panose="020B0604030504040204" pitchFamily="34" charset="0"/>
                <a:cs typeface="Tahoma" panose="020B0604030504040204" pitchFamily="34" charset="0"/>
              </a:defRPr>
            </a:lvl2pPr>
            <a:lvl3pPr marL="857250" indent="-171450" eaLnBrk="1" hangingPunct="1">
              <a:defRPr sz="1600">
                <a:latin typeface="Tahoma" panose="020B0604030504040204" pitchFamily="34" charset="0"/>
                <a:ea typeface="Tahoma" panose="020B0604030504040204" pitchFamily="34" charset="0"/>
                <a:cs typeface="Tahoma" panose="020B0604030504040204" pitchFamily="34" charset="0"/>
              </a:defRPr>
            </a:lvl3pPr>
            <a:lvl4pPr marL="12001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4pPr>
            <a:lvl5pPr marL="15430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5pPr>
            <a:lvl6pPr marL="1885950" indent="-171450" fontAlgn="base">
              <a:spcBef>
                <a:spcPct val="20000"/>
              </a:spcBef>
              <a:spcAft>
                <a:spcPct val="0"/>
              </a:spcAft>
              <a:buChar char="»"/>
              <a:defRPr sz="1500">
                <a:latin typeface="+mn-lt"/>
                <a:cs typeface="+mn-cs"/>
              </a:defRPr>
            </a:lvl6pPr>
            <a:lvl7pPr marL="2228850" indent="-171450" fontAlgn="base">
              <a:spcBef>
                <a:spcPct val="20000"/>
              </a:spcBef>
              <a:spcAft>
                <a:spcPct val="0"/>
              </a:spcAft>
              <a:buChar char="»"/>
              <a:defRPr sz="1500">
                <a:latin typeface="+mn-lt"/>
                <a:cs typeface="+mn-cs"/>
              </a:defRPr>
            </a:lvl7pPr>
            <a:lvl8pPr marL="2571750" indent="-171450" fontAlgn="base">
              <a:spcBef>
                <a:spcPct val="20000"/>
              </a:spcBef>
              <a:spcAft>
                <a:spcPct val="0"/>
              </a:spcAft>
              <a:buChar char="»"/>
              <a:defRPr sz="1500">
                <a:latin typeface="+mn-lt"/>
                <a:cs typeface="+mn-cs"/>
              </a:defRPr>
            </a:lvl8pPr>
            <a:lvl9pPr marL="2914650" indent="-171450" fontAlgn="base">
              <a:spcBef>
                <a:spcPct val="20000"/>
              </a:spcBef>
              <a:spcAft>
                <a:spcPct val="0"/>
              </a:spcAft>
              <a:buChar char="»"/>
              <a:defRPr sz="1500">
                <a:latin typeface="+mn-lt"/>
                <a:cs typeface="+mn-cs"/>
              </a:defRPr>
            </a:lvl9pPr>
          </a:lstStyle>
          <a:p>
            <a:r>
              <a:rPr lang="en-US" dirty="0"/>
              <a:t>P(Spam = 1 | </a:t>
            </a:r>
            <a:r>
              <a:rPr lang="en-US" i="1" dirty="0" err="1"/>
              <a:t>abd</a:t>
            </a:r>
            <a:r>
              <a:rPr lang="en-US" i="1" dirty="0"/>
              <a:t> </a:t>
            </a:r>
            <a:r>
              <a:rPr lang="en-US" dirty="0"/>
              <a:t>)  =</a:t>
            </a:r>
          </a:p>
        </p:txBody>
      </p:sp>
      <p:sp>
        <p:nvSpPr>
          <p:cNvPr id="10" name="Text Box 182">
            <a:extLst>
              <a:ext uri="{FF2B5EF4-FFF2-40B4-BE49-F238E27FC236}">
                <a16:creationId xmlns:a16="http://schemas.microsoft.com/office/drawing/2014/main" id="{9362A517-39B5-3E68-6D0C-C01C9D5B0B07}"/>
              </a:ext>
            </a:extLst>
          </p:cNvPr>
          <p:cNvSpPr txBox="1">
            <a:spLocks noChangeArrowheads="1"/>
          </p:cNvSpPr>
          <p:nvPr/>
        </p:nvSpPr>
        <p:spPr bwMode="auto">
          <a:xfrm>
            <a:off x="3145784" y="1305761"/>
            <a:ext cx="37898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t" anchorCtr="0" compatLnSpc="1">
            <a:prstTxWarp prst="textNoShape">
              <a:avLst/>
            </a:prstTxWarp>
            <a:spAutoFit/>
          </a:bodyPr>
          <a:lstStyle>
            <a:lvl1pPr marL="0" indent="0" eaLnBrk="1" hangingPunct="1">
              <a:buNone/>
              <a:defRPr sz="2000">
                <a:latin typeface="Tahoma" panose="020B0604030504040204" pitchFamily="34" charset="0"/>
                <a:ea typeface="Tahoma" panose="020B0604030504040204" pitchFamily="34" charset="0"/>
                <a:cs typeface="Tahoma" panose="020B0604030504040204" pitchFamily="34" charset="0"/>
              </a:defRPr>
            </a:lvl1pPr>
            <a:lvl2pPr marL="557213" indent="-214313" eaLnBrk="1" hangingPunct="1">
              <a:buChar char="–"/>
              <a:defRPr sz="1800">
                <a:latin typeface="Tahoma" panose="020B0604030504040204" pitchFamily="34" charset="0"/>
                <a:ea typeface="Tahoma" panose="020B0604030504040204" pitchFamily="34" charset="0"/>
                <a:cs typeface="Tahoma" panose="020B0604030504040204" pitchFamily="34" charset="0"/>
              </a:defRPr>
            </a:lvl2pPr>
            <a:lvl3pPr marL="857250" indent="-171450" eaLnBrk="1" hangingPunct="1">
              <a:defRPr sz="1600">
                <a:latin typeface="Tahoma" panose="020B0604030504040204" pitchFamily="34" charset="0"/>
                <a:ea typeface="Tahoma" panose="020B0604030504040204" pitchFamily="34" charset="0"/>
                <a:cs typeface="Tahoma" panose="020B0604030504040204" pitchFamily="34" charset="0"/>
              </a:defRPr>
            </a:lvl3pPr>
            <a:lvl4pPr marL="12001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4pPr>
            <a:lvl5pPr marL="15430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5pPr>
            <a:lvl6pPr marL="1885950" indent="-171450" fontAlgn="base">
              <a:spcBef>
                <a:spcPct val="20000"/>
              </a:spcBef>
              <a:spcAft>
                <a:spcPct val="0"/>
              </a:spcAft>
              <a:buChar char="»"/>
              <a:defRPr sz="1500">
                <a:latin typeface="+mn-lt"/>
                <a:cs typeface="+mn-cs"/>
              </a:defRPr>
            </a:lvl6pPr>
            <a:lvl7pPr marL="2228850" indent="-171450" fontAlgn="base">
              <a:spcBef>
                <a:spcPct val="20000"/>
              </a:spcBef>
              <a:spcAft>
                <a:spcPct val="0"/>
              </a:spcAft>
              <a:buChar char="»"/>
              <a:defRPr sz="1500">
                <a:latin typeface="+mn-lt"/>
                <a:cs typeface="+mn-cs"/>
              </a:defRPr>
            </a:lvl7pPr>
            <a:lvl8pPr marL="2571750" indent="-171450" fontAlgn="base">
              <a:spcBef>
                <a:spcPct val="20000"/>
              </a:spcBef>
              <a:spcAft>
                <a:spcPct val="0"/>
              </a:spcAft>
              <a:buChar char="»"/>
              <a:defRPr sz="1500">
                <a:latin typeface="+mn-lt"/>
                <a:cs typeface="+mn-cs"/>
              </a:defRPr>
            </a:lvl8pPr>
            <a:lvl9pPr marL="2914650" indent="-171450" fontAlgn="base">
              <a:spcBef>
                <a:spcPct val="20000"/>
              </a:spcBef>
              <a:spcAft>
                <a:spcPct val="0"/>
              </a:spcAft>
              <a:buChar char="»"/>
              <a:defRPr sz="1500">
                <a:latin typeface="+mn-lt"/>
                <a:cs typeface="+mn-cs"/>
              </a:defRPr>
            </a:lvl9pPr>
          </a:lstStyle>
          <a:p>
            <a:r>
              <a:rPr lang="en-US" dirty="0"/>
              <a:t>P(</a:t>
            </a:r>
            <a:r>
              <a:rPr lang="en-US" i="1" dirty="0"/>
              <a:t> </a:t>
            </a:r>
            <a:r>
              <a:rPr lang="en-US" i="1" dirty="0" err="1"/>
              <a:t>abd</a:t>
            </a:r>
            <a:r>
              <a:rPr lang="en-US" dirty="0"/>
              <a:t> | Spam=1) x P(Spam=1)</a:t>
            </a:r>
          </a:p>
        </p:txBody>
      </p:sp>
      <p:sp>
        <p:nvSpPr>
          <p:cNvPr id="11" name="Text Box 183">
            <a:extLst>
              <a:ext uri="{FF2B5EF4-FFF2-40B4-BE49-F238E27FC236}">
                <a16:creationId xmlns:a16="http://schemas.microsoft.com/office/drawing/2014/main" id="{DC627D29-CB8A-B185-02A7-5B083CD75EBA}"/>
              </a:ext>
            </a:extLst>
          </p:cNvPr>
          <p:cNvSpPr txBox="1">
            <a:spLocks noChangeArrowheads="1"/>
          </p:cNvSpPr>
          <p:nvPr/>
        </p:nvSpPr>
        <p:spPr bwMode="auto">
          <a:xfrm>
            <a:off x="4346806" y="1781991"/>
            <a:ext cx="10182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t" anchorCtr="0" compatLnSpc="1">
            <a:prstTxWarp prst="textNoShape">
              <a:avLst/>
            </a:prstTxWarp>
            <a:spAutoFit/>
          </a:bodyPr>
          <a:lstStyle>
            <a:lvl1pPr marL="0" indent="0" eaLnBrk="1" hangingPunct="1">
              <a:buNone/>
              <a:defRPr sz="2000">
                <a:latin typeface="Tahoma" panose="020B0604030504040204" pitchFamily="34" charset="0"/>
                <a:ea typeface="Tahoma" panose="020B0604030504040204" pitchFamily="34" charset="0"/>
                <a:cs typeface="Tahoma" panose="020B0604030504040204" pitchFamily="34" charset="0"/>
              </a:defRPr>
            </a:lvl1pPr>
            <a:lvl2pPr marL="557213" indent="-214313" eaLnBrk="1" hangingPunct="1">
              <a:buChar char="–"/>
              <a:defRPr sz="1800">
                <a:latin typeface="Tahoma" panose="020B0604030504040204" pitchFamily="34" charset="0"/>
                <a:ea typeface="Tahoma" panose="020B0604030504040204" pitchFamily="34" charset="0"/>
                <a:cs typeface="Tahoma" panose="020B0604030504040204" pitchFamily="34" charset="0"/>
              </a:defRPr>
            </a:lvl2pPr>
            <a:lvl3pPr marL="857250" indent="-171450" eaLnBrk="1" hangingPunct="1">
              <a:defRPr sz="1600">
                <a:latin typeface="Tahoma" panose="020B0604030504040204" pitchFamily="34" charset="0"/>
                <a:ea typeface="Tahoma" panose="020B0604030504040204" pitchFamily="34" charset="0"/>
                <a:cs typeface="Tahoma" panose="020B0604030504040204" pitchFamily="34" charset="0"/>
              </a:defRPr>
            </a:lvl3pPr>
            <a:lvl4pPr marL="12001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4pPr>
            <a:lvl5pPr marL="15430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5pPr>
            <a:lvl6pPr marL="1885950" indent="-171450" fontAlgn="base">
              <a:spcBef>
                <a:spcPct val="20000"/>
              </a:spcBef>
              <a:spcAft>
                <a:spcPct val="0"/>
              </a:spcAft>
              <a:buChar char="»"/>
              <a:defRPr sz="1500">
                <a:latin typeface="+mn-lt"/>
                <a:cs typeface="+mn-cs"/>
              </a:defRPr>
            </a:lvl6pPr>
            <a:lvl7pPr marL="2228850" indent="-171450" fontAlgn="base">
              <a:spcBef>
                <a:spcPct val="20000"/>
              </a:spcBef>
              <a:spcAft>
                <a:spcPct val="0"/>
              </a:spcAft>
              <a:buChar char="»"/>
              <a:defRPr sz="1500">
                <a:latin typeface="+mn-lt"/>
                <a:cs typeface="+mn-cs"/>
              </a:defRPr>
            </a:lvl7pPr>
            <a:lvl8pPr marL="2571750" indent="-171450" fontAlgn="base">
              <a:spcBef>
                <a:spcPct val="20000"/>
              </a:spcBef>
              <a:spcAft>
                <a:spcPct val="0"/>
              </a:spcAft>
              <a:buChar char="»"/>
              <a:defRPr sz="1500">
                <a:latin typeface="+mn-lt"/>
                <a:cs typeface="+mn-cs"/>
              </a:defRPr>
            </a:lvl8pPr>
            <a:lvl9pPr marL="2914650" indent="-171450" fontAlgn="base">
              <a:spcBef>
                <a:spcPct val="20000"/>
              </a:spcBef>
              <a:spcAft>
                <a:spcPct val="0"/>
              </a:spcAft>
              <a:buChar char="»"/>
              <a:defRPr sz="1500">
                <a:latin typeface="+mn-lt"/>
                <a:cs typeface="+mn-cs"/>
              </a:defRPr>
            </a:lvl9pPr>
          </a:lstStyle>
          <a:p>
            <a:r>
              <a:rPr lang="en-US" dirty="0"/>
              <a:t>P(</a:t>
            </a:r>
            <a:r>
              <a:rPr lang="en-US" i="1" dirty="0" err="1"/>
              <a:t>abd</a:t>
            </a:r>
            <a:r>
              <a:rPr lang="en-US" i="1" dirty="0"/>
              <a:t> </a:t>
            </a:r>
            <a:r>
              <a:rPr lang="en-US" dirty="0"/>
              <a: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D108B3-2942-8793-2705-A65CD92CFCFF}"/>
                  </a:ext>
                </a:extLst>
              </p:cNvPr>
              <p:cNvSpPr txBox="1"/>
              <p:nvPr/>
            </p:nvSpPr>
            <p:spPr>
              <a:xfrm>
                <a:off x="7138483" y="1297476"/>
                <a:ext cx="4505872" cy="746295"/>
              </a:xfrm>
              <a:prstGeom prst="rect">
                <a:avLst/>
              </a:prstGeom>
              <a:noFill/>
            </p:spPr>
            <p:txBody>
              <a:bodyPr wrap="square" rtlCol="0">
                <a:spAutoFit/>
              </a:bodyPr>
              <a:lstStyle/>
              <a:p>
                <a:pPr>
                  <a:buNone/>
                </a:pPr>
                <a:r>
                  <a:rPr lang="en-US" sz="2400" dirty="0">
                    <a:ea typeface="Cambria Math" panose="02040503050406030204" pitchFamily="18" charset="0"/>
                    <a:cs typeface="Tahoma" panose="020B0604030504040204" pitchFamily="34" charset="0"/>
                  </a:rPr>
                  <a:t>=    </a:t>
                </a:r>
                <a14:m>
                  <m:oMath xmlns:m="http://schemas.openxmlformats.org/officeDocument/2006/math">
                    <m:f>
                      <m:fPr>
                        <m:ctrlPr>
                          <a:rPr lang="en-US" sz="2400" i="1" dirty="0">
                            <a:latin typeface="Cambria Math" panose="02040503050406030204" pitchFamily="18" charset="0"/>
                            <a:ea typeface="Cambria Math" panose="02040503050406030204" pitchFamily="18" charset="0"/>
                            <a:cs typeface="Tahoma" panose="020B0604030504040204" pitchFamily="34" charset="0"/>
                          </a:rPr>
                        </m:ctrlPr>
                      </m:fPr>
                      <m:num>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P</m:t>
                        </m:r>
                        <m:d>
                          <m:dPr>
                            <m:ctrlPr>
                              <a:rPr lang="en-US" sz="2400" i="1" dirty="0">
                                <a:latin typeface="Cambria Math" panose="02040503050406030204" pitchFamily="18" charset="0"/>
                                <a:ea typeface="Cambria Math" panose="02040503050406030204" pitchFamily="18" charset="0"/>
                                <a:cs typeface="Tahoma" panose="020B0604030504040204" pitchFamily="34" charset="0"/>
                              </a:rPr>
                            </m:ctrlPr>
                          </m:dPr>
                          <m:e>
                            <m:r>
                              <a:rPr lang="en-US" sz="2400" i="1" dirty="0">
                                <a:latin typeface="Cambria Math" panose="02040503050406030204" pitchFamily="18" charset="0"/>
                                <a:ea typeface="Cambria Math" panose="02040503050406030204" pitchFamily="18" charset="0"/>
                                <a:cs typeface="Tahoma" panose="020B0604030504040204" pitchFamily="34" charset="0"/>
                              </a:rPr>
                              <m:t>𝑎</m:t>
                            </m:r>
                          </m:e>
                          <m:e>
                            <m:r>
                              <a:rPr lang="en-US" sz="2400" dirty="0">
                                <a:latin typeface="Cambria Math" panose="02040503050406030204" pitchFamily="18" charset="0"/>
                                <a:ea typeface="Cambria Math" panose="02040503050406030204" pitchFamily="18" charset="0"/>
                                <a:cs typeface="Tahoma" panose="020B0604030504040204" pitchFamily="34" charset="0"/>
                              </a:rPr>
                              <m:t>1</m:t>
                            </m:r>
                          </m:e>
                        </m:d>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x</m:t>
                        </m:r>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P</m:t>
                        </m:r>
                        <m:d>
                          <m:dPr>
                            <m:ctrlPr>
                              <a:rPr lang="en-US" sz="2400" i="1" dirty="0">
                                <a:latin typeface="Cambria Math" panose="02040503050406030204" pitchFamily="18" charset="0"/>
                                <a:ea typeface="Cambria Math" panose="02040503050406030204" pitchFamily="18" charset="0"/>
                                <a:cs typeface="Tahoma" panose="020B0604030504040204" pitchFamily="34" charset="0"/>
                              </a:rPr>
                            </m:ctrlPr>
                          </m:dPr>
                          <m:e>
                            <m:r>
                              <a:rPr lang="en-US" sz="2400" i="1" dirty="0">
                                <a:latin typeface="Cambria Math" panose="02040503050406030204" pitchFamily="18" charset="0"/>
                                <a:ea typeface="Cambria Math" panose="02040503050406030204" pitchFamily="18" charset="0"/>
                                <a:cs typeface="Tahoma" panose="020B0604030504040204" pitchFamily="34" charset="0"/>
                              </a:rPr>
                              <m:t>𝑏</m:t>
                            </m:r>
                          </m:e>
                          <m:e>
                            <m:r>
                              <a:rPr lang="en-US" sz="2400" dirty="0">
                                <a:latin typeface="Cambria Math" panose="02040503050406030204" pitchFamily="18" charset="0"/>
                                <a:ea typeface="Cambria Math" panose="02040503050406030204" pitchFamily="18" charset="0"/>
                                <a:cs typeface="Tahoma" panose="020B0604030504040204" pitchFamily="34" charset="0"/>
                              </a:rPr>
                              <m:t>1</m:t>
                            </m:r>
                          </m:e>
                        </m:d>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x</m:t>
                        </m:r>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P</m:t>
                        </m:r>
                        <m:d>
                          <m:dPr>
                            <m:ctrlPr>
                              <a:rPr lang="en-US" sz="2400" i="1" dirty="0">
                                <a:latin typeface="Cambria Math" panose="02040503050406030204" pitchFamily="18" charset="0"/>
                                <a:ea typeface="Cambria Math" panose="02040503050406030204" pitchFamily="18" charset="0"/>
                                <a:cs typeface="Tahoma" panose="020B0604030504040204" pitchFamily="34" charset="0"/>
                              </a:rPr>
                            </m:ctrlPr>
                          </m:dPr>
                          <m:e>
                            <m:r>
                              <a:rPr lang="en-US" sz="2400" i="1" dirty="0">
                                <a:latin typeface="Cambria Math" panose="02040503050406030204" pitchFamily="18" charset="0"/>
                                <a:ea typeface="Cambria Math" panose="02040503050406030204" pitchFamily="18" charset="0"/>
                                <a:cs typeface="Tahoma" panose="020B0604030504040204" pitchFamily="34" charset="0"/>
                              </a:rPr>
                              <m:t>𝑑</m:t>
                            </m:r>
                          </m:e>
                          <m:e>
                            <m:r>
                              <a:rPr lang="en-US" sz="2400" dirty="0">
                                <a:latin typeface="Cambria Math" panose="02040503050406030204" pitchFamily="18" charset="0"/>
                                <a:ea typeface="Cambria Math" panose="02040503050406030204" pitchFamily="18" charset="0"/>
                                <a:cs typeface="Tahoma" panose="020B0604030504040204" pitchFamily="34" charset="0"/>
                              </a:rPr>
                              <m:t>1</m:t>
                            </m:r>
                          </m:e>
                        </m:d>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x</m:t>
                        </m:r>
                        <m:r>
                          <a:rPr lang="en-US" sz="2400" dirty="0">
                            <a:latin typeface="Cambria Math" panose="02040503050406030204" pitchFamily="18" charset="0"/>
                            <a:ea typeface="Cambria Math" panose="02040503050406030204" pitchFamily="18" charset="0"/>
                            <a:cs typeface="Tahoma" panose="020B0604030504040204" pitchFamily="34" charset="0"/>
                          </a:rPr>
                          <m:t> </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P</m:t>
                        </m:r>
                        <m:r>
                          <a:rPr lang="en-US" sz="2400" dirty="0">
                            <a:latin typeface="Cambria Math" panose="02040503050406030204" pitchFamily="18" charset="0"/>
                            <a:ea typeface="Cambria Math" panose="02040503050406030204" pitchFamily="18" charset="0"/>
                            <a:cs typeface="Tahoma" panose="020B0604030504040204" pitchFamily="34" charset="0"/>
                          </a:rPr>
                          <m:t>(1)</m:t>
                        </m:r>
                      </m:num>
                      <m:den>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P</m:t>
                        </m:r>
                        <m:r>
                          <a:rPr lang="en-US" sz="2400" dirty="0">
                            <a:latin typeface="Cambria Math" panose="02040503050406030204" pitchFamily="18" charset="0"/>
                            <a:ea typeface="Cambria Math" panose="02040503050406030204" pitchFamily="18" charset="0"/>
                            <a:cs typeface="Tahoma" panose="020B0604030504040204" pitchFamily="34" charset="0"/>
                          </a:rPr>
                          <m:t>(</m:t>
                        </m:r>
                        <m:r>
                          <m:rPr>
                            <m:sty m:val="p"/>
                          </m:rPr>
                          <a:rPr lang="en-US" sz="2400" dirty="0">
                            <a:latin typeface="Cambria Math" panose="02040503050406030204" pitchFamily="18" charset="0"/>
                            <a:ea typeface="Cambria Math" panose="02040503050406030204" pitchFamily="18" charset="0"/>
                            <a:cs typeface="Tahoma" panose="020B0604030504040204" pitchFamily="34" charset="0"/>
                          </a:rPr>
                          <m:t>abd</m:t>
                        </m:r>
                        <m:r>
                          <a:rPr lang="en-US" sz="2400" dirty="0">
                            <a:latin typeface="Cambria Math" panose="02040503050406030204" pitchFamily="18" charset="0"/>
                            <a:ea typeface="Cambria Math" panose="02040503050406030204" pitchFamily="18" charset="0"/>
                            <a:cs typeface="Tahoma" panose="020B0604030504040204" pitchFamily="34" charset="0"/>
                          </a:rPr>
                          <m:t>)</m:t>
                        </m:r>
                      </m:den>
                    </m:f>
                    <m:r>
                      <a:rPr lang="en-US" sz="2400" dirty="0">
                        <a:latin typeface="Cambria Math" panose="02040503050406030204" pitchFamily="18" charset="0"/>
                        <a:ea typeface="Cambria Math" panose="02040503050406030204" pitchFamily="18" charset="0"/>
                        <a:cs typeface="Tahoma" panose="020B0604030504040204" pitchFamily="34" charset="0"/>
                      </a:rPr>
                      <m:t> </m:t>
                    </m:r>
                  </m:oMath>
                </a14:m>
                <a:r>
                  <a:rPr lang="en-US" sz="2400" dirty="0">
                    <a:latin typeface="Cambria Math" panose="02040503050406030204" pitchFamily="18" charset="0"/>
                    <a:ea typeface="Cambria Math" panose="02040503050406030204" pitchFamily="18" charset="0"/>
                    <a:cs typeface="Tahoma" panose="020B0604030504040204" pitchFamily="34" charset="0"/>
                  </a:rPr>
                  <a:t> </a:t>
                </a:r>
              </a:p>
            </p:txBody>
          </p:sp>
        </mc:Choice>
        <mc:Fallback xmlns="">
          <p:sp>
            <p:nvSpPr>
              <p:cNvPr id="18" name="TextBox 17">
                <a:extLst>
                  <a:ext uri="{FF2B5EF4-FFF2-40B4-BE49-F238E27FC236}">
                    <a16:creationId xmlns:a16="http://schemas.microsoft.com/office/drawing/2014/main" id="{5CD108B3-2942-8793-2705-A65CD92CFCFF}"/>
                  </a:ext>
                </a:extLst>
              </p:cNvPr>
              <p:cNvSpPr txBox="1">
                <a:spLocks noRot="1" noChangeAspect="1" noMove="1" noResize="1" noEditPoints="1" noAdjustHandles="1" noChangeArrowheads="1" noChangeShapeType="1" noTextEdit="1"/>
              </p:cNvSpPr>
              <p:nvPr/>
            </p:nvSpPr>
            <p:spPr>
              <a:xfrm>
                <a:off x="7138483" y="1297476"/>
                <a:ext cx="4505872" cy="746295"/>
              </a:xfrm>
              <a:prstGeom prst="rect">
                <a:avLst/>
              </a:prstGeom>
              <a:blipFill>
                <a:blip r:embed="rId3"/>
                <a:stretch>
                  <a:fillRect l="-2254" b="-8475"/>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95060781-D592-FA4D-AEF5-86C1FC60AE62}"/>
              </a:ext>
            </a:extLst>
          </p:cNvPr>
          <p:cNvSpPr txBox="1"/>
          <p:nvPr/>
        </p:nvSpPr>
        <p:spPr>
          <a:xfrm>
            <a:off x="3110281" y="2430296"/>
            <a:ext cx="2985719" cy="830997"/>
          </a:xfrm>
          <a:prstGeom prst="rect">
            <a:avLst/>
          </a:prstGeom>
          <a:solidFill>
            <a:schemeClr val="bg2"/>
          </a:solidFill>
        </p:spPr>
        <p:txBody>
          <a:bodyPr wrap="square" rtlCol="0">
            <a:spAutoFit/>
          </a:bodyPr>
          <a:lstStyle/>
          <a:p>
            <a:pPr algn="ctr"/>
            <a:r>
              <a:rPr lang="en-US" sz="1600" dirty="0">
                <a:latin typeface="Montserrat" pitchFamily="2" charset="77"/>
              </a:rPr>
              <a:t>Bayes’ Part</a:t>
            </a:r>
          </a:p>
          <a:p>
            <a:pPr algn="ctr"/>
            <a:r>
              <a:rPr lang="en-US" sz="1600" dirty="0">
                <a:latin typeface="Montserrat" pitchFamily="2" charset="77"/>
              </a:rPr>
              <a:t>Applying Bayes rule to “flip the conditional”</a:t>
            </a:r>
          </a:p>
        </p:txBody>
      </p:sp>
      <p:sp>
        <p:nvSpPr>
          <p:cNvPr id="20" name="TextBox 19">
            <a:extLst>
              <a:ext uri="{FF2B5EF4-FFF2-40B4-BE49-F238E27FC236}">
                <a16:creationId xmlns:a16="http://schemas.microsoft.com/office/drawing/2014/main" id="{1490C9A8-01C4-0AEB-C936-C019C5C82C2D}"/>
              </a:ext>
            </a:extLst>
          </p:cNvPr>
          <p:cNvSpPr txBox="1"/>
          <p:nvPr/>
        </p:nvSpPr>
        <p:spPr>
          <a:xfrm>
            <a:off x="7898559" y="2369857"/>
            <a:ext cx="3585685" cy="830997"/>
          </a:xfrm>
          <a:prstGeom prst="rect">
            <a:avLst/>
          </a:prstGeom>
          <a:solidFill>
            <a:schemeClr val="bg2"/>
          </a:solidFill>
        </p:spPr>
        <p:txBody>
          <a:bodyPr wrap="square" rtlCol="0">
            <a:spAutoFit/>
          </a:bodyPr>
          <a:lstStyle/>
          <a:p>
            <a:pPr algn="ctr"/>
            <a:r>
              <a:rPr lang="en-US" sz="1600" dirty="0">
                <a:latin typeface="Montserrat" pitchFamily="2" charset="77"/>
              </a:rPr>
              <a:t>Naive’ Part</a:t>
            </a:r>
          </a:p>
          <a:p>
            <a:pPr algn="ctr"/>
            <a:r>
              <a:rPr lang="en-US" sz="1600" dirty="0">
                <a:latin typeface="Montserrat" pitchFamily="2" charset="77"/>
              </a:rPr>
              <a:t>Assuming the probabilities are conditionally independent</a:t>
            </a:r>
          </a:p>
        </p:txBody>
      </p:sp>
      <p:sp>
        <p:nvSpPr>
          <p:cNvPr id="21" name="Rectangle 20">
            <a:extLst>
              <a:ext uri="{FF2B5EF4-FFF2-40B4-BE49-F238E27FC236}">
                <a16:creationId xmlns:a16="http://schemas.microsoft.com/office/drawing/2014/main" id="{9C17ED18-70F5-13BF-81B0-D6BF7DF56884}"/>
              </a:ext>
            </a:extLst>
          </p:cNvPr>
          <p:cNvSpPr/>
          <p:nvPr/>
        </p:nvSpPr>
        <p:spPr bwMode="auto">
          <a:xfrm>
            <a:off x="7622337" y="1360708"/>
            <a:ext cx="3582938" cy="373211"/>
          </a:xfrm>
          <a:prstGeom prst="rect">
            <a:avLst/>
          </a:prstGeom>
          <a:solidFill>
            <a:schemeClr val="accent1">
              <a:alpha val="34965"/>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cxnSp>
        <p:nvCxnSpPr>
          <p:cNvPr id="22" name="Straight Arrow Connector 21">
            <a:extLst>
              <a:ext uri="{FF2B5EF4-FFF2-40B4-BE49-F238E27FC236}">
                <a16:creationId xmlns:a16="http://schemas.microsoft.com/office/drawing/2014/main" id="{4F9BD28B-65C4-A206-2C7A-7717E3C6BC17}"/>
              </a:ext>
            </a:extLst>
          </p:cNvPr>
          <p:cNvCxnSpPr>
            <a:cxnSpLocks/>
          </p:cNvCxnSpPr>
          <p:nvPr/>
        </p:nvCxnSpPr>
        <p:spPr bwMode="auto">
          <a:xfrm flipH="1">
            <a:off x="4912840" y="1747967"/>
            <a:ext cx="3988716" cy="2131303"/>
          </a:xfrm>
          <a:prstGeom prst="straightConnector1">
            <a:avLst/>
          </a:prstGeom>
          <a:ln w="28575">
            <a:headEnd type="none" w="med" len="med"/>
            <a:tailEnd type="triangle" w="lg" len="lg"/>
          </a:ln>
        </p:spPr>
        <p:style>
          <a:lnRef idx="1">
            <a:schemeClr val="accent2"/>
          </a:lnRef>
          <a:fillRef idx="0">
            <a:schemeClr val="accent2"/>
          </a:fillRef>
          <a:effectRef idx="0">
            <a:schemeClr val="accent2"/>
          </a:effectRef>
          <a:fontRef idx="minor">
            <a:schemeClr val="tx1"/>
          </a:fontRef>
        </p:style>
      </p:cxnSp>
      <p:sp>
        <p:nvSpPr>
          <p:cNvPr id="24" name="Text Box 182">
            <a:extLst>
              <a:ext uri="{FF2B5EF4-FFF2-40B4-BE49-F238E27FC236}">
                <a16:creationId xmlns:a16="http://schemas.microsoft.com/office/drawing/2014/main" id="{EF0F9A53-B1FC-EBE5-28E4-6E89C0504E6B}"/>
              </a:ext>
            </a:extLst>
          </p:cNvPr>
          <p:cNvSpPr txBox="1">
            <a:spLocks noChangeArrowheads="1"/>
          </p:cNvSpPr>
          <p:nvPr/>
        </p:nvSpPr>
        <p:spPr bwMode="auto">
          <a:xfrm>
            <a:off x="2851445" y="3879270"/>
            <a:ext cx="298572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lvl1pPr marL="0" indent="0" eaLnBrk="1" hangingPunct="1">
              <a:buNone/>
              <a:defRPr sz="2000">
                <a:latin typeface="Tahoma" panose="020B0604030504040204" pitchFamily="34" charset="0"/>
                <a:ea typeface="Tahoma" panose="020B0604030504040204" pitchFamily="34" charset="0"/>
                <a:cs typeface="Tahoma" panose="020B0604030504040204" pitchFamily="34" charset="0"/>
              </a:defRPr>
            </a:lvl1pPr>
            <a:lvl2pPr marL="557213" indent="-214313" eaLnBrk="1" hangingPunct="1">
              <a:buChar char="–"/>
              <a:defRPr sz="1800">
                <a:latin typeface="Tahoma" panose="020B0604030504040204" pitchFamily="34" charset="0"/>
                <a:ea typeface="Tahoma" panose="020B0604030504040204" pitchFamily="34" charset="0"/>
                <a:cs typeface="Tahoma" panose="020B0604030504040204" pitchFamily="34" charset="0"/>
              </a:defRPr>
            </a:lvl2pPr>
            <a:lvl3pPr marL="857250" indent="-171450" eaLnBrk="1" hangingPunct="1">
              <a:defRPr sz="1600">
                <a:latin typeface="Tahoma" panose="020B0604030504040204" pitchFamily="34" charset="0"/>
                <a:ea typeface="Tahoma" panose="020B0604030504040204" pitchFamily="34" charset="0"/>
                <a:cs typeface="Tahoma" panose="020B0604030504040204" pitchFamily="34" charset="0"/>
              </a:defRPr>
            </a:lvl3pPr>
            <a:lvl4pPr marL="12001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4pPr>
            <a:lvl5pPr marL="1543050" indent="-171450" eaLnBrk="1" hangingPunct="1">
              <a:buChar char="»"/>
              <a:defRPr sz="1500">
                <a:latin typeface="Tahoma" panose="020B0604030504040204" pitchFamily="34" charset="0"/>
                <a:ea typeface="Tahoma" panose="020B0604030504040204" pitchFamily="34" charset="0"/>
                <a:cs typeface="Tahoma" panose="020B0604030504040204" pitchFamily="34" charset="0"/>
              </a:defRPr>
            </a:lvl5pPr>
            <a:lvl6pPr marL="1885950" indent="-171450" fontAlgn="base">
              <a:spcBef>
                <a:spcPct val="20000"/>
              </a:spcBef>
              <a:spcAft>
                <a:spcPct val="0"/>
              </a:spcAft>
              <a:buChar char="»"/>
              <a:defRPr sz="1500">
                <a:latin typeface="+mn-lt"/>
                <a:cs typeface="+mn-cs"/>
              </a:defRPr>
            </a:lvl6pPr>
            <a:lvl7pPr marL="2228850" indent="-171450" fontAlgn="base">
              <a:spcBef>
                <a:spcPct val="20000"/>
              </a:spcBef>
              <a:spcAft>
                <a:spcPct val="0"/>
              </a:spcAft>
              <a:buChar char="»"/>
              <a:defRPr sz="1500">
                <a:latin typeface="+mn-lt"/>
                <a:cs typeface="+mn-cs"/>
              </a:defRPr>
            </a:lvl7pPr>
            <a:lvl8pPr marL="2571750" indent="-171450" fontAlgn="base">
              <a:spcBef>
                <a:spcPct val="20000"/>
              </a:spcBef>
              <a:spcAft>
                <a:spcPct val="0"/>
              </a:spcAft>
              <a:buChar char="»"/>
              <a:defRPr sz="1500">
                <a:latin typeface="+mn-lt"/>
                <a:cs typeface="+mn-cs"/>
              </a:defRPr>
            </a:lvl8pPr>
            <a:lvl9pPr marL="2914650" indent="-171450" fontAlgn="base">
              <a:spcBef>
                <a:spcPct val="20000"/>
              </a:spcBef>
              <a:spcAft>
                <a:spcPct val="0"/>
              </a:spcAft>
              <a:buChar char="»"/>
              <a:defRPr sz="1500">
                <a:latin typeface="+mn-lt"/>
                <a:cs typeface="+mn-cs"/>
              </a:defRPr>
            </a:lvl9pPr>
          </a:lstStyle>
          <a:p>
            <a:r>
              <a:rPr lang="en-US" dirty="0"/>
              <a:t>Can all be calculated directly from the data!</a:t>
            </a:r>
          </a:p>
          <a:p>
            <a:endParaRPr lang="en-US" dirty="0"/>
          </a:p>
          <a:p>
            <a:r>
              <a:rPr lang="en-US" dirty="0"/>
              <a:t>P(a|1) = 3/5</a:t>
            </a:r>
          </a:p>
          <a:p>
            <a:r>
              <a:rPr lang="en-US" dirty="0"/>
              <a:t>P(b|1) = 1/5 </a:t>
            </a:r>
          </a:p>
          <a:p>
            <a:r>
              <a:rPr lang="en-US" dirty="0"/>
              <a:t>P(d|1) = 1/5</a:t>
            </a:r>
          </a:p>
          <a:p>
            <a:endParaRPr lang="en-US" dirty="0"/>
          </a:p>
          <a:p>
            <a:r>
              <a:rPr lang="en-US" dirty="0"/>
              <a:t>P(1) = 5/8</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CE0B05E-5B62-97AB-61E2-FE0F05D03AA1}"/>
                  </a:ext>
                </a:extLst>
              </p:cNvPr>
              <p:cNvSpPr txBox="1"/>
              <p:nvPr/>
            </p:nvSpPr>
            <p:spPr>
              <a:xfrm>
                <a:off x="5101750" y="4940339"/>
                <a:ext cx="3114935" cy="525144"/>
              </a:xfrm>
              <a:prstGeom prst="rect">
                <a:avLst/>
              </a:prstGeom>
              <a:noFill/>
            </p:spPr>
            <p:txBody>
              <a:bodyPr wrap="square">
                <a:spAutoFit/>
              </a:bodyPr>
              <a:lstStyle/>
              <a:p>
                <a:r>
                  <a:rPr lang="en-US" sz="1800" dirty="0">
                    <a:ea typeface="Tahoma" panose="020B0604030504040204" pitchFamily="34" charset="0"/>
                    <a:cs typeface="Tahoma" panose="020B0604030504040204" pitchFamily="34" charset="0"/>
                  </a:rPr>
                  <a:t>P(spam =1 | abd) = </a:t>
                </a:r>
                <a14:m>
                  <m:oMath xmlns:m="http://schemas.openxmlformats.org/officeDocument/2006/math">
                    <m:f>
                      <m:fPr>
                        <m:ctrlPr>
                          <a:rPr lang="en-US" sz="1800" i="1" dirty="0" smtClean="0">
                            <a:latin typeface="Cambria Math" panose="02040503050406030204" pitchFamily="18" charset="0"/>
                            <a:ea typeface="Tahoma" panose="020B0604030504040204" pitchFamily="34" charset="0"/>
                            <a:cs typeface="Tahoma" panose="020B0604030504040204" pitchFamily="34" charset="0"/>
                          </a:rPr>
                        </m:ctrlPr>
                      </m:fPr>
                      <m:num>
                        <m:r>
                          <a:rPr lang="en-US" sz="1800" i="1" dirty="0">
                            <a:latin typeface="Cambria Math" panose="02040503050406030204" pitchFamily="18" charset="0"/>
                            <a:ea typeface="Tahoma" panose="020B0604030504040204" pitchFamily="34" charset="0"/>
                            <a:cs typeface="Tahoma" panose="020B0604030504040204" pitchFamily="34" charset="0"/>
                          </a:rPr>
                          <m:t>0.015</m:t>
                        </m:r>
                      </m:num>
                      <m:den>
                        <m:r>
                          <a:rPr lang="en-US" sz="1800" i="1" dirty="0">
                            <a:latin typeface="Cambria Math" panose="02040503050406030204" pitchFamily="18" charset="0"/>
                            <a:ea typeface="Tahoma" panose="020B0604030504040204" pitchFamily="34" charset="0"/>
                            <a:cs typeface="Tahoma" panose="020B0604030504040204" pitchFamily="34" charset="0"/>
                          </a:rPr>
                          <m:t>𝑃</m:t>
                        </m:r>
                        <m:r>
                          <a:rPr lang="en-US" sz="1800" i="1" dirty="0">
                            <a:latin typeface="Cambria Math" panose="02040503050406030204" pitchFamily="18" charset="0"/>
                            <a:ea typeface="Tahoma" panose="020B0604030504040204" pitchFamily="34" charset="0"/>
                            <a:cs typeface="Tahoma" panose="020B0604030504040204" pitchFamily="34" charset="0"/>
                          </a:rPr>
                          <m:t>(</m:t>
                        </m:r>
                        <m:r>
                          <a:rPr lang="en-US" sz="1800" i="1" dirty="0">
                            <a:latin typeface="Cambria Math" panose="02040503050406030204" pitchFamily="18" charset="0"/>
                            <a:ea typeface="Tahoma" panose="020B0604030504040204" pitchFamily="34" charset="0"/>
                            <a:cs typeface="Tahoma" panose="020B0604030504040204" pitchFamily="34" charset="0"/>
                          </a:rPr>
                          <m:t>𝑎𝑏𝑑</m:t>
                        </m:r>
                        <m:r>
                          <a:rPr lang="en-US" sz="1800" i="1" dirty="0">
                            <a:latin typeface="Cambria Math" panose="02040503050406030204" pitchFamily="18" charset="0"/>
                            <a:ea typeface="Tahoma" panose="020B0604030504040204" pitchFamily="34" charset="0"/>
                            <a:cs typeface="Tahoma" panose="020B0604030504040204" pitchFamily="34" charset="0"/>
                          </a:rPr>
                          <m:t>)</m:t>
                        </m:r>
                      </m:den>
                    </m:f>
                    <m:r>
                      <a:rPr lang="en-US" sz="1800" dirty="0">
                        <a:latin typeface="Cambria Math" panose="02040503050406030204" pitchFamily="18" charset="0"/>
                        <a:ea typeface="Tahoma" panose="020B0604030504040204" pitchFamily="34" charset="0"/>
                        <a:cs typeface="Tahoma" panose="020B0604030504040204" pitchFamily="34" charset="0"/>
                      </a:rPr>
                      <m:t> </m:t>
                    </m:r>
                  </m:oMath>
                </a14:m>
                <a:endParaRPr lang="en-US" dirty="0"/>
              </a:p>
            </p:txBody>
          </p:sp>
        </mc:Choice>
        <mc:Fallback xmlns="">
          <p:sp>
            <p:nvSpPr>
              <p:cNvPr id="26" name="TextBox 25">
                <a:extLst>
                  <a:ext uri="{FF2B5EF4-FFF2-40B4-BE49-F238E27FC236}">
                    <a16:creationId xmlns:a16="http://schemas.microsoft.com/office/drawing/2014/main" id="{ACE0B05E-5B62-97AB-61E2-FE0F05D03AA1}"/>
                  </a:ext>
                </a:extLst>
              </p:cNvPr>
              <p:cNvSpPr txBox="1">
                <a:spLocks noRot="1" noChangeAspect="1" noMove="1" noResize="1" noEditPoints="1" noAdjustHandles="1" noChangeArrowheads="1" noChangeShapeType="1" noTextEdit="1"/>
              </p:cNvSpPr>
              <p:nvPr/>
            </p:nvSpPr>
            <p:spPr>
              <a:xfrm>
                <a:off x="5101750" y="4940339"/>
                <a:ext cx="3114935" cy="525144"/>
              </a:xfrm>
              <a:prstGeom prst="rect">
                <a:avLst/>
              </a:prstGeom>
              <a:blipFill>
                <a:blip r:embed="rId4"/>
                <a:stretch>
                  <a:fillRect l="-1619"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93B3F35-D82F-B9D9-7214-C0E1F7AFB84D}"/>
                  </a:ext>
                </a:extLst>
              </p:cNvPr>
              <p:cNvSpPr txBox="1"/>
              <p:nvPr/>
            </p:nvSpPr>
            <p:spPr>
              <a:xfrm>
                <a:off x="5101750" y="5585914"/>
                <a:ext cx="3114935" cy="525144"/>
              </a:xfrm>
              <a:prstGeom prst="rect">
                <a:avLst/>
              </a:prstGeom>
              <a:noFill/>
            </p:spPr>
            <p:txBody>
              <a:bodyPr wrap="square">
                <a:spAutoFit/>
              </a:bodyPr>
              <a:lstStyle/>
              <a:p>
                <a:r>
                  <a:rPr lang="en-US" sz="1800" dirty="0">
                    <a:ea typeface="Tahoma" panose="020B0604030504040204" pitchFamily="34" charset="0"/>
                    <a:cs typeface="Tahoma" panose="020B0604030504040204" pitchFamily="34" charset="0"/>
                  </a:rPr>
                  <a:t>P(spam =0 | abd) = </a:t>
                </a:r>
                <a14:m>
                  <m:oMath xmlns:m="http://schemas.openxmlformats.org/officeDocument/2006/math">
                    <m:f>
                      <m:fPr>
                        <m:ctrlPr>
                          <a:rPr lang="en-US" sz="1800" i="1" dirty="0" smtClean="0">
                            <a:latin typeface="Cambria Math" panose="02040503050406030204" pitchFamily="18" charset="0"/>
                            <a:ea typeface="Tahoma" panose="020B0604030504040204" pitchFamily="34" charset="0"/>
                            <a:cs typeface="Tahoma" panose="020B0604030504040204" pitchFamily="34" charset="0"/>
                          </a:rPr>
                        </m:ctrlPr>
                      </m:fPr>
                      <m:num>
                        <m:r>
                          <a:rPr lang="en-US" sz="1800" i="1" dirty="0">
                            <a:latin typeface="Cambria Math" panose="02040503050406030204" pitchFamily="18" charset="0"/>
                            <a:ea typeface="Tahoma" panose="020B0604030504040204" pitchFamily="34" charset="0"/>
                            <a:cs typeface="Tahoma" panose="020B0604030504040204" pitchFamily="34" charset="0"/>
                          </a:rPr>
                          <m:t>0.0</m:t>
                        </m:r>
                        <m:r>
                          <a:rPr lang="en-US" sz="1800" b="0" i="1" dirty="0" smtClean="0">
                            <a:latin typeface="Cambria Math" panose="02040503050406030204" pitchFamily="18" charset="0"/>
                            <a:ea typeface="Tahoma" panose="020B0604030504040204" pitchFamily="34" charset="0"/>
                            <a:cs typeface="Tahoma" panose="020B0604030504040204" pitchFamily="34" charset="0"/>
                          </a:rPr>
                          <m:t>83</m:t>
                        </m:r>
                      </m:num>
                      <m:den>
                        <m:r>
                          <a:rPr lang="en-US" sz="1800" i="1" dirty="0">
                            <a:latin typeface="Cambria Math" panose="02040503050406030204" pitchFamily="18" charset="0"/>
                            <a:ea typeface="Tahoma" panose="020B0604030504040204" pitchFamily="34" charset="0"/>
                            <a:cs typeface="Tahoma" panose="020B0604030504040204" pitchFamily="34" charset="0"/>
                          </a:rPr>
                          <m:t>𝑃</m:t>
                        </m:r>
                        <m:r>
                          <a:rPr lang="en-US" sz="1800" i="1" dirty="0">
                            <a:latin typeface="Cambria Math" panose="02040503050406030204" pitchFamily="18" charset="0"/>
                            <a:ea typeface="Tahoma" panose="020B0604030504040204" pitchFamily="34" charset="0"/>
                            <a:cs typeface="Tahoma" panose="020B0604030504040204" pitchFamily="34" charset="0"/>
                          </a:rPr>
                          <m:t>(</m:t>
                        </m:r>
                        <m:r>
                          <a:rPr lang="en-US" sz="1800" i="1" dirty="0">
                            <a:latin typeface="Cambria Math" panose="02040503050406030204" pitchFamily="18" charset="0"/>
                            <a:ea typeface="Tahoma" panose="020B0604030504040204" pitchFamily="34" charset="0"/>
                            <a:cs typeface="Tahoma" panose="020B0604030504040204" pitchFamily="34" charset="0"/>
                          </a:rPr>
                          <m:t>𝑎𝑏𝑑</m:t>
                        </m:r>
                        <m:r>
                          <a:rPr lang="en-US" sz="1800" i="1" dirty="0">
                            <a:latin typeface="Cambria Math" panose="02040503050406030204" pitchFamily="18" charset="0"/>
                            <a:ea typeface="Tahoma" panose="020B0604030504040204" pitchFamily="34" charset="0"/>
                            <a:cs typeface="Tahoma" panose="020B0604030504040204" pitchFamily="34" charset="0"/>
                          </a:rPr>
                          <m:t>)</m:t>
                        </m:r>
                      </m:den>
                    </m:f>
                    <m:r>
                      <a:rPr lang="en-US" sz="1800" dirty="0">
                        <a:latin typeface="Cambria Math" panose="02040503050406030204" pitchFamily="18" charset="0"/>
                        <a:ea typeface="Tahoma" panose="020B0604030504040204" pitchFamily="34" charset="0"/>
                        <a:cs typeface="Tahoma" panose="020B0604030504040204" pitchFamily="34" charset="0"/>
                      </a:rPr>
                      <m:t> </m:t>
                    </m:r>
                  </m:oMath>
                </a14:m>
                <a:endParaRPr lang="en-US" dirty="0"/>
              </a:p>
            </p:txBody>
          </p:sp>
        </mc:Choice>
        <mc:Fallback xmlns="">
          <p:sp>
            <p:nvSpPr>
              <p:cNvPr id="27" name="TextBox 26">
                <a:extLst>
                  <a:ext uri="{FF2B5EF4-FFF2-40B4-BE49-F238E27FC236}">
                    <a16:creationId xmlns:a16="http://schemas.microsoft.com/office/drawing/2014/main" id="{893B3F35-D82F-B9D9-7214-C0E1F7AFB84D}"/>
                  </a:ext>
                </a:extLst>
              </p:cNvPr>
              <p:cNvSpPr txBox="1">
                <a:spLocks noRot="1" noChangeAspect="1" noMove="1" noResize="1" noEditPoints="1" noAdjustHandles="1" noChangeArrowheads="1" noChangeShapeType="1" noTextEdit="1"/>
              </p:cNvSpPr>
              <p:nvPr/>
            </p:nvSpPr>
            <p:spPr>
              <a:xfrm>
                <a:off x="5101750" y="5585914"/>
                <a:ext cx="3114935" cy="525144"/>
              </a:xfrm>
              <a:prstGeom prst="rect">
                <a:avLst/>
              </a:prstGeom>
              <a:blipFill>
                <a:blip r:embed="rId5"/>
                <a:stretch>
                  <a:fillRect l="-1619" b="-4762"/>
                </a:stretch>
              </a:blipFill>
            </p:spPr>
            <p:txBody>
              <a:bodyPr/>
              <a:lstStyle/>
              <a:p>
                <a:r>
                  <a:rPr lang="en-US">
                    <a:noFill/>
                  </a:rPr>
                  <a:t> </a:t>
                </a:r>
              </a:p>
            </p:txBody>
          </p:sp>
        </mc:Fallback>
      </mc:AlternateContent>
      <p:sp>
        <p:nvSpPr>
          <p:cNvPr id="29" name="Right Arrow 28">
            <a:extLst>
              <a:ext uri="{FF2B5EF4-FFF2-40B4-BE49-F238E27FC236}">
                <a16:creationId xmlns:a16="http://schemas.microsoft.com/office/drawing/2014/main" id="{621874AA-6450-EAC3-AFC1-6978FD042B37}"/>
              </a:ext>
            </a:extLst>
          </p:cNvPr>
          <p:cNvSpPr/>
          <p:nvPr/>
        </p:nvSpPr>
        <p:spPr>
          <a:xfrm>
            <a:off x="8331353" y="5315957"/>
            <a:ext cx="945397" cy="2990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6AF914B-ECE8-E93B-D3D9-576CBD59B57B}"/>
                  </a:ext>
                </a:extLst>
              </p:cNvPr>
              <p:cNvSpPr txBox="1"/>
              <p:nvPr/>
            </p:nvSpPr>
            <p:spPr>
              <a:xfrm>
                <a:off x="9276750" y="5227146"/>
                <a:ext cx="3114935" cy="369332"/>
              </a:xfrm>
              <a:prstGeom prst="rect">
                <a:avLst/>
              </a:prstGeom>
              <a:noFill/>
            </p:spPr>
            <p:txBody>
              <a:bodyPr wrap="square">
                <a:spAutoFit/>
              </a:bodyPr>
              <a:lstStyle/>
              <a:p>
                <a:r>
                  <a:rPr lang="en-US" sz="1800" dirty="0">
                    <a:ea typeface="Tahoma" panose="020B0604030504040204" pitchFamily="34" charset="0"/>
                    <a:cs typeface="Tahoma" panose="020B0604030504040204" pitchFamily="34" charset="0"/>
                  </a:rPr>
                  <a:t>P(spam =1 | abd) = </a:t>
                </a:r>
                <a14:m>
                  <m:oMath xmlns:m="http://schemas.openxmlformats.org/officeDocument/2006/math">
                    <m:r>
                      <a:rPr lang="en-US" sz="1800" b="0" i="1" dirty="0" smtClean="0">
                        <a:latin typeface="Cambria Math" panose="02040503050406030204" pitchFamily="18" charset="0"/>
                        <a:ea typeface="Tahoma" panose="020B0604030504040204" pitchFamily="34" charset="0"/>
                        <a:cs typeface="Tahoma" panose="020B0604030504040204" pitchFamily="34" charset="0"/>
                      </a:rPr>
                      <m:t>15.3%</m:t>
                    </m:r>
                    <m:r>
                      <a:rPr lang="en-US" sz="1800" dirty="0">
                        <a:latin typeface="Cambria Math" panose="02040503050406030204" pitchFamily="18" charset="0"/>
                        <a:ea typeface="Tahoma" panose="020B0604030504040204" pitchFamily="34" charset="0"/>
                        <a:cs typeface="Tahoma" panose="020B0604030504040204" pitchFamily="34" charset="0"/>
                      </a:rPr>
                      <m:t> </m:t>
                    </m:r>
                  </m:oMath>
                </a14:m>
                <a:endParaRPr lang="en-US" dirty="0"/>
              </a:p>
            </p:txBody>
          </p:sp>
        </mc:Choice>
        <mc:Fallback xmlns="">
          <p:sp>
            <p:nvSpPr>
              <p:cNvPr id="30" name="TextBox 29">
                <a:extLst>
                  <a:ext uri="{FF2B5EF4-FFF2-40B4-BE49-F238E27FC236}">
                    <a16:creationId xmlns:a16="http://schemas.microsoft.com/office/drawing/2014/main" id="{E6AF914B-ECE8-E93B-D3D9-576CBD59B57B}"/>
                  </a:ext>
                </a:extLst>
              </p:cNvPr>
              <p:cNvSpPr txBox="1">
                <a:spLocks noRot="1" noChangeAspect="1" noMove="1" noResize="1" noEditPoints="1" noAdjustHandles="1" noChangeArrowheads="1" noChangeShapeType="1" noTextEdit="1"/>
              </p:cNvSpPr>
              <p:nvPr/>
            </p:nvSpPr>
            <p:spPr>
              <a:xfrm>
                <a:off x="9276750" y="5227146"/>
                <a:ext cx="3114935" cy="369332"/>
              </a:xfrm>
              <a:prstGeom prst="rect">
                <a:avLst/>
              </a:prstGeom>
              <a:blipFill>
                <a:blip r:embed="rId6"/>
                <a:stretch>
                  <a:fillRect l="-1626" t="-6667" b="-23333"/>
                </a:stretch>
              </a:blipFill>
            </p:spPr>
            <p:txBody>
              <a:bodyPr/>
              <a:lstStyle/>
              <a:p>
                <a:r>
                  <a:rPr lang="en-US">
                    <a:noFill/>
                  </a:rPr>
                  <a:t> </a:t>
                </a:r>
              </a:p>
            </p:txBody>
          </p:sp>
        </mc:Fallback>
      </mc:AlternateContent>
      <p:pic>
        <p:nvPicPr>
          <p:cNvPr id="34" name="Graphic 33">
            <a:extLst>
              <a:ext uri="{FF2B5EF4-FFF2-40B4-BE49-F238E27FC236}">
                <a16:creationId xmlns:a16="http://schemas.microsoft.com/office/drawing/2014/main" id="{B455E8C1-21E0-EFE0-2DB8-FB1EB2B3AA1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34793" y="132253"/>
            <a:ext cx="766520" cy="766520"/>
          </a:xfrm>
          <a:prstGeom prst="rect">
            <a:avLst/>
          </a:prstGeom>
        </p:spPr>
      </p:pic>
    </p:spTree>
    <p:extLst>
      <p:ext uri="{BB962C8B-B14F-4D97-AF65-F5344CB8AC3E}">
        <p14:creationId xmlns:p14="http://schemas.microsoft.com/office/powerpoint/2010/main" val="110614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P spid="18" grpId="0"/>
      <p:bldP spid="19" grpId="0" animBg="1"/>
      <p:bldP spid="20" grpId="0" animBg="1"/>
      <p:bldP spid="21" grpId="0" animBg="1"/>
      <p:bldP spid="24" grpId="0"/>
      <p:bldP spid="26" grpId="0"/>
      <p:bldP spid="27" grpId="0"/>
      <p:bldP spid="29" grpId="0" animBg="1"/>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174517" y="6222642"/>
            <a:ext cx="1315721" cy="365125"/>
          </a:xfrm>
          <a:prstGeom prst="rect">
            <a:avLst/>
          </a:prstGeom>
        </p:spPr>
        <p:txBody>
          <a:bodyPr/>
          <a:lstStyle/>
          <a:p>
            <a:pPr>
              <a:defRPr/>
            </a:pPr>
            <a:fld id="{22F27C8E-632E-435E-8D7A-E81F227BC0D3}" type="slidenum">
              <a:rPr lang="en-US" smtClean="0"/>
              <a:pPr>
                <a:defRPr/>
              </a:pPr>
              <a:t>17</a:t>
            </a:fld>
            <a:endParaRPr lang="en-US"/>
          </a:p>
        </p:txBody>
      </p:sp>
      <p:sp>
        <p:nvSpPr>
          <p:cNvPr id="3" name="Content Placeholder 2"/>
          <p:cNvSpPr>
            <a:spLocks noGrp="1"/>
          </p:cNvSpPr>
          <p:nvPr>
            <p:ph idx="1"/>
          </p:nvPr>
        </p:nvSpPr>
        <p:spPr>
          <a:xfrm>
            <a:off x="386880" y="873342"/>
            <a:ext cx="5084022" cy="5714425"/>
          </a:xfrm>
        </p:spPr>
        <p:txBody>
          <a:bodyPr>
            <a:normAutofit/>
          </a:bodyPr>
          <a:lstStyle/>
          <a:p>
            <a:r>
              <a:rPr lang="en-US" sz="2000" dirty="0"/>
              <a:t>The conditional independence assumption is very useful for text </a:t>
            </a:r>
          </a:p>
          <a:p>
            <a:pPr lvl="1"/>
            <a:r>
              <a:rPr lang="en-US" sz="1800" dirty="0"/>
              <a:t>Each word is independently giving us information about how likely it is to be pos/neg</a:t>
            </a:r>
          </a:p>
          <a:p>
            <a:pPr lvl="1"/>
            <a:endParaRPr lang="en-US" sz="1800" dirty="0"/>
          </a:p>
          <a:p>
            <a:r>
              <a:rPr lang="en-US" sz="2000" dirty="0"/>
              <a:t>The individual probabilities are very easy to calculate</a:t>
            </a:r>
          </a:p>
          <a:p>
            <a:pPr lvl="1"/>
            <a:r>
              <a:rPr lang="en-US" sz="1800" dirty="0"/>
              <a:t>Just counting!</a:t>
            </a:r>
          </a:p>
          <a:p>
            <a:pPr marL="457200" lvl="1" indent="0">
              <a:buNone/>
            </a:pPr>
            <a:endParaRPr lang="en-US" sz="2000" dirty="0"/>
          </a:p>
          <a:p>
            <a:r>
              <a:rPr lang="en-US" sz="2000" dirty="0"/>
              <a:t>Naïve Bayes can be used for any predictive problem!</a:t>
            </a:r>
          </a:p>
          <a:p>
            <a:pPr lvl="1"/>
            <a:r>
              <a:rPr lang="en-US" sz="1800" dirty="0"/>
              <a:t>Basic NB assumes </a:t>
            </a:r>
            <a:r>
              <a:rPr lang="en-US" sz="1800" i="1" dirty="0"/>
              <a:t>nominal categorical features </a:t>
            </a:r>
            <a:r>
              <a:rPr lang="en-US" sz="1800" dirty="0"/>
              <a:t>(like words!) </a:t>
            </a:r>
          </a:p>
          <a:p>
            <a:pPr lvl="1"/>
            <a:r>
              <a:rPr lang="en-US" sz="1800" dirty="0"/>
              <a:t>Extensions allow for </a:t>
            </a:r>
            <a:r>
              <a:rPr lang="en-US" sz="1800" dirty="0" err="1"/>
              <a:t>numerics</a:t>
            </a:r>
            <a:r>
              <a:rPr lang="en-US" sz="1800" dirty="0"/>
              <a:t>, but have to be normally distributed</a:t>
            </a:r>
            <a:endParaRPr lang="en-US" sz="1600" dirty="0"/>
          </a:p>
          <a:p>
            <a:pPr lvl="2"/>
            <a:endParaRPr lang="en-US" sz="2400" dirty="0"/>
          </a:p>
        </p:txBody>
      </p:sp>
      <p:sp>
        <p:nvSpPr>
          <p:cNvPr id="2" name="Title 1"/>
          <p:cNvSpPr>
            <a:spLocks noGrp="1"/>
          </p:cNvSpPr>
          <p:nvPr>
            <p:ph type="title"/>
          </p:nvPr>
        </p:nvSpPr>
        <p:spPr>
          <a:xfrm>
            <a:off x="0" y="33039"/>
            <a:ext cx="8229600" cy="685482"/>
          </a:xfrm>
        </p:spPr>
        <p:txBody>
          <a:bodyPr>
            <a:normAutofit fontScale="90000"/>
          </a:bodyPr>
          <a:lstStyle/>
          <a:p>
            <a:r>
              <a:rPr lang="en-US" dirty="0"/>
              <a:t>Why Naïve Bayes for text??</a:t>
            </a:r>
          </a:p>
        </p:txBody>
      </p:sp>
      <p:sp>
        <p:nvSpPr>
          <p:cNvPr id="5" name="TextBox 4">
            <a:extLst>
              <a:ext uri="{FF2B5EF4-FFF2-40B4-BE49-F238E27FC236}">
                <a16:creationId xmlns:a16="http://schemas.microsoft.com/office/drawing/2014/main" id="{DBB63601-9F5F-B749-9B4A-87E678D83C5C}"/>
              </a:ext>
            </a:extLst>
          </p:cNvPr>
          <p:cNvSpPr txBox="1"/>
          <p:nvPr/>
        </p:nvSpPr>
        <p:spPr>
          <a:xfrm>
            <a:off x="7532290" y="4824301"/>
            <a:ext cx="2802370" cy="400110"/>
          </a:xfrm>
          <a:prstGeom prst="rect">
            <a:avLst/>
          </a:prstGeom>
          <a:solidFill>
            <a:schemeClr val="bg2"/>
          </a:solid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Discussion:  DSB p261 </a:t>
            </a:r>
          </a:p>
        </p:txBody>
      </p:sp>
      <p:graphicFrame>
        <p:nvGraphicFramePr>
          <p:cNvPr id="6" name="Content Placeholder 4">
            <a:extLst>
              <a:ext uri="{FF2B5EF4-FFF2-40B4-BE49-F238E27FC236}">
                <a16:creationId xmlns:a16="http://schemas.microsoft.com/office/drawing/2014/main" id="{F62FF2E6-4ED4-1BFC-0C5C-D674D5610FE8}"/>
              </a:ext>
            </a:extLst>
          </p:cNvPr>
          <p:cNvGraphicFramePr>
            <a:graphicFrameLocks/>
          </p:cNvGraphicFramePr>
          <p:nvPr>
            <p:extLst>
              <p:ext uri="{D42A27DB-BD31-4B8C-83A1-F6EECF244321}">
                <p14:modId xmlns:p14="http://schemas.microsoft.com/office/powerpoint/2010/main" val="2417416456"/>
              </p:ext>
            </p:extLst>
          </p:nvPr>
        </p:nvGraphicFramePr>
        <p:xfrm>
          <a:off x="5687878" y="1811291"/>
          <a:ext cx="6276814" cy="1920240"/>
        </p:xfrm>
        <a:graphic>
          <a:graphicData uri="http://schemas.openxmlformats.org/drawingml/2006/table">
            <a:tbl>
              <a:tblPr firstRow="1" bandRow="1">
                <a:tableStyleId>{5C22544A-7EE6-4342-B048-85BDC9FD1C3A}</a:tableStyleId>
              </a:tblPr>
              <a:tblGrid>
                <a:gridCol w="1687980">
                  <a:extLst>
                    <a:ext uri="{9D8B030D-6E8A-4147-A177-3AD203B41FA5}">
                      <a16:colId xmlns:a16="http://schemas.microsoft.com/office/drawing/2014/main" val="3157175921"/>
                    </a:ext>
                  </a:extLst>
                </a:gridCol>
                <a:gridCol w="4588834">
                  <a:extLst>
                    <a:ext uri="{9D8B030D-6E8A-4147-A177-3AD203B41FA5}">
                      <a16:colId xmlns:a16="http://schemas.microsoft.com/office/drawing/2014/main" val="3575257204"/>
                    </a:ext>
                  </a:extLst>
                </a:gridCol>
              </a:tblGrid>
              <a:tr h="283210">
                <a:tc>
                  <a:txBody>
                    <a:bodyPr/>
                    <a:lstStyle/>
                    <a:p>
                      <a:r>
                        <a:rPr lang="en-US" sz="1600" dirty="0">
                          <a:solidFill>
                            <a:srgbClr val="C00000"/>
                          </a:solidFill>
                        </a:rPr>
                        <a:t>Types of NB</a:t>
                      </a:r>
                    </a:p>
                  </a:txBody>
                  <a:tcPr>
                    <a:solidFill>
                      <a:schemeClr val="accent3">
                        <a:lumMod val="20000"/>
                        <a:lumOff val="80000"/>
                      </a:schemeClr>
                    </a:solidFill>
                  </a:tcPr>
                </a:tc>
                <a:tc>
                  <a:txBody>
                    <a:bodyPr/>
                    <a:lstStyle/>
                    <a:p>
                      <a:r>
                        <a:rPr lang="en-US" sz="1600" dirty="0">
                          <a:solidFill>
                            <a:srgbClr val="C00000"/>
                          </a:solidFill>
                        </a:rPr>
                        <a:t>Usage</a:t>
                      </a:r>
                    </a:p>
                  </a:txBody>
                  <a:tcPr>
                    <a:solidFill>
                      <a:schemeClr val="accent3">
                        <a:lumMod val="20000"/>
                        <a:lumOff val="80000"/>
                      </a:schemeClr>
                    </a:solidFill>
                  </a:tcPr>
                </a:tc>
                <a:extLst>
                  <a:ext uri="{0D108BD9-81ED-4DB2-BD59-A6C34878D82A}">
                    <a16:rowId xmlns:a16="http://schemas.microsoft.com/office/drawing/2014/main" val="1612082980"/>
                  </a:ext>
                </a:extLst>
              </a:tr>
              <a:tr h="283210">
                <a:tc>
                  <a:txBody>
                    <a:bodyPr/>
                    <a:lstStyle/>
                    <a:p>
                      <a:r>
                        <a:rPr lang="en-US" sz="1600" dirty="0" err="1">
                          <a:latin typeface="Consolas" panose="020B0609020204030204" pitchFamily="49" charset="0"/>
                          <a:cs typeface="Consolas" panose="020B0609020204030204" pitchFamily="49" charset="0"/>
                        </a:rPr>
                        <a:t>BernoulliNB</a:t>
                      </a:r>
                      <a:endParaRPr lang="en-US" sz="1600" dirty="0">
                        <a:latin typeface="Consolas" panose="020B0609020204030204" pitchFamily="49" charset="0"/>
                        <a:cs typeface="Consolas" panose="020B0609020204030204" pitchFamily="49" charset="0"/>
                      </a:endParaRPr>
                    </a:p>
                  </a:txBody>
                  <a:tcPr/>
                </a:tc>
                <a:tc>
                  <a:txBody>
                    <a:bodyPr/>
                    <a:lstStyle/>
                    <a:p>
                      <a:r>
                        <a:rPr lang="en-US" sz="1600" dirty="0"/>
                        <a:t>Uses Term Occurrence (Binary)</a:t>
                      </a:r>
                    </a:p>
                  </a:txBody>
                  <a:tcPr/>
                </a:tc>
                <a:extLst>
                  <a:ext uri="{0D108BD9-81ED-4DB2-BD59-A6C34878D82A}">
                    <a16:rowId xmlns:a16="http://schemas.microsoft.com/office/drawing/2014/main" val="3247529185"/>
                  </a:ext>
                </a:extLst>
              </a:tr>
              <a:tr h="283210">
                <a:tc>
                  <a:txBody>
                    <a:bodyPr/>
                    <a:lstStyle/>
                    <a:p>
                      <a:r>
                        <a:rPr lang="en-US" sz="1600" dirty="0" err="1">
                          <a:latin typeface="Consolas" panose="020B0609020204030204" pitchFamily="49" charset="0"/>
                          <a:cs typeface="Consolas" panose="020B0609020204030204" pitchFamily="49" charset="0"/>
                        </a:rPr>
                        <a:t>MultinomialNB</a:t>
                      </a:r>
                      <a:endParaRPr lang="en-US" sz="1600" dirty="0">
                        <a:latin typeface="Consolas" panose="020B0609020204030204" pitchFamily="49" charset="0"/>
                        <a:cs typeface="Consolas" panose="020B0609020204030204" pitchFamily="49" charset="0"/>
                      </a:endParaRPr>
                    </a:p>
                  </a:txBody>
                  <a:tcPr/>
                </a:tc>
                <a:tc>
                  <a:txBody>
                    <a:bodyPr/>
                    <a:lstStyle/>
                    <a:p>
                      <a:r>
                        <a:rPr lang="en-US" sz="1600" dirty="0"/>
                        <a:t>Works with raw term frequencies</a:t>
                      </a:r>
                    </a:p>
                  </a:txBody>
                  <a:tcPr/>
                </a:tc>
                <a:extLst>
                  <a:ext uri="{0D108BD9-81ED-4DB2-BD59-A6C34878D82A}">
                    <a16:rowId xmlns:a16="http://schemas.microsoft.com/office/drawing/2014/main" val="1388118973"/>
                  </a:ext>
                </a:extLst>
              </a:tr>
              <a:tr h="283210">
                <a:tc>
                  <a:txBody>
                    <a:bodyPr/>
                    <a:lstStyle/>
                    <a:p>
                      <a:r>
                        <a:rPr lang="en-US" sz="1600" dirty="0" err="1">
                          <a:latin typeface="Consolas" panose="020B0609020204030204" pitchFamily="49" charset="0"/>
                          <a:cs typeface="Consolas" panose="020B0609020204030204" pitchFamily="49" charset="0"/>
                        </a:rPr>
                        <a:t>GaussianNB</a:t>
                      </a:r>
                      <a:endParaRPr lang="en-US" sz="1600" dirty="0">
                        <a:latin typeface="Consolas" panose="020B0609020204030204" pitchFamily="49" charset="0"/>
                        <a:cs typeface="Consolas" panose="020B0609020204030204" pitchFamily="49" charset="0"/>
                      </a:endParaRPr>
                    </a:p>
                  </a:txBody>
                  <a:tcPr/>
                </a:tc>
                <a:tc>
                  <a:txBody>
                    <a:bodyPr/>
                    <a:lstStyle/>
                    <a:p>
                      <a:r>
                        <a:rPr lang="en-US" sz="1600" dirty="0"/>
                        <a:t>Assumes continuous features and normality, not typically used for text</a:t>
                      </a:r>
                    </a:p>
                  </a:txBody>
                  <a:tcPr/>
                </a:tc>
                <a:extLst>
                  <a:ext uri="{0D108BD9-81ED-4DB2-BD59-A6C34878D82A}">
                    <a16:rowId xmlns:a16="http://schemas.microsoft.com/office/drawing/2014/main" val="1503161772"/>
                  </a:ext>
                </a:extLst>
              </a:tr>
              <a:tr h="283210">
                <a:tc>
                  <a:txBody>
                    <a:bodyPr/>
                    <a:lstStyle/>
                    <a:p>
                      <a:r>
                        <a:rPr lang="en-US" sz="1600" dirty="0" err="1">
                          <a:latin typeface="Consolas" panose="020B0609020204030204" pitchFamily="49" charset="0"/>
                          <a:cs typeface="Consolas" panose="020B0609020204030204" pitchFamily="49" charset="0"/>
                        </a:rPr>
                        <a:t>ComplementNB</a:t>
                      </a:r>
                      <a:endParaRPr lang="en-US" sz="1600" dirty="0">
                        <a:latin typeface="Consolas" panose="020B0609020204030204" pitchFamily="49" charset="0"/>
                        <a:cs typeface="Consolas" panose="020B0609020204030204" pitchFamily="49" charset="0"/>
                      </a:endParaRPr>
                    </a:p>
                  </a:txBody>
                  <a:tcPr/>
                </a:tc>
                <a:tc>
                  <a:txBody>
                    <a:bodyPr/>
                    <a:lstStyle/>
                    <a:p>
                      <a:r>
                        <a:rPr lang="en-US" sz="1600" dirty="0"/>
                        <a:t>Best for unbalanced data and TFIDF</a:t>
                      </a:r>
                    </a:p>
                  </a:txBody>
                  <a:tcPr/>
                </a:tc>
                <a:extLst>
                  <a:ext uri="{0D108BD9-81ED-4DB2-BD59-A6C34878D82A}">
                    <a16:rowId xmlns:a16="http://schemas.microsoft.com/office/drawing/2014/main" val="233107108"/>
                  </a:ext>
                </a:extLst>
              </a:tr>
            </a:tbl>
          </a:graphicData>
        </a:graphic>
      </p:graphicFrame>
    </p:spTree>
    <p:extLst>
      <p:ext uri="{BB962C8B-B14F-4D97-AF65-F5344CB8AC3E}">
        <p14:creationId xmlns:p14="http://schemas.microsoft.com/office/powerpoint/2010/main" val="134053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Grp="1" noChangeArrowheads="1"/>
          </p:cNvSpPr>
          <p:nvPr>
            <p:ph idx="1"/>
          </p:nvPr>
        </p:nvSpPr>
        <p:spPr>
          <a:xfrm>
            <a:off x="790414" y="1051426"/>
            <a:ext cx="6003303" cy="475514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dirty="0"/>
              <a:t>DSB p 264</a:t>
            </a:r>
          </a:p>
          <a:p>
            <a:r>
              <a:rPr lang="en-US" dirty="0"/>
              <a:t>“High IQ” from the PNAS paper</a:t>
            </a:r>
          </a:p>
          <a:p>
            <a:r>
              <a:rPr lang="en-US" dirty="0"/>
              <a:t>“Likes” are like words</a:t>
            </a:r>
          </a:p>
          <a:p>
            <a:pPr lvl="1"/>
            <a:r>
              <a:rPr lang="en-US" dirty="0"/>
              <a:t>Binary</a:t>
            </a:r>
          </a:p>
          <a:p>
            <a:pPr lvl="1"/>
            <a:r>
              <a:rPr lang="en-US" dirty="0"/>
              <a:t>there are many of them</a:t>
            </a:r>
          </a:p>
          <a:p>
            <a:pPr lvl="1"/>
            <a:r>
              <a:rPr lang="en-US" dirty="0"/>
              <a:t>they are discrete</a:t>
            </a:r>
          </a:p>
          <a:p>
            <a:r>
              <a:rPr lang="en-US" dirty="0"/>
              <a:t>NB provides a “lift” - the increase in probability given the presence of the feature</a:t>
            </a:r>
          </a:p>
          <a:p>
            <a:pPr marL="0" indent="0">
              <a:buNone/>
            </a:pPr>
            <a:endParaRPr lang="en-US" dirty="0"/>
          </a:p>
        </p:txBody>
      </p:sp>
      <p:sp>
        <p:nvSpPr>
          <p:cNvPr id="186370" name="Rectangle 2"/>
          <p:cNvSpPr>
            <a:spLocks noGrp="1" noChangeArrowheads="1"/>
          </p:cNvSpPr>
          <p:nvPr>
            <p:ph type="title"/>
          </p:nvPr>
        </p:nvSpPr>
        <p:spPr>
          <a:xfrm>
            <a:off x="0" y="0"/>
            <a:ext cx="8229600" cy="641023"/>
          </a:xfrm>
        </p:spPr>
        <p:txBody>
          <a:bodyPr>
            <a:normAutofit fontScale="90000"/>
          </a:bodyPr>
          <a:lstStyle/>
          <a:p>
            <a:pPr eaLnBrk="1" hangingPunct="1">
              <a:defRPr/>
            </a:pPr>
            <a:r>
              <a:rPr lang="en-US" dirty="0"/>
              <a:t>Naïve Bayes Example</a:t>
            </a:r>
          </a:p>
        </p:txBody>
      </p:sp>
      <p:pic>
        <p:nvPicPr>
          <p:cNvPr id="3" name="Picture 2" descr="A screenshot of a computer&#10;&#10;Description automatically generated">
            <a:extLst>
              <a:ext uri="{FF2B5EF4-FFF2-40B4-BE49-F238E27FC236}">
                <a16:creationId xmlns:a16="http://schemas.microsoft.com/office/drawing/2014/main" id="{8BD00B0D-DA48-E76A-6C16-394947435023}"/>
              </a:ext>
            </a:extLst>
          </p:cNvPr>
          <p:cNvPicPr>
            <a:picLocks noChangeAspect="1"/>
          </p:cNvPicPr>
          <p:nvPr/>
        </p:nvPicPr>
        <p:blipFill>
          <a:blip r:embed="rId3"/>
          <a:stretch>
            <a:fillRect/>
          </a:stretch>
        </p:blipFill>
        <p:spPr>
          <a:xfrm>
            <a:off x="7375863" y="968245"/>
            <a:ext cx="3609852" cy="4054377"/>
          </a:xfrm>
          <a:prstGeom prst="rect">
            <a:avLst/>
          </a:prstGeom>
        </p:spPr>
      </p:pic>
      <p:sp>
        <p:nvSpPr>
          <p:cNvPr id="4" name="TextBox 3">
            <a:extLst>
              <a:ext uri="{FF2B5EF4-FFF2-40B4-BE49-F238E27FC236}">
                <a16:creationId xmlns:a16="http://schemas.microsoft.com/office/drawing/2014/main" id="{0464FAAB-67DE-51D9-221C-7331AAC379A1}"/>
              </a:ext>
            </a:extLst>
          </p:cNvPr>
          <p:cNvSpPr txBox="1"/>
          <p:nvPr/>
        </p:nvSpPr>
        <p:spPr>
          <a:xfrm>
            <a:off x="8481271" y="6415751"/>
            <a:ext cx="1937453" cy="338554"/>
          </a:xfrm>
          <a:prstGeom prst="rect">
            <a:avLst/>
          </a:prstGeom>
          <a:solidFill>
            <a:schemeClr val="accent5"/>
          </a:solidFill>
        </p:spPr>
        <p:txBody>
          <a:bodyPr wrap="none" rtlCol="0">
            <a:spAutoFit/>
          </a:bodyPr>
          <a:lstStyle/>
          <a:p>
            <a:pPr>
              <a:buNone/>
            </a:pPr>
            <a:r>
              <a:rPr lang="en-US" sz="1600" dirty="0">
                <a:latin typeface="Tahoma" panose="020B0604030504040204" pitchFamily="34" charset="0"/>
                <a:ea typeface="Tahoma" panose="020B0604030504040204" pitchFamily="34" charset="0"/>
                <a:cs typeface="Tahoma" panose="020B0604030504040204" pitchFamily="34" charset="0"/>
              </a:rPr>
              <a:t>Kosinski, et al 2013</a:t>
            </a:r>
          </a:p>
        </p:txBody>
      </p:sp>
    </p:spTree>
    <p:extLst>
      <p:ext uri="{BB962C8B-B14F-4D97-AF65-F5344CB8AC3E}">
        <p14:creationId xmlns:p14="http://schemas.microsoft.com/office/powerpoint/2010/main" val="420692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6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637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637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637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637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637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4DC0E8-154A-F075-6848-4C0CFB344405}"/>
              </a:ext>
            </a:extLst>
          </p:cNvPr>
          <p:cNvSpPr>
            <a:spLocks noGrp="1"/>
          </p:cNvSpPr>
          <p:nvPr>
            <p:ph type="sldNum" sz="quarter" idx="12"/>
          </p:nvPr>
        </p:nvSpPr>
        <p:spPr/>
        <p:txBody>
          <a:bodyPr/>
          <a:lstStyle/>
          <a:p>
            <a:fld id="{ABBEE3BA-F264-1746-880E-39AD601DF2B1}" type="slidenum">
              <a:rPr lang="en-US" smtClean="0"/>
              <a:t>19</a:t>
            </a:fld>
            <a:endParaRPr lang="en-US"/>
          </a:p>
        </p:txBody>
      </p:sp>
      <p:sp>
        <p:nvSpPr>
          <p:cNvPr id="6" name="Title 5">
            <a:extLst>
              <a:ext uri="{FF2B5EF4-FFF2-40B4-BE49-F238E27FC236}">
                <a16:creationId xmlns:a16="http://schemas.microsoft.com/office/drawing/2014/main" id="{644A9F21-26E0-5DA5-CD25-3EF73AD5725F}"/>
              </a:ext>
            </a:extLst>
          </p:cNvPr>
          <p:cNvSpPr>
            <a:spLocks noGrp="1"/>
          </p:cNvSpPr>
          <p:nvPr>
            <p:ph type="title"/>
          </p:nvPr>
        </p:nvSpPr>
        <p:spPr>
          <a:xfrm>
            <a:off x="0" y="2073813"/>
            <a:ext cx="12192000" cy="1355187"/>
          </a:xfrm>
          <a:solidFill>
            <a:schemeClr val="accent2"/>
          </a:solidFill>
        </p:spPr>
        <p:txBody>
          <a:bodyPr>
            <a:normAutofit/>
          </a:bodyPr>
          <a:lstStyle/>
          <a:p>
            <a:r>
              <a:rPr lang="en-US" dirty="0">
                <a:solidFill>
                  <a:schemeClr val="bg1"/>
                </a:solidFill>
              </a:rPr>
              <a:t>Using TFIDF / Naïve Bayes</a:t>
            </a:r>
          </a:p>
        </p:txBody>
      </p:sp>
      <p:sp>
        <p:nvSpPr>
          <p:cNvPr id="3" name="Text Placeholder 2">
            <a:extLst>
              <a:ext uri="{FF2B5EF4-FFF2-40B4-BE49-F238E27FC236}">
                <a16:creationId xmlns:a16="http://schemas.microsoft.com/office/drawing/2014/main" id="{9E0277F7-DCEE-0F92-951D-8E0625CB9B8A}"/>
              </a:ext>
            </a:extLst>
          </p:cNvPr>
          <p:cNvSpPr>
            <a:spLocks noGrp="1"/>
          </p:cNvSpPr>
          <p:nvPr>
            <p:ph type="body" sz="quarter" idx="4294967295"/>
          </p:nvPr>
        </p:nvSpPr>
        <p:spPr>
          <a:xfrm>
            <a:off x="4151810" y="3603356"/>
            <a:ext cx="5872163" cy="587375"/>
          </a:xfrm>
        </p:spPr>
        <p:txBody>
          <a:bodyPr/>
          <a:lstStyle/>
          <a:p>
            <a:pPr marL="0" indent="0">
              <a:buNone/>
            </a:pPr>
            <a:r>
              <a:rPr lang="en-US" dirty="0">
                <a:solidFill>
                  <a:schemeClr val="tx2"/>
                </a:solidFill>
              </a:rPr>
              <a:t>T8_Text_Mining.ipynb</a:t>
            </a:r>
          </a:p>
        </p:txBody>
      </p:sp>
    </p:spTree>
    <p:extLst>
      <p:ext uri="{BB962C8B-B14F-4D97-AF65-F5344CB8AC3E}">
        <p14:creationId xmlns:p14="http://schemas.microsoft.com/office/powerpoint/2010/main" val="3542870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B91E4A-D53E-D629-00C7-4E03E5C06FFB}"/>
              </a:ext>
            </a:extLst>
          </p:cNvPr>
          <p:cNvSpPr>
            <a:spLocks noGrp="1"/>
          </p:cNvSpPr>
          <p:nvPr>
            <p:ph type="title"/>
          </p:nvPr>
        </p:nvSpPr>
        <p:spPr>
          <a:xfrm>
            <a:off x="0" y="2001302"/>
            <a:ext cx="12192000" cy="1001559"/>
          </a:xfrm>
        </p:spPr>
        <p:txBody>
          <a:bodyPr>
            <a:normAutofit/>
          </a:bodyPr>
          <a:lstStyle/>
          <a:p>
            <a:r>
              <a:rPr lang="en-US" dirty="0"/>
              <a:t>NLP: Other Topics</a:t>
            </a:r>
          </a:p>
        </p:txBody>
      </p:sp>
      <p:sp>
        <p:nvSpPr>
          <p:cNvPr id="2" name="Slide Number Placeholder 1">
            <a:extLst>
              <a:ext uri="{FF2B5EF4-FFF2-40B4-BE49-F238E27FC236}">
                <a16:creationId xmlns:a16="http://schemas.microsoft.com/office/drawing/2014/main" id="{B1EE3878-25C7-5736-7E89-3F08C6A6DE16}"/>
              </a:ext>
            </a:extLst>
          </p:cNvPr>
          <p:cNvSpPr>
            <a:spLocks noGrp="1"/>
          </p:cNvSpPr>
          <p:nvPr>
            <p:ph type="sldNum" sz="quarter" idx="12"/>
          </p:nvPr>
        </p:nvSpPr>
        <p:spPr/>
        <p:txBody>
          <a:bodyPr/>
          <a:lstStyle/>
          <a:p>
            <a:fld id="{ABBEE3BA-F264-1746-880E-39AD601DF2B1}" type="slidenum">
              <a:rPr lang="en-US" smtClean="0"/>
              <a:t>20</a:t>
            </a:fld>
            <a:endParaRPr lang="en-US"/>
          </a:p>
        </p:txBody>
      </p:sp>
      <p:sp>
        <p:nvSpPr>
          <p:cNvPr id="4" name="TextBox 3">
            <a:extLst>
              <a:ext uri="{FF2B5EF4-FFF2-40B4-BE49-F238E27FC236}">
                <a16:creationId xmlns:a16="http://schemas.microsoft.com/office/drawing/2014/main" id="{548B81B3-A57B-2509-40CC-05785F5CAC07}"/>
              </a:ext>
            </a:extLst>
          </p:cNvPr>
          <p:cNvSpPr txBox="1"/>
          <p:nvPr/>
        </p:nvSpPr>
        <p:spPr>
          <a:xfrm>
            <a:off x="7009133" y="3187108"/>
            <a:ext cx="1877437" cy="1015663"/>
          </a:xfrm>
          <a:prstGeom prst="rect">
            <a:avLst/>
          </a:prstGeom>
          <a:solidFill>
            <a:schemeClr val="bg2"/>
          </a:solidFill>
        </p:spPr>
        <p:txBody>
          <a:bodyPr wrap="none" rtlCol="0">
            <a:spAutoFit/>
          </a:bodyPr>
          <a:lstStyle/>
          <a:p>
            <a:pPr>
              <a:buNone/>
            </a:pPr>
            <a:r>
              <a:rPr lang="en-US" sz="2000" dirty="0">
                <a:latin typeface="Consolas" panose="020B0609020204030204" pitchFamily="49" charset="0"/>
                <a:ea typeface="Tahoma" panose="020B0604030504040204" pitchFamily="34" charset="0"/>
                <a:cs typeface="Consolas" panose="020B0609020204030204" pitchFamily="49" charset="0"/>
              </a:rPr>
              <a:t>import </a:t>
            </a:r>
            <a:r>
              <a:rPr lang="en-US" sz="2000" dirty="0" err="1">
                <a:latin typeface="Consolas" panose="020B0609020204030204" pitchFamily="49" charset="0"/>
                <a:ea typeface="Tahoma" panose="020B0604030504040204" pitchFamily="34" charset="0"/>
                <a:cs typeface="Consolas" panose="020B0609020204030204" pitchFamily="49" charset="0"/>
              </a:rPr>
              <a:t>nltk</a:t>
            </a:r>
            <a:endParaRPr lang="en-US" sz="2000" dirty="0">
              <a:latin typeface="Consolas" panose="020B0609020204030204" pitchFamily="49" charset="0"/>
              <a:ea typeface="Tahoma" panose="020B0604030504040204" pitchFamily="34" charset="0"/>
              <a:cs typeface="Consolas" panose="020B0609020204030204" pitchFamily="49" charset="0"/>
            </a:endParaRPr>
          </a:p>
          <a:p>
            <a:pPr>
              <a:buNone/>
            </a:pPr>
            <a:r>
              <a:rPr lang="en-US" sz="2000" dirty="0">
                <a:latin typeface="Consolas" panose="020B0609020204030204" pitchFamily="49" charset="0"/>
                <a:ea typeface="Tahoma" panose="020B0604030504040204" pitchFamily="34" charset="0"/>
                <a:cs typeface="Consolas" panose="020B0609020204030204" pitchFamily="49" charset="0"/>
              </a:rPr>
              <a:t>import spacy</a:t>
            </a:r>
          </a:p>
          <a:p>
            <a:pPr>
              <a:buNone/>
            </a:pPr>
            <a:r>
              <a:rPr lang="en-US" sz="2000" dirty="0">
                <a:latin typeface="Consolas" panose="020B0609020204030204" pitchFamily="49" charset="0"/>
                <a:ea typeface="Tahoma" panose="020B0604030504040204" pitchFamily="34" charset="0"/>
                <a:cs typeface="Consolas" panose="020B0609020204030204" pitchFamily="49" charset="0"/>
              </a:rPr>
              <a:t>Gen AI</a:t>
            </a:r>
          </a:p>
        </p:txBody>
      </p:sp>
    </p:spTree>
    <p:extLst>
      <p:ext uri="{BB962C8B-B14F-4D97-AF65-F5344CB8AC3E}">
        <p14:creationId xmlns:p14="http://schemas.microsoft.com/office/powerpoint/2010/main" val="1349375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Screen shot 2011-10-26 at 12.12.52 PM.png">
            <a:extLst>
              <a:ext uri="{FF2B5EF4-FFF2-40B4-BE49-F238E27FC236}">
                <a16:creationId xmlns:a16="http://schemas.microsoft.com/office/drawing/2014/main" id="{CA6FA133-BEC4-14DC-9989-EB142CFED9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33700" y="2749008"/>
            <a:ext cx="6058300" cy="3199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27719BA2-F8B4-CC8E-A333-AC52DBC82012}"/>
              </a:ext>
            </a:extLst>
          </p:cNvPr>
          <p:cNvSpPr>
            <a:spLocks noGrp="1"/>
          </p:cNvSpPr>
          <p:nvPr>
            <p:ph type="sldNum" sz="quarter" idx="12"/>
          </p:nvPr>
        </p:nvSpPr>
        <p:spPr/>
        <p:txBody>
          <a:bodyPr/>
          <a:lstStyle/>
          <a:p>
            <a:fld id="{ABBEE3BA-F264-1746-880E-39AD601DF2B1}" type="slidenum">
              <a:rPr lang="en-US" smtClean="0"/>
              <a:t>21</a:t>
            </a:fld>
            <a:endParaRPr lang="en-US"/>
          </a:p>
        </p:txBody>
      </p:sp>
      <p:sp>
        <p:nvSpPr>
          <p:cNvPr id="3" name="Content Placeholder 2">
            <a:extLst>
              <a:ext uri="{FF2B5EF4-FFF2-40B4-BE49-F238E27FC236}">
                <a16:creationId xmlns:a16="http://schemas.microsoft.com/office/drawing/2014/main" id="{D2C4E0FD-C7A8-0A8C-DD9A-89556084F9B2}"/>
              </a:ext>
            </a:extLst>
          </p:cNvPr>
          <p:cNvSpPr>
            <a:spLocks noGrp="1"/>
          </p:cNvSpPr>
          <p:nvPr>
            <p:ph idx="1"/>
          </p:nvPr>
        </p:nvSpPr>
        <p:spPr>
          <a:xfrm>
            <a:off x="292932" y="1053765"/>
            <a:ext cx="6058300" cy="5302585"/>
          </a:xfrm>
        </p:spPr>
        <p:txBody>
          <a:bodyPr>
            <a:noAutofit/>
          </a:bodyPr>
          <a:lstStyle/>
          <a:p>
            <a:r>
              <a:rPr lang="en-US" sz="2000" dirty="0"/>
              <a:t>“topic modelling” is a way of doing unsupervised learning on a set of documents (corpus)</a:t>
            </a:r>
          </a:p>
          <a:p>
            <a:pPr marL="0" indent="0">
              <a:buNone/>
            </a:pPr>
            <a:endParaRPr lang="en-US" sz="2000" dirty="0"/>
          </a:p>
          <a:p>
            <a:r>
              <a:rPr lang="en-US" sz="2000" dirty="0"/>
              <a:t>Think of it as a clustering exercise</a:t>
            </a:r>
          </a:p>
          <a:p>
            <a:pPr lvl="1"/>
            <a:r>
              <a:rPr lang="en-US" sz="1800" dirty="0"/>
              <a:t>Similar to Principal Components: reduced dimensions define “topics”\</a:t>
            </a:r>
          </a:p>
          <a:p>
            <a:pPr marL="457200" lvl="1" indent="0">
              <a:buNone/>
            </a:pPr>
            <a:endParaRPr lang="en-US" sz="1800" dirty="0"/>
          </a:p>
          <a:p>
            <a:r>
              <a:rPr lang="en-US" sz="2000" dirty="0"/>
              <a:t>Typically starts with the TFIDF matrix</a:t>
            </a:r>
          </a:p>
          <a:p>
            <a:pPr lvl="1"/>
            <a:r>
              <a:rPr lang="en-US" sz="1800" dirty="0"/>
              <a:t>Extracts “topics” by finding clusters of words</a:t>
            </a:r>
          </a:p>
          <a:p>
            <a:pPr marL="457200" lvl="1" indent="0">
              <a:buNone/>
            </a:pPr>
            <a:endParaRPr lang="en-US" sz="1800" dirty="0"/>
          </a:p>
          <a:p>
            <a:r>
              <a:rPr lang="en-US" sz="2000" dirty="0"/>
              <a:t>Methods find “latent” topics</a:t>
            </a:r>
          </a:p>
          <a:p>
            <a:pPr lvl="1"/>
            <a:r>
              <a:rPr lang="en-US" sz="1800" dirty="0"/>
              <a:t>Latent Semantic Indexing (LSI)</a:t>
            </a:r>
          </a:p>
          <a:p>
            <a:pPr lvl="1"/>
            <a:r>
              <a:rPr lang="en-US" sz="1800" dirty="0"/>
              <a:t>Latent Dirichlet Analysis (LDA)</a:t>
            </a:r>
          </a:p>
          <a:p>
            <a:pPr lvl="1"/>
            <a:r>
              <a:rPr lang="en-US" sz="1800" dirty="0"/>
              <a:t>Non-negative Matrix Factorization (NMF)</a:t>
            </a:r>
          </a:p>
        </p:txBody>
      </p:sp>
      <p:sp>
        <p:nvSpPr>
          <p:cNvPr id="2" name="Title 1">
            <a:extLst>
              <a:ext uri="{FF2B5EF4-FFF2-40B4-BE49-F238E27FC236}">
                <a16:creationId xmlns:a16="http://schemas.microsoft.com/office/drawing/2014/main" id="{2BC27D87-5B3F-C727-AC59-7624DDB4198A}"/>
              </a:ext>
            </a:extLst>
          </p:cNvPr>
          <p:cNvSpPr>
            <a:spLocks noGrp="1"/>
          </p:cNvSpPr>
          <p:nvPr>
            <p:ph type="title"/>
          </p:nvPr>
        </p:nvSpPr>
        <p:spPr>
          <a:xfrm>
            <a:off x="0" y="23434"/>
            <a:ext cx="9549539" cy="729214"/>
          </a:xfrm>
        </p:spPr>
        <p:txBody>
          <a:bodyPr>
            <a:normAutofit/>
          </a:bodyPr>
          <a:lstStyle/>
          <a:p>
            <a:r>
              <a:rPr lang="en-US" dirty="0"/>
              <a:t>Topic Modelling – LSA/LDA, </a:t>
            </a:r>
            <a:r>
              <a:rPr lang="en-US" dirty="0" err="1"/>
              <a:t>etc</a:t>
            </a:r>
            <a:endParaRPr lang="en-US" dirty="0"/>
          </a:p>
        </p:txBody>
      </p:sp>
      <p:sp>
        <p:nvSpPr>
          <p:cNvPr id="7" name="TextBox 6">
            <a:extLst>
              <a:ext uri="{FF2B5EF4-FFF2-40B4-BE49-F238E27FC236}">
                <a16:creationId xmlns:a16="http://schemas.microsoft.com/office/drawing/2014/main" id="{ED6ADDB4-AAA0-5D2A-9EF1-C4AADD94229B}"/>
              </a:ext>
            </a:extLst>
          </p:cNvPr>
          <p:cNvSpPr txBox="1"/>
          <p:nvPr/>
        </p:nvSpPr>
        <p:spPr>
          <a:xfrm>
            <a:off x="8180028" y="1801151"/>
            <a:ext cx="2236124" cy="707886"/>
          </a:xfrm>
          <a:prstGeom prst="rect">
            <a:avLst/>
          </a:prstGeom>
          <a:solidFill>
            <a:schemeClr val="bg2"/>
          </a:solidFill>
        </p:spPr>
        <p:txBody>
          <a:bodyPr wrap="squar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LDA applied to TV program data</a:t>
            </a:r>
          </a:p>
        </p:txBody>
      </p:sp>
    </p:spTree>
    <p:extLst>
      <p:ext uri="{BB962C8B-B14F-4D97-AF65-F5344CB8AC3E}">
        <p14:creationId xmlns:p14="http://schemas.microsoft.com/office/powerpoint/2010/main" val="116698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A8C1BA-575E-FE79-53C8-20E2188F7AA1}"/>
              </a:ext>
            </a:extLst>
          </p:cNvPr>
          <p:cNvSpPr>
            <a:spLocks noGrp="1"/>
          </p:cNvSpPr>
          <p:nvPr>
            <p:ph type="sldNum" sz="quarter" idx="12"/>
          </p:nvPr>
        </p:nvSpPr>
        <p:spPr/>
        <p:txBody>
          <a:bodyPr/>
          <a:lstStyle/>
          <a:p>
            <a:fld id="{ABBEE3BA-F264-1746-880E-39AD601DF2B1}" type="slidenum">
              <a:rPr lang="en-US" smtClean="0"/>
              <a:t>22</a:t>
            </a:fld>
            <a:endParaRPr lang="en-US"/>
          </a:p>
        </p:txBody>
      </p:sp>
      <p:sp>
        <p:nvSpPr>
          <p:cNvPr id="3" name="Content Placeholder 2">
            <a:extLst>
              <a:ext uri="{FF2B5EF4-FFF2-40B4-BE49-F238E27FC236}">
                <a16:creationId xmlns:a16="http://schemas.microsoft.com/office/drawing/2014/main" id="{2230A762-45A3-8557-7D80-2A288C16A464}"/>
              </a:ext>
            </a:extLst>
          </p:cNvPr>
          <p:cNvSpPr>
            <a:spLocks noGrp="1"/>
          </p:cNvSpPr>
          <p:nvPr>
            <p:ph idx="1"/>
          </p:nvPr>
        </p:nvSpPr>
        <p:spPr>
          <a:xfrm>
            <a:off x="1208868" y="1021900"/>
            <a:ext cx="9996407" cy="2558208"/>
          </a:xfrm>
        </p:spPr>
        <p:txBody>
          <a:bodyPr>
            <a:normAutofit/>
          </a:bodyPr>
          <a:lstStyle/>
          <a:p>
            <a:r>
              <a:rPr lang="en-US" sz="2000" dirty="0"/>
              <a:t>Move us away from Bags of Words and toward understanding of the data</a:t>
            </a:r>
          </a:p>
          <a:p>
            <a:endParaRPr lang="en-US" sz="2000" dirty="0"/>
          </a:p>
          <a:p>
            <a:r>
              <a:rPr lang="en-US" sz="2000" dirty="0"/>
              <a:t>Knowing what  are the proper nouns and names can go a long way to extracting meaning from text </a:t>
            </a:r>
          </a:p>
          <a:p>
            <a:pPr lvl="1"/>
            <a:r>
              <a:rPr lang="en-US" sz="2000" dirty="0"/>
              <a:t>In fact : entities can be very helpful in topic modelling</a:t>
            </a:r>
          </a:p>
        </p:txBody>
      </p:sp>
      <p:sp>
        <p:nvSpPr>
          <p:cNvPr id="2" name="Title 1">
            <a:extLst>
              <a:ext uri="{FF2B5EF4-FFF2-40B4-BE49-F238E27FC236}">
                <a16:creationId xmlns:a16="http://schemas.microsoft.com/office/drawing/2014/main" id="{3C8D5015-BCD5-F146-D13E-F0DD8D0F61F7}"/>
              </a:ext>
            </a:extLst>
          </p:cNvPr>
          <p:cNvSpPr>
            <a:spLocks noGrp="1"/>
          </p:cNvSpPr>
          <p:nvPr>
            <p:ph type="title"/>
          </p:nvPr>
        </p:nvSpPr>
        <p:spPr>
          <a:xfrm>
            <a:off x="0" y="48501"/>
            <a:ext cx="10515600" cy="1001559"/>
          </a:xfrm>
        </p:spPr>
        <p:txBody>
          <a:bodyPr/>
          <a:lstStyle/>
          <a:p>
            <a:r>
              <a:rPr lang="en-US" dirty="0"/>
              <a:t>Named Entity Recognition</a:t>
            </a:r>
          </a:p>
        </p:txBody>
      </p:sp>
      <p:sp>
        <p:nvSpPr>
          <p:cNvPr id="5" name="TextBox 4">
            <a:extLst>
              <a:ext uri="{FF2B5EF4-FFF2-40B4-BE49-F238E27FC236}">
                <a16:creationId xmlns:a16="http://schemas.microsoft.com/office/drawing/2014/main" id="{2D537B8E-3829-F63D-E4D8-1BAF4A6CC596}"/>
              </a:ext>
            </a:extLst>
          </p:cNvPr>
          <p:cNvSpPr txBox="1"/>
          <p:nvPr/>
        </p:nvSpPr>
        <p:spPr>
          <a:xfrm>
            <a:off x="2594949" y="3748112"/>
            <a:ext cx="6867706" cy="1754326"/>
          </a:xfrm>
          <a:prstGeom prst="rect">
            <a:avLst/>
          </a:prstGeom>
          <a:noFill/>
        </p:spPr>
        <p:txBody>
          <a:bodyPr wrap="square" rtlCol="0">
            <a:spAutoFit/>
          </a:bodyPr>
          <a:lstStyle/>
          <a:p>
            <a:pPr>
              <a:buNone/>
            </a:pPr>
            <a:r>
              <a:rPr lang="en-US" sz="1800" b="1" dirty="0">
                <a:solidFill>
                  <a:srgbClr val="FF0000"/>
                </a:solidFill>
                <a:highlight>
                  <a:srgbClr val="FFFFFF"/>
                </a:highlight>
                <a:latin typeface="+mn-lt"/>
              </a:rPr>
              <a:t>Christopher Robin </a:t>
            </a:r>
            <a:r>
              <a:rPr lang="en-US" sz="1800" dirty="0">
                <a:highlight>
                  <a:srgbClr val="FFFFFF"/>
                </a:highlight>
                <a:latin typeface="+mn-lt"/>
              </a:rPr>
              <a:t>is alive and well. </a:t>
            </a:r>
            <a:r>
              <a:rPr lang="en-US" sz="1800" b="1" dirty="0">
                <a:solidFill>
                  <a:srgbClr val="FF0000"/>
                </a:solidFill>
                <a:highlight>
                  <a:srgbClr val="FFFFFF"/>
                </a:highlight>
                <a:latin typeface="+mn-lt"/>
              </a:rPr>
              <a:t>He </a:t>
            </a:r>
            <a:r>
              <a:rPr lang="en-US" sz="1800" dirty="0">
                <a:highlight>
                  <a:srgbClr val="FFFFFF"/>
                </a:highlight>
                <a:latin typeface="+mn-lt"/>
              </a:rPr>
              <a:t>is the same person that you read about in the book, </a:t>
            </a:r>
            <a:r>
              <a:rPr lang="en-US" sz="1800" b="1" dirty="0">
                <a:solidFill>
                  <a:srgbClr val="009999"/>
                </a:solidFill>
                <a:highlight>
                  <a:srgbClr val="FFFFFF"/>
                </a:highlight>
                <a:latin typeface="+mn-lt"/>
              </a:rPr>
              <a:t>Winnie the Pooh</a:t>
            </a:r>
            <a:r>
              <a:rPr lang="en-US" sz="1800" dirty="0">
                <a:highlight>
                  <a:srgbClr val="FFFFFF"/>
                </a:highlight>
                <a:latin typeface="+mn-lt"/>
              </a:rPr>
              <a:t>. As a </a:t>
            </a:r>
            <a:r>
              <a:rPr lang="en-US" sz="1800" b="1" dirty="0">
                <a:solidFill>
                  <a:srgbClr val="FF0000"/>
                </a:solidFill>
                <a:highlight>
                  <a:srgbClr val="FFFFFF"/>
                </a:highlight>
                <a:latin typeface="+mn-lt"/>
              </a:rPr>
              <a:t>boy</a:t>
            </a:r>
            <a:r>
              <a:rPr lang="en-US" sz="1800" dirty="0">
                <a:highlight>
                  <a:srgbClr val="FFFFFF"/>
                </a:highlight>
                <a:latin typeface="+mn-lt"/>
              </a:rPr>
              <a:t>, </a:t>
            </a:r>
            <a:r>
              <a:rPr lang="en-US" sz="1800" b="1" dirty="0">
                <a:solidFill>
                  <a:srgbClr val="FF0000"/>
                </a:solidFill>
                <a:highlight>
                  <a:srgbClr val="FFFFFF"/>
                </a:highlight>
                <a:latin typeface="+mn-lt"/>
              </a:rPr>
              <a:t>Chris </a:t>
            </a:r>
            <a:r>
              <a:rPr lang="en-US" sz="1800" dirty="0">
                <a:highlight>
                  <a:srgbClr val="FFFFFF"/>
                </a:highlight>
                <a:latin typeface="+mn-lt"/>
              </a:rPr>
              <a:t>lived in a pretty home called </a:t>
            </a:r>
            <a:r>
              <a:rPr lang="en-US" sz="1800" b="1" dirty="0" err="1">
                <a:solidFill>
                  <a:srgbClr val="FF00FF"/>
                </a:solidFill>
                <a:highlight>
                  <a:srgbClr val="FFFFFF"/>
                </a:highlight>
                <a:latin typeface="+mn-lt"/>
              </a:rPr>
              <a:t>Cotchfield</a:t>
            </a:r>
            <a:r>
              <a:rPr lang="en-US" sz="1800" b="1" dirty="0">
                <a:solidFill>
                  <a:srgbClr val="FF00FF"/>
                </a:solidFill>
                <a:highlight>
                  <a:srgbClr val="FFFFFF"/>
                </a:highlight>
                <a:latin typeface="+mn-lt"/>
              </a:rPr>
              <a:t> Farm</a:t>
            </a:r>
            <a:r>
              <a:rPr lang="en-US" sz="1800" b="1" dirty="0">
                <a:highlight>
                  <a:srgbClr val="FFFFFF"/>
                </a:highlight>
                <a:latin typeface="+mn-lt"/>
              </a:rPr>
              <a:t>. </a:t>
            </a:r>
            <a:r>
              <a:rPr lang="en-US" sz="1800" dirty="0">
                <a:highlight>
                  <a:srgbClr val="FFFFFF"/>
                </a:highlight>
                <a:latin typeface="+mn-lt"/>
              </a:rPr>
              <a:t>When </a:t>
            </a:r>
            <a:r>
              <a:rPr lang="en-US" sz="1800" b="1" dirty="0">
                <a:solidFill>
                  <a:srgbClr val="FF0000"/>
                </a:solidFill>
                <a:highlight>
                  <a:srgbClr val="FFFFFF"/>
                </a:highlight>
                <a:latin typeface="+mn-lt"/>
              </a:rPr>
              <a:t>Chris </a:t>
            </a:r>
            <a:r>
              <a:rPr lang="en-US" sz="1800" dirty="0">
                <a:highlight>
                  <a:srgbClr val="FFFFFF"/>
                </a:highlight>
                <a:latin typeface="+mn-lt"/>
              </a:rPr>
              <a:t>was three years old, </a:t>
            </a:r>
            <a:r>
              <a:rPr lang="en-US" sz="1800" b="1" dirty="0">
                <a:solidFill>
                  <a:srgbClr val="006DBF"/>
                </a:solidFill>
                <a:highlight>
                  <a:srgbClr val="FFFFFF"/>
                </a:highlight>
                <a:latin typeface="+mn-lt"/>
              </a:rPr>
              <a:t>his father </a:t>
            </a:r>
            <a:r>
              <a:rPr lang="en-US" sz="1800" dirty="0">
                <a:highlight>
                  <a:srgbClr val="FFFFFF"/>
                </a:highlight>
                <a:latin typeface="+mn-lt"/>
              </a:rPr>
              <a:t>wrote a poem about </a:t>
            </a:r>
            <a:r>
              <a:rPr lang="en-US" sz="1800" b="1" dirty="0">
                <a:solidFill>
                  <a:srgbClr val="FF0000"/>
                </a:solidFill>
                <a:highlight>
                  <a:srgbClr val="FFFFFF"/>
                </a:highlight>
                <a:latin typeface="+mn-lt"/>
              </a:rPr>
              <a:t>him</a:t>
            </a:r>
            <a:r>
              <a:rPr lang="en-US" sz="1800" dirty="0">
                <a:highlight>
                  <a:srgbClr val="FFFFFF"/>
                </a:highlight>
                <a:latin typeface="+mn-lt"/>
              </a:rPr>
              <a:t>. The poem was printed in a magazine for others to read. </a:t>
            </a:r>
            <a:r>
              <a:rPr lang="en-US" sz="1800" b="1" dirty="0">
                <a:solidFill>
                  <a:srgbClr val="006DBF"/>
                </a:solidFill>
                <a:highlight>
                  <a:srgbClr val="FFFFFF"/>
                </a:highlight>
                <a:latin typeface="+mn-lt"/>
              </a:rPr>
              <a:t>Mr. Robin </a:t>
            </a:r>
            <a:r>
              <a:rPr lang="en-US" sz="1800" dirty="0">
                <a:highlight>
                  <a:srgbClr val="FFFFFF"/>
                </a:highlight>
                <a:latin typeface="+mn-lt"/>
              </a:rPr>
              <a:t>then wrote a book </a:t>
            </a:r>
            <a:endParaRPr lang="en-US" sz="1200" dirty="0">
              <a:highlight>
                <a:srgbClr val="FFFFFF"/>
              </a:highlight>
              <a:latin typeface="+mn-lt"/>
            </a:endParaRPr>
          </a:p>
        </p:txBody>
      </p:sp>
    </p:spTree>
    <p:extLst>
      <p:ext uri="{BB962C8B-B14F-4D97-AF65-F5344CB8AC3E}">
        <p14:creationId xmlns:p14="http://schemas.microsoft.com/office/powerpoint/2010/main" val="167148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028C98-5652-5B3E-16CE-83369C620487}"/>
              </a:ext>
            </a:extLst>
          </p:cNvPr>
          <p:cNvSpPr>
            <a:spLocks noGrp="1"/>
          </p:cNvSpPr>
          <p:nvPr>
            <p:ph type="sldNum" sz="quarter" idx="12"/>
          </p:nvPr>
        </p:nvSpPr>
        <p:spPr/>
        <p:txBody>
          <a:bodyPr/>
          <a:lstStyle/>
          <a:p>
            <a:fld id="{ABBEE3BA-F264-1746-880E-39AD601DF2B1}" type="slidenum">
              <a:rPr lang="en-US" smtClean="0"/>
              <a:t>23</a:t>
            </a:fld>
            <a:endParaRPr lang="en-US"/>
          </a:p>
        </p:txBody>
      </p:sp>
      <p:sp>
        <p:nvSpPr>
          <p:cNvPr id="3" name="Content Placeholder 2">
            <a:extLst>
              <a:ext uri="{FF2B5EF4-FFF2-40B4-BE49-F238E27FC236}">
                <a16:creationId xmlns:a16="http://schemas.microsoft.com/office/drawing/2014/main" id="{7398BCCE-C055-2543-D8CE-57904A7D0D02}"/>
              </a:ext>
            </a:extLst>
          </p:cNvPr>
          <p:cNvSpPr>
            <a:spLocks noGrp="1"/>
          </p:cNvSpPr>
          <p:nvPr>
            <p:ph idx="1"/>
          </p:nvPr>
        </p:nvSpPr>
        <p:spPr>
          <a:xfrm>
            <a:off x="288009" y="987788"/>
            <a:ext cx="8705092" cy="5236243"/>
          </a:xfrm>
        </p:spPr>
        <p:txBody>
          <a:bodyPr>
            <a:normAutofit fontScale="92500"/>
          </a:bodyPr>
          <a:lstStyle/>
          <a:p>
            <a:r>
              <a:rPr lang="en-US" dirty="0"/>
              <a:t>Many applications attempt to automatically identify text as positive or negative, based on the words used.  </a:t>
            </a:r>
          </a:p>
          <a:p>
            <a:r>
              <a:rPr lang="en-US" dirty="0"/>
              <a:t>This is hard!  </a:t>
            </a:r>
          </a:p>
          <a:p>
            <a:pPr lvl="1"/>
            <a:r>
              <a:rPr lang="en-US" dirty="0"/>
              <a:t>“this movie was not a total waste of time!”</a:t>
            </a:r>
          </a:p>
          <a:p>
            <a:pPr lvl="1"/>
            <a:r>
              <a:rPr lang="en-US" dirty="0"/>
              <a:t>“reading this book was so engrossing it destroyed my desire to do anything else”</a:t>
            </a:r>
          </a:p>
          <a:p>
            <a:r>
              <a:rPr lang="en-US" dirty="0"/>
              <a:t>Nonetheless, we can use:</a:t>
            </a:r>
          </a:p>
          <a:p>
            <a:pPr lvl="1"/>
            <a:r>
              <a:rPr lang="en-US" dirty="0"/>
              <a:t>Existing lists of </a:t>
            </a:r>
            <a:r>
              <a:rPr lang="en-US" dirty="0" err="1"/>
              <a:t>good:bad</a:t>
            </a:r>
            <a:r>
              <a:rPr lang="en-US" dirty="0"/>
              <a:t> words (e.g. AFINN)</a:t>
            </a:r>
          </a:p>
          <a:p>
            <a:pPr lvl="1"/>
            <a:r>
              <a:rPr lang="en-US" dirty="0"/>
              <a:t>Labeled corpuses from existing domains as training data</a:t>
            </a:r>
          </a:p>
          <a:p>
            <a:pPr lvl="1"/>
            <a:r>
              <a:rPr lang="en-US" dirty="0"/>
              <a:t>Other existing tools: (e.g. VADER, </a:t>
            </a:r>
            <a:r>
              <a:rPr lang="en-US" dirty="0" err="1"/>
              <a:t>textblob</a:t>
            </a:r>
            <a:r>
              <a:rPr lang="en-US" dirty="0"/>
              <a:t>) more advanced than just counting words </a:t>
            </a:r>
          </a:p>
          <a:p>
            <a:pPr lvl="1"/>
            <a:r>
              <a:rPr lang="en-US" dirty="0"/>
              <a:t>More advanced methods use …</a:t>
            </a:r>
          </a:p>
        </p:txBody>
      </p:sp>
      <p:sp>
        <p:nvSpPr>
          <p:cNvPr id="2" name="Title 1">
            <a:extLst>
              <a:ext uri="{FF2B5EF4-FFF2-40B4-BE49-F238E27FC236}">
                <a16:creationId xmlns:a16="http://schemas.microsoft.com/office/drawing/2014/main" id="{6141F925-6192-B468-23E4-14A10D98EE16}"/>
              </a:ext>
            </a:extLst>
          </p:cNvPr>
          <p:cNvSpPr>
            <a:spLocks noGrp="1"/>
          </p:cNvSpPr>
          <p:nvPr>
            <p:ph type="title"/>
          </p:nvPr>
        </p:nvSpPr>
        <p:spPr>
          <a:xfrm>
            <a:off x="65001" y="36684"/>
            <a:ext cx="10515600" cy="1001559"/>
          </a:xfrm>
        </p:spPr>
        <p:txBody>
          <a:bodyPr/>
          <a:lstStyle/>
          <a:p>
            <a:r>
              <a:rPr lang="en-US" dirty="0"/>
              <a:t>Sentiment Analysis</a:t>
            </a:r>
          </a:p>
        </p:txBody>
      </p:sp>
      <p:pic>
        <p:nvPicPr>
          <p:cNvPr id="6" name="Picture 5" descr="A screenshot of a computer code&#10;&#10;Description automatically generated">
            <a:extLst>
              <a:ext uri="{FF2B5EF4-FFF2-40B4-BE49-F238E27FC236}">
                <a16:creationId xmlns:a16="http://schemas.microsoft.com/office/drawing/2014/main" id="{23C4D687-6054-F7EF-709B-0FA82DFBD27E}"/>
              </a:ext>
            </a:extLst>
          </p:cNvPr>
          <p:cNvPicPr>
            <a:picLocks noChangeAspect="1"/>
          </p:cNvPicPr>
          <p:nvPr/>
        </p:nvPicPr>
        <p:blipFill>
          <a:blip r:embed="rId3"/>
          <a:stretch>
            <a:fillRect/>
          </a:stretch>
        </p:blipFill>
        <p:spPr>
          <a:xfrm>
            <a:off x="9520151" y="1691062"/>
            <a:ext cx="1587500" cy="1422400"/>
          </a:xfrm>
          <a:prstGeom prst="rect">
            <a:avLst/>
          </a:prstGeom>
        </p:spPr>
      </p:pic>
      <p:pic>
        <p:nvPicPr>
          <p:cNvPr id="8" name="Picture 7" descr="A screenshot of a computer program&#10;&#10;Description automatically generated">
            <a:extLst>
              <a:ext uri="{FF2B5EF4-FFF2-40B4-BE49-F238E27FC236}">
                <a16:creationId xmlns:a16="http://schemas.microsoft.com/office/drawing/2014/main" id="{413470E6-70D0-57DA-EB80-37D9C7E6E1F9}"/>
              </a:ext>
            </a:extLst>
          </p:cNvPr>
          <p:cNvPicPr>
            <a:picLocks noChangeAspect="1"/>
          </p:cNvPicPr>
          <p:nvPr/>
        </p:nvPicPr>
        <p:blipFill>
          <a:blip r:embed="rId4"/>
          <a:stretch>
            <a:fillRect/>
          </a:stretch>
        </p:blipFill>
        <p:spPr>
          <a:xfrm>
            <a:off x="8993101" y="3766282"/>
            <a:ext cx="2641600" cy="1511300"/>
          </a:xfrm>
          <a:prstGeom prst="rect">
            <a:avLst/>
          </a:prstGeom>
        </p:spPr>
      </p:pic>
      <p:sp>
        <p:nvSpPr>
          <p:cNvPr id="9" name="TextBox 8">
            <a:extLst>
              <a:ext uri="{FF2B5EF4-FFF2-40B4-BE49-F238E27FC236}">
                <a16:creationId xmlns:a16="http://schemas.microsoft.com/office/drawing/2014/main" id="{C4E019F6-6B02-3341-4B14-7654B07EC959}"/>
              </a:ext>
            </a:extLst>
          </p:cNvPr>
          <p:cNvSpPr txBox="1"/>
          <p:nvPr/>
        </p:nvSpPr>
        <p:spPr>
          <a:xfrm>
            <a:off x="3191448" y="6400412"/>
            <a:ext cx="4262705" cy="276999"/>
          </a:xfrm>
          <a:prstGeom prst="rect">
            <a:avLst/>
          </a:prstGeom>
          <a:solidFill>
            <a:schemeClr val="bg2"/>
          </a:solidFill>
        </p:spPr>
        <p:txBody>
          <a:bodyPr wrap="none" rtlCol="0">
            <a:spAutoFit/>
          </a:bodyPr>
          <a:lstStyle/>
          <a:p>
            <a:pPr>
              <a:buNone/>
            </a:pPr>
            <a:r>
              <a:rPr lang="en-US" sz="1200" b="1" dirty="0">
                <a:latin typeface="Consolas" panose="020B0609020204030204" pitchFamily="49" charset="0"/>
                <a:cs typeface="Consolas" panose="020B0609020204030204" pitchFamily="49" charset="0"/>
              </a:rPr>
              <a:t>from</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nltk.corpus</a:t>
            </a:r>
            <a:r>
              <a:rPr lang="en-US" sz="1200" dirty="0">
                <a:latin typeface="Consolas" panose="020B0609020204030204" pitchFamily="49" charset="0"/>
                <a:cs typeface="Consolas" panose="020B0609020204030204" pitchFamily="49" charset="0"/>
              </a:rPr>
              <a:t> </a:t>
            </a:r>
            <a:r>
              <a:rPr lang="en-US" sz="1200" b="1" dirty="0">
                <a:latin typeface="Consolas" panose="020B0609020204030204" pitchFamily="49" charset="0"/>
                <a:cs typeface="Consolas" panose="020B0609020204030204" pitchFamily="49" charset="0"/>
              </a:rPr>
              <a:t>import</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movie_reviews</a:t>
            </a:r>
            <a:r>
              <a:rPr lang="en-US" sz="1200" dirty="0">
                <a:latin typeface="Consolas" panose="020B0609020204030204" pitchFamily="49" charset="0"/>
                <a:cs typeface="Consolas" panose="020B0609020204030204" pitchFamily="49" charset="0"/>
              </a:rPr>
              <a:t> </a:t>
            </a:r>
            <a:r>
              <a:rPr lang="en-US" sz="1200" b="1" dirty="0">
                <a:latin typeface="Consolas" panose="020B0609020204030204" pitchFamily="49" charset="0"/>
                <a:cs typeface="Consolas" panose="020B0609020204030204" pitchFamily="49" charset="0"/>
              </a:rPr>
              <a:t>as</a:t>
            </a:r>
            <a:r>
              <a:rPr lang="en-US" sz="1200" dirty="0">
                <a:latin typeface="Consolas" panose="020B0609020204030204" pitchFamily="49" charset="0"/>
                <a:cs typeface="Consolas" panose="020B0609020204030204" pitchFamily="49" charset="0"/>
              </a:rPr>
              <a:t> reviews</a:t>
            </a:r>
            <a:endParaRPr lang="en-US" sz="2000" dirty="0">
              <a:latin typeface="Consolas" panose="020B0609020204030204" pitchFamily="49" charset="0"/>
              <a:ea typeface="Tahoma" panose="020B0604030504040204" pitchFamily="34" charset="0"/>
              <a:cs typeface="Consolas" panose="020B0609020204030204" pitchFamily="49" charset="0"/>
            </a:endParaRPr>
          </a:p>
        </p:txBody>
      </p:sp>
    </p:spTree>
    <p:extLst>
      <p:ext uri="{BB962C8B-B14F-4D97-AF65-F5344CB8AC3E}">
        <p14:creationId xmlns:p14="http://schemas.microsoft.com/office/powerpoint/2010/main" val="156688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BAF0BB-AE3B-CBE6-551E-D5E6BBA07F3C}"/>
              </a:ext>
            </a:extLst>
          </p:cNvPr>
          <p:cNvSpPr>
            <a:spLocks noGrp="1"/>
          </p:cNvSpPr>
          <p:nvPr>
            <p:ph type="sldNum" sz="quarter" idx="12"/>
          </p:nvPr>
        </p:nvSpPr>
        <p:spPr/>
        <p:txBody>
          <a:bodyPr/>
          <a:lstStyle/>
          <a:p>
            <a:fld id="{ABBEE3BA-F264-1746-880E-39AD601DF2B1}" type="slidenum">
              <a:rPr lang="en-US" smtClean="0"/>
              <a:t>24</a:t>
            </a:fld>
            <a:endParaRPr lang="en-US"/>
          </a:p>
        </p:txBody>
      </p:sp>
      <p:sp>
        <p:nvSpPr>
          <p:cNvPr id="3" name="Content Placeholder 2">
            <a:extLst>
              <a:ext uri="{FF2B5EF4-FFF2-40B4-BE49-F238E27FC236}">
                <a16:creationId xmlns:a16="http://schemas.microsoft.com/office/drawing/2014/main" id="{04A3E219-760E-0C7B-B794-343A38C3E7CF}"/>
              </a:ext>
            </a:extLst>
          </p:cNvPr>
          <p:cNvSpPr>
            <a:spLocks noGrp="1"/>
          </p:cNvSpPr>
          <p:nvPr>
            <p:ph idx="1"/>
          </p:nvPr>
        </p:nvSpPr>
        <p:spPr>
          <a:xfrm>
            <a:off x="295872" y="572194"/>
            <a:ext cx="7519002" cy="6018875"/>
          </a:xfrm>
        </p:spPr>
        <p:txBody>
          <a:bodyPr>
            <a:noAutofit/>
          </a:bodyPr>
          <a:lstStyle/>
          <a:p>
            <a:r>
              <a:rPr lang="en-US" sz="2000" dirty="0"/>
              <a:t>Embeddings are a fairly recent approach to NLP </a:t>
            </a:r>
          </a:p>
          <a:p>
            <a:pPr lvl="1"/>
            <a:r>
              <a:rPr lang="en-US" sz="2000" dirty="0"/>
              <a:t>An alternative to TFIDF</a:t>
            </a:r>
          </a:p>
          <a:p>
            <a:r>
              <a:rPr lang="en-US" sz="2000" dirty="0"/>
              <a:t>Embeddings work like principal components, reducing a large dimensional space (all unique words) into a smaller one. </a:t>
            </a:r>
          </a:p>
          <a:p>
            <a:endParaRPr lang="en-US" sz="2000" dirty="0"/>
          </a:p>
          <a:p>
            <a:r>
              <a:rPr lang="en-US" sz="2000" dirty="0"/>
              <a:t>Words (sentences/documents) are “embedded” (or projected) into this space – so that they are near other words of similar meaning. </a:t>
            </a:r>
          </a:p>
          <a:p>
            <a:pPr lvl="1"/>
            <a:r>
              <a:rPr lang="en-US" sz="1600" dirty="0"/>
              <a:t>Embedding captures </a:t>
            </a:r>
            <a:r>
              <a:rPr lang="en-US" sz="1600" i="1" dirty="0"/>
              <a:t>meaning</a:t>
            </a:r>
            <a:r>
              <a:rPr lang="en-US" sz="1600" dirty="0"/>
              <a:t> and </a:t>
            </a:r>
            <a:r>
              <a:rPr lang="en-US" sz="1600" i="1" dirty="0"/>
              <a:t>context</a:t>
            </a:r>
            <a:r>
              <a:rPr lang="en-US" sz="1600" dirty="0"/>
              <a:t> of words (and sentences)</a:t>
            </a:r>
          </a:p>
          <a:p>
            <a:pPr marL="0" indent="0">
              <a:buNone/>
            </a:pPr>
            <a:endParaRPr lang="en-US" sz="2000" dirty="0"/>
          </a:p>
          <a:p>
            <a:r>
              <a:rPr lang="en-US" sz="2000" dirty="0"/>
              <a:t>Embeddings are learned from training data – so that words that appear together historically are close to each other</a:t>
            </a:r>
          </a:p>
          <a:p>
            <a:endParaRPr lang="en-US" sz="2000" kern="0" dirty="0"/>
          </a:p>
          <a:p>
            <a:r>
              <a:rPr lang="en-US" sz="2000" kern="0" dirty="0"/>
              <a:t>Similar words are together (happy </a:t>
            </a:r>
            <a:r>
              <a:rPr lang="en-US" sz="2000" kern="0" dirty="0">
                <a:sym typeface="Wingdings" pitchFamily="2" charset="2"/>
              </a:rPr>
              <a:t> joyful) but words can also have multiple meanings (Mustang  Jaguar  leopard).</a:t>
            </a:r>
            <a:endParaRPr lang="en-US" sz="2000" dirty="0">
              <a:sym typeface="Wingdings" pitchFamily="2" charset="2"/>
            </a:endParaRPr>
          </a:p>
          <a:p>
            <a:endParaRPr lang="en-US" sz="2000" kern="0" dirty="0"/>
          </a:p>
          <a:p>
            <a:r>
              <a:rPr lang="en-US" sz="2000" kern="0" dirty="0"/>
              <a:t>e.g. “espresso song” is near “Sabrina Carpenter” even though there are no words in common or synonyms </a:t>
            </a:r>
          </a:p>
          <a:p>
            <a:pPr marL="0" indent="0">
              <a:buNone/>
            </a:pPr>
            <a:endParaRPr lang="en-US" sz="1800" kern="0" dirty="0">
              <a:sym typeface="Wingdings" pitchFamily="2" charset="2"/>
            </a:endParaRPr>
          </a:p>
          <a:p>
            <a:endParaRPr lang="en-US" sz="1800" kern="0" dirty="0"/>
          </a:p>
          <a:p>
            <a:endParaRPr lang="en-US" sz="1800" dirty="0"/>
          </a:p>
        </p:txBody>
      </p:sp>
      <p:sp>
        <p:nvSpPr>
          <p:cNvPr id="2" name="Title 1">
            <a:extLst>
              <a:ext uri="{FF2B5EF4-FFF2-40B4-BE49-F238E27FC236}">
                <a16:creationId xmlns:a16="http://schemas.microsoft.com/office/drawing/2014/main" id="{0BCAD331-DE9A-0254-1F4B-4D5F466BDD4D}"/>
              </a:ext>
            </a:extLst>
          </p:cNvPr>
          <p:cNvSpPr>
            <a:spLocks noGrp="1"/>
          </p:cNvSpPr>
          <p:nvPr>
            <p:ph type="title"/>
          </p:nvPr>
        </p:nvSpPr>
        <p:spPr>
          <a:xfrm>
            <a:off x="0" y="8101"/>
            <a:ext cx="8229600" cy="729214"/>
          </a:xfrm>
        </p:spPr>
        <p:txBody>
          <a:bodyPr/>
          <a:lstStyle/>
          <a:p>
            <a:r>
              <a:rPr lang="en-US" dirty="0"/>
              <a:t>Embeddings </a:t>
            </a:r>
          </a:p>
        </p:txBody>
      </p:sp>
      <p:pic>
        <p:nvPicPr>
          <p:cNvPr id="1026" name="Picture 2">
            <a:extLst>
              <a:ext uri="{FF2B5EF4-FFF2-40B4-BE49-F238E27FC236}">
                <a16:creationId xmlns:a16="http://schemas.microsoft.com/office/drawing/2014/main" id="{657472F7-E1FF-3416-1467-DA5EBBC7B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085" y="2576306"/>
            <a:ext cx="4596915" cy="326045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screenshot of a computer program&#10;&#10;Description automatically generated">
            <a:extLst>
              <a:ext uri="{FF2B5EF4-FFF2-40B4-BE49-F238E27FC236}">
                <a16:creationId xmlns:a16="http://schemas.microsoft.com/office/drawing/2014/main" id="{1AFAC974-B76E-11CE-B1DC-D47994F03B9F}"/>
              </a:ext>
            </a:extLst>
          </p:cNvPr>
          <p:cNvPicPr>
            <a:picLocks noChangeAspect="1"/>
          </p:cNvPicPr>
          <p:nvPr/>
        </p:nvPicPr>
        <p:blipFill>
          <a:blip r:embed="rId4"/>
          <a:stretch>
            <a:fillRect/>
          </a:stretch>
        </p:blipFill>
        <p:spPr>
          <a:xfrm>
            <a:off x="7993420" y="867721"/>
            <a:ext cx="4016508" cy="1083683"/>
          </a:xfrm>
          <a:prstGeom prst="rect">
            <a:avLst/>
          </a:prstGeom>
        </p:spPr>
      </p:pic>
    </p:spTree>
    <p:extLst>
      <p:ext uri="{BB962C8B-B14F-4D97-AF65-F5344CB8AC3E}">
        <p14:creationId xmlns:p14="http://schemas.microsoft.com/office/powerpoint/2010/main" val="36113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5E8DC0-E68D-6652-9D8F-72C6881FC1F3}"/>
              </a:ext>
            </a:extLst>
          </p:cNvPr>
          <p:cNvSpPr>
            <a:spLocks noGrp="1"/>
          </p:cNvSpPr>
          <p:nvPr>
            <p:ph type="sldNum" sz="quarter" idx="12"/>
          </p:nvPr>
        </p:nvSpPr>
        <p:spPr/>
        <p:txBody>
          <a:bodyPr/>
          <a:lstStyle/>
          <a:p>
            <a:fld id="{ABBEE3BA-F264-1746-880E-39AD601DF2B1}" type="slidenum">
              <a:rPr lang="en-US" smtClean="0"/>
              <a:t>25</a:t>
            </a:fld>
            <a:endParaRPr lang="en-US"/>
          </a:p>
        </p:txBody>
      </p:sp>
      <p:sp>
        <p:nvSpPr>
          <p:cNvPr id="3" name="Content Placeholder 2">
            <a:extLst>
              <a:ext uri="{FF2B5EF4-FFF2-40B4-BE49-F238E27FC236}">
                <a16:creationId xmlns:a16="http://schemas.microsoft.com/office/drawing/2014/main" id="{6BAFCEF5-0824-B601-6D49-46029E8EB1C4}"/>
              </a:ext>
            </a:extLst>
          </p:cNvPr>
          <p:cNvSpPr>
            <a:spLocks noGrp="1"/>
          </p:cNvSpPr>
          <p:nvPr>
            <p:ph idx="1"/>
          </p:nvPr>
        </p:nvSpPr>
        <p:spPr>
          <a:xfrm>
            <a:off x="216975" y="935852"/>
            <a:ext cx="11406753" cy="5610722"/>
          </a:xfrm>
        </p:spPr>
        <p:txBody>
          <a:bodyPr>
            <a:noAutofit/>
          </a:bodyPr>
          <a:lstStyle/>
          <a:p>
            <a:r>
              <a:rPr lang="en-US" sz="1800" kern="0" dirty="0"/>
              <a:t>How to think of embeddings: </a:t>
            </a:r>
            <a:r>
              <a:rPr lang="en-US" sz="1800" i="1" kern="0" dirty="0"/>
              <a:t>A mathematical representation of the meaning of text</a:t>
            </a:r>
          </a:p>
          <a:p>
            <a:r>
              <a:rPr lang="en-US" sz="1800" kern="0" dirty="0"/>
              <a:t>Useful for </a:t>
            </a:r>
          </a:p>
          <a:p>
            <a:pPr lvl="1"/>
            <a:r>
              <a:rPr lang="en-US" sz="1800" kern="0" dirty="0"/>
              <a:t>Sentiment analysis of </a:t>
            </a:r>
            <a:r>
              <a:rPr lang="en-US" sz="1800" dirty="0"/>
              <a:t>social media or customer feedback</a:t>
            </a:r>
            <a:endParaRPr lang="en-US" sz="1800" kern="0" dirty="0"/>
          </a:p>
          <a:p>
            <a:pPr lvl="1"/>
            <a:r>
              <a:rPr lang="en-US" sz="1800" kern="0" dirty="0"/>
              <a:t>Clustering customer complaints, rep notes, tweets</a:t>
            </a:r>
          </a:p>
          <a:p>
            <a:pPr lvl="1"/>
            <a:r>
              <a:rPr lang="en-US" sz="1800" dirty="0"/>
              <a:t>Recommendation engines (e.g. finding similar products)</a:t>
            </a:r>
          </a:p>
          <a:p>
            <a:pPr lvl="1"/>
            <a:r>
              <a:rPr lang="en-US" sz="1800" dirty="0"/>
              <a:t>Chatbots and virtual assistants</a:t>
            </a:r>
          </a:p>
          <a:p>
            <a:pPr lvl="1"/>
            <a:r>
              <a:rPr lang="en-US" sz="1800" dirty="0"/>
              <a:t>All are </a:t>
            </a:r>
            <a:r>
              <a:rPr lang="en-US" sz="1800" kern="0" dirty="0"/>
              <a:t>easily fit into business pipelines</a:t>
            </a:r>
          </a:p>
          <a:p>
            <a:pPr marL="457200" lvl="1" indent="0">
              <a:buNone/>
            </a:pPr>
            <a:endParaRPr lang="en-US" sz="1800" kern="0" dirty="0"/>
          </a:p>
          <a:p>
            <a:r>
              <a:rPr lang="en-US" sz="1800" kern="0" dirty="0"/>
              <a:t>Pre-trained word embeddings you can use: </a:t>
            </a:r>
          </a:p>
          <a:p>
            <a:pPr lvl="1">
              <a:buClrTx/>
            </a:pPr>
            <a:r>
              <a:rPr lang="en-US" sz="1800" kern="0" dirty="0"/>
              <a:t>Word2vec</a:t>
            </a:r>
          </a:p>
          <a:p>
            <a:pPr lvl="1">
              <a:buClrTx/>
            </a:pPr>
            <a:r>
              <a:rPr lang="en-US" sz="1800" kern="0" dirty="0" err="1"/>
              <a:t>gloVe</a:t>
            </a:r>
            <a:endParaRPr lang="en-US" sz="1800" kern="0" dirty="0"/>
          </a:p>
          <a:p>
            <a:pPr lvl="1">
              <a:buClrTx/>
            </a:pPr>
            <a:r>
              <a:rPr lang="en-US" sz="1800" kern="0" dirty="0"/>
              <a:t>BERT </a:t>
            </a:r>
          </a:p>
          <a:p>
            <a:pPr lvl="1">
              <a:buClrTx/>
            </a:pPr>
            <a:r>
              <a:rPr lang="en-US" sz="1800" kern="0" dirty="0"/>
              <a:t>Others from Hugging Face</a:t>
            </a:r>
          </a:p>
          <a:p>
            <a:pPr marL="457200" lvl="1" indent="0">
              <a:buClrTx/>
              <a:buNone/>
            </a:pPr>
            <a:endParaRPr lang="en-US" sz="1800" kern="0" dirty="0"/>
          </a:p>
          <a:p>
            <a:pPr marL="0" indent="0">
              <a:buNone/>
            </a:pPr>
            <a:r>
              <a:rPr lang="en-US" sz="1800" kern="0" dirty="0"/>
              <a:t>GenAI:  Embedding prompts are the input to a complex neural network which predicts the next token. </a:t>
            </a:r>
          </a:p>
          <a:p>
            <a:pPr marL="457200" lvl="1" indent="0">
              <a:buNone/>
            </a:pPr>
            <a:endParaRPr lang="en-US" sz="1400" kern="0" dirty="0"/>
          </a:p>
          <a:p>
            <a:pPr lvl="1">
              <a:buClrTx/>
              <a:buFontTx/>
              <a:buChar char="-"/>
            </a:pPr>
            <a:r>
              <a:rPr lang="en-US" sz="1800" kern="0" dirty="0"/>
              <a:t>	</a:t>
            </a:r>
          </a:p>
          <a:p>
            <a:pPr marL="457200" lvl="1" indent="0">
              <a:buClrTx/>
              <a:buNone/>
            </a:pPr>
            <a:endParaRPr lang="en-US" sz="1800" kern="0" dirty="0"/>
          </a:p>
          <a:p>
            <a:endParaRPr lang="en-US" sz="1800" dirty="0"/>
          </a:p>
        </p:txBody>
      </p:sp>
      <p:sp>
        <p:nvSpPr>
          <p:cNvPr id="4" name="Title 3">
            <a:extLst>
              <a:ext uri="{FF2B5EF4-FFF2-40B4-BE49-F238E27FC236}">
                <a16:creationId xmlns:a16="http://schemas.microsoft.com/office/drawing/2014/main" id="{F8862DD4-1803-7CD0-8530-9D951DB0C91B}"/>
              </a:ext>
            </a:extLst>
          </p:cNvPr>
          <p:cNvSpPr>
            <a:spLocks noGrp="1"/>
          </p:cNvSpPr>
          <p:nvPr>
            <p:ph type="title"/>
          </p:nvPr>
        </p:nvSpPr>
        <p:spPr>
          <a:xfrm>
            <a:off x="0" y="870"/>
            <a:ext cx="10515600" cy="1001559"/>
          </a:xfrm>
        </p:spPr>
        <p:txBody>
          <a:bodyPr/>
          <a:lstStyle/>
          <a:p>
            <a:r>
              <a:rPr lang="en-US" dirty="0"/>
              <a:t>Why Embeddings?</a:t>
            </a:r>
          </a:p>
        </p:txBody>
      </p:sp>
      <p:pic>
        <p:nvPicPr>
          <p:cNvPr id="5" name="Picture 4" descr="What is Hugging Face? | IBM">
            <a:extLst>
              <a:ext uri="{FF2B5EF4-FFF2-40B4-BE49-F238E27FC236}">
                <a16:creationId xmlns:a16="http://schemas.microsoft.com/office/drawing/2014/main" id="{D58E3394-C67C-F601-E766-932E66284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8343" y="782839"/>
            <a:ext cx="3000213" cy="22065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A2ADC4-BB4C-48AF-35E5-358B69979340}"/>
              </a:ext>
            </a:extLst>
          </p:cNvPr>
          <p:cNvSpPr txBox="1"/>
          <p:nvPr/>
        </p:nvSpPr>
        <p:spPr>
          <a:xfrm>
            <a:off x="7671659" y="2299990"/>
            <a:ext cx="4193583" cy="3170099"/>
          </a:xfrm>
          <a:prstGeom prst="rect">
            <a:avLst/>
          </a:prstGeom>
          <a:solidFill>
            <a:schemeClr val="bg2"/>
          </a:solidFill>
        </p:spPr>
        <p:txBody>
          <a:bodyPr wrap="square" rtlCol="0">
            <a:spAutoFit/>
          </a:bodyPr>
          <a:lstStyle/>
          <a:p>
            <a:pPr algn="ctr"/>
            <a:endParaRPr lang="en-US" sz="2000" dirty="0">
              <a:latin typeface="Tahoma" panose="020B0604030504040204" pitchFamily="34" charset="0"/>
              <a:ea typeface="Tahoma" panose="020B0604030504040204" pitchFamily="34" charset="0"/>
              <a:cs typeface="Tahoma" panose="020B0604030504040204" pitchFamily="34" charset="0"/>
            </a:endParaRPr>
          </a:p>
          <a:p>
            <a:pPr algn="ctr"/>
            <a:r>
              <a:rPr lang="en-US" sz="2000" dirty="0" err="1">
                <a:latin typeface="Tahoma" panose="020B0604030504040204" pitchFamily="34" charset="0"/>
                <a:ea typeface="Tahoma" panose="020B0604030504040204" pitchFamily="34" charset="0"/>
                <a:cs typeface="Tahoma" panose="020B0604030504040204" pitchFamily="34" charset="0"/>
              </a:rPr>
              <a:t>HuggingFace</a:t>
            </a:r>
            <a:r>
              <a:rPr lang="en-US" sz="2000" dirty="0">
                <a:latin typeface="Tahoma" panose="020B0604030504040204" pitchFamily="34" charset="0"/>
                <a:ea typeface="Tahoma" panose="020B0604030504040204" pitchFamily="34" charset="0"/>
                <a:cs typeface="Tahoma" panose="020B0604030504040204" pitchFamily="34" charset="0"/>
              </a:rPr>
              <a:t> is a repository of pre-trained embeddings you can use off the shelf</a:t>
            </a:r>
          </a:p>
          <a:p>
            <a:pPr algn="ctr"/>
            <a:endParaRPr lang="en-US" sz="2000" dirty="0">
              <a:latin typeface="Tahoma" panose="020B0604030504040204" pitchFamily="34" charset="0"/>
              <a:ea typeface="Tahoma" panose="020B0604030504040204" pitchFamily="34" charset="0"/>
              <a:cs typeface="Tahoma" panose="020B0604030504040204" pitchFamily="34" charset="0"/>
            </a:endParaRPr>
          </a:p>
          <a:p>
            <a:pPr algn="ctr"/>
            <a:r>
              <a:rPr lang="en-US" sz="2000" dirty="0">
                <a:latin typeface="Tahoma" panose="020B0604030504040204" pitchFamily="34" charset="0"/>
                <a:ea typeface="Tahoma" panose="020B0604030504040204" pitchFamily="34" charset="0"/>
                <a:cs typeface="Tahoma" panose="020B0604030504040204" pitchFamily="34" charset="0"/>
              </a:rPr>
              <a:t>Embeddings differ based on the corpus that trained them</a:t>
            </a:r>
          </a:p>
          <a:p>
            <a:pPr algn="ctr"/>
            <a:endParaRPr lang="en-US" sz="2000" dirty="0">
              <a:latin typeface="Tahoma" panose="020B0604030504040204" pitchFamily="34" charset="0"/>
              <a:ea typeface="Tahoma" panose="020B0604030504040204" pitchFamily="34" charset="0"/>
              <a:cs typeface="Tahoma" panose="020B0604030504040204" pitchFamily="34" charset="0"/>
            </a:endParaRPr>
          </a:p>
          <a:p>
            <a:pPr algn="ctr"/>
            <a:r>
              <a:rPr lang="en-US" sz="2000" dirty="0">
                <a:latin typeface="Tahoma" panose="020B0604030504040204" pitchFamily="34" charset="0"/>
                <a:ea typeface="Tahoma" panose="020B0604030504040204" pitchFamily="34" charset="0"/>
                <a:cs typeface="Tahoma" panose="020B0604030504040204" pitchFamily="34" charset="0"/>
              </a:rPr>
              <a:t>Many different domains, collections, etc. </a:t>
            </a:r>
          </a:p>
        </p:txBody>
      </p:sp>
    </p:spTree>
    <p:extLst>
      <p:ext uri="{BB962C8B-B14F-4D97-AF65-F5344CB8AC3E}">
        <p14:creationId xmlns:p14="http://schemas.microsoft.com/office/powerpoint/2010/main" val="194697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1018-D321-48FA-A8DB-35A076B17E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B2C6C6-2D6E-CB5F-8F8B-B92C45CE3B6A}"/>
              </a:ext>
            </a:extLst>
          </p:cNvPr>
          <p:cNvSpPr>
            <a:spLocks noGrp="1"/>
          </p:cNvSpPr>
          <p:nvPr>
            <p:ph type="sldNum" sz="quarter" idx="12"/>
          </p:nvPr>
        </p:nvSpPr>
        <p:spPr/>
        <p:txBody>
          <a:bodyPr/>
          <a:lstStyle/>
          <a:p>
            <a:fld id="{ABBEE3BA-F264-1746-880E-39AD601DF2B1}" type="slidenum">
              <a:rPr lang="en-US" smtClean="0"/>
              <a:t>26</a:t>
            </a:fld>
            <a:endParaRPr lang="en-US"/>
          </a:p>
        </p:txBody>
      </p:sp>
      <p:sp>
        <p:nvSpPr>
          <p:cNvPr id="6" name="Title 5">
            <a:extLst>
              <a:ext uri="{FF2B5EF4-FFF2-40B4-BE49-F238E27FC236}">
                <a16:creationId xmlns:a16="http://schemas.microsoft.com/office/drawing/2014/main" id="{4C5E2775-45E0-89D9-2268-F187BA83612F}"/>
              </a:ext>
            </a:extLst>
          </p:cNvPr>
          <p:cNvSpPr>
            <a:spLocks noGrp="1"/>
          </p:cNvSpPr>
          <p:nvPr>
            <p:ph type="title"/>
          </p:nvPr>
        </p:nvSpPr>
        <p:spPr>
          <a:xfrm>
            <a:off x="-10332" y="1959430"/>
            <a:ext cx="12202332" cy="1251554"/>
          </a:xfrm>
          <a:solidFill>
            <a:schemeClr val="accent2"/>
          </a:solidFill>
        </p:spPr>
        <p:txBody>
          <a:bodyPr>
            <a:normAutofit fontScale="90000"/>
          </a:bodyPr>
          <a:lstStyle/>
          <a:p>
            <a:r>
              <a:rPr lang="en-US" dirty="0">
                <a:solidFill>
                  <a:schemeClr val="bg1"/>
                </a:solidFill>
              </a:rPr>
              <a:t>Topic Modelling and Sentiment</a:t>
            </a:r>
            <a:br>
              <a:rPr lang="en-US" dirty="0">
                <a:solidFill>
                  <a:schemeClr val="bg1"/>
                </a:solidFill>
              </a:rPr>
            </a:br>
            <a:r>
              <a:rPr lang="en-US" dirty="0">
                <a:solidFill>
                  <a:schemeClr val="bg1"/>
                </a:solidFill>
              </a:rPr>
              <a:t>- OpenAI API</a:t>
            </a:r>
          </a:p>
        </p:txBody>
      </p:sp>
      <p:sp>
        <p:nvSpPr>
          <p:cNvPr id="4" name="TextBox 3">
            <a:extLst>
              <a:ext uri="{FF2B5EF4-FFF2-40B4-BE49-F238E27FC236}">
                <a16:creationId xmlns:a16="http://schemas.microsoft.com/office/drawing/2014/main" id="{4899BAF1-C720-D44C-202A-FCCBF724B6D3}"/>
              </a:ext>
            </a:extLst>
          </p:cNvPr>
          <p:cNvSpPr txBox="1"/>
          <p:nvPr/>
        </p:nvSpPr>
        <p:spPr>
          <a:xfrm>
            <a:off x="5627859" y="3446963"/>
            <a:ext cx="1934504" cy="400110"/>
          </a:xfrm>
          <a:prstGeom prst="rect">
            <a:avLst/>
          </a:prstGeom>
          <a:solidFill>
            <a:schemeClr val="bg2"/>
          </a:solid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T9_SOTU.ipynb</a:t>
            </a:r>
          </a:p>
        </p:txBody>
      </p:sp>
    </p:spTree>
    <p:extLst>
      <p:ext uri="{BB962C8B-B14F-4D97-AF65-F5344CB8AC3E}">
        <p14:creationId xmlns:p14="http://schemas.microsoft.com/office/powerpoint/2010/main" val="3772211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9A9C8E-452E-4B89-4220-527BDF7C6986}"/>
              </a:ext>
            </a:extLst>
          </p:cNvPr>
          <p:cNvSpPr>
            <a:spLocks noGrp="1"/>
          </p:cNvSpPr>
          <p:nvPr>
            <p:ph type="sldNum" sz="quarter" idx="12"/>
          </p:nvPr>
        </p:nvSpPr>
        <p:spPr/>
        <p:txBody>
          <a:bodyPr/>
          <a:lstStyle/>
          <a:p>
            <a:fld id="{ABBEE3BA-F264-1746-880E-39AD601DF2B1}" type="slidenum">
              <a:rPr lang="en-US" smtClean="0"/>
              <a:t>27</a:t>
            </a:fld>
            <a:endParaRPr lang="en-US"/>
          </a:p>
        </p:txBody>
      </p:sp>
      <p:sp>
        <p:nvSpPr>
          <p:cNvPr id="3" name="Content Placeholder 2">
            <a:extLst>
              <a:ext uri="{FF2B5EF4-FFF2-40B4-BE49-F238E27FC236}">
                <a16:creationId xmlns:a16="http://schemas.microsoft.com/office/drawing/2014/main" id="{FE7CB2F1-2B67-AA04-644F-F02DE0A9A91D}"/>
              </a:ext>
            </a:extLst>
          </p:cNvPr>
          <p:cNvSpPr>
            <a:spLocks noGrp="1"/>
          </p:cNvSpPr>
          <p:nvPr>
            <p:ph idx="1"/>
          </p:nvPr>
        </p:nvSpPr>
        <p:spPr>
          <a:xfrm>
            <a:off x="1685764" y="1079521"/>
            <a:ext cx="9287036" cy="5379486"/>
          </a:xfrm>
        </p:spPr>
        <p:txBody>
          <a:bodyPr>
            <a:normAutofit lnSpcReduction="10000"/>
          </a:bodyPr>
          <a:lstStyle/>
          <a:p>
            <a:r>
              <a:rPr lang="en-US" sz="2400" dirty="0"/>
              <a:t>Text is Data!  📊</a:t>
            </a:r>
          </a:p>
          <a:p>
            <a:pPr lvl="1"/>
            <a:r>
              <a:rPr lang="en-US" sz="2000" dirty="0"/>
              <a:t>TF/IDF enables you to use your toolbox</a:t>
            </a:r>
          </a:p>
          <a:p>
            <a:r>
              <a:rPr lang="en-US" sz="2400" dirty="0"/>
              <a:t>Pre-processing text is important for success 👩‍💻</a:t>
            </a:r>
          </a:p>
          <a:p>
            <a:pPr lvl="1"/>
            <a:r>
              <a:rPr lang="en-US" sz="2000" dirty="0"/>
              <a:t>Text is messy!</a:t>
            </a:r>
          </a:p>
          <a:p>
            <a:pPr lvl="1"/>
            <a:r>
              <a:rPr lang="en-US" sz="2000" dirty="0"/>
              <a:t>Removing punctuation, numbers, </a:t>
            </a:r>
            <a:r>
              <a:rPr lang="en-US" sz="2000" dirty="0" err="1"/>
              <a:t>stopwords</a:t>
            </a:r>
            <a:r>
              <a:rPr lang="en-US" sz="2000" dirty="0"/>
              <a:t>; stemming, tokenization</a:t>
            </a:r>
          </a:p>
          <a:p>
            <a:r>
              <a:rPr lang="en-US" sz="2400" dirty="0"/>
              <a:t>Naïve Bayes</a:t>
            </a:r>
          </a:p>
          <a:p>
            <a:pPr lvl="1"/>
            <a:r>
              <a:rPr lang="en-US" sz="2000" dirty="0"/>
              <a:t>A new tool for your toolbox  🧰</a:t>
            </a:r>
          </a:p>
          <a:p>
            <a:pPr lvl="1"/>
            <a:r>
              <a:rPr lang="en-US" sz="2000" dirty="0"/>
              <a:t>Built from conditional probability</a:t>
            </a:r>
          </a:p>
          <a:p>
            <a:pPr lvl="1"/>
            <a:r>
              <a:rPr lang="en-US" sz="2000" dirty="0"/>
              <a:t>Naïve (conditional independence of terms) + Bayes (flip the conditional) </a:t>
            </a:r>
          </a:p>
          <a:p>
            <a:r>
              <a:rPr lang="en-US" sz="2400" dirty="0"/>
              <a:t>Many applications 📱</a:t>
            </a:r>
          </a:p>
          <a:p>
            <a:pPr lvl="1"/>
            <a:r>
              <a:rPr lang="en-US" sz="2000" dirty="0"/>
              <a:t>Clustering/topic modelling</a:t>
            </a:r>
          </a:p>
          <a:p>
            <a:pPr lvl="1"/>
            <a:r>
              <a:rPr lang="en-US" sz="2000" dirty="0"/>
              <a:t>Summarization </a:t>
            </a:r>
          </a:p>
          <a:p>
            <a:pPr lvl="1"/>
            <a:r>
              <a:rPr lang="en-US" sz="2000" dirty="0"/>
              <a:t>Sentiment</a:t>
            </a:r>
          </a:p>
          <a:p>
            <a:pPr lvl="1"/>
            <a:r>
              <a:rPr lang="en-US" sz="2000" dirty="0"/>
              <a:t>Gen AI? </a:t>
            </a:r>
          </a:p>
        </p:txBody>
      </p:sp>
      <p:sp>
        <p:nvSpPr>
          <p:cNvPr id="2" name="Title 1">
            <a:extLst>
              <a:ext uri="{FF2B5EF4-FFF2-40B4-BE49-F238E27FC236}">
                <a16:creationId xmlns:a16="http://schemas.microsoft.com/office/drawing/2014/main" id="{6E404027-6391-E8BF-6186-2AB229BD2946}"/>
              </a:ext>
            </a:extLst>
          </p:cNvPr>
          <p:cNvSpPr>
            <a:spLocks noGrp="1"/>
          </p:cNvSpPr>
          <p:nvPr>
            <p:ph type="title"/>
          </p:nvPr>
        </p:nvSpPr>
        <p:spPr>
          <a:xfrm>
            <a:off x="0" y="0"/>
            <a:ext cx="10515600" cy="1001559"/>
          </a:xfrm>
        </p:spPr>
        <p:txBody>
          <a:bodyPr/>
          <a:lstStyle/>
          <a:p>
            <a:r>
              <a:rPr lang="en-US" dirty="0"/>
              <a:t>Text / NLP : Summary </a:t>
            </a:r>
          </a:p>
        </p:txBody>
      </p:sp>
    </p:spTree>
    <p:extLst>
      <p:ext uri="{BB962C8B-B14F-4D97-AF65-F5344CB8AC3E}">
        <p14:creationId xmlns:p14="http://schemas.microsoft.com/office/powerpoint/2010/main" val="313857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LSL_PowerPoint_Template">
  <a:themeElements>
    <a:clrScheme name="Stern Color Palette">
      <a:dk1>
        <a:srgbClr val="000000"/>
      </a:dk1>
      <a:lt1>
        <a:srgbClr val="FFFFFF"/>
      </a:lt1>
      <a:dk2>
        <a:srgbClr val="0E2841"/>
      </a:dk2>
      <a:lt2>
        <a:srgbClr val="EEE6F3"/>
      </a:lt2>
      <a:accent1>
        <a:srgbClr val="57068C"/>
      </a:accent1>
      <a:accent2>
        <a:srgbClr val="8900E1"/>
      </a:accent2>
      <a:accent3>
        <a:srgbClr val="330661"/>
      </a:accent3>
      <a:accent4>
        <a:srgbClr val="702B9D"/>
      </a:accent4>
      <a:accent5>
        <a:srgbClr val="A02B93"/>
      </a:accent5>
      <a:accent6>
        <a:srgbClr val="7B59A6"/>
      </a:accent6>
      <a:hlink>
        <a:srgbClr val="009B8A"/>
      </a:hlink>
      <a:folHlink>
        <a:srgbClr val="FB0F78"/>
      </a:folHlink>
    </a:clrScheme>
    <a:fontScheme name="LSL Template">
      <a:majorFont>
        <a:latin typeface="Montserrat"/>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400" dirty="0" smtClean="0">
            <a:latin typeface="Montserrat" pitchFamily="2" charset="77"/>
          </a:defRPr>
        </a:defPPr>
      </a:lstStyle>
    </a:txDef>
  </a:objectDefaults>
  <a:extraClrSchemeLst/>
  <a:extLst>
    <a:ext uri="{05A4C25C-085E-4340-85A3-A5531E510DB2}">
      <thm15:themeFamily xmlns:thm15="http://schemas.microsoft.com/office/thememl/2012/main" name="LSL_PowerPoint_Template" id="{21962180-B26F-4A46-B8B0-B7D5112C3D72}" vid="{BB355436-7ED7-E64D-88EB-D09D3F4BC2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LSL_PowerPoint_Template</Template>
  <TotalTime>53210</TotalTime>
  <Words>2702</Words>
  <Application>Microsoft Macintosh PowerPoint</Application>
  <PresentationFormat>Widescreen</PresentationFormat>
  <Paragraphs>400</Paragraphs>
  <Slides>27</Slides>
  <Notes>22</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Calibri</vt:lpstr>
      <vt:lpstr>Cambria Math</vt:lpstr>
      <vt:lpstr>Consolas</vt:lpstr>
      <vt:lpstr>Helvetica Neue</vt:lpstr>
      <vt:lpstr>MinionPro</vt:lpstr>
      <vt:lpstr>Montserrat</vt:lpstr>
      <vt:lpstr>Montserrat SemiBold</vt:lpstr>
      <vt:lpstr>Segoe Print</vt:lpstr>
      <vt:lpstr>Tahoma</vt:lpstr>
      <vt:lpstr>Wingdings</vt:lpstr>
      <vt:lpstr>LSL_PowerPoint_Template</vt:lpstr>
      <vt:lpstr>Topic 9 – Text Modelling </vt:lpstr>
      <vt:lpstr>Motivating example: Spam</vt:lpstr>
      <vt:lpstr>Overview of Text Mining</vt:lpstr>
      <vt:lpstr>Text Analysis is Hard!</vt:lpstr>
      <vt:lpstr>Representing Text for Data Science</vt:lpstr>
      <vt:lpstr>Preparing Text for Modelling</vt:lpstr>
      <vt:lpstr>Text Mining: Pre-processing</vt:lpstr>
      <vt:lpstr>Simple Analysis: Bag of Words</vt:lpstr>
      <vt:lpstr>From Unstructured to Structured</vt:lpstr>
      <vt:lpstr>Term-Frequency Table (TF)</vt:lpstr>
      <vt:lpstr>Inverse Document Frequency (IDF)</vt:lpstr>
      <vt:lpstr>Representing Text: TFIDF</vt:lpstr>
      <vt:lpstr>NLP using TFIDF</vt:lpstr>
      <vt:lpstr>Naïve Bayes:  Classification for text </vt:lpstr>
      <vt:lpstr>Naïve Bayes for Classification </vt:lpstr>
      <vt:lpstr>Naïve Bayes for Classification </vt:lpstr>
      <vt:lpstr>Why Naïve Bayes for text??</vt:lpstr>
      <vt:lpstr>Naïve Bayes Example</vt:lpstr>
      <vt:lpstr>Using TFIDF / Naïve Bayes</vt:lpstr>
      <vt:lpstr>NLP: Other Topics</vt:lpstr>
      <vt:lpstr>Topic Modelling – LSA/LDA, etc</vt:lpstr>
      <vt:lpstr>Named Entity Recognition</vt:lpstr>
      <vt:lpstr>Sentiment Analysis</vt:lpstr>
      <vt:lpstr>Embeddings </vt:lpstr>
      <vt:lpstr>Why Embeddings?</vt:lpstr>
      <vt:lpstr>Topic Modelling and Sentiment - OpenAI API</vt:lpstr>
      <vt:lpstr>Text / NLP : 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volinsky</dc:creator>
  <cp:lastModifiedBy>chris volinsky</cp:lastModifiedBy>
  <cp:revision>59</cp:revision>
  <dcterms:created xsi:type="dcterms:W3CDTF">2023-07-07T20:20:38Z</dcterms:created>
  <dcterms:modified xsi:type="dcterms:W3CDTF">2025-11-10T15:16:39Z</dcterms:modified>
</cp:coreProperties>
</file>