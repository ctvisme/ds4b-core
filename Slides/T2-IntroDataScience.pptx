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4"/>
  </p:notesMasterIdLst>
  <p:sldIdLst>
    <p:sldId id="838" r:id="rId2"/>
    <p:sldId id="832" r:id="rId3"/>
    <p:sldId id="257" r:id="rId4"/>
    <p:sldId id="835" r:id="rId5"/>
    <p:sldId id="279" r:id="rId6"/>
    <p:sldId id="273" r:id="rId7"/>
    <p:sldId id="265" r:id="rId8"/>
    <p:sldId id="260" r:id="rId9"/>
    <p:sldId id="710" r:id="rId10"/>
    <p:sldId id="830" r:id="rId11"/>
    <p:sldId id="831" r:id="rId12"/>
    <p:sldId id="711" r:id="rId13"/>
    <p:sldId id="714" r:id="rId14"/>
    <p:sldId id="712" r:id="rId15"/>
    <p:sldId id="718" r:id="rId16"/>
    <p:sldId id="721" r:id="rId17"/>
    <p:sldId id="722" r:id="rId18"/>
    <p:sldId id="723" r:id="rId19"/>
    <p:sldId id="724" r:id="rId20"/>
    <p:sldId id="725" r:id="rId21"/>
    <p:sldId id="634" r:id="rId22"/>
    <p:sldId id="82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5"/>
    <p:restoredTop sz="68356"/>
  </p:normalViewPr>
  <p:slideViewPr>
    <p:cSldViewPr snapToGrid="0">
      <p:cViewPr varScale="1">
        <p:scale>
          <a:sx n="71" d="100"/>
          <a:sy n="71" d="100"/>
        </p:scale>
        <p:origin x="15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churn? Why is it important?</a:t>
            </a:r>
          </a:p>
          <a:p>
            <a:endParaRPr lang="en-US" dirty="0"/>
          </a:p>
          <a:p>
            <a:r>
              <a:rPr lang="en-US" dirty="0"/>
              <a:t>One basis point = bp = .0001 x 70M = 7000 customers you save with one bp improvement of churn x $100 per month = 700k x 12 = 8.4M</a:t>
            </a:r>
          </a:p>
          <a:p>
            <a:endParaRPr lang="en-US" dirty="0"/>
          </a:p>
          <a:p>
            <a:r>
              <a:rPr lang="en-US" dirty="0"/>
              <a:t>Big Question / Small question</a:t>
            </a:r>
          </a:p>
          <a:p>
            <a:endParaRPr lang="en-US" dirty="0"/>
          </a:p>
          <a:p>
            <a:r>
              <a:rPr lang="en-US" dirty="0"/>
              <a:t>Offer: what is it, how much does it cost, can you give it to everybody, is there a downside to giving it to someone who didn’t need it? </a:t>
            </a:r>
          </a:p>
          <a:p>
            <a:r>
              <a:rPr lang="en-US" dirty="0"/>
              <a:t>One year, get one month free, 20% of next three months?  What is their expectation ? </a:t>
            </a:r>
          </a:p>
          <a:p>
            <a:endParaRPr lang="en-US" dirty="0"/>
          </a:p>
          <a:p>
            <a:r>
              <a:rPr lang="en-US" dirty="0"/>
              <a:t>Output/Goal of model: predict who will take the offer?  Why people leave?  Who is likely to leave? What training set do you need to collect?  </a:t>
            </a:r>
          </a:p>
          <a:p>
            <a:endParaRPr lang="en-US" dirty="0"/>
          </a:p>
          <a:p>
            <a:r>
              <a:rPr lang="en-US" dirty="0"/>
              <a:t>Goal: send marketing a list of who to make the offer to.</a:t>
            </a:r>
          </a:p>
          <a:p>
            <a:endParaRPr lang="en-US" dirty="0"/>
          </a:p>
          <a:p>
            <a:r>
              <a:rPr lang="en-US" dirty="0"/>
              <a:t>What is success?  30% take the offer.  How do we know that these people wouldn’t have stayed anyway? </a:t>
            </a:r>
          </a:p>
          <a:p>
            <a:endParaRPr lang="en-US" dirty="0"/>
          </a:p>
          <a:p>
            <a:r>
              <a:rPr lang="en-US" dirty="0"/>
              <a:t>Will our action solve the big problem? Don’t know!!</a:t>
            </a:r>
          </a:p>
          <a:p>
            <a:endParaRPr lang="en-US" dirty="0"/>
          </a:p>
          <a:p>
            <a:r>
              <a:rPr lang="en-US" dirty="0"/>
              <a:t>What comes from the algorithm?</a:t>
            </a:r>
          </a:p>
          <a:p>
            <a:r>
              <a:rPr lang="en-US" dirty="0"/>
              <a:t>We also need decision logic.</a:t>
            </a:r>
          </a:p>
          <a:p>
            <a:endParaRPr lang="en-US" dirty="0"/>
          </a:p>
          <a:p>
            <a:r>
              <a:rPr lang="en-US" dirty="0"/>
              <a:t>What is the outcome?  Who to send the plan to, or who will take the plan, or who will leave? </a:t>
            </a:r>
          </a:p>
          <a:p>
            <a:endParaRPr lang="en-US" dirty="0"/>
          </a:p>
          <a:p>
            <a:r>
              <a:rPr lang="en-US" dirty="0"/>
              <a:t>Or who will be impacted by the plan?  These are all different things!</a:t>
            </a:r>
          </a:p>
          <a:p>
            <a:endParaRPr lang="en-US" dirty="0"/>
          </a:p>
          <a:p>
            <a:r>
              <a:rPr lang="en-US" dirty="0"/>
              <a:t>Final question…why not just make the offer to everybody?</a:t>
            </a:r>
          </a:p>
          <a:p>
            <a:endParaRPr lang="en-US" dirty="0"/>
          </a:p>
          <a:p>
            <a:r>
              <a:rPr lang="en-US" dirty="0"/>
              <a:t>MAJOR POINTS / WRAPUP:</a:t>
            </a:r>
          </a:p>
          <a:p>
            <a:pPr marL="171450" indent="-171450">
              <a:buFontTx/>
              <a:buChar char="-"/>
            </a:pPr>
            <a:r>
              <a:rPr lang="en-US" dirty="0"/>
              <a:t>Business goal and DS goal are different but need to be aligned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parts of the business might have different goals, output/action/evaluation success needs to be aligned to the business problem. 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you are not asking the right question, the DS will fail. </a:t>
            </a:r>
          </a:p>
          <a:p>
            <a:pPr marL="171450" indent="-171450">
              <a:buFontTx/>
              <a:buChar char="-"/>
            </a:pPr>
            <a:r>
              <a:rPr lang="en-US" dirty="0"/>
              <a:t>Anything ethical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“Data science is just statistics with better marketing”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unknown</a:t>
            </a:r>
          </a:p>
          <a:p>
            <a:endParaRPr lang="en-US" dirty="0"/>
          </a:p>
          <a:p>
            <a:r>
              <a:rPr lang="en-US" dirty="0"/>
              <a:t>Pros and cons to these two takes: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Sometimes rigor is really important – medical testing, etc. </a:t>
            </a:r>
          </a:p>
          <a:p>
            <a:pPr marL="171450" indent="-171450">
              <a:buFontTx/>
              <a:buChar char="-"/>
            </a:pPr>
            <a:r>
              <a:rPr lang="en-US" dirty="0"/>
              <a:t>Depends on the situation. </a:t>
            </a:r>
          </a:p>
          <a:p>
            <a:endParaRPr lang="en-US" dirty="0"/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Distribution focused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focused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Focused on models for understanding variable relationships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Focused on algorithms for prediction</a:t>
            </a:r>
            <a:endParaRPr lang="en-US" sz="1800" b="1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Relatively small, clean data sets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Real-world, large, messy data</a:t>
            </a:r>
            <a:endParaRPr lang="en-US" sz="1800" b="1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for scientific understanding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in business production systems</a:t>
            </a:r>
            <a:endParaRPr lang="en-US" sz="1800" b="1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Starts with hypotheses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 be exploratory</a:t>
            </a:r>
            <a:endParaRPr lang="en-US" sz="1800" b="1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Obsessed with significance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/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¯\_(</a:t>
            </a:r>
            <a:r>
              <a:rPr lang="ja-JP" sz="1800" b="1" i="0" u="none" strike="noStrike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ツ</a:t>
            </a: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)_/¯</a:t>
            </a:r>
            <a:endParaRPr lang="en-US" sz="1800" b="1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0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safe in the world of AI?  </a:t>
            </a:r>
          </a:p>
          <a:p>
            <a:endParaRPr lang="en-US" dirty="0"/>
          </a:p>
          <a:p>
            <a:r>
              <a:rPr lang="en-US" dirty="0"/>
              <a:t>Data Literacy = Data analytic thinking.  Don’t just manage default, manage to maximize profit and personalize!</a:t>
            </a:r>
          </a:p>
          <a:p>
            <a:endParaRPr lang="en-US" dirty="0"/>
          </a:p>
          <a:p>
            <a:r>
              <a:rPr lang="en-US" dirty="0"/>
              <a:t>This is because companies that have been able to leverage data to learn about customers have succeeded. </a:t>
            </a:r>
          </a:p>
          <a:p>
            <a:r>
              <a:rPr lang="en-US" dirty="0"/>
              <a:t>Web-scale</a:t>
            </a:r>
          </a:p>
          <a:p>
            <a:endParaRPr lang="en-US" dirty="0"/>
          </a:p>
          <a:p>
            <a:r>
              <a:rPr lang="en-US" dirty="0"/>
              <a:t>Tell Signet example here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17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this on board…</a:t>
            </a:r>
          </a:p>
          <a:p>
            <a:endParaRPr lang="en-US" dirty="0"/>
          </a:p>
          <a:p>
            <a:r>
              <a:rPr lang="en-US" dirty="0"/>
              <a:t>Why a process?  Discuss analytics as a craft…this should not be viewed as a formula…more like an “artistic process” – tools, knowledge, experience, common sense. </a:t>
            </a:r>
          </a:p>
          <a:p>
            <a:endParaRPr lang="en-US" dirty="0"/>
          </a:p>
          <a:p>
            <a:r>
              <a:rPr lang="en-US" dirty="0"/>
              <a:t>When to be creative and when to trust the science.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73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 txBox="1">
            <a:spLocks noGrp="1" noChangeArrowheads="1"/>
          </p:cNvSpPr>
          <p:nvPr/>
        </p:nvSpPr>
        <p:spPr bwMode="auto">
          <a:xfrm>
            <a:off x="3884613" y="8686488"/>
            <a:ext cx="2971800" cy="45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86" tIns="46144" rIns="92286" bIns="46144" anchor="b"/>
          <a:lstStyle/>
          <a:p>
            <a:pPr algn="r" defTabSz="922338"/>
            <a:fld id="{C19F38B3-0B61-4AA5-9B6D-27BFFC65EF75}" type="slidenum">
              <a:rPr lang="en-US" altLang="en-US" sz="1200"/>
              <a:pPr algn="r" defTabSz="922338"/>
              <a:t>6</a:t>
            </a:fld>
            <a:endParaRPr lang="en-US" altLang="en-US" sz="1200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342464"/>
            <a:ext cx="5483225" cy="41144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29" tIns="45714" rIns="91429" bIns="45714"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Problem does not start with data, problem starts with a business need.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Sometimes you do start with a data set and do exploratory work…but that is only typically to do hypothesis generation, and then the questions get more  defined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Clustering as an example – customer seg - why do we do it?  </a:t>
            </a:r>
          </a:p>
        </p:txBody>
      </p:sp>
    </p:spTree>
    <p:extLst>
      <p:ext uri="{BB962C8B-B14F-4D97-AF65-F5344CB8AC3E}">
        <p14:creationId xmlns:p14="http://schemas.microsoft.com/office/powerpoint/2010/main" val="650950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be prepared to ask lots of questions from your data.  </a:t>
            </a:r>
          </a:p>
          <a:p>
            <a:endParaRPr lang="en-US" dirty="0"/>
          </a:p>
          <a:p>
            <a:r>
              <a:rPr lang="en-US" dirty="0"/>
              <a:t>e.g. marketing team might want to know who is going to take the offer, but maybe you learn people </a:t>
            </a:r>
            <a:r>
              <a:rPr lang="en-US" dirty="0" err="1"/>
              <a:t>dont</a:t>
            </a:r>
            <a:r>
              <a:rPr lang="en-US" dirty="0"/>
              <a:t> stay after the next year? </a:t>
            </a:r>
          </a:p>
          <a:p>
            <a:endParaRPr lang="en-US" dirty="0"/>
          </a:p>
          <a:p>
            <a:r>
              <a:rPr lang="en-US" dirty="0"/>
              <a:t>Think about churn…there are different stakeholders with different goals!  Who is your client, what is best for the company. </a:t>
            </a:r>
          </a:p>
          <a:p>
            <a:endParaRPr lang="en-US" dirty="0"/>
          </a:p>
          <a:p>
            <a:r>
              <a:rPr lang="en-US" dirty="0"/>
              <a:t>WHAT IS THE ACTION?</a:t>
            </a:r>
          </a:p>
          <a:p>
            <a:endParaRPr lang="en-US" dirty="0"/>
          </a:p>
          <a:p>
            <a:r>
              <a:rPr lang="en-US" dirty="0"/>
              <a:t>maybe if you analyze the WHY are people leaving this will generate different tasks for different roles</a:t>
            </a:r>
          </a:p>
          <a:p>
            <a:endParaRPr lang="en-US" dirty="0"/>
          </a:p>
          <a:p>
            <a:r>
              <a:rPr lang="en-US" dirty="0"/>
              <a:t>There are short term, local goals, and there are longer term needs of the </a:t>
            </a:r>
            <a:r>
              <a:rPr lang="en-US" dirty="0" err="1"/>
              <a:t>businsess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You can increase sales by offering 50% discount!  Yay!  What is wrong with that? </a:t>
            </a:r>
          </a:p>
          <a:p>
            <a:endParaRPr lang="en-US" dirty="0"/>
          </a:p>
          <a:p>
            <a:r>
              <a:rPr lang="en-US" dirty="0"/>
              <a:t>You can decrease churn by offering 3 months free. </a:t>
            </a:r>
          </a:p>
          <a:p>
            <a:endParaRPr lang="en-US" dirty="0"/>
          </a:p>
          <a:p>
            <a:r>
              <a:rPr lang="en-US" dirty="0"/>
              <a:t>people who call customer care every day...why? </a:t>
            </a:r>
          </a:p>
          <a:p>
            <a:endParaRPr lang="en-US" dirty="0"/>
          </a:p>
          <a:p>
            <a:r>
              <a:rPr lang="en-US" dirty="0"/>
              <a:t>Executive team – company strength and perception in marketplace</a:t>
            </a:r>
          </a:p>
          <a:p>
            <a:r>
              <a:rPr lang="en-US" dirty="0"/>
              <a:t>Sales – increase sales!</a:t>
            </a:r>
          </a:p>
          <a:p>
            <a:r>
              <a:rPr lang="en-US" dirty="0"/>
              <a:t>Marketing – effectiveness of campaign</a:t>
            </a:r>
          </a:p>
          <a:p>
            <a:r>
              <a:rPr lang="en-US" dirty="0"/>
              <a:t>Technology – people not leaving due to tech issues</a:t>
            </a:r>
          </a:p>
          <a:p>
            <a:r>
              <a:rPr lang="en-US" dirty="0"/>
              <a:t>Ops – are we losing customers because we cant onboard them quickly enough?. </a:t>
            </a:r>
          </a:p>
          <a:p>
            <a:endParaRPr lang="en-US" dirty="0"/>
          </a:p>
          <a:p>
            <a:r>
              <a:rPr lang="en-US" dirty="0"/>
              <a:t>DS team can be the connectors, and really drive value for the business.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9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HBO Max example </a:t>
            </a:r>
            <a:r>
              <a:rPr lang="en-US" dirty="0"/>
              <a:t>– looking at what are the qualities of customers who drop - churn</a:t>
            </a:r>
          </a:p>
          <a:p>
            <a:endParaRPr lang="en-US" dirty="0"/>
          </a:p>
          <a:p>
            <a:r>
              <a:rPr lang="en-US" dirty="0"/>
              <a:t>15k minutes of watching in a week…does this make sense? </a:t>
            </a:r>
          </a:p>
          <a:p>
            <a:r>
              <a:rPr lang="en-US" dirty="0"/>
              <a:t>There are about 11k , but maybe multiple devices…so we figured ok, </a:t>
            </a:r>
          </a:p>
          <a:p>
            <a:r>
              <a:rPr lang="en-US" dirty="0"/>
              <a:t>But device times out after a certain time…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does the distribution look like? </a:t>
            </a:r>
          </a:p>
          <a:p>
            <a:r>
              <a:rPr lang="en-US" dirty="0"/>
              <a:t>Even flat with long tail vs</a:t>
            </a:r>
          </a:p>
          <a:p>
            <a:r>
              <a:rPr lang="en-US" dirty="0"/>
              <a:t>Distribution with a spike at 15k</a:t>
            </a:r>
          </a:p>
          <a:p>
            <a:r>
              <a:rPr lang="en-US" dirty="0"/>
              <a:t>Vs one big case at 15k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42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most of your time is spent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72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want to “memorize” patterns from the training data…</a:t>
            </a:r>
          </a:p>
          <a:p>
            <a:endParaRPr lang="en-US" dirty="0"/>
          </a:p>
          <a:p>
            <a:r>
              <a:rPr lang="en-US" dirty="0"/>
              <a:t>People who live at 50 Olmstead road in Morristown </a:t>
            </a:r>
            <a:r>
              <a:rPr lang="en-US" dirty="0" err="1"/>
              <a:t>nj</a:t>
            </a:r>
            <a:r>
              <a:rPr lang="en-US" dirty="0"/>
              <a:t> like the </a:t>
            </a:r>
            <a:r>
              <a:rPr lang="en-US" dirty="0" err="1"/>
              <a:t>yankees</a:t>
            </a:r>
            <a:r>
              <a:rPr lang="en-US" dirty="0"/>
              <a:t>.  That is not </a:t>
            </a:r>
            <a:r>
              <a:rPr lang="en-US" dirty="0" err="1"/>
              <a:t>actionalble</a:t>
            </a:r>
            <a:r>
              <a:rPr lang="en-US" dirty="0"/>
              <a:t>!  It is overfitting, it is memorizing.  </a:t>
            </a:r>
          </a:p>
          <a:p>
            <a:r>
              <a:rPr lang="en-US" dirty="0"/>
              <a:t>How does that manifest itself</a:t>
            </a:r>
          </a:p>
          <a:p>
            <a:endParaRPr lang="en-US" dirty="0"/>
          </a:p>
          <a:p>
            <a:r>
              <a:rPr lang="en-US" dirty="0"/>
              <a:t>you can always make the training data look good if you want it to.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50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dta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06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rectangles.  </a:t>
            </a:r>
          </a:p>
          <a:p>
            <a:endParaRPr lang="en-US" dirty="0"/>
          </a:p>
          <a:p>
            <a:r>
              <a:rPr lang="en-US" dirty="0"/>
              <a:t>What most people think of when they think of DS…</a:t>
            </a:r>
          </a:p>
          <a:p>
            <a:endParaRPr lang="en-US" dirty="0"/>
          </a:p>
          <a:p>
            <a:r>
              <a:rPr lang="en-US" dirty="0"/>
              <a:t>Really just a function to take inputs and create outputs. A lot more goes in but that is basic. </a:t>
            </a:r>
          </a:p>
          <a:p>
            <a:endParaRPr lang="en-US" dirty="0"/>
          </a:p>
          <a:p>
            <a:r>
              <a:rPr lang="en-US" dirty="0"/>
              <a:t>Its a function to create a function!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57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blindly use the best metric!!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84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RMSE is not the goal!! </a:t>
            </a:r>
          </a:p>
          <a:p>
            <a:endParaRPr lang="en-US" dirty="0"/>
          </a:p>
          <a:p>
            <a:r>
              <a:rPr lang="en-US" dirty="0"/>
              <a:t>Think about a cosmetics company web site: do you want to update for everything the user does in real time?  Or run it once in batch?  What are the pros and cons?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06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many focus on algorithm…but much much more</a:t>
            </a:r>
          </a:p>
          <a:p>
            <a:endParaRPr lang="en-US" dirty="0"/>
          </a:p>
          <a:p>
            <a:r>
              <a:rPr lang="en-US" dirty="0"/>
              <a:t>Must come back to Bus Und!!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280E0-46B4-8149-A6A1-3A16A3720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07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Think through the steps…big problem, small problem…does solving the small problem impact the big problem? 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Data – what are the most important things that might impact churn?  </a:t>
            </a:r>
          </a:p>
          <a:p>
            <a:endParaRPr lang="en-US" i="1" dirty="0"/>
          </a:p>
          <a:p>
            <a:r>
              <a:rPr lang="en-US" i="1" dirty="0"/>
              <a:t>WHAT data would you </a:t>
            </a:r>
            <a:r>
              <a:rPr lang="en-US" i="1" dirty="0" err="1"/>
              <a:t>aslk</a:t>
            </a:r>
            <a:r>
              <a:rPr lang="en-US" i="1" dirty="0"/>
              <a:t> for – on whom (e.g. only those that left at end of contract?) First Contract? </a:t>
            </a:r>
          </a:p>
          <a:p>
            <a:endParaRPr lang="en-US" i="1" dirty="0"/>
          </a:p>
          <a:p>
            <a:r>
              <a:rPr lang="en-US" i="1" dirty="0"/>
              <a:t>voluntary or involuntary? </a:t>
            </a:r>
          </a:p>
          <a:p>
            <a:endParaRPr lang="en-US" i="1" dirty="0"/>
          </a:p>
          <a:p>
            <a:r>
              <a:rPr lang="en-US" i="1" dirty="0"/>
              <a:t>How far back do you go?</a:t>
            </a:r>
          </a:p>
          <a:p>
            <a:endParaRPr lang="en-US" i="1" dirty="0"/>
          </a:p>
          <a:p>
            <a:r>
              <a:rPr lang="en-US" i="1" dirty="0"/>
              <a:t>Model – Control data?  </a:t>
            </a:r>
          </a:p>
          <a:p>
            <a:r>
              <a:rPr lang="en-US" i="1" dirty="0"/>
              <a:t>what are you training your data on…</a:t>
            </a:r>
          </a:p>
          <a:p>
            <a:endParaRPr lang="en-US" i="1" dirty="0"/>
          </a:p>
          <a:p>
            <a:r>
              <a:rPr lang="en-US" i="1" dirty="0"/>
              <a:t>Evaluation: what is success?  Evaluation before deployment?</a:t>
            </a:r>
          </a:p>
          <a:p>
            <a:r>
              <a:rPr lang="en-US" i="1" dirty="0"/>
              <a:t>What about after deployment?  Early stopping? </a:t>
            </a:r>
          </a:p>
          <a:p>
            <a:r>
              <a:rPr lang="en-US" i="1" dirty="0"/>
              <a:t>What is baseline?</a:t>
            </a:r>
          </a:p>
          <a:p>
            <a:endParaRPr lang="en-US" i="1" dirty="0"/>
          </a:p>
          <a:p>
            <a:r>
              <a:rPr lang="en-US" i="1" dirty="0"/>
              <a:t>How do you "draw the line"?</a:t>
            </a:r>
          </a:p>
          <a:p>
            <a:endParaRPr lang="en-US" i="1" dirty="0"/>
          </a:p>
          <a:p>
            <a:r>
              <a:rPr lang="en-US" i="1" dirty="0"/>
              <a:t>How do you evaluate probabilities? You never observe them?  How do you know if it is correct? </a:t>
            </a:r>
          </a:p>
          <a:p>
            <a:endParaRPr lang="en-US" i="1" dirty="0"/>
          </a:p>
          <a:p>
            <a:r>
              <a:rPr lang="en-US" i="1" dirty="0"/>
              <a:t>Is it just a threshold?   what do you do if the customer is high risk but is already under contract?  what if a customer is low risk but very valuable?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07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way of saying the same thing</a:t>
            </a:r>
          </a:p>
          <a:p>
            <a:endParaRPr lang="en-US" dirty="0"/>
          </a:p>
          <a:p>
            <a:r>
              <a:rPr lang="en-US" dirty="0"/>
              <a:t>Note – can add re-</a:t>
            </a:r>
            <a:r>
              <a:rPr lang="en-US" dirty="0" err="1"/>
              <a:t>inforcement</a:t>
            </a:r>
            <a:r>
              <a:rPr lang="en-US" dirty="0"/>
              <a:t> </a:t>
            </a:r>
            <a:r>
              <a:rPr lang="en-US" dirty="0" err="1"/>
              <a:t>mearning</a:t>
            </a:r>
            <a:r>
              <a:rPr lang="en-US" dirty="0"/>
              <a:t> here.  You update the model as you get input/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64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 factor could be like a customer segmentation model:</a:t>
            </a:r>
          </a:p>
          <a:p>
            <a:endParaRPr lang="en-US" dirty="0"/>
          </a:p>
          <a:p>
            <a:r>
              <a:rPr lang="en-US" dirty="0"/>
              <a:t>Hi value - </a:t>
            </a:r>
          </a:p>
          <a:p>
            <a:r>
              <a:rPr lang="en-US" dirty="0"/>
              <a:t>Lo value</a:t>
            </a:r>
          </a:p>
          <a:p>
            <a:r>
              <a:rPr lang="en-US" dirty="0"/>
              <a:t>Frequent purchaser</a:t>
            </a:r>
          </a:p>
          <a:p>
            <a:endParaRPr lang="en-US" dirty="0"/>
          </a:p>
          <a:p>
            <a:r>
              <a:rPr lang="en-US" dirty="0"/>
              <a:t>Don’t take this too seriously</a:t>
            </a:r>
          </a:p>
          <a:p>
            <a:endParaRPr lang="en-US" dirty="0"/>
          </a:p>
          <a:p>
            <a:r>
              <a:rPr lang="en-US" dirty="0"/>
              <a:t>sometimes you need to do both classification and regression...</a:t>
            </a:r>
          </a:p>
          <a:p>
            <a:r>
              <a:rPr lang="en-US" dirty="0"/>
              <a:t>or time series and regression</a:t>
            </a:r>
          </a:p>
          <a:p>
            <a:endParaRPr lang="en-US" dirty="0"/>
          </a:p>
          <a:p>
            <a:r>
              <a:rPr lang="en-US" dirty="0"/>
              <a:t>New product…will they buy the product, how much will they spend IF they buy the product.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76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Action…don’t accept the loan!  </a:t>
            </a:r>
          </a:p>
          <a:p>
            <a:endParaRPr lang="en-US" dirty="0"/>
          </a:p>
          <a:p>
            <a:r>
              <a:rPr lang="en-US" dirty="0"/>
              <a:t>Q: what is the action that they might take? </a:t>
            </a:r>
          </a:p>
          <a:p>
            <a:endParaRPr lang="en-US" dirty="0"/>
          </a:p>
          <a:p>
            <a:r>
              <a:rPr lang="en-US" dirty="0"/>
              <a:t>What is the outcome of the model? </a:t>
            </a:r>
          </a:p>
          <a:p>
            <a:endParaRPr lang="en-US" dirty="0"/>
          </a:p>
          <a:p>
            <a:r>
              <a:rPr lang="en-US" dirty="0"/>
              <a:t>What is the action of the model? </a:t>
            </a:r>
          </a:p>
          <a:p>
            <a:endParaRPr lang="en-US" dirty="0"/>
          </a:p>
          <a:p>
            <a:r>
              <a:rPr lang="en-US" dirty="0"/>
              <a:t>Put the model in the hands of the loan officer, who can make a judgement…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2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Importance of getting data into this rectangular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33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“what is the performance of this model?</a:t>
            </a:r>
          </a:p>
          <a:p>
            <a:endParaRPr lang="en-US" dirty="0"/>
          </a:p>
          <a:p>
            <a:r>
              <a:rPr lang="en-US" dirty="0"/>
              <a:t>Other models – higher age means more likely to default. </a:t>
            </a:r>
          </a:p>
          <a:p>
            <a:endParaRPr lang="en-US" dirty="0"/>
          </a:p>
          <a:p>
            <a:r>
              <a:rPr lang="en-US" dirty="0"/>
              <a:t>Goal of the model :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allows you to make predictions for cases you have not seen before (assuming the same data attributes</a:t>
            </a:r>
          </a:p>
          <a:p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If. Name starts with M, you will default. </a:t>
            </a:r>
          </a:p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wrong with that?  Not generalizable!!!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65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2233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2233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2233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2233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A38B616-2C7F-4F29-A932-ED9E56DD1285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3250"/>
            <a:ext cx="5029200" cy="41846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270" tIns="46135" rIns="92270" bIns="46135"/>
          <a:lstStyle/>
          <a:p>
            <a:pPr eaLnBrk="1" hangingPunct="1"/>
            <a:r>
              <a:rPr lang="en-US" altLang="en-US" sz="1600" dirty="0">
                <a:latin typeface="Arial" pitchFamily="34" charset="0"/>
              </a:rPr>
              <a:t>Put on board as data science vs use (deployment)</a:t>
            </a:r>
          </a:p>
          <a:p>
            <a:pPr eaLnBrk="1" hangingPunct="1"/>
            <a:endParaRPr lang="en-US" altLang="en-US" sz="1600" dirty="0">
              <a:latin typeface="Arial" pitchFamily="34" charset="0"/>
            </a:endParaRPr>
          </a:p>
          <a:p>
            <a:pPr eaLnBrk="1" hangingPunct="1"/>
            <a:r>
              <a:rPr lang="en-US" altLang="en-US" sz="1600" dirty="0">
                <a:latin typeface="Arial" pitchFamily="34" charset="0"/>
              </a:rPr>
              <a:t>Data – science – selected </a:t>
            </a:r>
            <a:r>
              <a:rPr lang="en-US" altLang="en-US" sz="1600" dirty="0" err="1">
                <a:latin typeface="Arial" pitchFamily="34" charset="0"/>
              </a:rPr>
              <a:t>mdlel</a:t>
            </a:r>
            <a:endParaRPr lang="en-US" altLang="en-US" sz="1600" dirty="0">
              <a:latin typeface="Arial" pitchFamily="34" charset="0"/>
            </a:endParaRPr>
          </a:p>
          <a:p>
            <a:pPr eaLnBrk="1" hangingPunct="1"/>
            <a:r>
              <a:rPr lang="en-US" altLang="en-US" sz="1600" dirty="0">
                <a:latin typeface="Arial" pitchFamily="34" charset="0"/>
              </a:rPr>
              <a:t>========================</a:t>
            </a:r>
          </a:p>
          <a:p>
            <a:pPr eaLnBrk="1" hangingPunct="1"/>
            <a:r>
              <a:rPr lang="en-US" altLang="en-US" sz="1600" dirty="0">
                <a:latin typeface="Arial" pitchFamily="34" charset="0"/>
              </a:rPr>
              <a:t>New data – model – prediction – action (--outcome--feedback)</a:t>
            </a:r>
          </a:p>
          <a:p>
            <a:pPr eaLnBrk="1" hangingPunct="1"/>
            <a:endParaRPr lang="en-US" altLang="en-US" sz="1600" dirty="0">
              <a:latin typeface="Arial" pitchFamily="34" charset="0"/>
            </a:endParaRPr>
          </a:p>
          <a:p>
            <a:pPr eaLnBrk="1" hangingPunct="1"/>
            <a:r>
              <a:rPr lang="en-US" altLang="en-US" sz="1600" dirty="0">
                <a:latin typeface="Arial" pitchFamily="34" charset="0"/>
              </a:rPr>
              <a:t>Modelling slide here???</a:t>
            </a:r>
          </a:p>
          <a:p>
            <a:pPr eaLnBrk="1" hangingPunct="1"/>
            <a:endParaRPr lang="en-US" altLang="en-US" sz="1600" dirty="0">
              <a:latin typeface="Arial" pitchFamily="34" charset="0"/>
            </a:endParaRPr>
          </a:p>
          <a:p>
            <a:pPr eaLnBrk="1" hangingPunct="1"/>
            <a:r>
              <a:rPr lang="en-US" altLang="en-US" sz="1600" dirty="0">
                <a:latin typeface="Arial" pitchFamily="34" charset="0"/>
              </a:rPr>
              <a:t>ML is a </a:t>
            </a:r>
            <a:r>
              <a:rPr lang="en-US" altLang="en-US" sz="1600" dirty="0" err="1">
                <a:latin typeface="Arial" pitchFamily="34" charset="0"/>
              </a:rPr>
              <a:t>pogram</a:t>
            </a:r>
            <a:r>
              <a:rPr lang="en-US" altLang="en-US" sz="1600" dirty="0">
                <a:latin typeface="Arial" pitchFamily="34" charset="0"/>
              </a:rPr>
              <a:t> that writes programs</a:t>
            </a:r>
          </a:p>
        </p:txBody>
      </p:sp>
    </p:spTree>
    <p:extLst>
      <p:ext uri="{BB962C8B-B14F-4D97-AF65-F5344CB8AC3E}">
        <p14:creationId xmlns:p14="http://schemas.microsoft.com/office/powerpoint/2010/main" val="335420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</p:spTree>
    <p:extLst>
      <p:ext uri="{BB962C8B-B14F-4D97-AF65-F5344CB8AC3E}">
        <p14:creationId xmlns:p14="http://schemas.microsoft.com/office/powerpoint/2010/main" val="145217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9/15/25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1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DF769E5-24F5-8F43-8EA5-E948B75DD02E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5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93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9/15/25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79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27092926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5459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195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93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7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2036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01464064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4430532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8362205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14705439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30031912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BA4BC-FC40-B844-8CA3-66DD08AD127A}" type="datetime1">
              <a:rPr lang="en-US" smtClean="0"/>
              <a:t>9/15/25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3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24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9" descr="Gould Plaza and the entrance to NYU Stern.">
            <a:extLst>
              <a:ext uri="{FF2B5EF4-FFF2-40B4-BE49-F238E27FC236}">
                <a16:creationId xmlns:a16="http://schemas.microsoft.com/office/drawing/2014/main" id="{F17365F4-1E30-C933-8686-832E1115072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7813" b="7813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C2083-E159-5D73-81B8-E41ED22A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02E90-7C54-47EB-C2F3-880E692B8E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Science and AI for Business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C408D0-47BE-6C66-ED8D-D1BC2132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343"/>
            <a:ext cx="7053943" cy="1199020"/>
          </a:xfrm>
        </p:spPr>
        <p:txBody>
          <a:bodyPr/>
          <a:lstStyle/>
          <a:p>
            <a:r>
              <a:rPr lang="en-US" dirty="0"/>
              <a:t>Topic 2 – Intro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350093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17DF0-3AF8-DF13-DC74-3A5B87CB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C057C-ACF1-4BBD-C5DF-99E24FF5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015" y="3453809"/>
            <a:ext cx="7541230" cy="2908052"/>
          </a:xfrm>
        </p:spPr>
        <p:txBody>
          <a:bodyPr>
            <a:normAutofit/>
          </a:bodyPr>
          <a:lstStyle/>
          <a:p>
            <a:r>
              <a:rPr lang="en-US" sz="1800" dirty="0"/>
              <a:t>What is the business goal?</a:t>
            </a:r>
          </a:p>
          <a:p>
            <a:r>
              <a:rPr lang="en-US" sz="1800" dirty="0"/>
              <a:t>What is the specific goal of the data science task/model?</a:t>
            </a:r>
          </a:p>
          <a:p>
            <a:r>
              <a:rPr lang="en-US" sz="1800" dirty="0"/>
              <a:t>What questions might you have for Nadia? </a:t>
            </a:r>
          </a:p>
          <a:p>
            <a:r>
              <a:rPr lang="en-US" sz="1800" dirty="0"/>
              <a:t>What will be the deliverable of the the data science exercise? What action will you take? </a:t>
            </a:r>
          </a:p>
          <a:p>
            <a:r>
              <a:rPr lang="en-US" sz="1800" dirty="0"/>
              <a:t>What data could you collect? On what population? </a:t>
            </a:r>
          </a:p>
          <a:p>
            <a:pPr lvl="1"/>
            <a:r>
              <a:rPr lang="en-US" sz="1600" dirty="0"/>
              <a:t>What are 5 specific features you could collect..</a:t>
            </a:r>
          </a:p>
          <a:p>
            <a:r>
              <a:rPr lang="en-US" sz="1800" dirty="0"/>
              <a:t>How will you measure success?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679AE-DFDC-B46A-B6A9-6478F9E5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01559"/>
          </a:xfrm>
        </p:spPr>
        <p:txBody>
          <a:bodyPr>
            <a:normAutofit/>
          </a:bodyPr>
          <a:lstStyle/>
          <a:p>
            <a:r>
              <a:rPr lang="en-US" dirty="0"/>
              <a:t>Use Case</a:t>
            </a:r>
            <a:r>
              <a:rPr lang="en-US"/>
              <a:t>:  TelCo</a:t>
            </a:r>
            <a:r>
              <a:rPr lang="en-US" dirty="0"/>
              <a:t> Churn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8A695-D0CC-D8C9-4B18-E59FCB11713B}"/>
              </a:ext>
            </a:extLst>
          </p:cNvPr>
          <p:cNvSpPr txBox="1"/>
          <p:nvPr/>
        </p:nvSpPr>
        <p:spPr>
          <a:xfrm>
            <a:off x="1002082" y="1138084"/>
            <a:ext cx="10158608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Nadia is a Product Manager at </a:t>
            </a:r>
            <a:r>
              <a:rPr lang="en-US" sz="18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MegaTelCo</a:t>
            </a: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one of the largest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telecommunication firms. </a:t>
            </a:r>
            <a:r>
              <a:rPr lang="en-US" sz="180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MegaTelCo</a:t>
            </a: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having a major problem with </a:t>
            </a:r>
            <a:r>
              <a:rPr lang="en-US" sz="1800" i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customer churn </a:t>
            </a: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their wireless business, and senior leadership has called in Nadia to lead the solution team.  You are the lead data scientist reporting into Nadia.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40451-A9B0-4CA3-93C3-E9C8B7975B8D}"/>
              </a:ext>
            </a:extLst>
          </p:cNvPr>
          <p:cNvSpPr txBox="1"/>
          <p:nvPr/>
        </p:nvSpPr>
        <p:spPr>
          <a:xfrm>
            <a:off x="1002082" y="2505670"/>
            <a:ext cx="1015860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20% of cell-phone customers leave when their contracts expire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Marketing has designed a special retention offer that might be able to convince customers to stay.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Placeholder 5" descr="Shot of a group of businesspeople brainstorming around a placardhttp://195.154.178.81/DATA/i_collage/pu/shoots/804768.jpg">
            <a:extLst>
              <a:ext uri="{FF2B5EF4-FFF2-40B4-BE49-F238E27FC236}">
                <a16:creationId xmlns:a16="http://schemas.microsoft.com/office/drawing/2014/main" id="{3C79DB7A-5E6D-DA30-4BA9-A24865BAE2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09" r="11909"/>
          <a:stretch/>
        </p:blipFill>
        <p:spPr>
          <a:xfrm>
            <a:off x="811931" y="3813423"/>
            <a:ext cx="2754605" cy="24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DB78-EDD3-FED8-B85C-E496465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186" y="6364857"/>
            <a:ext cx="1351034" cy="365125"/>
          </a:xfrm>
        </p:spPr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6C622-3FD2-56DE-9038-629E8898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725" y="212174"/>
            <a:ext cx="4596137" cy="1348774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science of extracting useful information and knowledge from data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D8CB2-5161-A2D9-BFD2-D12AC354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53" y="181175"/>
            <a:ext cx="6626772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Data Science?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899FA-C6DB-008D-6772-9035AB52EC4A}"/>
              </a:ext>
            </a:extLst>
          </p:cNvPr>
          <p:cNvSpPr txBox="1"/>
          <p:nvPr/>
        </p:nvSpPr>
        <p:spPr>
          <a:xfrm>
            <a:off x="4529960" y="6138041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 descr="Generated by DALL·E">
            <a:extLst>
              <a:ext uri="{FF2B5EF4-FFF2-40B4-BE49-F238E27FC236}">
                <a16:creationId xmlns:a16="http://schemas.microsoft.com/office/drawing/2014/main" id="{895BC90F-BF6B-E937-F3A0-EB01940C2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55" y="3100045"/>
            <a:ext cx="4829175" cy="2759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BEC891B1-FEF7-A252-ED53-E3C0FDBBB096}"/>
              </a:ext>
            </a:extLst>
          </p:cNvPr>
          <p:cNvSpPr/>
          <p:nvPr/>
        </p:nvSpPr>
        <p:spPr bwMode="auto">
          <a:xfrm>
            <a:off x="134261" y="2619275"/>
            <a:ext cx="3668156" cy="2914886"/>
          </a:xfrm>
          <a:prstGeom prst="wedgeRoundRectCallout">
            <a:avLst>
              <a:gd name="adj1" fmla="val 74658"/>
              <a:gd name="adj2" fmla="val 4945"/>
              <a:gd name="adj3" fmla="val 16667"/>
            </a:avLst>
          </a:prstGeom>
          <a:solidFill>
            <a:schemeClr val="bg2">
              <a:lumMod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Statistician: the only valid way to learn from data is to come up with a carefully constructed hypothesis and then collect data in a randomized controlled manner so we can correct for all possible confounding variables and assure ourselves of no bias!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547AF73-DCC6-53EB-E0AF-2B97996E2A7A}"/>
              </a:ext>
            </a:extLst>
          </p:cNvPr>
          <p:cNvSpPr/>
          <p:nvPr/>
        </p:nvSpPr>
        <p:spPr bwMode="auto">
          <a:xfrm>
            <a:off x="9086548" y="1751271"/>
            <a:ext cx="2906941" cy="1348774"/>
          </a:xfrm>
          <a:prstGeom prst="wedgeRoundRectCallout">
            <a:avLst>
              <a:gd name="adj1" fmla="val -74235"/>
              <a:gd name="adj2" fmla="val 111440"/>
              <a:gd name="adj3" fmla="val 16667"/>
            </a:avLst>
          </a:prstGeom>
          <a:solidFill>
            <a:schemeClr val="bg2">
              <a:lumMod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Scientist: Whatevs!  We’ve got lots of data and cool algorithms – best prediction wins!!!!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602D9-BA06-974E-7D1D-58E01D3DBE46}"/>
              </a:ext>
            </a:extLst>
          </p:cNvPr>
          <p:cNvSpPr txBox="1"/>
          <p:nvPr/>
        </p:nvSpPr>
        <p:spPr>
          <a:xfrm>
            <a:off x="4759566" y="2099664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Stats v. Data Science</a:t>
            </a:r>
          </a:p>
        </p:txBody>
      </p:sp>
    </p:spTree>
    <p:extLst>
      <p:ext uri="{BB962C8B-B14F-4D97-AF65-F5344CB8AC3E}">
        <p14:creationId xmlns:p14="http://schemas.microsoft.com/office/powerpoint/2010/main" val="197006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B2567C-BED5-0DAE-70D0-82E33571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6ABD1E-482B-CA52-5012-EDDE726D9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484" y="1463517"/>
            <a:ext cx="4562682" cy="4865945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jobs in America:</a:t>
            </a:r>
          </a:p>
          <a:p>
            <a:endParaRPr lang="en-US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Literacy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help you in almost any job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Opportunities all along the technical / management scale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Science has propelled some of the most successful companies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18E93-BCBA-42D6-519F-D6A331F2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75" y="356252"/>
            <a:ext cx="3813717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Why Data Science?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50098-3DEA-D818-0C5B-722DC90FEA0B}"/>
              </a:ext>
            </a:extLst>
          </p:cNvPr>
          <p:cNvSpPr txBox="1"/>
          <p:nvPr/>
        </p:nvSpPr>
        <p:spPr>
          <a:xfrm>
            <a:off x="3258948" y="6329462"/>
            <a:ext cx="1618776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Glassdoor</a:t>
            </a:r>
          </a:p>
        </p:txBody>
      </p:sp>
      <p:pic>
        <p:nvPicPr>
          <p:cNvPr id="7" name="Picture 6" descr="A table of jobs&#10;&#10;Description automatically generated">
            <a:extLst>
              <a:ext uri="{FF2B5EF4-FFF2-40B4-BE49-F238E27FC236}">
                <a16:creationId xmlns:a16="http://schemas.microsoft.com/office/drawing/2014/main" id="{5962D923-3DEF-1AC5-F3D2-C6F4EE2B6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626" y="143721"/>
            <a:ext cx="5078318" cy="672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160020"/>
            <a:ext cx="6977743" cy="721723"/>
          </a:xfrm>
        </p:spPr>
        <p:txBody>
          <a:bodyPr>
            <a:normAutofit/>
          </a:bodyPr>
          <a:lstStyle/>
          <a:p>
            <a:r>
              <a:rPr lang="en-US" dirty="0"/>
              <a:t>Data Science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2286" y="490031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09E50-24D0-0340-8D63-441092660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489" y="1372908"/>
            <a:ext cx="5590309" cy="4897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7435F-B18C-04B1-5618-A39AA94F3795}"/>
              </a:ext>
            </a:extLst>
          </p:cNvPr>
          <p:cNvSpPr txBox="1"/>
          <p:nvPr/>
        </p:nvSpPr>
        <p:spPr>
          <a:xfrm>
            <a:off x="8130540" y="2788921"/>
            <a:ext cx="2023110" cy="16927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CRISP-DM = 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Cross-Industry Standard Process for Data Mining</a:t>
            </a:r>
          </a:p>
        </p:txBody>
      </p:sp>
    </p:spTree>
    <p:extLst>
      <p:ext uri="{BB962C8B-B14F-4D97-AF65-F5344CB8AC3E}">
        <p14:creationId xmlns:p14="http://schemas.microsoft.com/office/powerpoint/2010/main" val="240527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8077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C5838A2-92A9-4DF6-A117-6FD176E90AA1}" type="slidenum">
              <a:rPr lang="en-US" sz="1200">
                <a:effectLst>
                  <a:outerShdw blurRad="38100" dist="38100" dir="2700000" algn="tl">
                    <a:srgbClr val="000000"/>
                  </a:outerShdw>
                </a:effectLst>
              </a:rPr>
              <a:pPr algn="r">
                <a:defRPr/>
              </a:pPr>
              <a:t>6</a:t>
            </a:fld>
            <a:endParaRPr lang="en-US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338"/>
            <a:ext cx="82296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/>
              <a:t>CRISP: Business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3090" y="1058323"/>
            <a:ext cx="807719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lvl="1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r>
              <a:rPr lang="en-US" dirty="0"/>
              <a:t>Data Science should be driven by a key business question</a:t>
            </a:r>
          </a:p>
          <a:p>
            <a:r>
              <a:rPr lang="en-US" dirty="0"/>
              <a:t>Avoid the “big data pipe dream”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30BF62-17EE-9D71-DC2D-338A803FC525}"/>
              </a:ext>
            </a:extLst>
          </p:cNvPr>
          <p:cNvSpPr txBox="1"/>
          <p:nvPr/>
        </p:nvSpPr>
        <p:spPr>
          <a:xfrm>
            <a:off x="2137880" y="4408791"/>
            <a:ext cx="8658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questions into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questions that are answerable by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5EF8F-3352-570F-7197-A37DE94817A7}"/>
              </a:ext>
            </a:extLst>
          </p:cNvPr>
          <p:cNvSpPr txBox="1"/>
          <p:nvPr/>
        </p:nvSpPr>
        <p:spPr>
          <a:xfrm>
            <a:off x="1752601" y="5084249"/>
            <a:ext cx="4105547" cy="13665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 questions:</a:t>
            </a:r>
          </a:p>
          <a:p>
            <a:pPr marL="285750" indent="-285750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increase revenue?</a:t>
            </a:r>
          </a:p>
          <a:p>
            <a:pPr marL="285750" indent="-285750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diversify customers?</a:t>
            </a:r>
          </a:p>
          <a:p>
            <a:pPr marL="285750" indent="-285750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is customer satisfaction down?</a:t>
            </a:r>
          </a:p>
        </p:txBody>
      </p:sp>
      <p:pic>
        <p:nvPicPr>
          <p:cNvPr id="1026" name="Picture 2" descr="How to Run an Executive Team Meeting">
            <a:extLst>
              <a:ext uri="{FF2B5EF4-FFF2-40B4-BE49-F238E27FC236}">
                <a16:creationId xmlns:a16="http://schemas.microsoft.com/office/drawing/2014/main" id="{DFB39381-14A5-B415-2B49-D8024BBB3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325764"/>
            <a:ext cx="2590923" cy="172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299ED72E-C22E-8027-51A8-C8D875E5B62C}"/>
              </a:ext>
            </a:extLst>
          </p:cNvPr>
          <p:cNvSpPr/>
          <p:nvPr/>
        </p:nvSpPr>
        <p:spPr bwMode="auto">
          <a:xfrm>
            <a:off x="4617662" y="2235376"/>
            <a:ext cx="2568050" cy="735640"/>
          </a:xfrm>
          <a:prstGeom prst="wedgeRoundRectCallout">
            <a:avLst>
              <a:gd name="adj1" fmla="val -63848"/>
              <a:gd name="adj2" fmla="val 80298"/>
              <a:gd name="adj3" fmla="val 16667"/>
            </a:avLst>
          </a:prstGeom>
          <a:solidFill>
            <a:schemeClr val="bg2">
              <a:lumMod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tell our data scientists to use AI to raise revenue and cut costs!!</a:t>
            </a:r>
          </a:p>
        </p:txBody>
      </p:sp>
      <p:pic>
        <p:nvPicPr>
          <p:cNvPr id="1028" name="Picture 4" descr="Team Of Executives Giving High Five To Each Other In The Office Stock  Photo, Picture and Royalty Free Image. Image 81565874.">
            <a:extLst>
              <a:ext uri="{FF2B5EF4-FFF2-40B4-BE49-F238E27FC236}">
                <a16:creationId xmlns:a16="http://schemas.microsoft.com/office/drawing/2014/main" id="{7939F8F3-71A0-3D56-3228-B12B1A75A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022" y="2428832"/>
            <a:ext cx="2575262" cy="171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7A7554-EB99-2C50-68FA-B2F1217874D0}"/>
              </a:ext>
            </a:extLst>
          </p:cNvPr>
          <p:cNvSpPr txBox="1"/>
          <p:nvPr/>
        </p:nvSpPr>
        <p:spPr>
          <a:xfrm>
            <a:off x="6559578" y="4940980"/>
            <a:ext cx="4639417" cy="17173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Smaller (specific, answerable) questions: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properties of high performing stores? 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population segments are buying less?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strategies reduce customer service hold times?</a:t>
            </a:r>
          </a:p>
        </p:txBody>
      </p:sp>
      <p:pic>
        <p:nvPicPr>
          <p:cNvPr id="9" name="Picture 8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FC49C2F4-98CA-F4F5-D34A-ECEF1E07F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571" y="81642"/>
            <a:ext cx="2721429" cy="22962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6FA50F-2F72-C3E2-B308-C8BB3000E51D}"/>
              </a:ext>
            </a:extLst>
          </p:cNvPr>
          <p:cNvSpPr/>
          <p:nvPr/>
        </p:nvSpPr>
        <p:spPr>
          <a:xfrm>
            <a:off x="10012452" y="426457"/>
            <a:ext cx="783771" cy="3858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293549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3363" y="5446092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51463" y="1130514"/>
            <a:ext cx="6954544" cy="50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lvl="1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Put the problem into context…ask questions…be creative!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18000" y="-931333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15749" y="2937573"/>
            <a:ext cx="5399205" cy="236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lvl="1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85725" indent="-342900">
              <a:buFont typeface="Arial" panose="020B0604020202020204" pitchFamily="34" charset="0"/>
              <a:buChar char="•"/>
            </a:pPr>
            <a:r>
              <a:rPr lang="en-US" dirty="0"/>
              <a:t>What is the goal of the solution?</a:t>
            </a:r>
          </a:p>
          <a:p>
            <a:pPr marL="85725" indent="-342900">
              <a:buFont typeface="Arial" panose="020B0604020202020204" pitchFamily="34" charset="0"/>
              <a:buChar char="•"/>
            </a:pPr>
            <a:r>
              <a:rPr lang="en-US" dirty="0"/>
              <a:t>What data is available?</a:t>
            </a:r>
          </a:p>
          <a:p>
            <a:pPr marL="85725" indent="-342900">
              <a:buFont typeface="Arial" panose="020B0604020202020204" pitchFamily="34" charset="0"/>
              <a:buChar char="•"/>
            </a:pPr>
            <a:r>
              <a:rPr lang="en-US" dirty="0"/>
              <a:t>What constraints exist?</a:t>
            </a:r>
          </a:p>
          <a:p>
            <a:pPr marL="85725" indent="-342900">
              <a:buFont typeface="Arial" panose="020B0604020202020204" pitchFamily="34" charset="0"/>
              <a:buChar char="•"/>
            </a:pPr>
            <a:r>
              <a:rPr lang="en-US" dirty="0"/>
              <a:t>How do we evaluate?</a:t>
            </a:r>
          </a:p>
          <a:p>
            <a:pPr marL="85725" indent="-342900">
              <a:buFont typeface="Arial" panose="020B0604020202020204" pitchFamily="34" charset="0"/>
              <a:buChar char="•"/>
            </a:pPr>
            <a:r>
              <a:rPr lang="en-US" dirty="0"/>
              <a:t>What does success look like?</a:t>
            </a:r>
          </a:p>
          <a:p>
            <a:pPr marL="85725" indent="-342900">
              <a:buFont typeface="Arial" panose="020B0604020202020204" pitchFamily="34" charset="0"/>
              <a:buChar char="•"/>
            </a:pPr>
            <a:r>
              <a:rPr lang="en-US" dirty="0"/>
              <a:t>How will people act on the results?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5347" y="2046613"/>
            <a:ext cx="27863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lvl="1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Be prepared to ask…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46336" y="3553394"/>
            <a:ext cx="812800" cy="2878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7874143" y="3062538"/>
            <a:ext cx="1845732" cy="524933"/>
            <a:chOff x="6079067" y="2082800"/>
            <a:chExt cx="1507066" cy="524933"/>
          </a:xfrm>
          <a:solidFill>
            <a:srgbClr val="00B0F0"/>
          </a:solidFill>
        </p:grpSpPr>
        <p:sp>
          <p:nvSpPr>
            <p:cNvPr id="13" name="Rounded Rectangle 12"/>
            <p:cNvSpPr/>
            <p:nvPr/>
          </p:nvSpPr>
          <p:spPr>
            <a:xfrm>
              <a:off x="6079067" y="2082800"/>
              <a:ext cx="1507066" cy="524933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30792" y="2136496"/>
              <a:ext cx="982133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Sales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874147" y="3661492"/>
            <a:ext cx="1845729" cy="524933"/>
            <a:chOff x="6079067" y="2082800"/>
            <a:chExt cx="1507066" cy="524933"/>
          </a:xfrm>
          <a:solidFill>
            <a:srgbClr val="00B0F0"/>
          </a:solidFill>
        </p:grpSpPr>
        <p:sp>
          <p:nvSpPr>
            <p:cNvPr id="17" name="Rounded Rectangle 16"/>
            <p:cNvSpPr/>
            <p:nvPr/>
          </p:nvSpPr>
          <p:spPr>
            <a:xfrm>
              <a:off x="6079067" y="2082800"/>
              <a:ext cx="1507066" cy="524933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63733" y="2133602"/>
              <a:ext cx="1354666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Marketing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891084" y="4254150"/>
            <a:ext cx="1845729" cy="524933"/>
            <a:chOff x="6079067" y="2082800"/>
            <a:chExt cx="1557865" cy="524933"/>
          </a:xfrm>
          <a:solidFill>
            <a:srgbClr val="00B0F0"/>
          </a:solidFill>
        </p:grpSpPr>
        <p:sp>
          <p:nvSpPr>
            <p:cNvPr id="20" name="Rounded Rectangle 19"/>
            <p:cNvSpPr/>
            <p:nvPr/>
          </p:nvSpPr>
          <p:spPr>
            <a:xfrm>
              <a:off x="6079067" y="2082800"/>
              <a:ext cx="1507066" cy="524933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29866" y="2133602"/>
              <a:ext cx="1507066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Technology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891083" y="4829872"/>
            <a:ext cx="1845729" cy="524933"/>
            <a:chOff x="6079067" y="2082800"/>
            <a:chExt cx="1557864" cy="524933"/>
          </a:xfrm>
          <a:solidFill>
            <a:srgbClr val="00B0F0"/>
          </a:solidFill>
        </p:grpSpPr>
        <p:sp>
          <p:nvSpPr>
            <p:cNvPr id="23" name="Rounded Rectangle 22"/>
            <p:cNvSpPr/>
            <p:nvPr/>
          </p:nvSpPr>
          <p:spPr>
            <a:xfrm>
              <a:off x="6079067" y="2082800"/>
              <a:ext cx="1507066" cy="524933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63732" y="2133602"/>
              <a:ext cx="1473199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Operations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874144" y="2472975"/>
            <a:ext cx="1845733" cy="524933"/>
            <a:chOff x="6079067" y="2082800"/>
            <a:chExt cx="1507066" cy="524933"/>
          </a:xfrm>
          <a:solidFill>
            <a:srgbClr val="00B0F0"/>
          </a:solidFill>
        </p:grpSpPr>
        <p:sp>
          <p:nvSpPr>
            <p:cNvPr id="26" name="Rounded Rectangle 25"/>
            <p:cNvSpPr/>
            <p:nvPr/>
          </p:nvSpPr>
          <p:spPr>
            <a:xfrm>
              <a:off x="6079067" y="2082800"/>
              <a:ext cx="1507066" cy="524933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63733" y="2133602"/>
              <a:ext cx="1354666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Executive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225CF06-80D5-030F-C7B0-3507849019A9}"/>
              </a:ext>
            </a:extLst>
          </p:cNvPr>
          <p:cNvSpPr txBox="1"/>
          <p:nvPr/>
        </p:nvSpPr>
        <p:spPr>
          <a:xfrm>
            <a:off x="7214954" y="2013394"/>
            <a:ext cx="3204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are the stakeholders?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A012023-9C94-EE83-7ECA-54874DB78CD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3338"/>
            <a:ext cx="82296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/>
              <a:t>CRISP: Business Understanding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8171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1" grpId="0"/>
      <p:bldP spid="12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91E8-C184-601D-1450-AC0E76D7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F65862-939B-D96C-2486-F2781D45D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16" y="1129124"/>
            <a:ext cx="8814816" cy="4590620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where your data comes from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/ what system collected it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how to get the data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systems, tools,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the data 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Spend time with EDA (exploratory data analysis)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the limits of your data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 to spend time cleaning the data, caring for it, understanding it</a:t>
            </a:r>
          </a:p>
          <a:p>
            <a:pPr marL="342900" lvl="1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D6B85C-7F62-0635-9AEE-4CD19287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20" y="136525"/>
            <a:ext cx="10515600" cy="1001559"/>
          </a:xfrm>
        </p:spPr>
        <p:txBody>
          <a:bodyPr/>
          <a:lstStyle/>
          <a:p>
            <a:r>
              <a:rPr lang="en-US" dirty="0"/>
              <a:t>CRISP: Data Understanding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7C855-C5BB-FBE5-F5F7-13CDA8B86344}"/>
              </a:ext>
            </a:extLst>
          </p:cNvPr>
          <p:cNvSpPr txBox="1"/>
          <p:nvPr/>
        </p:nvSpPr>
        <p:spPr>
          <a:xfrm>
            <a:off x="4101905" y="5992259"/>
            <a:ext cx="1311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</a:t>
            </a:r>
          </a:p>
        </p:txBody>
      </p:sp>
      <p:pic>
        <p:nvPicPr>
          <p:cNvPr id="1026" name="Picture 2" descr="WarnerMedia Sets HBO Max Launch Date">
            <a:extLst>
              <a:ext uri="{FF2B5EF4-FFF2-40B4-BE49-F238E27FC236}">
                <a16:creationId xmlns:a16="http://schemas.microsoft.com/office/drawing/2014/main" id="{1BBD1498-0ABF-7E87-8A55-62F64F1E1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720" y="5759107"/>
            <a:ext cx="1538868" cy="86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iagram of a data system&#10;&#10;AI-generated content may be incorrect.">
            <a:extLst>
              <a:ext uri="{FF2B5EF4-FFF2-40B4-BE49-F238E27FC236}">
                <a16:creationId xmlns:a16="http://schemas.microsoft.com/office/drawing/2014/main" id="{E0F29261-B61F-8839-8B66-402A3570B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433" y="87539"/>
            <a:ext cx="2663567" cy="23032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064452-B52E-5EB6-5845-9553B54B7D83}"/>
              </a:ext>
            </a:extLst>
          </p:cNvPr>
          <p:cNvSpPr/>
          <p:nvPr/>
        </p:nvSpPr>
        <p:spPr>
          <a:xfrm>
            <a:off x="10860216" y="444359"/>
            <a:ext cx="783771" cy="3858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4485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40781-4D4B-2456-40E2-0A48B4BBA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535" y="2094361"/>
            <a:ext cx="8115350" cy="3835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Preparation steps:</a:t>
            </a:r>
          </a:p>
          <a:p>
            <a:pPr marL="0" indent="0">
              <a:buNone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Exploratory Data Analysis (EDA)</a:t>
            </a: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data analysis</a:t>
            </a: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Outlier detection and assessment</a:t>
            </a: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engineering</a:t>
            </a:r>
          </a:p>
          <a:p>
            <a:pPr marL="0" indent="0">
              <a:buNone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196"/>
            <a:ext cx="11430000" cy="729214"/>
          </a:xfrm>
        </p:spPr>
        <p:txBody>
          <a:bodyPr>
            <a:normAutofit/>
          </a:bodyPr>
          <a:lstStyle/>
          <a:p>
            <a:r>
              <a:rPr lang="en-US" dirty="0"/>
              <a:t>CRISP: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2286" y="490031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Diagram of data preparation&#10;&#10;AI-generated content may be incorrect.">
            <a:extLst>
              <a:ext uri="{FF2B5EF4-FFF2-40B4-BE49-F238E27FC236}">
                <a16:creationId xmlns:a16="http://schemas.microsoft.com/office/drawing/2014/main" id="{38DDDDC6-22D0-06E0-9434-CE3BA6D22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344" y="142195"/>
            <a:ext cx="3053444" cy="2550319"/>
          </a:xfrm>
          <a:prstGeom prst="rect">
            <a:avLst/>
          </a:prstGeom>
        </p:spPr>
      </p:pic>
      <p:pic>
        <p:nvPicPr>
          <p:cNvPr id="10" name="Picture 9" descr="A magnifying glass and a computer&#10;&#10;AI-generated content may be incorrect.">
            <a:extLst>
              <a:ext uri="{FF2B5EF4-FFF2-40B4-BE49-F238E27FC236}">
                <a16:creationId xmlns:a16="http://schemas.microsoft.com/office/drawing/2014/main" id="{8452A57A-4935-7804-52D9-B2A5589A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75" y="2925296"/>
            <a:ext cx="3049848" cy="17790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FC83A9C-2A09-54AF-8535-32884B4028DA}"/>
              </a:ext>
            </a:extLst>
          </p:cNvPr>
          <p:cNvSpPr/>
          <p:nvPr/>
        </p:nvSpPr>
        <p:spPr>
          <a:xfrm>
            <a:off x="11038114" y="927788"/>
            <a:ext cx="783771" cy="3858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90123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0C82D-A928-C4F1-460A-ABE9D7BBA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57" y="1260125"/>
            <a:ext cx="8744358" cy="481420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predictive modelling, we always split data into training and test sets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957DD-F109-895B-827D-9C2B0804AC62}"/>
              </a:ext>
            </a:extLst>
          </p:cNvPr>
          <p:cNvSpPr txBox="1"/>
          <p:nvPr/>
        </p:nvSpPr>
        <p:spPr>
          <a:xfrm>
            <a:off x="5112685" y="2395376"/>
            <a:ext cx="196662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Why??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D49730E-D0CF-0676-A02B-77B5D91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387" y="3760232"/>
            <a:ext cx="9043226" cy="2550319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905A5EC-8EA7-FC9D-2995-4FB7DE574959}"/>
              </a:ext>
            </a:extLst>
          </p:cNvPr>
          <p:cNvSpPr txBox="1">
            <a:spLocks/>
          </p:cNvSpPr>
          <p:nvPr/>
        </p:nvSpPr>
        <p:spPr>
          <a:xfrm>
            <a:off x="0" y="142196"/>
            <a:ext cx="11430000" cy="7292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 dirty="0"/>
              <a:t>CRISP: Data Preparation</a:t>
            </a:r>
          </a:p>
        </p:txBody>
      </p:sp>
      <p:pic>
        <p:nvPicPr>
          <p:cNvPr id="5" name="Picture 4" descr="Diagram of data preparation&#10;&#10;AI-generated content may be incorrect.">
            <a:extLst>
              <a:ext uri="{FF2B5EF4-FFF2-40B4-BE49-F238E27FC236}">
                <a16:creationId xmlns:a16="http://schemas.microsoft.com/office/drawing/2014/main" id="{B09A8F55-FA85-BC9A-E091-1DC874557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344" y="142195"/>
            <a:ext cx="3053444" cy="25503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229D01-4E03-0147-C633-C4D8D966BC49}"/>
              </a:ext>
            </a:extLst>
          </p:cNvPr>
          <p:cNvSpPr/>
          <p:nvPr/>
        </p:nvSpPr>
        <p:spPr>
          <a:xfrm>
            <a:off x="11038114" y="896559"/>
            <a:ext cx="783771" cy="3858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1916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54194-4426-A569-196E-DC719DC6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0C82D-A928-C4F1-460A-ABE9D7BB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90205-5E17-67D3-88C8-5469B172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24" y="109755"/>
            <a:ext cx="10515600" cy="1001559"/>
          </a:xfrm>
        </p:spPr>
        <p:txBody>
          <a:bodyPr/>
          <a:lstStyle/>
          <a:p>
            <a:r>
              <a:rPr lang="en-US" dirty="0"/>
              <a:t>Training and Test 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A18C7-94DE-B8DA-6F72-61E151CA0B35}"/>
              </a:ext>
            </a:extLst>
          </p:cNvPr>
          <p:cNvSpPr txBox="1"/>
          <p:nvPr/>
        </p:nvSpPr>
        <p:spPr>
          <a:xfrm>
            <a:off x="1279071" y="1095957"/>
            <a:ext cx="1034687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set – randomly selected data (70-90%) – used to fit model, optimize parameters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set (“hold-out set”) – remaining data (10-30%) 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to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 model’s performance metrics – on “unseen” data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estimate “generalization error”  - Model’s error on the test data.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B65141-37C5-04C3-0B6B-6F7C7F237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424" y="5019333"/>
            <a:ext cx="3352800" cy="1524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800" dirty="0">
                <a:latin typeface="Tahoma" pitchFamily="34" charset="0"/>
              </a:rPr>
              <a:t>Training Data</a:t>
            </a:r>
          </a:p>
          <a:p>
            <a:pPr algn="ctr">
              <a:buNone/>
            </a:pPr>
            <a:r>
              <a:rPr lang="en-US" sz="2800" dirty="0">
                <a:latin typeface="Tahoma" pitchFamily="34" charset="0"/>
              </a:rPr>
              <a:t>(80%)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525F8949-746A-41AD-8472-5C8FC3AE4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0224" y="5019333"/>
            <a:ext cx="1752600" cy="15240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400" dirty="0">
                <a:latin typeface="Tahoma" pitchFamily="34" charset="0"/>
              </a:rPr>
              <a:t>Test data</a:t>
            </a:r>
          </a:p>
          <a:p>
            <a:pPr algn="ctr">
              <a:buNone/>
            </a:pPr>
            <a:r>
              <a:rPr lang="en-US" sz="2400" dirty="0">
                <a:latin typeface="Tahoma" pitchFamily="34" charset="0"/>
              </a:rPr>
              <a:t>(20%)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9E6AB68-248A-D836-6C00-C343CE0867C6}"/>
              </a:ext>
            </a:extLst>
          </p:cNvPr>
          <p:cNvSpPr/>
          <p:nvPr/>
        </p:nvSpPr>
        <p:spPr bwMode="auto">
          <a:xfrm rot="5400000">
            <a:off x="6179623" y="2207707"/>
            <a:ext cx="281002" cy="5105400"/>
          </a:xfrm>
          <a:prstGeom prst="leftBrace">
            <a:avLst>
              <a:gd name="adj1" fmla="val 8333"/>
              <a:gd name="adj2" fmla="val 49454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E60AB8-0ECD-A952-CDFB-8BE86F3AED33}"/>
              </a:ext>
            </a:extLst>
          </p:cNvPr>
          <p:cNvSpPr txBox="1"/>
          <p:nvPr/>
        </p:nvSpPr>
        <p:spPr>
          <a:xfrm>
            <a:off x="5794178" y="4209825"/>
            <a:ext cx="105189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Original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B87CD9-0726-9D2D-831A-21F8B67DE256}"/>
              </a:ext>
            </a:extLst>
          </p:cNvPr>
          <p:cNvSpPr txBox="1"/>
          <p:nvPr/>
        </p:nvSpPr>
        <p:spPr>
          <a:xfrm>
            <a:off x="5062951" y="6232491"/>
            <a:ext cx="1025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8E521A-0D56-AE11-66C5-B387897F86E8}"/>
              </a:ext>
            </a:extLst>
          </p:cNvPr>
          <p:cNvSpPr txBox="1"/>
          <p:nvPr/>
        </p:nvSpPr>
        <p:spPr>
          <a:xfrm>
            <a:off x="7438211" y="6232491"/>
            <a:ext cx="1396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Tahoma" panose="020B0604030504040204" pitchFamily="34" charset="0"/>
              </a:rPr>
              <a:t>Evaluate model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55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  <p:bldP spid="10" grpId="0" animBg="1"/>
      <p:bldP spid="11" grpId="0" animBg="1"/>
      <p:bldP spid="12" grpId="0" animBg="1"/>
      <p:bldP spid="13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1D6F1-323F-4FE7-47FF-D677DBF7E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919" y="1372908"/>
            <a:ext cx="7383460" cy="16958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Applying machine learning or AI algorithms to make predictions</a:t>
            </a:r>
          </a:p>
          <a:p>
            <a:pPr marL="0" indent="0">
              <a:buNone/>
            </a:pP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03" y="75188"/>
            <a:ext cx="7975601" cy="1220211"/>
          </a:xfrm>
        </p:spPr>
        <p:txBody>
          <a:bodyPr>
            <a:normAutofit/>
          </a:bodyPr>
          <a:lstStyle/>
          <a:p>
            <a:r>
              <a:rPr lang="en-US" dirty="0"/>
              <a:t>CRISP: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2286" y="490031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DEEFF-2763-5514-2B07-AE6A636A3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786" y="3342062"/>
            <a:ext cx="2634871" cy="261091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103593-6CFB-B839-F414-BB2E0C29685D}"/>
              </a:ext>
            </a:extLst>
          </p:cNvPr>
          <p:cNvSpPr txBox="1">
            <a:spLocks/>
          </p:cNvSpPr>
          <p:nvPr/>
        </p:nvSpPr>
        <p:spPr bwMode="auto">
          <a:xfrm>
            <a:off x="5237649" y="3903091"/>
            <a:ext cx="5360565" cy="13054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sz="3200" kern="0" dirty="0"/>
              <a:t>What data science / ML (algorithms) do you know?</a:t>
            </a:r>
          </a:p>
        </p:txBody>
      </p:sp>
      <p:pic>
        <p:nvPicPr>
          <p:cNvPr id="10" name="Picture 9" descr="A diagram of a data modeling process&#10;&#10;AI-generated content may be incorrect.">
            <a:extLst>
              <a:ext uri="{FF2B5EF4-FFF2-40B4-BE49-F238E27FC236}">
                <a16:creationId xmlns:a16="http://schemas.microsoft.com/office/drawing/2014/main" id="{DA5DAAEE-4718-AA30-24D0-CCA27F948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417" y="75188"/>
            <a:ext cx="3524060" cy="30178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3E673B-C782-9844-4412-8F5A48751591}"/>
              </a:ext>
            </a:extLst>
          </p:cNvPr>
          <p:cNvSpPr/>
          <p:nvPr/>
        </p:nvSpPr>
        <p:spPr>
          <a:xfrm>
            <a:off x="10678885" y="1668467"/>
            <a:ext cx="783771" cy="3858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94364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77" y="120072"/>
            <a:ext cx="7975601" cy="964469"/>
          </a:xfrm>
        </p:spPr>
        <p:txBody>
          <a:bodyPr>
            <a:normAutofit/>
          </a:bodyPr>
          <a:lstStyle/>
          <a:p>
            <a:r>
              <a:rPr lang="en-US" dirty="0"/>
              <a:t>CRISP: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2286" y="490031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81F78A01-29A2-729E-F7D4-7DDDE1A3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829" y="120072"/>
            <a:ext cx="3603171" cy="30798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D7F714-D932-4FAC-30EA-3772F0677B7C}"/>
              </a:ext>
            </a:extLst>
          </p:cNvPr>
          <p:cNvSpPr/>
          <p:nvPr/>
        </p:nvSpPr>
        <p:spPr>
          <a:xfrm>
            <a:off x="9998528" y="2386925"/>
            <a:ext cx="783771" cy="38589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F580E6-2EDC-2D1E-E6DC-E1A16A87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474" y="1638105"/>
            <a:ext cx="8404353" cy="453939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a metric to determine the best model or the appropriate parameters to use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Examples?</a:t>
            </a:r>
          </a:p>
          <a:p>
            <a:pPr>
              <a:lnSpc>
                <a:spcPct val="12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metric should be tied to the business problem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Recommender Systems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Trade-off between performance and interpretability</a:t>
            </a:r>
          </a:p>
          <a:p>
            <a:pPr marL="0" indent="0">
              <a:lnSpc>
                <a:spcPct val="120000"/>
              </a:lnSpc>
              <a:buNone/>
            </a:pPr>
            <a:endParaRPr lang="en-US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I interpret my metric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does the RMSE mean?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Comparison to baseline, or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dumb model</a:t>
            </a:r>
          </a:p>
          <a:p>
            <a:pPr lvl="1">
              <a:lnSpc>
                <a:spcPct val="120000"/>
              </a:lnSpc>
            </a:pPr>
            <a:endParaRPr lang="en-US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8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873155-3627-8444-9D71-A9929D0A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"/>
            <a:ext cx="2590800" cy="2269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13" y="0"/>
            <a:ext cx="7975601" cy="1059214"/>
          </a:xfrm>
        </p:spPr>
        <p:txBody>
          <a:bodyPr>
            <a:normAutofit/>
          </a:bodyPr>
          <a:lstStyle/>
          <a:p>
            <a:r>
              <a:rPr lang="en-US" dirty="0"/>
              <a:t>CRISP: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3423" y="5619492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3AD5C4-3F26-AE4D-8C26-917F9F6D125F}"/>
              </a:ext>
            </a:extLst>
          </p:cNvPr>
          <p:cNvSpPr/>
          <p:nvPr/>
        </p:nvSpPr>
        <p:spPr>
          <a:xfrm>
            <a:off x="10063843" y="924401"/>
            <a:ext cx="500743" cy="267585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A519A-8C13-867F-F578-5B81FEAE3F51}"/>
              </a:ext>
            </a:extLst>
          </p:cNvPr>
          <p:cNvSpPr txBox="1"/>
          <p:nvPr/>
        </p:nvSpPr>
        <p:spPr>
          <a:xfrm>
            <a:off x="8327278" y="5927268"/>
            <a:ext cx="3473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[machine learning engineers deploying a model]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8DEA5C-9159-B000-CDF3-39EBA7B7B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218" y="2734342"/>
            <a:ext cx="3143250" cy="3143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4C83DA-31C5-D012-B4EA-22DAA891A597}"/>
              </a:ext>
            </a:extLst>
          </p:cNvPr>
          <p:cNvSpPr txBox="1"/>
          <p:nvPr/>
        </p:nvSpPr>
        <p:spPr>
          <a:xfrm>
            <a:off x="484854" y="1133247"/>
            <a:ext cx="8544845" cy="884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lvl="1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+mj-lt"/>
              </a:rPr>
              <a:t>The critical aspect of every data science exercise in business:</a:t>
            </a:r>
          </a:p>
          <a:p>
            <a:pPr marL="0" indent="0" algn="ctr">
              <a:buNone/>
            </a:pPr>
            <a:r>
              <a:rPr lang="en-US" i="1" dirty="0">
                <a:latin typeface="+mj-lt"/>
              </a:rPr>
              <a:t>What action will be taken?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83FDEAF-B6E2-B7AE-F97B-E2BC19E11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59" y="1974737"/>
            <a:ext cx="7773216" cy="44423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Models don’t have any value until they get into production</a:t>
            </a:r>
          </a:p>
          <a:p>
            <a:pPr marL="642938" lvl="1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 decisions can affect the impact of the model 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addition to technical deployment issues:</a:t>
            </a:r>
          </a:p>
          <a:p>
            <a:pPr marL="642938" lvl="1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will you measure success?</a:t>
            </a:r>
          </a:p>
          <a:p>
            <a:pPr marL="642938" lvl="1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you need stopping rules?</a:t>
            </a:r>
          </a:p>
          <a:p>
            <a:pPr lvl="1" indent="-342900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 always has surprises! </a:t>
            </a:r>
          </a:p>
          <a:p>
            <a:pPr lvl="1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practice if possible: deploy slowly with pilot studies, A/B testing</a:t>
            </a:r>
          </a:p>
          <a:p>
            <a:pPr lvl="1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Careful monitoring and feedback loops</a:t>
            </a:r>
          </a:p>
          <a:p>
            <a:pPr lvl="1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7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722"/>
            <a:ext cx="7440386" cy="1137342"/>
          </a:xfrm>
        </p:spPr>
        <p:txBody>
          <a:bodyPr>
            <a:normAutofit/>
          </a:bodyPr>
          <a:lstStyle/>
          <a:p>
            <a:r>
              <a:rPr lang="en-US" dirty="0"/>
              <a:t>Iterate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2629" y="501461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F09370-2AB5-BC40-BAE2-1F9EF7747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254" y="1037343"/>
            <a:ext cx="6123709" cy="536502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80E63E-CBEA-DFE9-B69D-24E495282D9A}"/>
              </a:ext>
            </a:extLst>
          </p:cNvPr>
          <p:cNvSpPr/>
          <p:nvPr/>
        </p:nvSpPr>
        <p:spPr bwMode="auto">
          <a:xfrm rot="20077575">
            <a:off x="3549092" y="1919342"/>
            <a:ext cx="2257425" cy="1019175"/>
          </a:xfrm>
          <a:prstGeom prst="roundRect">
            <a:avLst/>
          </a:prstGeom>
          <a:solidFill>
            <a:schemeClr val="accent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Problem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E1EE21-620B-45B9-0689-7A3A1EC2B0F8}"/>
              </a:ext>
            </a:extLst>
          </p:cNvPr>
          <p:cNvSpPr/>
          <p:nvPr/>
        </p:nvSpPr>
        <p:spPr bwMode="auto">
          <a:xfrm rot="2051206">
            <a:off x="6132665" y="2078930"/>
            <a:ext cx="2257425" cy="1019175"/>
          </a:xfrm>
          <a:prstGeom prst="roundRect">
            <a:avLst/>
          </a:prstGeom>
          <a:solidFill>
            <a:schemeClr val="accent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5DD04F-E442-483A-F10D-F5AA57B5EBC1}"/>
              </a:ext>
            </a:extLst>
          </p:cNvPr>
          <p:cNvSpPr/>
          <p:nvPr/>
        </p:nvSpPr>
        <p:spPr bwMode="auto">
          <a:xfrm rot="19552248">
            <a:off x="5750634" y="4189780"/>
            <a:ext cx="2257425" cy="1019175"/>
          </a:xfrm>
          <a:prstGeom prst="roundRect">
            <a:avLst/>
          </a:prstGeom>
          <a:solidFill>
            <a:schemeClr val="accent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27D057-1D4C-4C8D-41A8-0F5B6050F253}"/>
              </a:ext>
            </a:extLst>
          </p:cNvPr>
          <p:cNvSpPr/>
          <p:nvPr/>
        </p:nvSpPr>
        <p:spPr bwMode="auto">
          <a:xfrm rot="2487894">
            <a:off x="3374866" y="4066775"/>
            <a:ext cx="2122291" cy="940673"/>
          </a:xfrm>
          <a:prstGeom prst="roundRect">
            <a:avLst/>
          </a:prstGeom>
          <a:solidFill>
            <a:schemeClr val="accent1"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22619A-D3FC-BFC7-679A-9BBFF2DE32CF}"/>
              </a:ext>
            </a:extLst>
          </p:cNvPr>
          <p:cNvGrpSpPr/>
          <p:nvPr/>
        </p:nvGrpSpPr>
        <p:grpSpPr>
          <a:xfrm>
            <a:off x="3208164" y="970050"/>
            <a:ext cx="5415674" cy="5348432"/>
            <a:chOff x="697197" y="849658"/>
            <a:chExt cx="5415674" cy="5348432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96556C9C-3D27-5AB4-2F9B-210F1CF5C3B0}"/>
                </a:ext>
              </a:extLst>
            </p:cNvPr>
            <p:cNvSpPr/>
            <p:nvPr/>
          </p:nvSpPr>
          <p:spPr bwMode="auto">
            <a:xfrm flipH="1" flipV="1">
              <a:off x="764439" y="856342"/>
              <a:ext cx="5348432" cy="5152000"/>
            </a:xfrm>
            <a:prstGeom prst="arc">
              <a:avLst>
                <a:gd name="adj1" fmla="val 16200000"/>
                <a:gd name="adj2" fmla="val 21557558"/>
              </a:avLst>
            </a:prstGeom>
            <a:ln w="5715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4AF8C01-DB59-9611-8F6B-F2725A0A4449}"/>
                </a:ext>
              </a:extLst>
            </p:cNvPr>
            <p:cNvSpPr/>
            <p:nvPr/>
          </p:nvSpPr>
          <p:spPr bwMode="auto">
            <a:xfrm>
              <a:off x="697197" y="856342"/>
              <a:ext cx="5348432" cy="5152000"/>
            </a:xfrm>
            <a:prstGeom prst="arc">
              <a:avLst>
                <a:gd name="adj1" fmla="val 16200000"/>
                <a:gd name="adj2" fmla="val 21557558"/>
              </a:avLst>
            </a:prstGeom>
            <a:ln w="5715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9CB2DEE9-9CA2-0C44-C0F7-1917FA468ABC}"/>
                </a:ext>
              </a:extLst>
            </p:cNvPr>
            <p:cNvSpPr/>
            <p:nvPr/>
          </p:nvSpPr>
          <p:spPr bwMode="auto">
            <a:xfrm flipV="1">
              <a:off x="719216" y="856342"/>
              <a:ext cx="5348432" cy="5152000"/>
            </a:xfrm>
            <a:prstGeom prst="arc">
              <a:avLst>
                <a:gd name="adj1" fmla="val 16200000"/>
                <a:gd name="adj2" fmla="val 21557558"/>
              </a:avLst>
            </a:prstGeom>
            <a:ln w="5715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78A8CF3D-3A70-3A5F-CEC5-3D911BC87275}"/>
                </a:ext>
              </a:extLst>
            </p:cNvPr>
            <p:cNvSpPr/>
            <p:nvPr/>
          </p:nvSpPr>
          <p:spPr bwMode="auto">
            <a:xfrm rot="16200000">
              <a:off x="720210" y="947874"/>
              <a:ext cx="5348432" cy="5152000"/>
            </a:xfrm>
            <a:prstGeom prst="arc">
              <a:avLst>
                <a:gd name="adj1" fmla="val 16200000"/>
                <a:gd name="adj2" fmla="val 21557558"/>
              </a:avLst>
            </a:prstGeom>
            <a:ln w="5715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8260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39716-490C-57CC-C79A-480DB6B2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3CD1C-B629-045D-FF46-AAE649EC3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5497"/>
            <a:ext cx="4697186" cy="20152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i="1" dirty="0"/>
              <a:t>Think through our churn case, what decisions need to be made at each step?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70E2DF-BB3D-263C-959B-E656C388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86" y="87539"/>
            <a:ext cx="10515600" cy="1001559"/>
          </a:xfrm>
        </p:spPr>
        <p:txBody>
          <a:bodyPr>
            <a:normAutofit/>
          </a:bodyPr>
          <a:lstStyle/>
          <a:p>
            <a:r>
              <a:rPr lang="en-US" dirty="0"/>
              <a:t>CRISP –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43EE5-C987-588E-EBD7-114DDB32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914" y="1271613"/>
            <a:ext cx="5228609" cy="45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5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0655C-162B-44D4-72A1-C5227A7B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DE0A2-0DC6-4E9E-EFB2-EADDCABC8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2137619"/>
            <a:ext cx="3028950" cy="1377298"/>
          </a:xfrm>
          <a:ln>
            <a:solidFill>
              <a:schemeClr val="accent2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is a specific, quantifiable </a:t>
            </a:r>
            <a:r>
              <a:rPr lang="en-US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we are interested in or trying to predict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A05755-D954-9A4F-BEC2-6A47BB3E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Science Tasks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11A517-095A-1829-DB6C-40146A5130FC}"/>
              </a:ext>
            </a:extLst>
          </p:cNvPr>
          <p:cNvSpPr/>
          <p:nvPr/>
        </p:nvSpPr>
        <p:spPr bwMode="auto">
          <a:xfrm>
            <a:off x="2786063" y="1302335"/>
            <a:ext cx="2619375" cy="533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3000" dirty="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C4934C-EF7B-5F83-FDB4-886CFBC71F7A}"/>
              </a:ext>
            </a:extLst>
          </p:cNvPr>
          <p:cNvSpPr/>
          <p:nvPr/>
        </p:nvSpPr>
        <p:spPr bwMode="auto">
          <a:xfrm>
            <a:off x="6357938" y="1309270"/>
            <a:ext cx="2619375" cy="533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3000" dirty="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Unsupervised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CEDAD74-E2B1-29A1-645F-0CB61283DE90}"/>
              </a:ext>
            </a:extLst>
          </p:cNvPr>
          <p:cNvSpPr txBox="1">
            <a:spLocks/>
          </p:cNvSpPr>
          <p:nvPr/>
        </p:nvSpPr>
        <p:spPr bwMode="auto">
          <a:xfrm>
            <a:off x="2384177" y="4270296"/>
            <a:ext cx="3329550" cy="8099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sz="1600" kern="0" dirty="0"/>
              <a:t>Predict whether a customer will buy our product based on her browsing habits of our website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3A65FD1-D0CF-95EE-1F60-97A98DB9DB75}"/>
              </a:ext>
            </a:extLst>
          </p:cNvPr>
          <p:cNvSpPr txBox="1">
            <a:spLocks/>
          </p:cNvSpPr>
          <p:nvPr/>
        </p:nvSpPr>
        <p:spPr bwMode="auto">
          <a:xfrm>
            <a:off x="6153150" y="2132113"/>
            <a:ext cx="3028950" cy="1377298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kern="0" dirty="0"/>
              <a:t>There is no specific  target to predict, we are just trying to understand the 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C6400C-22CE-D28B-1F50-4E0D49E4CD72}"/>
              </a:ext>
            </a:extLst>
          </p:cNvPr>
          <p:cNvCxnSpPr>
            <a:cxnSpLocks/>
          </p:cNvCxnSpPr>
          <p:nvPr/>
        </p:nvCxnSpPr>
        <p:spPr bwMode="auto">
          <a:xfrm>
            <a:off x="4054062" y="3616055"/>
            <a:ext cx="0" cy="50173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DF9DC284-A989-4472-DAAD-60AB3F53E016}"/>
              </a:ext>
            </a:extLst>
          </p:cNvPr>
          <p:cNvSpPr txBox="1">
            <a:spLocks/>
          </p:cNvSpPr>
          <p:nvPr/>
        </p:nvSpPr>
        <p:spPr bwMode="auto">
          <a:xfrm>
            <a:off x="6095999" y="4221050"/>
            <a:ext cx="3329548" cy="9084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sz="1600" kern="0" dirty="0"/>
              <a:t>Segment customer base into customer types based on past behaviors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FBA4DA-D797-85FE-9505-B129833CF80E}"/>
              </a:ext>
            </a:extLst>
          </p:cNvPr>
          <p:cNvCxnSpPr>
            <a:cxnSpLocks/>
          </p:cNvCxnSpPr>
          <p:nvPr/>
        </p:nvCxnSpPr>
        <p:spPr bwMode="auto">
          <a:xfrm>
            <a:off x="7760774" y="3616055"/>
            <a:ext cx="0" cy="50173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31A25D-3245-7B63-6F5A-42C866DFE5F1}"/>
              </a:ext>
            </a:extLst>
          </p:cNvPr>
          <p:cNvSpPr txBox="1"/>
          <p:nvPr/>
        </p:nvSpPr>
        <p:spPr>
          <a:xfrm rot="20597689">
            <a:off x="866948" y="2921877"/>
            <a:ext cx="136280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Predictive!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EF6432-72F1-7D8F-05D6-91FE7AEFE1FD}"/>
              </a:ext>
            </a:extLst>
          </p:cNvPr>
          <p:cNvSpPr txBox="1"/>
          <p:nvPr/>
        </p:nvSpPr>
        <p:spPr>
          <a:xfrm rot="962900">
            <a:off x="9444544" y="2858694"/>
            <a:ext cx="151156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Descriptive!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00D526-E791-9FB6-74F5-F5A1A2942503}"/>
              </a:ext>
            </a:extLst>
          </p:cNvPr>
          <p:cNvSpPr txBox="1"/>
          <p:nvPr/>
        </p:nvSpPr>
        <p:spPr>
          <a:xfrm>
            <a:off x="2679955" y="5806176"/>
            <a:ext cx="2737994" cy="56630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data science algorithms</a:t>
            </a:r>
          </a:p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(e.g. decision trees, Regression)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75B6E3-9272-97F5-49B8-E6BFBDC33B91}"/>
              </a:ext>
            </a:extLst>
          </p:cNvPr>
          <p:cNvCxnSpPr>
            <a:cxnSpLocks/>
          </p:cNvCxnSpPr>
          <p:nvPr/>
        </p:nvCxnSpPr>
        <p:spPr bwMode="auto">
          <a:xfrm>
            <a:off x="3990975" y="5197465"/>
            <a:ext cx="0" cy="50173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019721-4B60-843E-19A3-DF86026A64A2}"/>
              </a:ext>
            </a:extLst>
          </p:cNvPr>
          <p:cNvCxnSpPr>
            <a:cxnSpLocks/>
          </p:cNvCxnSpPr>
          <p:nvPr/>
        </p:nvCxnSpPr>
        <p:spPr bwMode="auto">
          <a:xfrm>
            <a:off x="7896919" y="5266303"/>
            <a:ext cx="0" cy="50173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5826E1-B956-7399-DBB4-BFC09D96B58C}"/>
              </a:ext>
            </a:extLst>
          </p:cNvPr>
          <p:cNvSpPr txBox="1"/>
          <p:nvPr/>
        </p:nvSpPr>
        <p:spPr>
          <a:xfrm>
            <a:off x="7014423" y="5837501"/>
            <a:ext cx="1881841" cy="8248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Visualization</a:t>
            </a:r>
          </a:p>
          <a:p>
            <a:pPr marL="285750" indent="-285750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Segmentation</a:t>
            </a:r>
          </a:p>
          <a:p>
            <a:pPr marL="285750" indent="-285750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27109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animBg="1"/>
      <p:bldP spid="8" grpId="0" animBg="1"/>
      <p:bldP spid="2" grpId="0" animBg="1"/>
      <p:bldP spid="3" grpId="0" animBg="1"/>
      <p:bldP spid="13" grpId="0" animBg="1"/>
      <p:bldP spid="17" grpId="0" animBg="1"/>
      <p:bldP spid="18" grpId="0" animBg="1"/>
      <p:bldP spid="9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748D3-7319-52C4-4E33-5272B6C4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1" y="6241767"/>
            <a:ext cx="2133600" cy="476250"/>
          </a:xfrm>
        </p:spPr>
        <p:txBody>
          <a:bodyPr/>
          <a:lstStyle/>
          <a:p>
            <a:fld id="{ABBEE3BA-F264-1746-880E-39AD601DF2B1}" type="slidenum">
              <a:rPr lang="en-US" sz="1400" smtClean="0"/>
              <a:t>18</a:t>
            </a:fld>
            <a:endParaRPr lang="en-U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9CF85-5299-7992-4D07-8FBD21F5F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63" y="2279928"/>
            <a:ext cx="1871660" cy="1149073"/>
          </a:xfrm>
          <a:ln>
            <a:solidFill>
              <a:schemeClr val="accent2"/>
            </a:solidFill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 variable is categorical (perhaps binary)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6BB5D-439A-6F14-5043-EFA7839B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139983"/>
            <a:ext cx="10515600" cy="1001559"/>
          </a:xfrm>
        </p:spPr>
        <p:txBody>
          <a:bodyPr/>
          <a:lstStyle/>
          <a:p>
            <a:r>
              <a:rPr lang="en-US" dirty="0"/>
              <a:t>Supervised Learning - Types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42687E-A6F3-EA9D-5085-8E6C22D2DCCB}"/>
              </a:ext>
            </a:extLst>
          </p:cNvPr>
          <p:cNvSpPr/>
          <p:nvPr/>
        </p:nvSpPr>
        <p:spPr bwMode="auto">
          <a:xfrm>
            <a:off x="2062163" y="1645643"/>
            <a:ext cx="1824038" cy="33751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2000" dirty="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Classification</a:t>
            </a:r>
            <a:endParaRPr lang="en-US" sz="3200" dirty="0">
              <a:solidFill>
                <a:srgbClr val="60059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3ADFE3-4394-A3CF-6311-547B8F7EBE45}"/>
              </a:ext>
            </a:extLst>
          </p:cNvPr>
          <p:cNvSpPr/>
          <p:nvPr/>
        </p:nvSpPr>
        <p:spPr bwMode="auto">
          <a:xfrm>
            <a:off x="4167186" y="1645642"/>
            <a:ext cx="1824038" cy="33751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2000" dirty="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</a:t>
            </a:r>
            <a:endParaRPr lang="en-US" sz="3200" dirty="0">
              <a:solidFill>
                <a:srgbClr val="60059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0E1E6EB-3217-E2DE-8342-345C59F037E0}"/>
              </a:ext>
            </a:extLst>
          </p:cNvPr>
          <p:cNvSpPr/>
          <p:nvPr/>
        </p:nvSpPr>
        <p:spPr bwMode="auto">
          <a:xfrm>
            <a:off x="6253162" y="1659482"/>
            <a:ext cx="1824038" cy="33751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2000" dirty="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series</a:t>
            </a:r>
            <a:endParaRPr lang="en-US" sz="3200" dirty="0">
              <a:solidFill>
                <a:srgbClr val="60059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E56B918-B45D-F6A2-C432-D415F4F9F575}"/>
              </a:ext>
            </a:extLst>
          </p:cNvPr>
          <p:cNvSpPr/>
          <p:nvPr/>
        </p:nvSpPr>
        <p:spPr bwMode="auto">
          <a:xfrm>
            <a:off x="8231981" y="1683945"/>
            <a:ext cx="1824038" cy="33751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  <a:buNone/>
            </a:pPr>
            <a:r>
              <a:rPr lang="en-US" sz="2000" dirty="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Other…</a:t>
            </a:r>
            <a:endParaRPr lang="en-US" sz="3200" dirty="0">
              <a:solidFill>
                <a:srgbClr val="60059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AFCB27-4292-D386-9DFA-CEDEBFECBCFB}"/>
              </a:ext>
            </a:extLst>
          </p:cNvPr>
          <p:cNvSpPr txBox="1">
            <a:spLocks/>
          </p:cNvSpPr>
          <p:nvPr/>
        </p:nvSpPr>
        <p:spPr bwMode="auto">
          <a:xfrm>
            <a:off x="4167186" y="2279928"/>
            <a:ext cx="1824038" cy="1149074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sz="1600" kern="0" dirty="0"/>
              <a:t>Prediction variable is numeric - continuous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9B968C8-EF5C-C8FF-A475-5C68284C91BB}"/>
              </a:ext>
            </a:extLst>
          </p:cNvPr>
          <p:cNvSpPr txBox="1">
            <a:spLocks/>
          </p:cNvSpPr>
          <p:nvPr/>
        </p:nvSpPr>
        <p:spPr bwMode="auto">
          <a:xfrm>
            <a:off x="6224587" y="2279928"/>
            <a:ext cx="1824038" cy="1113017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1600" kern="0" dirty="0"/>
              <a:t>Data are time-based: forecasting into future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E8332BD-4E31-AEE3-C4D2-B435920CD804}"/>
              </a:ext>
            </a:extLst>
          </p:cNvPr>
          <p:cNvSpPr txBox="1">
            <a:spLocks/>
          </p:cNvSpPr>
          <p:nvPr/>
        </p:nvSpPr>
        <p:spPr bwMode="auto">
          <a:xfrm>
            <a:off x="8201025" y="2279928"/>
            <a:ext cx="1824038" cy="1149074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1600" kern="0" dirty="0"/>
              <a:t>Analyzing text or media…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4FBB3AF-6685-9FDA-C029-D7E9AB941066}"/>
              </a:ext>
            </a:extLst>
          </p:cNvPr>
          <p:cNvSpPr/>
          <p:nvPr/>
        </p:nvSpPr>
        <p:spPr bwMode="auto">
          <a:xfrm>
            <a:off x="2171701" y="3843340"/>
            <a:ext cx="1714501" cy="1676399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the loan applicant default on their loan? 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44F4FE0-FA63-B4A7-8EFE-E166B08BB2C3}"/>
              </a:ext>
            </a:extLst>
          </p:cNvPr>
          <p:cNvSpPr/>
          <p:nvPr/>
        </p:nvSpPr>
        <p:spPr bwMode="auto">
          <a:xfrm>
            <a:off x="4221955" y="3814765"/>
            <a:ext cx="1714501" cy="1704975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much will this customer spend next year?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2E86FCB-1AD1-06B6-D3D9-EDAB1BDCAF29}"/>
              </a:ext>
            </a:extLst>
          </p:cNvPr>
          <p:cNvSpPr/>
          <p:nvPr/>
        </p:nvSpPr>
        <p:spPr bwMode="auto">
          <a:xfrm>
            <a:off x="6224588" y="3814764"/>
            <a:ext cx="1714501" cy="1704975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will the DJIA close at next month?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139E4D7-BA39-A1B8-AAF6-49618CD3B43A}"/>
              </a:ext>
            </a:extLst>
          </p:cNvPr>
          <p:cNvSpPr/>
          <p:nvPr/>
        </p:nvSpPr>
        <p:spPr bwMode="auto">
          <a:xfrm>
            <a:off x="8201026" y="3829051"/>
            <a:ext cx="1714501" cy="1704975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should my customer care chatbot say next?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CD3F96-5276-6C4B-0B73-98C97CF158F5}"/>
              </a:ext>
            </a:extLst>
          </p:cNvPr>
          <p:cNvSpPr txBox="1"/>
          <p:nvPr/>
        </p:nvSpPr>
        <p:spPr>
          <a:xfrm>
            <a:off x="2445641" y="5780102"/>
            <a:ext cx="7300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cut and dried…tasks can fall between categories</a:t>
            </a:r>
          </a:p>
        </p:txBody>
      </p:sp>
    </p:spTree>
    <p:extLst>
      <p:ext uri="{BB962C8B-B14F-4D97-AF65-F5344CB8AC3E}">
        <p14:creationId xmlns:p14="http://schemas.microsoft.com/office/powerpoint/2010/main" val="175704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  <p:bldP spid="9" grpId="0" animBg="1"/>
      <p:bldP spid="10" grpId="0" animBg="1"/>
      <p:bldP spid="11" grpId="0" animBg="1"/>
      <p:bldP spid="11" grpId="1" animBg="1"/>
      <p:bldP spid="12" grpId="0" animBg="1"/>
      <p:bldP spid="13" grpId="0" animBg="1"/>
      <p:bldP spid="14" grpId="0" animBg="1"/>
      <p:bldP spid="14" grpId="1" animBg="1"/>
      <p:bldP spid="18" grpId="0" animBg="1"/>
      <p:bldP spid="20" grpId="0" animBg="1"/>
      <p:bldP spid="21" grpId="0" animBg="1"/>
      <p:bldP spid="22" grpId="0" animBg="1"/>
      <p:bldP spid="22" grpId="1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4E31C-4597-9F40-8723-7A44CD6B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6AB4C-866F-9FCD-BB85-8863A88B3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28698"/>
            <a:ext cx="8534400" cy="83508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Loan Applicants – goal is to build a model to assess what factors result in loan default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Data:</a:t>
            </a:r>
          </a:p>
          <a:p>
            <a:pPr marL="0" indent="0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D88CED-E09C-2C7F-C46A-30BF66390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1915"/>
              </p:ext>
            </p:extLst>
          </p:nvPr>
        </p:nvGraphicFramePr>
        <p:xfrm>
          <a:off x="2258651" y="2196701"/>
          <a:ext cx="7674697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9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9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Industry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Default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02/13/04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123,000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29/06/13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51,100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14/08/09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68,000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01/01/07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74,000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23/12/11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19/0512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4CE7B8-8488-20B8-3DDF-FB8E77487FEF}"/>
              </a:ext>
            </a:extLst>
          </p:cNvPr>
          <p:cNvSpPr txBox="1"/>
          <p:nvPr/>
        </p:nvSpPr>
        <p:spPr>
          <a:xfrm>
            <a:off x="4267201" y="5059861"/>
            <a:ext cx="3417923" cy="7694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Supervised or unsupervised?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Classification or regression?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B7561-FD83-2E50-67CA-D7AC554C1604}"/>
              </a:ext>
            </a:extLst>
          </p:cNvPr>
          <p:cNvSpPr txBox="1"/>
          <p:nvPr/>
        </p:nvSpPr>
        <p:spPr>
          <a:xfrm>
            <a:off x="4208531" y="6096582"/>
            <a:ext cx="3476593" cy="40011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action might we take??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C90C132-C6BE-9553-D33A-C21091AC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26958"/>
            <a:ext cx="9459686" cy="668396"/>
          </a:xfrm>
        </p:spPr>
        <p:txBody>
          <a:bodyPr>
            <a:normAutofit/>
          </a:bodyPr>
          <a:lstStyle/>
          <a:p>
            <a:r>
              <a:rPr lang="en-US" sz="3600" dirty="0"/>
              <a:t>Supervised Learning - Example</a:t>
            </a:r>
          </a:p>
        </p:txBody>
      </p:sp>
    </p:spTree>
    <p:extLst>
      <p:ext uri="{BB962C8B-B14F-4D97-AF65-F5344CB8AC3E}">
        <p14:creationId xmlns:p14="http://schemas.microsoft.com/office/powerpoint/2010/main" val="196913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4E31C-4597-9F40-8723-7A44CD6B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514" y="6365917"/>
            <a:ext cx="1351034" cy="365125"/>
          </a:xfrm>
        </p:spPr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4DC31-F3C8-BA8B-CD2C-CECF0482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26958"/>
            <a:ext cx="9459686" cy="668396"/>
          </a:xfrm>
        </p:spPr>
        <p:txBody>
          <a:bodyPr>
            <a:normAutofit/>
          </a:bodyPr>
          <a:lstStyle/>
          <a:p>
            <a:r>
              <a:rPr lang="en-US" sz="3600" dirty="0"/>
              <a:t>Supervised Learning - Example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D88CED-E09C-2C7F-C46A-30BF66390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5754"/>
              </p:ext>
            </p:extLst>
          </p:nvPr>
        </p:nvGraphicFramePr>
        <p:xfrm>
          <a:off x="2283052" y="2984312"/>
          <a:ext cx="7619999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Industry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Default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02/13/04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123,000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29/06/13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51,100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14/08/09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68,000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01/01/07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74,000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23/12/11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19/0512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F381A5-8FDB-3CFE-63CB-C9D3F2690FC0}"/>
              </a:ext>
            </a:extLst>
          </p:cNvPr>
          <p:cNvSpPr txBox="1"/>
          <p:nvPr/>
        </p:nvSpPr>
        <p:spPr>
          <a:xfrm>
            <a:off x="1370240" y="461014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60499-CC03-EEF4-4CCA-EF1646F5F1B1}"/>
              </a:ext>
            </a:extLst>
          </p:cNvPr>
          <p:cNvSpPr txBox="1"/>
          <p:nvPr/>
        </p:nvSpPr>
        <p:spPr>
          <a:xfrm>
            <a:off x="8627394" y="2046145"/>
            <a:ext cx="1275657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</a:t>
            </a: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Dependent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DEB5E-A95B-4854-24E9-D4AA27420D2A}"/>
              </a:ext>
            </a:extLst>
          </p:cNvPr>
          <p:cNvSpPr txBox="1"/>
          <p:nvPr/>
        </p:nvSpPr>
        <p:spPr>
          <a:xfrm>
            <a:off x="580969" y="3797611"/>
            <a:ext cx="160842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Observations</a:t>
            </a:r>
          </a:p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Instances</a:t>
            </a:r>
          </a:p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Points</a:t>
            </a:r>
          </a:p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F1ED1-A8EC-D8AD-ABD0-D64942DCD3D7}"/>
              </a:ext>
            </a:extLst>
          </p:cNvPr>
          <p:cNvSpPr txBox="1"/>
          <p:nvPr/>
        </p:nvSpPr>
        <p:spPr>
          <a:xfrm>
            <a:off x="3477151" y="1555985"/>
            <a:ext cx="5074233" cy="1323439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</a:t>
            </a: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Attributes</a:t>
            </a: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</a:t>
            </a: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Independent Variables</a:t>
            </a: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3DAEA-6AF0-87ED-4434-8DF539018A57}"/>
              </a:ext>
            </a:extLst>
          </p:cNvPr>
          <p:cNvSpPr txBox="1"/>
          <p:nvPr/>
        </p:nvSpPr>
        <p:spPr>
          <a:xfrm>
            <a:off x="2397352" y="2538588"/>
            <a:ext cx="1003801" cy="338554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none" rtlCol="0" anchor="ctr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D246E-51CB-0B0D-760A-7E09B795D6C1}"/>
              </a:ext>
            </a:extLst>
          </p:cNvPr>
          <p:cNvSpPr txBox="1"/>
          <p:nvPr/>
        </p:nvSpPr>
        <p:spPr>
          <a:xfrm>
            <a:off x="5660836" y="6223611"/>
            <a:ext cx="677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157DF9-3208-B060-C460-B0576954D790}"/>
              </a:ext>
            </a:extLst>
          </p:cNvPr>
          <p:cNvSpPr txBox="1"/>
          <p:nvPr/>
        </p:nvSpPr>
        <p:spPr>
          <a:xfrm>
            <a:off x="8904514" y="6212249"/>
            <a:ext cx="677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E85F206-32A6-0810-212C-7C23C1CE6BE1}"/>
              </a:ext>
            </a:extLst>
          </p:cNvPr>
          <p:cNvSpPr/>
          <p:nvPr/>
        </p:nvSpPr>
        <p:spPr bwMode="auto">
          <a:xfrm rot="16200000">
            <a:off x="5724110" y="3462857"/>
            <a:ext cx="476248" cy="4878089"/>
          </a:xfrm>
          <a:prstGeom prst="leftBrace">
            <a:avLst>
              <a:gd name="adj1" fmla="val 8333"/>
              <a:gd name="adj2" fmla="val 50478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F6E75E6-34F4-5C41-DDED-BF793C0C5A2A}"/>
              </a:ext>
            </a:extLst>
          </p:cNvPr>
          <p:cNvSpPr/>
          <p:nvPr/>
        </p:nvSpPr>
        <p:spPr bwMode="auto">
          <a:xfrm rot="16200000">
            <a:off x="8794625" y="5441839"/>
            <a:ext cx="476248" cy="962730"/>
          </a:xfrm>
          <a:prstGeom prst="leftBrace">
            <a:avLst>
              <a:gd name="adj1" fmla="val 8333"/>
              <a:gd name="adj2" fmla="val 50478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3C5B83-5223-46CC-29A0-520A04F48AEF}"/>
              </a:ext>
            </a:extLst>
          </p:cNvPr>
          <p:cNvSpPr txBox="1"/>
          <p:nvPr/>
        </p:nvSpPr>
        <p:spPr>
          <a:xfrm>
            <a:off x="10095977" y="3566778"/>
            <a:ext cx="1992853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Rectangles!</a:t>
            </a:r>
          </a:p>
        </p:txBody>
      </p:sp>
    </p:spTree>
    <p:extLst>
      <p:ext uri="{BB962C8B-B14F-4D97-AF65-F5344CB8AC3E}">
        <p14:creationId xmlns:p14="http://schemas.microsoft.com/office/powerpoint/2010/main" val="192101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7" grpId="0"/>
      <p:bldP spid="12" grpId="0"/>
      <p:bldP spid="13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39095"/>
            <a:ext cx="10515600" cy="457430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Takes features as inputs, gives a prediction as an output</a:t>
            </a:r>
            <a:endParaRPr lang="en-US" b="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E9C3C-75B4-2C1E-6254-453B691E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805"/>
            <a:ext cx="10515600" cy="1001559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6450145" y="5348906"/>
            <a:ext cx="3954757" cy="902736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57175" indent="-257175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Classification Model:</a:t>
            </a:r>
          </a:p>
          <a:p>
            <a:pPr marL="257175" indent="-257175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 Age &gt; 45, predict No Default</a:t>
            </a:r>
          </a:p>
        </p:txBody>
      </p:sp>
      <p:sp>
        <p:nvSpPr>
          <p:cNvPr id="4103" name="Line 6"/>
          <p:cNvSpPr>
            <a:spLocks noChangeShapeType="1"/>
          </p:cNvSpPr>
          <p:nvPr/>
        </p:nvSpPr>
        <p:spPr bwMode="auto">
          <a:xfrm>
            <a:off x="5745480" y="5792654"/>
            <a:ext cx="5334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Rectangle 7"/>
          <p:cNvSpPr>
            <a:spLocks noChangeArrowheads="1"/>
          </p:cNvSpPr>
          <p:nvPr/>
        </p:nvSpPr>
        <p:spPr bwMode="auto">
          <a:xfrm>
            <a:off x="2830888" y="5152573"/>
            <a:ext cx="2846012" cy="16036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57175" indent="-257175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Algorithm:</a:t>
            </a:r>
          </a:p>
          <a:p>
            <a:pPr marL="257175" indent="-257175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Inputs features</a:t>
            </a:r>
          </a:p>
          <a:p>
            <a:pPr marL="257175" indent="-257175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Outputs prediction</a:t>
            </a:r>
          </a:p>
          <a:p>
            <a:pPr marL="257175" indent="-257175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05" name="Line 8"/>
          <p:cNvSpPr>
            <a:spLocks noChangeShapeType="1"/>
          </p:cNvSpPr>
          <p:nvPr/>
        </p:nvSpPr>
        <p:spPr bwMode="auto">
          <a:xfrm>
            <a:off x="4419600" y="4572000"/>
            <a:ext cx="0" cy="5334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3783"/>
              </p:ext>
            </p:extLst>
          </p:nvPr>
        </p:nvGraphicFramePr>
        <p:xfrm>
          <a:off x="1981199" y="1928946"/>
          <a:ext cx="7688891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1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Industry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Default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02/13/04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123,000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29/06/13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51,100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14/08/09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68,000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01/01/07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74,000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23/12/11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19/0512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81512E2-3B4F-6972-B93C-F72F6AF93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582" y="5196492"/>
            <a:ext cx="841464" cy="83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6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/>
          <p:cNvSpPr>
            <a:spLocks noGrp="1" noChangeArrowheads="1"/>
          </p:cNvSpPr>
          <p:nvPr>
            <p:ph type="title"/>
          </p:nvPr>
        </p:nvSpPr>
        <p:spPr>
          <a:xfrm>
            <a:off x="47616" y="51414"/>
            <a:ext cx="7644898" cy="663148"/>
          </a:xfrm>
        </p:spPr>
        <p:txBody>
          <a:bodyPr>
            <a:noAutofit/>
          </a:bodyPr>
          <a:lstStyle/>
          <a:p>
            <a:pPr algn="l" eaLnBrk="1" hangingPunct="1">
              <a:defRPr/>
            </a:pPr>
            <a:r>
              <a:rPr lang="en-US" sz="3200" dirty="0"/>
              <a:t>Predictive Analytics Flow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4444" y="1529981"/>
            <a:ext cx="6660932" cy="499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A177F2-A83F-7048-AF40-499B6D2F8407}"/>
              </a:ext>
            </a:extLst>
          </p:cNvPr>
          <p:cNvSpPr txBox="1"/>
          <p:nvPr/>
        </p:nvSpPr>
        <p:spPr>
          <a:xfrm>
            <a:off x="5654882" y="4573517"/>
            <a:ext cx="155876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Prediction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60D7C9-5BBB-014D-80B6-6B87CCF5B5AA}"/>
              </a:ext>
            </a:extLst>
          </p:cNvPr>
          <p:cNvSpPr txBox="1"/>
          <p:nvPr/>
        </p:nvSpPr>
        <p:spPr>
          <a:xfrm>
            <a:off x="7599665" y="4602723"/>
            <a:ext cx="1785268" cy="48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Decision/Action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E80A2E-A0DA-074D-903B-6865F75F0A09}"/>
              </a:ext>
            </a:extLst>
          </p:cNvPr>
          <p:cNvGrpSpPr/>
          <p:nvPr/>
        </p:nvGrpSpPr>
        <p:grpSpPr>
          <a:xfrm>
            <a:off x="7120302" y="5160898"/>
            <a:ext cx="2022807" cy="338554"/>
            <a:chOff x="6585857" y="5383517"/>
            <a:chExt cx="2022807" cy="338554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DFFF50A-F371-EA41-BE9C-CB61A0CBA6BA}"/>
                </a:ext>
              </a:extLst>
            </p:cNvPr>
            <p:cNvCxnSpPr>
              <a:cxnSpLocks/>
            </p:cNvCxnSpPr>
            <p:nvPr/>
          </p:nvCxnSpPr>
          <p:spPr>
            <a:xfrm>
              <a:off x="6585857" y="5550188"/>
              <a:ext cx="47936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1268E8-BA58-CC4F-99C1-BE31855A2D23}"/>
                </a:ext>
              </a:extLst>
            </p:cNvPr>
            <p:cNvSpPr txBox="1"/>
            <p:nvPr/>
          </p:nvSpPr>
          <p:spPr>
            <a:xfrm>
              <a:off x="7311514" y="5383517"/>
              <a:ext cx="12971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1600" b="1" dirty="0"/>
                <a:t>“Send offer”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7492B88-FF83-9C49-8384-64D7563C5245}"/>
              </a:ext>
            </a:extLst>
          </p:cNvPr>
          <p:cNvSpPr/>
          <p:nvPr/>
        </p:nvSpPr>
        <p:spPr>
          <a:xfrm>
            <a:off x="438412" y="1072781"/>
            <a:ext cx="7161254" cy="32004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61B1A-5EEE-124B-84A9-7983CCF36103}"/>
              </a:ext>
            </a:extLst>
          </p:cNvPr>
          <p:cNvSpPr txBox="1"/>
          <p:nvPr/>
        </p:nvSpPr>
        <p:spPr>
          <a:xfrm>
            <a:off x="8225162" y="2442749"/>
            <a:ext cx="2754164" cy="750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Modelling (Training) Phase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A1802C-99D8-9E49-AB92-66282D8260B1}"/>
              </a:ext>
            </a:extLst>
          </p:cNvPr>
          <p:cNvSpPr txBox="1"/>
          <p:nvPr/>
        </p:nvSpPr>
        <p:spPr>
          <a:xfrm>
            <a:off x="9848537" y="4760788"/>
            <a:ext cx="1297151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Use Phase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A03235-AD7C-354B-A08A-117FBEC93C50}"/>
              </a:ext>
            </a:extLst>
          </p:cNvPr>
          <p:cNvSpPr/>
          <p:nvPr/>
        </p:nvSpPr>
        <p:spPr>
          <a:xfrm>
            <a:off x="438412" y="4425582"/>
            <a:ext cx="9163832" cy="212406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DD2E6-E1D7-2BC1-923E-FDA04E19CEFC}"/>
              </a:ext>
            </a:extLst>
          </p:cNvPr>
          <p:cNvSpPr txBox="1"/>
          <p:nvPr/>
        </p:nvSpPr>
        <p:spPr>
          <a:xfrm>
            <a:off x="10374489" y="308357"/>
            <a:ext cx="131638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DSB Fig2-1</a:t>
            </a:r>
          </a:p>
        </p:txBody>
      </p:sp>
    </p:spTree>
    <p:extLst>
      <p:ext uri="{BB962C8B-B14F-4D97-AF65-F5344CB8AC3E}">
        <p14:creationId xmlns:p14="http://schemas.microsoft.com/office/powerpoint/2010/main" val="38215125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8" grpId="0" animBg="1"/>
      <p:bldP spid="14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7B27EE87-1F04-6341-AAD7-D55E54990253}" vid="{17107589-188F-C44D-B6A8-21EC195DC8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68767</TotalTime>
  <Words>2704</Words>
  <Application>Microsoft Macintosh PowerPoint</Application>
  <PresentationFormat>Widescreen</PresentationFormat>
  <Paragraphs>552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Montserrat</vt:lpstr>
      <vt:lpstr>Montserrat SemiBold</vt:lpstr>
      <vt:lpstr>Tahoma</vt:lpstr>
      <vt:lpstr>Wingdings</vt:lpstr>
      <vt:lpstr>LSL_PowerPoint_Template</vt:lpstr>
      <vt:lpstr>Topic 2 – Intro to Data Science</vt:lpstr>
      <vt:lpstr>Use Case:  TelCo Churn</vt:lpstr>
      <vt:lpstr>What is Data Science? </vt:lpstr>
      <vt:lpstr>Why Data Science?</vt:lpstr>
      <vt:lpstr>Data Science Process</vt:lpstr>
      <vt:lpstr>CRISP: Business Understanding</vt:lpstr>
      <vt:lpstr>PowerPoint Presentation</vt:lpstr>
      <vt:lpstr>CRISP: Data Understanding </vt:lpstr>
      <vt:lpstr>CRISP: Data Preparation</vt:lpstr>
      <vt:lpstr>PowerPoint Presentation</vt:lpstr>
      <vt:lpstr>Training and Test sets</vt:lpstr>
      <vt:lpstr>CRISP: Modelling</vt:lpstr>
      <vt:lpstr>CRISP: Evaluation</vt:lpstr>
      <vt:lpstr>CRISP: Deployment</vt:lpstr>
      <vt:lpstr>Iterate …</vt:lpstr>
      <vt:lpstr>CRISP – In Action</vt:lpstr>
      <vt:lpstr>Types of Data Science Tasks</vt:lpstr>
      <vt:lpstr>Supervised Learning - Types </vt:lpstr>
      <vt:lpstr>Supervised Learning - Example</vt:lpstr>
      <vt:lpstr>Supervised Learning - Example</vt:lpstr>
      <vt:lpstr>Model</vt:lpstr>
      <vt:lpstr>Predictive Analytics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79</cp:revision>
  <cp:lastPrinted>2024-08-20T17:36:31Z</cp:lastPrinted>
  <dcterms:created xsi:type="dcterms:W3CDTF">2023-07-07T20:20:38Z</dcterms:created>
  <dcterms:modified xsi:type="dcterms:W3CDTF">2025-09-15T14:04:53Z</dcterms:modified>
</cp:coreProperties>
</file>