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70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600592"/>
    <a:srgbClr val="4A0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9820"/>
  </p:normalViewPr>
  <p:slideViewPr>
    <p:cSldViewPr snapToGrid="0">
      <p:cViewPr varScale="1">
        <p:scale>
          <a:sx n="92" d="100"/>
          <a:sy n="92" d="100"/>
        </p:scale>
        <p:origin x="192" y="504"/>
      </p:cViewPr>
      <p:guideLst/>
    </p:cSldViewPr>
  </p:slideViewPr>
  <p:outlineViewPr>
    <p:cViewPr>
      <p:scale>
        <a:sx n="33" d="100"/>
        <a:sy n="33" d="100"/>
      </p:scale>
      <p:origin x="0" y="-162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3ED7A-E0CC-A14D-8702-3DBB30C4345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12B09-6666-2149-A7EC-89A035875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1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59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91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class to do this? Ask them to create features.  Purchases are over the last year of purchases</a:t>
            </a:r>
          </a:p>
          <a:p>
            <a:endParaRPr lang="en-US" dirty="0"/>
          </a:p>
          <a:p>
            <a:r>
              <a:rPr lang="en-US" dirty="0"/>
              <a:t>Training set is ABC from a pilot study…going to apply it to other people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4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ways to do this!  Append demos to all purchases?  Or summarize all purchases in feature engineering…</a:t>
            </a:r>
            <a:r>
              <a:rPr lang="en-US" dirty="0" err="1"/>
              <a:t>follwoign</a:t>
            </a:r>
            <a:r>
              <a:rPr lang="en-US" dirty="0"/>
              <a:t> slides show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other attributes can we create? Number of sales, total sales, avg. sales, type of purchase, recency, max sale..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1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you are modelling PURCHASES instead of users, someone with many transactions is much more represented in the data.  </a:t>
            </a:r>
          </a:p>
          <a:p>
            <a:endParaRPr lang="en-US" dirty="0"/>
          </a:p>
          <a:p>
            <a:r>
              <a:rPr lang="en-US" dirty="0"/>
              <a:t>Changes baseline.  Also much more data</a:t>
            </a:r>
          </a:p>
          <a:p>
            <a:endParaRPr lang="en-US" dirty="0"/>
          </a:p>
          <a:p>
            <a:r>
              <a:rPr lang="en-US" dirty="0"/>
              <a:t>And you don’t get the advantage of adding more features…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02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Netflix looked like in the early 2000s….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23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the features?  What is the target?</a:t>
            </a:r>
          </a:p>
          <a:p>
            <a:endParaRPr lang="en-US" dirty="0"/>
          </a:p>
          <a:p>
            <a:r>
              <a:rPr lang="en-US" dirty="0"/>
              <a:t>Build a model for each movie. </a:t>
            </a:r>
          </a:p>
          <a:p>
            <a:endParaRPr lang="en-US" dirty="0"/>
          </a:p>
          <a:p>
            <a:r>
              <a:rPr lang="en-US" dirty="0"/>
              <a:t>Want to predict if someone will like Jurassic Park</a:t>
            </a:r>
          </a:p>
          <a:p>
            <a:r>
              <a:rPr lang="en-US" dirty="0"/>
              <a:t>Need a matrix – training data of all the people who watched Jurassic Park</a:t>
            </a:r>
          </a:p>
          <a:p>
            <a:r>
              <a:rPr lang="en-US" dirty="0"/>
              <a:t>Target is rating of JP</a:t>
            </a:r>
          </a:p>
          <a:p>
            <a:r>
              <a:rPr lang="en-US" dirty="0"/>
              <a:t>What are the features? </a:t>
            </a:r>
          </a:p>
          <a:p>
            <a:endParaRPr lang="en-US" dirty="0"/>
          </a:p>
          <a:p>
            <a:r>
              <a:rPr lang="en-US" dirty="0"/>
              <a:t>What is the average number of movies rated per user? </a:t>
            </a:r>
          </a:p>
          <a:p>
            <a:r>
              <a:rPr lang="en-US" dirty="0"/>
              <a:t>What is the average number of users that rate a movie? </a:t>
            </a:r>
          </a:p>
          <a:p>
            <a:r>
              <a:rPr lang="en-US" dirty="0"/>
              <a:t>Want to create features for the users, how can we do that?  Create 10 for users and 10 for movies…</a:t>
            </a:r>
          </a:p>
          <a:p>
            <a:r>
              <a:rPr lang="en-US" dirty="0"/>
              <a:t>Max rating user”. 17659 (is that real?) average is just over 200…</a:t>
            </a:r>
          </a:p>
          <a:p>
            <a:r>
              <a:rPr lang="en-US" dirty="0"/>
              <a:t>Max number of ratings movie? 240k – Miss Congeniality. </a:t>
            </a:r>
          </a:p>
          <a:p>
            <a:endParaRPr lang="en-US" dirty="0"/>
          </a:p>
          <a:p>
            <a:r>
              <a:rPr lang="en-US" dirty="0"/>
              <a:t>Number of movies rated</a:t>
            </a:r>
          </a:p>
          <a:p>
            <a:r>
              <a:rPr lang="en-US" dirty="0"/>
              <a:t>Average of movies rated</a:t>
            </a:r>
          </a:p>
          <a:p>
            <a:r>
              <a:rPr lang="en-US" dirty="0"/>
              <a:t>Max score</a:t>
            </a:r>
          </a:p>
          <a:p>
            <a:r>
              <a:rPr lang="en-US" dirty="0"/>
              <a:t>Min score</a:t>
            </a:r>
          </a:p>
          <a:p>
            <a:r>
              <a:rPr lang="en-US" dirty="0"/>
              <a:t>Average score</a:t>
            </a:r>
          </a:p>
          <a:p>
            <a:r>
              <a:rPr lang="en-US" dirty="0"/>
              <a:t>SD score</a:t>
            </a:r>
          </a:p>
          <a:p>
            <a:r>
              <a:rPr lang="en-US" dirty="0"/>
              <a:t>How did they rate similar movies to Jurassic park</a:t>
            </a:r>
            <a:br>
              <a:rPr lang="en-US" dirty="0"/>
            </a:br>
            <a:r>
              <a:rPr lang="en-US" dirty="0"/>
              <a:t>how did they rate movies with same director (if any) </a:t>
            </a:r>
          </a:p>
          <a:p>
            <a:r>
              <a:rPr lang="en-US" dirty="0"/>
              <a:t>% of ratings that are 5</a:t>
            </a:r>
          </a:p>
          <a:p>
            <a:r>
              <a:rPr lang="en-US" dirty="0"/>
              <a:t>Day span of ratings</a:t>
            </a:r>
          </a:p>
          <a:p>
            <a:r>
              <a:rPr lang="en-US" dirty="0"/>
              <a:t>Max ratings on a single day</a:t>
            </a:r>
          </a:p>
          <a:p>
            <a:r>
              <a:rPr lang="en-US" dirty="0"/>
              <a:t>Most recent rating (how many days ago)</a:t>
            </a:r>
          </a:p>
          <a:p>
            <a:r>
              <a:rPr lang="en-US" dirty="0"/>
              <a:t>Summer/winter? </a:t>
            </a:r>
          </a:p>
          <a:p>
            <a:r>
              <a:rPr lang="en-US" dirty="0"/>
              <a:t>How many other movies were rated on this day? </a:t>
            </a:r>
          </a:p>
          <a:p>
            <a:endParaRPr lang="en-US" dirty="0"/>
          </a:p>
          <a:p>
            <a:r>
              <a:rPr lang="en-US" dirty="0"/>
              <a:t>DATE ISNT USEFUL!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Movies</a:t>
            </a:r>
          </a:p>
          <a:p>
            <a:r>
              <a:rPr lang="en-US" dirty="0"/>
              <a:t>How many people rated it? </a:t>
            </a:r>
          </a:p>
          <a:p>
            <a:r>
              <a:rPr lang="en-US" dirty="0"/>
              <a:t>What is the span of time? </a:t>
            </a:r>
          </a:p>
          <a:p>
            <a:r>
              <a:rPr lang="en-US" dirty="0"/>
              <a:t>Genre</a:t>
            </a:r>
          </a:p>
          <a:p>
            <a:r>
              <a:rPr lang="en-US" dirty="0"/>
              <a:t>Sub-genre</a:t>
            </a:r>
          </a:p>
          <a:p>
            <a:r>
              <a:rPr lang="en-US" dirty="0"/>
              <a:t>director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71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12B09-6666-2149-A7EC-89A035875D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91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9F43C82-9B9B-AC4F-98CD-0ADC587116F3}" type="datetime1">
              <a:rPr lang="en-US" smtClean="0"/>
              <a:t>12/19/25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254946" y="3467480"/>
            <a:ext cx="6912587" cy="1402207"/>
          </a:xfrm>
        </p:spPr>
        <p:txBody>
          <a:bodyPr lIns="91440" anchor="t">
            <a:noAutofit/>
          </a:bodyPr>
          <a:lstStyle>
            <a:lvl1pPr marL="0" indent="0" algn="l">
              <a:buNone/>
              <a:defRPr sz="2800" b="1" i="0">
                <a:solidFill>
                  <a:schemeClr val="bg2"/>
                </a:solidFill>
                <a:latin typeface="Montserrat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Data Science and AI for Business</a:t>
            </a:r>
          </a:p>
          <a:p>
            <a:r>
              <a:rPr lang="en-US" dirty="0"/>
              <a:t>Prof: Chris Volinsky</a:t>
            </a:r>
          </a:p>
          <a:p>
            <a:r>
              <a:rPr lang="en-US" dirty="0"/>
              <a:t>Fall 2025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254946" y="567189"/>
            <a:ext cx="6912587" cy="2387600"/>
          </a:xfrm>
          <a:noFill/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Topic X – Topic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4916ED-9746-C1BF-F73F-57DE4C5668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75339" y="3429000"/>
            <a:ext cx="6431721" cy="27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ou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10B997DA-7AA6-CF7E-FDED-D6EF7D28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374277186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stairs and people walking&#10;&#10;AI-generated content may be incorrect.">
            <a:extLst>
              <a:ext uri="{FF2B5EF4-FFF2-40B4-BE49-F238E27FC236}">
                <a16:creationId xmlns:a16="http://schemas.microsoft.com/office/drawing/2014/main" id="{F9871B73-938C-45E7-7799-A9A5443705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8E9548-3B4B-2F9B-6B67-2F904307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2063296"/>
            <a:ext cx="10515600" cy="1001559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C5894B-C677-E349-FCAF-7A2C8488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9CEAD-DE05-890A-43F5-E308410E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C1DE4-B54C-87DD-FB01-5F894157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5857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47533-C89B-7F4F-A98B-2DD0B0DD654B}" type="datetimeFigureOut">
              <a:rPr lang="en-US" smtClean="0"/>
              <a:t>12/19/25</a:t>
            </a:fld>
            <a:endParaRPr lang="en-US" dirty="0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SzPct val="75000"/>
              <a:buFont typeface="Wingdings" pitchFamily="2" charset="2"/>
              <a:buChar char="§"/>
              <a:defRPr/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SzPct val="60000"/>
              <a:buFont typeface="Wingdings" pitchFamily="2" charset="2"/>
              <a:buChar char="v"/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14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1674006" y="3447259"/>
            <a:ext cx="8160774" cy="1500187"/>
          </a:xfrm>
        </p:spPr>
        <p:txBody>
          <a:bodyPr lIns="9144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674006" y="1555276"/>
            <a:ext cx="8160774" cy="1864995"/>
          </a:xfrm>
          <a:noFill/>
        </p:spPr>
        <p:txBody>
          <a:bodyPr anchor="b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9787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1BC2-7DC9-274F-9AA5-41AD410B73E8}" type="datetime1">
              <a:rPr lang="en-US" smtClean="0"/>
              <a:t>12/19/25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6172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838200" y="1602658"/>
            <a:ext cx="5181600" cy="4574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541A-B732-0842-A74F-0C72DB237063}" type="datetime1">
              <a:rPr lang="en-US" smtClean="0"/>
              <a:t>12/19/25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2"/>
          <p:cNvSpPr>
            <a:spLocks noGrp="1"/>
          </p:cNvSpPr>
          <p:nvPr>
            <p:ph sz="quarter" idx="4"/>
          </p:nvPr>
        </p:nvSpPr>
        <p:spPr>
          <a:xfrm>
            <a:off x="6172200" y="2424112"/>
            <a:ext cx="5183188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ing 2"/>
          <p:cNvSpPr>
            <a:spLocks noGrp="1"/>
          </p:cNvSpPr>
          <p:nvPr>
            <p:ph type="body" sz="quarter" idx="3"/>
          </p:nvPr>
        </p:nvSpPr>
        <p:spPr>
          <a:xfrm>
            <a:off x="6172200" y="16002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1"/>
          <p:cNvSpPr>
            <a:spLocks noGrp="1"/>
          </p:cNvSpPr>
          <p:nvPr>
            <p:ph sz="half" idx="2"/>
          </p:nvPr>
        </p:nvSpPr>
        <p:spPr>
          <a:xfrm>
            <a:off x="839788" y="2424112"/>
            <a:ext cx="5157787" cy="3765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Heading 1"/>
          <p:cNvSpPr>
            <a:spLocks noGrp="1"/>
          </p:cNvSpPr>
          <p:nvPr>
            <p:ph type="body" idx="1"/>
          </p:nvPr>
        </p:nvSpPr>
        <p:spPr>
          <a:xfrm>
            <a:off x="839788" y="16002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05840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15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7BA72-28C9-9A46-8637-8A409BF0CACF}" type="datetime1">
              <a:rPr lang="en-US" smtClean="0"/>
              <a:t>12/19/25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5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Hidden Title">
            <a:extLst>
              <a:ext uri="{FF2B5EF4-FFF2-40B4-BE49-F238E27FC236}">
                <a16:creationId xmlns:a16="http://schemas.microsoft.com/office/drawing/2014/main" id="{2BFCB23C-FD7A-DDAB-2F31-3EA0403961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139584"/>
            <a:ext cx="10515600" cy="1001559"/>
          </a:xfrm>
        </p:spPr>
        <p:txBody>
          <a:bodyPr/>
          <a:lstStyle/>
          <a:p>
            <a:r>
              <a:rPr lang="en-US" dirty="0"/>
              <a:t>Click to edit title (this will display for screen readers and outlines)</a:t>
            </a:r>
          </a:p>
        </p:txBody>
      </p:sp>
    </p:spTree>
    <p:extLst>
      <p:ext uri="{BB962C8B-B14F-4D97-AF65-F5344CB8AC3E}">
        <p14:creationId xmlns:p14="http://schemas.microsoft.com/office/powerpoint/2010/main" val="103535461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tIns="18288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F7BEC92A-23B7-BAAB-4CE5-D6D7A6417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0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949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tIns="18288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7D76AD61-182C-13DD-7E32-DAED6ED8CD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12" y="2057401"/>
            <a:ext cx="3935413" cy="380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Ins="274320"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3079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8AE4-2A10-5F42-AC8C-4BD01A79A0D1}" type="datetime1">
              <a:rPr lang="en-US" smtClean="0"/>
              <a:t>12/19/25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76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C519-8308-2748-8B0B-F7B055AE4297}" type="datetime1">
              <a:rPr lang="en-US" smtClean="0"/>
              <a:t>12/19/25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tIns="182880" bIns="18288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711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ographic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E0315FA0-DFBB-0494-15F4-F94FA37B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48D3A38-8D3E-6EB0-FE34-FBB6F9AF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331D1D9-60E1-36A2-EDA8-C31A7ED8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C4533C5-D85B-5D93-12B0-136A51D73C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84088" y="565150"/>
            <a:ext cx="5672170" cy="5511800"/>
          </a:xfrm>
          <a:solidFill>
            <a:schemeClr val="bg2"/>
          </a:solidFill>
        </p:spPr>
        <p:txBody>
          <a:bodyPr lIns="365760" tIns="45720" rIns="36576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F52A58E-1F73-C381-F411-54304E513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6923" y="5453949"/>
            <a:ext cx="3868300" cy="622409"/>
          </a:xfrm>
        </p:spPr>
        <p:txBody>
          <a:bodyPr tIns="9144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F94145-6C3C-7197-F652-4095F3D46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923" y="4557832"/>
            <a:ext cx="3867807" cy="896117"/>
          </a:xfrm>
        </p:spPr>
        <p:txBody>
          <a:bodyPr lIns="91440" anchor="ctr">
            <a:no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4" name="Biographical Portrait">
            <a:extLst>
              <a:ext uri="{FF2B5EF4-FFF2-40B4-BE49-F238E27FC236}">
                <a16:creationId xmlns:a16="http://schemas.microsoft.com/office/drawing/2014/main" id="{C01C33A2-E0D6-52C6-B10A-B3D8B056EA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26923" y="490278"/>
            <a:ext cx="3867808" cy="4022020"/>
          </a:xfrm>
          <a:custGeom>
            <a:avLst/>
            <a:gdLst>
              <a:gd name="connsiteX0" fmla="*/ 1933904 w 3867808"/>
              <a:gd name="connsiteY0" fmla="*/ 0 h 4022020"/>
              <a:gd name="connsiteX1" fmla="*/ 3867808 w 3867808"/>
              <a:gd name="connsiteY1" fmla="*/ 2011366 h 4022020"/>
              <a:gd name="connsiteX2" fmla="*/ 2131635 w 3867808"/>
              <a:gd name="connsiteY2" fmla="*/ 4012348 h 4022020"/>
              <a:gd name="connsiteX3" fmla="*/ 1947462 w 3867808"/>
              <a:gd name="connsiteY3" fmla="*/ 4022020 h 4022020"/>
              <a:gd name="connsiteX4" fmla="*/ 1920347 w 3867808"/>
              <a:gd name="connsiteY4" fmla="*/ 4022020 h 4022020"/>
              <a:gd name="connsiteX5" fmla="*/ 1736174 w 3867808"/>
              <a:gd name="connsiteY5" fmla="*/ 4012348 h 4022020"/>
              <a:gd name="connsiteX6" fmla="*/ 0 w 3867808"/>
              <a:gd name="connsiteY6" fmla="*/ 2011366 h 4022020"/>
              <a:gd name="connsiteX7" fmla="*/ 1933904 w 3867808"/>
              <a:gd name="connsiteY7" fmla="*/ 0 h 402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67808" h="4022020">
                <a:moveTo>
                  <a:pt x="1933904" y="0"/>
                </a:moveTo>
                <a:cubicBezTo>
                  <a:pt x="3001970" y="0"/>
                  <a:pt x="3867808" y="900519"/>
                  <a:pt x="3867808" y="2011366"/>
                </a:cubicBezTo>
                <a:cubicBezTo>
                  <a:pt x="3867808" y="3052785"/>
                  <a:pt x="3106818" y="3909346"/>
                  <a:pt x="2131635" y="4012348"/>
                </a:cubicBezTo>
                <a:lnTo>
                  <a:pt x="1947462" y="4022020"/>
                </a:lnTo>
                <a:lnTo>
                  <a:pt x="1920347" y="4022020"/>
                </a:lnTo>
                <a:lnTo>
                  <a:pt x="1736174" y="4012348"/>
                </a:lnTo>
                <a:cubicBezTo>
                  <a:pt x="760991" y="3909346"/>
                  <a:pt x="0" y="3052785"/>
                  <a:pt x="0" y="2011366"/>
                </a:cubicBezTo>
                <a:cubicBezTo>
                  <a:pt x="0" y="900519"/>
                  <a:pt x="865838" y="0"/>
                  <a:pt x="19339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3753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Upper Right Background">
            <a:extLst>
              <a:ext uri="{FF2B5EF4-FFF2-40B4-BE49-F238E27FC236}">
                <a16:creationId xmlns:a16="http://schemas.microsoft.com/office/drawing/2014/main" id="{741348CF-8AE0-CDA7-6AF8-73CBD508D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1362456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Lower Left Background">
            <a:extLst>
              <a:ext uri="{FF2B5EF4-FFF2-40B4-BE49-F238E27FC236}">
                <a16:creationId xmlns:a16="http://schemas.microsoft.com/office/drawing/2014/main" id="{7A022FAC-8470-0247-48BA-724E9DA0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6879" y="3664139"/>
            <a:ext cx="438912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Vertical Divider">
            <a:extLst>
              <a:ext uri="{FF2B5EF4-FFF2-40B4-BE49-F238E27FC236}">
                <a16:creationId xmlns:a16="http://schemas.microsoft.com/office/drawing/2014/main" id="{56653F9A-22F3-01A3-08FE-B872A42C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1362456"/>
            <a:ext cx="0" cy="4572000"/>
          </a:xfrm>
          <a:prstGeom prst="line">
            <a:avLst/>
          </a:prstGeom>
          <a:ln w="28575">
            <a:solidFill>
              <a:srgbClr val="330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Horizontal Divider">
            <a:extLst>
              <a:ext uri="{FF2B5EF4-FFF2-40B4-BE49-F238E27FC236}">
                <a16:creationId xmlns:a16="http://schemas.microsoft.com/office/drawing/2014/main" id="{FD96D644-BABC-710D-9181-F5F1CFE25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06880" y="3648456"/>
            <a:ext cx="877824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e">
            <a:extLst>
              <a:ext uri="{FF2B5EF4-FFF2-40B4-BE49-F238E27FC236}">
                <a16:creationId xmlns:a16="http://schemas.microsoft.com/office/drawing/2014/main" id="{8C45C620-8DCA-F412-3FAF-615D5BE6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01FB36B0-30B4-5161-4F34-C0DB33DF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0834D6B-037D-B08E-B56B-6F63524B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Lower Right Content">
            <a:extLst>
              <a:ext uri="{FF2B5EF4-FFF2-40B4-BE49-F238E27FC236}">
                <a16:creationId xmlns:a16="http://schemas.microsoft.com/office/drawing/2014/main" id="{59A8F6BE-E970-A0F4-7DDA-8524CD5C33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95840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Lower Right Label 2">
            <a:extLst>
              <a:ext uri="{FF2B5EF4-FFF2-40B4-BE49-F238E27FC236}">
                <a16:creationId xmlns:a16="http://schemas.microsoft.com/office/drawing/2014/main" id="{CFD30BF1-A505-9ACC-025A-469B5F0297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03409" y="4654295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7" name="Lower Right Label 1">
            <a:extLst>
              <a:ext uri="{FF2B5EF4-FFF2-40B4-BE49-F238E27FC236}">
                <a16:creationId xmlns:a16="http://schemas.microsoft.com/office/drawing/2014/main" id="{C1877750-E333-F03B-47EC-F2033B802A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524" y="5962966"/>
            <a:ext cx="4389117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7" name="Lower Left Content">
            <a:extLst>
              <a:ext uri="{FF2B5EF4-FFF2-40B4-BE49-F238E27FC236}">
                <a16:creationId xmlns:a16="http://schemas.microsoft.com/office/drawing/2014/main" id="{6EB568C5-C36C-C3B6-B84E-33585ED25B11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706563" y="3740145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Lower Left Label 2">
            <a:extLst>
              <a:ext uri="{FF2B5EF4-FFF2-40B4-BE49-F238E27FC236}">
                <a16:creationId xmlns:a16="http://schemas.microsoft.com/office/drawing/2014/main" id="{837C4CC4-7EAF-DC30-D4DD-8B9A27E114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" y="4654295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6" name="Lower Left Label 1">
            <a:extLst>
              <a:ext uri="{FF2B5EF4-FFF2-40B4-BE49-F238E27FC236}">
                <a16:creationId xmlns:a16="http://schemas.microsoft.com/office/drawing/2014/main" id="{4B5B599D-1D6D-2F42-226C-68559DBA7D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6406" y="5962966"/>
            <a:ext cx="4389119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6" name="Upper Right Content">
            <a:extLst>
              <a:ext uri="{FF2B5EF4-FFF2-40B4-BE49-F238E27FC236}">
                <a16:creationId xmlns:a16="http://schemas.microsoft.com/office/drawing/2014/main" id="{C9BA5D50-354F-362B-0D00-D2581CEB93A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5840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Upper Right Label 2">
            <a:extLst>
              <a:ext uri="{FF2B5EF4-FFF2-40B4-BE49-F238E27FC236}">
                <a16:creationId xmlns:a16="http://schemas.microsoft.com/office/drawing/2014/main" id="{95D7251D-C3E9-D88C-6B59-37FDF825BC9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409" y="2176811"/>
            <a:ext cx="1487423" cy="392113"/>
          </a:xfrm>
        </p:spPr>
        <p:txBody>
          <a:bodyPr>
            <a:noAutofit/>
          </a:bodyPr>
          <a:lstStyle>
            <a:lvl1pPr marL="0" indent="0" algn="l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5" name="Upper Right Label 1">
            <a:extLst>
              <a:ext uri="{FF2B5EF4-FFF2-40B4-BE49-F238E27FC236}">
                <a16:creationId xmlns:a16="http://schemas.microsoft.com/office/drawing/2014/main" id="{01DC97BE-4E44-4321-55D1-58467CA8CD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524" y="904718"/>
            <a:ext cx="4389117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5" name="Upper Left Content">
            <a:extLst>
              <a:ext uri="{FF2B5EF4-FFF2-40B4-BE49-F238E27FC236}">
                <a16:creationId xmlns:a16="http://schemas.microsoft.com/office/drawing/2014/main" id="{34ADB10B-DD8F-366C-2FE7-EB6B19010DC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706563" y="1358773"/>
            <a:ext cx="4389437" cy="2207388"/>
          </a:xfrm>
        </p:spPr>
        <p:txBody>
          <a:bodyPr lIns="182880" tIns="274320" rIns="27432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Upper Left Label 2">
            <a:extLst>
              <a:ext uri="{FF2B5EF4-FFF2-40B4-BE49-F238E27FC236}">
                <a16:creationId xmlns:a16="http://schemas.microsoft.com/office/drawing/2014/main" id="{A2A1B410-A6E6-1BF0-054A-670E8ED31F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1168" y="2176811"/>
            <a:ext cx="1487423" cy="392113"/>
          </a:xfrm>
        </p:spPr>
        <p:txBody>
          <a:bodyPr>
            <a:noAutofit/>
          </a:bodyPr>
          <a:lstStyle>
            <a:lvl1pPr marL="0" indent="0" algn="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14" name="Upper Left Label 1">
            <a:extLst>
              <a:ext uri="{FF2B5EF4-FFF2-40B4-BE49-F238E27FC236}">
                <a16:creationId xmlns:a16="http://schemas.microsoft.com/office/drawing/2014/main" id="{49583889-99E8-7796-E87C-F99F6EE72D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6406" y="904718"/>
            <a:ext cx="4389119" cy="457200"/>
          </a:xfrm>
        </p:spPr>
        <p:txBody>
          <a:bodyPr anchor="b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r>
              <a:rPr lang="en-US" dirty="0"/>
              <a:t>Label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C5C5A4C-3D9C-8F95-687D-4440AD423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54273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64997796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BF72350-7C98-FBEB-2F3B-2484C5946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E8AD11E-DA5D-22C0-7E98-72840ACE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5F3E7FD-E179-CFF4-29F5-C801F3EC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924D0665-6B62-D94C-6BB9-A5F32444BAF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tIns="27432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picture. Resize to fill screen if necessary.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D0F66A68-CFCE-76B6-AA53-FDBE844F5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37651"/>
            <a:ext cx="5872095" cy="587375"/>
          </a:xfrm>
          <a:solidFill>
            <a:schemeClr val="accent6"/>
          </a:solidFill>
        </p:spPr>
        <p:txBody>
          <a:bodyPr lIns="82296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image caption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B02C69-13B3-AF45-CE38-55FAC6F83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1609"/>
            <a:ext cx="6171117" cy="836754"/>
          </a:xfrm>
          <a:solidFill>
            <a:schemeClr val="accent1"/>
          </a:solidFill>
        </p:spPr>
        <p:txBody>
          <a:bodyPr lIns="822960">
            <a:noAutofit/>
          </a:bodyPr>
          <a:lstStyle>
            <a:lvl1pPr>
              <a:defRPr sz="3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Click to add image title</a:t>
            </a:r>
          </a:p>
        </p:txBody>
      </p:sp>
    </p:spTree>
    <p:extLst>
      <p:ext uri="{BB962C8B-B14F-4D97-AF65-F5344CB8AC3E}">
        <p14:creationId xmlns:p14="http://schemas.microsoft.com/office/powerpoint/2010/main" val="19650197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345CF1A-4C10-1E0A-F359-242D961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5F89A3E1-10E8-DF5C-ADA7-7AA1AC18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A5217EA-2F5D-8BD3-F6A4-7D27B940E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28B89F34-6ED0-DAD7-D81D-47BF20B8B6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5640428"/>
            <a:ext cx="10515601" cy="592656"/>
          </a:xfrm>
        </p:spPr>
        <p:txBody>
          <a:bodyPr/>
          <a:lstStyle>
            <a:lvl1pPr marL="0" indent="0" algn="ctr">
              <a:buNone/>
              <a:defRPr sz="2000" i="1"/>
            </a:lvl1pPr>
          </a:lstStyle>
          <a:p>
            <a:pPr lvl="0"/>
            <a:r>
              <a:rPr lang="en-US" dirty="0"/>
              <a:t>Click to add an image caption</a:t>
            </a:r>
          </a:p>
        </p:txBody>
      </p:sp>
      <p:sp>
        <p:nvSpPr>
          <p:cNvPr id="13" name="Picture or Content">
            <a:extLst>
              <a:ext uri="{FF2B5EF4-FFF2-40B4-BE49-F238E27FC236}">
                <a16:creationId xmlns:a16="http://schemas.microsoft.com/office/drawing/2014/main" id="{CD1EE5D5-5FAF-B62D-975C-50CD063993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377023"/>
            <a:ext cx="10515600" cy="4253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EDF3277-C373-C98B-51F8-11BE6680E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3664627406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lumn 3 Content">
            <a:extLst>
              <a:ext uri="{FF2B5EF4-FFF2-40B4-BE49-F238E27FC236}">
                <a16:creationId xmlns:a16="http://schemas.microsoft.com/office/drawing/2014/main" id="{05C1C30C-0CDC-3433-354D-EE9FD3483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533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lumn 3 Header">
            <a:extLst>
              <a:ext uri="{FF2B5EF4-FFF2-40B4-BE49-F238E27FC236}">
                <a16:creationId xmlns:a16="http://schemas.microsoft.com/office/drawing/2014/main" id="{EAD20429-72EA-1AA7-5960-5D9EC8A91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34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lumn 2 Content">
            <a:extLst>
              <a:ext uri="{FF2B5EF4-FFF2-40B4-BE49-F238E27FC236}">
                <a16:creationId xmlns:a16="http://schemas.microsoft.com/office/drawing/2014/main" id="{D0A545A4-8A49-4146-D78B-41174161D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95799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lumn 2 Header">
            <a:extLst>
              <a:ext uri="{FF2B5EF4-FFF2-40B4-BE49-F238E27FC236}">
                <a16:creationId xmlns:a16="http://schemas.microsoft.com/office/drawing/2014/main" id="{9314D649-A64C-6E34-2130-1BDF8C873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58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3200401" cy="3328045"/>
          </a:xfrm>
          <a:solidFill>
            <a:schemeClr val="bg2"/>
          </a:solidFill>
        </p:spPr>
        <p:txBody>
          <a:bodyPr lIns="182880" tIns="182880"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32004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85380295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Wa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672552CE-57B0-D785-85F5-225E32E6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93EB0BEA-0AF7-A252-24DF-6C97D14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4B4D71D-AD5D-4C98-1899-1F087628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lumn 4 Content">
            <a:extLst>
              <a:ext uri="{FF2B5EF4-FFF2-40B4-BE49-F238E27FC236}">
                <a16:creationId xmlns:a16="http://schemas.microsoft.com/office/drawing/2014/main" id="{34C4BCE7-4191-F2A9-F80D-F627E9EA07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839198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lumn 4 Header">
            <a:extLst>
              <a:ext uri="{FF2B5EF4-FFF2-40B4-BE49-F238E27FC236}">
                <a16:creationId xmlns:a16="http://schemas.microsoft.com/office/drawing/2014/main" id="{1B8965D5-7659-2A00-C376-DD8B3ACA71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39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lumn 3 Content">
            <a:extLst>
              <a:ext uri="{FF2B5EF4-FFF2-40B4-BE49-F238E27FC236}">
                <a16:creationId xmlns:a16="http://schemas.microsoft.com/office/drawing/2014/main" id="{E901D810-CC36-C6AA-9EDE-FB64CCF9EA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9166" y="2743198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lumn 3 Header">
            <a:extLst>
              <a:ext uri="{FF2B5EF4-FFF2-40B4-BE49-F238E27FC236}">
                <a16:creationId xmlns:a16="http://schemas.microsoft.com/office/drawing/2014/main" id="{303B94A8-CAE7-3320-55C2-EC5B8724067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1828799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lumn 2 Content">
            <a:extLst>
              <a:ext uri="{FF2B5EF4-FFF2-40B4-BE49-F238E27FC236}">
                <a16:creationId xmlns:a16="http://schemas.microsoft.com/office/drawing/2014/main" id="{CB09BE5E-E412-C4BE-23E6-1B9E9E610C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8230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lumn 2 Header">
            <a:extLst>
              <a:ext uri="{FF2B5EF4-FFF2-40B4-BE49-F238E27FC236}">
                <a16:creationId xmlns:a16="http://schemas.microsoft.com/office/drawing/2014/main" id="{FE4E8193-CA60-39C5-BF2A-642510ED2A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5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lumn 1 Content">
            <a:extLst>
              <a:ext uri="{FF2B5EF4-FFF2-40B4-BE49-F238E27FC236}">
                <a16:creationId xmlns:a16="http://schemas.microsoft.com/office/drawing/2014/main" id="{C23072DC-4A0E-C83E-BDE9-54755DDCF7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198" y="2743199"/>
            <a:ext cx="2514600" cy="3328045"/>
          </a:xfrm>
          <a:solidFill>
            <a:schemeClr val="bg2"/>
          </a:solidFill>
        </p:spPr>
        <p:txBody>
          <a:bodyPr tIns="18288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lumn 1 Header">
            <a:extLst>
              <a:ext uri="{FF2B5EF4-FFF2-40B4-BE49-F238E27FC236}">
                <a16:creationId xmlns:a16="http://schemas.microsoft.com/office/drawing/2014/main" id="{C9BF1D7D-132C-5DC4-A1F8-16FE0BFEC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8800"/>
            <a:ext cx="2514600" cy="914400"/>
          </a:xfr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F6E66BC-C77D-5E9E-4407-6B490F15E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117402319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/>
          <p:cNvSpPr>
            <a:spLocks noGrp="1"/>
          </p:cNvSpPr>
          <p:nvPr>
            <p:ph type="dt" sz="half" idx="2"/>
          </p:nvPr>
        </p:nvSpPr>
        <p:spPr>
          <a:xfrm>
            <a:off x="6927794" y="6356350"/>
            <a:ext cx="137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3BC7800-B276-A64A-8AB0-19972C98F17B}" type="datetime1">
              <a:rPr lang="en-US" smtClean="0"/>
              <a:t>12/19/25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25011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510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BBEE3BA-F264-1746-880E-39AD601DF2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8200" y="1602658"/>
            <a:ext cx="10515600" cy="4574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6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Wingdings" pitchFamily="2" charset="2"/>
        <a:buChar char="§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v"/>
        <a:defRPr sz="20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F9755-800C-BAA7-9886-5018A613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1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75E86-3AC1-27FE-A80E-914C9B6378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 Science for Business – Fall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FFC07-3828-6FDB-8B93-EA871DD2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01609"/>
            <a:ext cx="7761767" cy="836754"/>
          </a:xfrm>
        </p:spPr>
        <p:txBody>
          <a:bodyPr>
            <a:normAutofit/>
          </a:bodyPr>
          <a:lstStyle/>
          <a:p>
            <a:r>
              <a:rPr lang="en-US" dirty="0"/>
              <a:t>Topic 8 –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94182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1DB78-EDD3-FED8-B85C-E4964652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6C622-3FD2-56DE-9038-629E8898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18" y="2244436"/>
            <a:ext cx="6342702" cy="4293715"/>
          </a:xfrm>
        </p:spPr>
        <p:txBody>
          <a:bodyPr>
            <a:normAutofit/>
          </a:bodyPr>
          <a:lstStyle/>
          <a:p>
            <a:r>
              <a:rPr lang="en-US" dirty="0"/>
              <a:t>The features you get are not the only features you want to use</a:t>
            </a:r>
          </a:p>
          <a:p>
            <a:r>
              <a:rPr lang="en-US" dirty="0"/>
              <a:t>We talked about removing features for complexity control, but sometimes you might want to create new features</a:t>
            </a:r>
          </a:p>
          <a:p>
            <a:endParaRPr lang="en-US" dirty="0"/>
          </a:p>
          <a:p>
            <a:r>
              <a:rPr lang="en-US" dirty="0"/>
              <a:t>Feature Engineering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D8CB2-5161-A2D9-BFD2-D12AC354E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2" y="63127"/>
            <a:ext cx="10515600" cy="1001559"/>
          </a:xfrm>
        </p:spPr>
        <p:txBody>
          <a:bodyPr/>
          <a:lstStyle/>
          <a:p>
            <a:r>
              <a:rPr lang="en-US" dirty="0"/>
              <a:t>Feature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899FA-C6DB-008D-6772-9035AB52EC4A}"/>
              </a:ext>
            </a:extLst>
          </p:cNvPr>
          <p:cNvSpPr txBox="1"/>
          <p:nvPr/>
        </p:nvSpPr>
        <p:spPr>
          <a:xfrm>
            <a:off x="4529960" y="6138041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9A2713-07DD-4AEF-CAC8-244BA60A3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467" y="1513968"/>
            <a:ext cx="3355480" cy="29397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568518-83E8-CF04-7A2E-8A5C2E838F04}"/>
              </a:ext>
            </a:extLst>
          </p:cNvPr>
          <p:cNvSpPr/>
          <p:nvPr/>
        </p:nvSpPr>
        <p:spPr>
          <a:xfrm>
            <a:off x="8828690" y="2690650"/>
            <a:ext cx="1051034" cy="78827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6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82B8B-78A4-18B2-8783-57B8C47D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62DC8-61CD-629C-A89A-10A0EF9C6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1190768"/>
            <a:ext cx="3988677" cy="1090680"/>
          </a:xfrm>
          <a:solidFill>
            <a:schemeClr val="bg2"/>
          </a:solidFill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Sometimes features need to get created from multiple relational tables.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E9B31-8050-C46C-321E-46CE3BD2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24"/>
            <a:ext cx="10515600" cy="1001559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42E7DE4-924A-56A7-B08A-823C26488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92" y="2850099"/>
            <a:ext cx="6034372" cy="3525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ClrTx/>
            </a:pPr>
            <a:r>
              <a:rPr lang="en-US" sz="2400" kern="0" dirty="0"/>
              <a:t>Task: </a:t>
            </a:r>
          </a:p>
          <a:p>
            <a:pPr lvl="1">
              <a:buClrTx/>
            </a:pPr>
            <a:r>
              <a:rPr lang="en-US" kern="0" dirty="0"/>
              <a:t>Predict whether a customer will </a:t>
            </a:r>
          </a:p>
          <a:p>
            <a:pPr lvl="1">
              <a:buClrTx/>
              <a:buFontTx/>
              <a:buNone/>
            </a:pPr>
            <a:r>
              <a:rPr lang="en-US" kern="0" dirty="0"/>
              <a:t>   respond to a special offer, based on previous purchases</a:t>
            </a:r>
          </a:p>
          <a:p>
            <a:pPr lvl="1">
              <a:buClrTx/>
              <a:buFontTx/>
              <a:buNone/>
            </a:pPr>
            <a:endParaRPr lang="en-US" kern="0" dirty="0"/>
          </a:p>
          <a:p>
            <a:pPr>
              <a:buClrTx/>
            </a:pPr>
            <a:r>
              <a:rPr lang="en-US" sz="2400" kern="0" dirty="0"/>
              <a:t>Given: </a:t>
            </a:r>
          </a:p>
          <a:p>
            <a:pPr lvl="1">
              <a:buClrTx/>
            </a:pPr>
            <a:r>
              <a:rPr lang="en-US" kern="0" dirty="0"/>
              <a:t>Customer attributes/demographics</a:t>
            </a:r>
          </a:p>
          <a:p>
            <a:pPr lvl="1">
              <a:buClrTx/>
            </a:pPr>
            <a:r>
              <a:rPr lang="en-US" kern="0" dirty="0"/>
              <a:t>Additional table with previous orders</a:t>
            </a:r>
          </a:p>
          <a:p>
            <a:pPr lvl="1">
              <a:buClrTx/>
            </a:pPr>
            <a:endParaRPr lang="en-US" kern="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766D67-BADE-4140-06E4-2062AC3E0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431161"/>
              </p:ext>
            </p:extLst>
          </p:nvPr>
        </p:nvGraphicFramePr>
        <p:xfrm>
          <a:off x="6311462" y="292626"/>
          <a:ext cx="5543252" cy="2103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80833">
                  <a:extLst>
                    <a:ext uri="{9D8B030D-6E8A-4147-A177-3AD203B41FA5}">
                      <a16:colId xmlns:a16="http://schemas.microsoft.com/office/drawing/2014/main" val="2652867926"/>
                    </a:ext>
                  </a:extLst>
                </a:gridCol>
                <a:gridCol w="788919">
                  <a:extLst>
                    <a:ext uri="{9D8B030D-6E8A-4147-A177-3AD203B41FA5}">
                      <a16:colId xmlns:a16="http://schemas.microsoft.com/office/drawing/2014/main" val="869516948"/>
                    </a:ext>
                  </a:extLst>
                </a:gridCol>
                <a:gridCol w="732931">
                  <a:extLst>
                    <a:ext uri="{9D8B030D-6E8A-4147-A177-3AD203B41FA5}">
                      <a16:colId xmlns:a16="http://schemas.microsoft.com/office/drawing/2014/main" val="2371618448"/>
                    </a:ext>
                  </a:extLst>
                </a:gridCol>
                <a:gridCol w="1176669">
                  <a:extLst>
                    <a:ext uri="{9D8B030D-6E8A-4147-A177-3AD203B41FA5}">
                      <a16:colId xmlns:a16="http://schemas.microsoft.com/office/drawing/2014/main" val="1811212556"/>
                    </a:ext>
                  </a:extLst>
                </a:gridCol>
                <a:gridCol w="1663900">
                  <a:extLst>
                    <a:ext uri="{9D8B030D-6E8A-4147-A177-3AD203B41FA5}">
                      <a16:colId xmlns:a16="http://schemas.microsoft.com/office/drawing/2014/main" val="2303718318"/>
                    </a:ext>
                  </a:extLst>
                </a:gridCol>
              </a:tblGrid>
              <a:tr h="60159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Response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(Target)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092757"/>
                  </a:ext>
                </a:extLst>
              </a:tr>
              <a:tr h="343770">
                <a:tc>
                  <a:txBody>
                    <a:bodyPr/>
                    <a:lstStyle/>
                    <a:p>
                      <a:r>
                        <a:rPr lang="en-US" dirty="0" err="1"/>
                        <a:t>Alicent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568715"/>
                  </a:ext>
                </a:extLst>
              </a:tr>
              <a:tr h="343770">
                <a:tc>
                  <a:txBody>
                    <a:bodyPr/>
                    <a:lstStyle/>
                    <a:p>
                      <a:r>
                        <a:rPr lang="en-US" dirty="0" err="1"/>
                        <a:t>Bala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562623"/>
                  </a:ext>
                </a:extLst>
              </a:tr>
              <a:tr h="343770">
                <a:tc>
                  <a:txBody>
                    <a:bodyPr/>
                    <a:lstStyle/>
                    <a:p>
                      <a:r>
                        <a:rPr lang="en-US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695149"/>
                  </a:ext>
                </a:extLst>
              </a:tr>
              <a:tr h="343770">
                <a:tc>
                  <a:txBody>
                    <a:bodyPr/>
                    <a:lstStyle/>
                    <a:p>
                      <a:r>
                        <a:rPr lang="en-US" dirty="0"/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86460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6547B47-22FD-DFFE-80EE-242BD9933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579669"/>
              </p:ext>
            </p:extLst>
          </p:nvPr>
        </p:nvGraphicFramePr>
        <p:xfrm>
          <a:off x="7133898" y="2745154"/>
          <a:ext cx="4219902" cy="3967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51490">
                  <a:extLst>
                    <a:ext uri="{9D8B030D-6E8A-4147-A177-3AD203B41FA5}">
                      <a16:colId xmlns:a16="http://schemas.microsoft.com/office/drawing/2014/main" val="2109171193"/>
                    </a:ext>
                  </a:extLst>
                </a:gridCol>
                <a:gridCol w="1061545">
                  <a:extLst>
                    <a:ext uri="{9D8B030D-6E8A-4147-A177-3AD203B41FA5}">
                      <a16:colId xmlns:a16="http://schemas.microsoft.com/office/drawing/2014/main" val="4132082798"/>
                    </a:ext>
                  </a:extLst>
                </a:gridCol>
                <a:gridCol w="704193">
                  <a:extLst>
                    <a:ext uri="{9D8B030D-6E8A-4147-A177-3AD203B41FA5}">
                      <a16:colId xmlns:a16="http://schemas.microsoft.com/office/drawing/2014/main" val="3390704022"/>
                    </a:ext>
                  </a:extLst>
                </a:gridCol>
                <a:gridCol w="723509">
                  <a:extLst>
                    <a:ext uri="{9D8B030D-6E8A-4147-A177-3AD203B41FA5}">
                      <a16:colId xmlns:a16="http://schemas.microsoft.com/office/drawing/2014/main" val="1947564887"/>
                    </a:ext>
                  </a:extLst>
                </a:gridCol>
                <a:gridCol w="979165">
                  <a:extLst>
                    <a:ext uri="{9D8B030D-6E8A-4147-A177-3AD203B41FA5}">
                      <a16:colId xmlns:a16="http://schemas.microsoft.com/office/drawing/2014/main" val="38455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PurchaseDt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Coupon?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7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Alicent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2023-10-02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6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Alicent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2023-09-11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$19.99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049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Alicent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2023-08-11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$24.99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971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$24.99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67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2022-12-12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$19.99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015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$34.99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2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28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5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2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98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F3BB4-2804-6F2C-7D99-1C83FA69D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516DE-897C-64D4-A1B5-66EEC6C1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22982"/>
            <a:ext cx="8229600" cy="729214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3C55F5-AC5F-2C0C-7CAA-18E5B2476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574773"/>
              </p:ext>
            </p:extLst>
          </p:nvPr>
        </p:nvGraphicFramePr>
        <p:xfrm>
          <a:off x="554182" y="822286"/>
          <a:ext cx="5541821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49927">
                  <a:extLst>
                    <a:ext uri="{9D8B030D-6E8A-4147-A177-3AD203B41FA5}">
                      <a16:colId xmlns:a16="http://schemas.microsoft.com/office/drawing/2014/main" val="2652867926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869516948"/>
                    </a:ext>
                  </a:extLst>
                </a:gridCol>
                <a:gridCol w="721875">
                  <a:extLst>
                    <a:ext uri="{9D8B030D-6E8A-4147-A177-3AD203B41FA5}">
                      <a16:colId xmlns:a16="http://schemas.microsoft.com/office/drawing/2014/main" val="2371618448"/>
                    </a:ext>
                  </a:extLst>
                </a:gridCol>
                <a:gridCol w="1244711">
                  <a:extLst>
                    <a:ext uri="{9D8B030D-6E8A-4147-A177-3AD203B41FA5}">
                      <a16:colId xmlns:a16="http://schemas.microsoft.com/office/drawing/2014/main" val="1811212556"/>
                    </a:ext>
                  </a:extLst>
                </a:gridCol>
                <a:gridCol w="1247672">
                  <a:extLst>
                    <a:ext uri="{9D8B030D-6E8A-4147-A177-3AD203B41FA5}">
                      <a16:colId xmlns:a16="http://schemas.microsoft.com/office/drawing/2014/main" val="2303718318"/>
                    </a:ext>
                  </a:extLst>
                </a:gridCol>
              </a:tblGrid>
              <a:tr h="30773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092757"/>
                  </a:ext>
                </a:extLst>
              </a:tr>
              <a:tr h="307738">
                <a:tc>
                  <a:txBody>
                    <a:bodyPr/>
                    <a:lstStyle/>
                    <a:p>
                      <a:r>
                        <a:rPr lang="en-US" dirty="0" err="1"/>
                        <a:t>Alicent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568715"/>
                  </a:ext>
                </a:extLst>
              </a:tr>
              <a:tr h="307738">
                <a:tc>
                  <a:txBody>
                    <a:bodyPr/>
                    <a:lstStyle/>
                    <a:p>
                      <a:r>
                        <a:rPr lang="en-US" dirty="0" err="1"/>
                        <a:t>Bala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562623"/>
                  </a:ext>
                </a:extLst>
              </a:tr>
              <a:tr h="307738">
                <a:tc>
                  <a:txBody>
                    <a:bodyPr/>
                    <a:lstStyle/>
                    <a:p>
                      <a:r>
                        <a:rPr lang="en-US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695149"/>
                  </a:ext>
                </a:extLst>
              </a:tr>
              <a:tr h="307738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273038"/>
                  </a:ext>
                </a:extLst>
              </a:tr>
            </a:tbl>
          </a:graphicData>
        </a:graphic>
      </p:graphicFrame>
      <p:sp>
        <p:nvSpPr>
          <p:cNvPr id="7" name="AutoShape 52">
            <a:extLst>
              <a:ext uri="{FF2B5EF4-FFF2-40B4-BE49-F238E27FC236}">
                <a16:creationId xmlns:a16="http://schemas.microsoft.com/office/drawing/2014/main" id="{1C0AFDC4-826E-4C20-3F2C-CE04DC9E84B2}"/>
              </a:ext>
            </a:extLst>
          </p:cNvPr>
          <p:cNvSpPr>
            <a:spLocks noChangeArrowheads="1"/>
          </p:cNvSpPr>
          <p:nvPr/>
        </p:nvSpPr>
        <p:spPr bwMode="auto">
          <a:xfrm rot="2661948">
            <a:off x="3327837" y="3136047"/>
            <a:ext cx="1143000" cy="838200"/>
          </a:xfrm>
          <a:prstGeom prst="rightArrow">
            <a:avLst>
              <a:gd name="adj1" fmla="val 30685"/>
              <a:gd name="adj2" fmla="val 37885"/>
            </a:avLst>
          </a:prstGeom>
          <a:solidFill>
            <a:srgbClr val="99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355">
            <a:extLst>
              <a:ext uri="{FF2B5EF4-FFF2-40B4-BE49-F238E27FC236}">
                <a16:creationId xmlns:a16="http://schemas.microsoft.com/office/drawing/2014/main" id="{3BF59D78-BD19-3A9B-9B49-B99D6882A265}"/>
              </a:ext>
            </a:extLst>
          </p:cNvPr>
          <p:cNvSpPr>
            <a:spLocks noChangeArrowheads="1"/>
          </p:cNvSpPr>
          <p:nvPr/>
        </p:nvSpPr>
        <p:spPr bwMode="auto">
          <a:xfrm rot="8067065">
            <a:off x="5072511" y="3102171"/>
            <a:ext cx="1143000" cy="838200"/>
          </a:xfrm>
          <a:prstGeom prst="rightArrow">
            <a:avLst>
              <a:gd name="adj1" fmla="val 30685"/>
              <a:gd name="adj2" fmla="val 37885"/>
            </a:avLst>
          </a:prstGeom>
          <a:solidFill>
            <a:srgbClr val="99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ABE4BA2-EF34-1870-ACF2-3A3A4A302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52958"/>
              </p:ext>
            </p:extLst>
          </p:nvPr>
        </p:nvGraphicFramePr>
        <p:xfrm>
          <a:off x="581919" y="4772226"/>
          <a:ext cx="6677895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77636">
                  <a:extLst>
                    <a:ext uri="{9D8B030D-6E8A-4147-A177-3AD203B41FA5}">
                      <a16:colId xmlns:a16="http://schemas.microsoft.com/office/drawing/2014/main" val="1676957098"/>
                    </a:ext>
                  </a:extLst>
                </a:gridCol>
                <a:gridCol w="730334">
                  <a:extLst>
                    <a:ext uri="{9D8B030D-6E8A-4147-A177-3AD203B41FA5}">
                      <a16:colId xmlns:a16="http://schemas.microsoft.com/office/drawing/2014/main" val="3168116054"/>
                    </a:ext>
                  </a:extLst>
                </a:gridCol>
                <a:gridCol w="953985">
                  <a:extLst>
                    <a:ext uri="{9D8B030D-6E8A-4147-A177-3AD203B41FA5}">
                      <a16:colId xmlns:a16="http://schemas.microsoft.com/office/drawing/2014/main" val="1095304371"/>
                    </a:ext>
                  </a:extLst>
                </a:gridCol>
                <a:gridCol w="953985">
                  <a:extLst>
                    <a:ext uri="{9D8B030D-6E8A-4147-A177-3AD203B41FA5}">
                      <a16:colId xmlns:a16="http://schemas.microsoft.com/office/drawing/2014/main" val="2526417516"/>
                    </a:ext>
                  </a:extLst>
                </a:gridCol>
                <a:gridCol w="953985">
                  <a:extLst>
                    <a:ext uri="{9D8B030D-6E8A-4147-A177-3AD203B41FA5}">
                      <a16:colId xmlns:a16="http://schemas.microsoft.com/office/drawing/2014/main" val="912265750"/>
                    </a:ext>
                  </a:extLst>
                </a:gridCol>
                <a:gridCol w="646080">
                  <a:extLst>
                    <a:ext uri="{9D8B030D-6E8A-4147-A177-3AD203B41FA5}">
                      <a16:colId xmlns:a16="http://schemas.microsoft.com/office/drawing/2014/main" val="393620710"/>
                    </a:ext>
                  </a:extLst>
                </a:gridCol>
                <a:gridCol w="1261890">
                  <a:extLst>
                    <a:ext uri="{9D8B030D-6E8A-4147-A177-3AD203B41FA5}">
                      <a16:colId xmlns:a16="http://schemas.microsoft.com/office/drawing/2014/main" val="966673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55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Alicent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635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Bala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718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24176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209EBA5-99DA-0497-ADF6-1F4BBEED6815}"/>
              </a:ext>
            </a:extLst>
          </p:cNvPr>
          <p:cNvSpPr txBox="1"/>
          <p:nvPr/>
        </p:nvSpPr>
        <p:spPr>
          <a:xfrm>
            <a:off x="1139137" y="4383726"/>
            <a:ext cx="4956863" cy="307777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we turn this into a supervised learning scenario?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2DA8A9E-8C1E-EA47-3991-47FF68D6A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410527"/>
              </p:ext>
            </p:extLst>
          </p:nvPr>
        </p:nvGraphicFramePr>
        <p:xfrm>
          <a:off x="6343406" y="786956"/>
          <a:ext cx="4737193" cy="3708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43610">
                  <a:extLst>
                    <a:ext uri="{9D8B030D-6E8A-4147-A177-3AD203B41FA5}">
                      <a16:colId xmlns:a16="http://schemas.microsoft.com/office/drawing/2014/main" val="2109171193"/>
                    </a:ext>
                  </a:extLst>
                </a:gridCol>
                <a:gridCol w="1191673">
                  <a:extLst>
                    <a:ext uri="{9D8B030D-6E8A-4147-A177-3AD203B41FA5}">
                      <a16:colId xmlns:a16="http://schemas.microsoft.com/office/drawing/2014/main" val="4132082798"/>
                    </a:ext>
                  </a:extLst>
                </a:gridCol>
                <a:gridCol w="790516">
                  <a:extLst>
                    <a:ext uri="{9D8B030D-6E8A-4147-A177-3AD203B41FA5}">
                      <a16:colId xmlns:a16="http://schemas.microsoft.com/office/drawing/2014/main" val="3390704022"/>
                    </a:ext>
                  </a:extLst>
                </a:gridCol>
                <a:gridCol w="812199">
                  <a:extLst>
                    <a:ext uri="{9D8B030D-6E8A-4147-A177-3AD203B41FA5}">
                      <a16:colId xmlns:a16="http://schemas.microsoft.com/office/drawing/2014/main" val="1947564887"/>
                    </a:ext>
                  </a:extLst>
                </a:gridCol>
                <a:gridCol w="1099195">
                  <a:extLst>
                    <a:ext uri="{9D8B030D-6E8A-4147-A177-3AD203B41FA5}">
                      <a16:colId xmlns:a16="http://schemas.microsoft.com/office/drawing/2014/main" val="38455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PurchaseDt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Coupon?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7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Alicent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2023-10-02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6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Alicent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2023-09-11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$19.99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049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Alicent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2023-08-11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$24.99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971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$24.99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67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2022-12-12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$19.99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015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$34.99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2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28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5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2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49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D60B6-FA41-1414-C43C-9158191A3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99ED5-4D7B-9CDB-B13A-0355B6A3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3C210-6A8F-C707-CF92-D0887BA66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822" y="948761"/>
            <a:ext cx="8806356" cy="21156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Feature Engineering: what attributes can we create from the original data that get at the behavior we want and allow us to model with it?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FC82E-2C8B-A7A7-CF02-9F9BB0E70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18" y="1"/>
            <a:ext cx="10515600" cy="1123770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B075A5-666F-2CC4-A429-34AA9A3B3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800739"/>
              </p:ext>
            </p:extLst>
          </p:nvPr>
        </p:nvGraphicFramePr>
        <p:xfrm>
          <a:off x="5732285" y="4221087"/>
          <a:ext cx="5145290" cy="16881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8909">
                  <a:extLst>
                    <a:ext uri="{9D8B030D-6E8A-4147-A177-3AD203B41FA5}">
                      <a16:colId xmlns:a16="http://schemas.microsoft.com/office/drawing/2014/main" val="2652867926"/>
                    </a:ext>
                  </a:extLst>
                </a:gridCol>
                <a:gridCol w="694100">
                  <a:extLst>
                    <a:ext uri="{9D8B030D-6E8A-4147-A177-3AD203B41FA5}">
                      <a16:colId xmlns:a16="http://schemas.microsoft.com/office/drawing/2014/main" val="869516948"/>
                    </a:ext>
                  </a:extLst>
                </a:gridCol>
                <a:gridCol w="644840">
                  <a:extLst>
                    <a:ext uri="{9D8B030D-6E8A-4147-A177-3AD203B41FA5}">
                      <a16:colId xmlns:a16="http://schemas.microsoft.com/office/drawing/2014/main" val="2371618448"/>
                    </a:ext>
                  </a:extLst>
                </a:gridCol>
                <a:gridCol w="823963">
                  <a:extLst>
                    <a:ext uri="{9D8B030D-6E8A-4147-A177-3AD203B41FA5}">
                      <a16:colId xmlns:a16="http://schemas.microsoft.com/office/drawing/2014/main" val="1811212556"/>
                    </a:ext>
                  </a:extLst>
                </a:gridCol>
                <a:gridCol w="823963">
                  <a:extLst>
                    <a:ext uri="{9D8B030D-6E8A-4147-A177-3AD203B41FA5}">
                      <a16:colId xmlns:a16="http://schemas.microsoft.com/office/drawing/2014/main" val="84359219"/>
                    </a:ext>
                  </a:extLst>
                </a:gridCol>
                <a:gridCol w="1119515">
                  <a:extLst>
                    <a:ext uri="{9D8B030D-6E8A-4147-A177-3AD203B41FA5}">
                      <a16:colId xmlns:a16="http://schemas.microsoft.com/office/drawing/2014/main" val="2303718318"/>
                    </a:ext>
                  </a:extLst>
                </a:gridCol>
              </a:tblGrid>
              <a:tr h="30773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Gend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Sum</a:t>
                      </a:r>
                      <a:br>
                        <a:rPr lang="en-US" sz="12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Resp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092757"/>
                  </a:ext>
                </a:extLst>
              </a:tr>
              <a:tr h="307738">
                <a:tc>
                  <a:txBody>
                    <a:bodyPr/>
                    <a:lstStyle/>
                    <a:p>
                      <a:r>
                        <a:rPr lang="en-US" sz="1200" dirty="0" err="1"/>
                        <a:t>Alicent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$54.97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568715"/>
                  </a:ext>
                </a:extLst>
              </a:tr>
              <a:tr h="307738"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$79.97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562623"/>
                  </a:ext>
                </a:extLst>
              </a:tr>
              <a:tr h="307738">
                <a:tc>
                  <a:txBody>
                    <a:bodyPr/>
                    <a:lstStyle/>
                    <a:p>
                      <a:r>
                        <a:rPr lang="en-US" sz="1200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$9.98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695149"/>
                  </a:ext>
                </a:extLst>
              </a:tr>
              <a:tr h="307738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C00000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273038"/>
                  </a:ext>
                </a:extLst>
              </a:tr>
            </a:tbl>
          </a:graphicData>
        </a:graphic>
      </p:graphicFrame>
      <p:sp>
        <p:nvSpPr>
          <p:cNvPr id="10" name="Bent Arrow 9">
            <a:extLst>
              <a:ext uri="{FF2B5EF4-FFF2-40B4-BE49-F238E27FC236}">
                <a16:creationId xmlns:a16="http://schemas.microsoft.com/office/drawing/2014/main" id="{6E5A0CB3-4A3B-DC46-722B-E83DF295FA4A}"/>
              </a:ext>
            </a:extLst>
          </p:cNvPr>
          <p:cNvSpPr/>
          <p:nvPr/>
        </p:nvSpPr>
        <p:spPr bwMode="auto">
          <a:xfrm rot="5400000">
            <a:off x="6645712" y="1745393"/>
            <a:ext cx="1089596" cy="320565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4772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en-US">
              <a:cs typeface="Arial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85C9AB-13AC-BCD0-0AA4-7AB2A972D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960891"/>
              </p:ext>
            </p:extLst>
          </p:nvPr>
        </p:nvGraphicFramePr>
        <p:xfrm>
          <a:off x="437493" y="2753995"/>
          <a:ext cx="4563998" cy="3708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12767">
                  <a:extLst>
                    <a:ext uri="{9D8B030D-6E8A-4147-A177-3AD203B41FA5}">
                      <a16:colId xmlns:a16="http://schemas.microsoft.com/office/drawing/2014/main" val="2109171193"/>
                    </a:ext>
                  </a:extLst>
                </a:gridCol>
                <a:gridCol w="1148105">
                  <a:extLst>
                    <a:ext uri="{9D8B030D-6E8A-4147-A177-3AD203B41FA5}">
                      <a16:colId xmlns:a16="http://schemas.microsoft.com/office/drawing/2014/main" val="4132082798"/>
                    </a:ext>
                  </a:extLst>
                </a:gridCol>
                <a:gridCol w="761614">
                  <a:extLst>
                    <a:ext uri="{9D8B030D-6E8A-4147-A177-3AD203B41FA5}">
                      <a16:colId xmlns:a16="http://schemas.microsoft.com/office/drawing/2014/main" val="3390704022"/>
                    </a:ext>
                  </a:extLst>
                </a:gridCol>
                <a:gridCol w="895051">
                  <a:extLst>
                    <a:ext uri="{9D8B030D-6E8A-4147-A177-3AD203B41FA5}">
                      <a16:colId xmlns:a16="http://schemas.microsoft.com/office/drawing/2014/main" val="1947564887"/>
                    </a:ext>
                  </a:extLst>
                </a:gridCol>
                <a:gridCol w="946461">
                  <a:extLst>
                    <a:ext uri="{9D8B030D-6E8A-4147-A177-3AD203B41FA5}">
                      <a16:colId xmlns:a16="http://schemas.microsoft.com/office/drawing/2014/main" val="384553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PurchaseDt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Coupon?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7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Alicent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2023-10-02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6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Alicent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2023-09-11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$19.99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049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Alicent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2023-08-11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$24.99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971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$24.99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67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2022-12-12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$19.99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015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Bala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2024-01-02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$34.99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2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28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5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2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84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0BD3D-1E32-73E2-D30F-284E1188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010D-3917-69DB-F353-FD5248839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54" y="911772"/>
            <a:ext cx="7814441" cy="922515"/>
          </a:xfrm>
        </p:spPr>
        <p:txBody>
          <a:bodyPr/>
          <a:lstStyle/>
          <a:p>
            <a:r>
              <a:rPr lang="en-US" dirty="0"/>
              <a:t>Naïve approach, just do a join: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AEFBB-CB4A-AD4E-282C-F2EBCDB9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01559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265332-A40E-9FE5-E42B-0A293FAA8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918734"/>
              </p:ext>
            </p:extLst>
          </p:nvPr>
        </p:nvGraphicFramePr>
        <p:xfrm>
          <a:off x="2238704" y="1501228"/>
          <a:ext cx="7972096" cy="4445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72521">
                  <a:extLst>
                    <a:ext uri="{9D8B030D-6E8A-4147-A177-3AD203B41FA5}">
                      <a16:colId xmlns:a16="http://schemas.microsoft.com/office/drawing/2014/main" val="2607077548"/>
                    </a:ext>
                  </a:extLst>
                </a:gridCol>
                <a:gridCol w="872521">
                  <a:extLst>
                    <a:ext uri="{9D8B030D-6E8A-4147-A177-3AD203B41FA5}">
                      <a16:colId xmlns:a16="http://schemas.microsoft.com/office/drawing/2014/main" val="2167597596"/>
                    </a:ext>
                  </a:extLst>
                </a:gridCol>
                <a:gridCol w="872521">
                  <a:extLst>
                    <a:ext uri="{9D8B030D-6E8A-4147-A177-3AD203B41FA5}">
                      <a16:colId xmlns:a16="http://schemas.microsoft.com/office/drawing/2014/main" val="2378220814"/>
                    </a:ext>
                  </a:extLst>
                </a:gridCol>
                <a:gridCol w="671697">
                  <a:extLst>
                    <a:ext uri="{9D8B030D-6E8A-4147-A177-3AD203B41FA5}">
                      <a16:colId xmlns:a16="http://schemas.microsoft.com/office/drawing/2014/main" val="3669253504"/>
                    </a:ext>
                  </a:extLst>
                </a:gridCol>
                <a:gridCol w="1463025">
                  <a:extLst>
                    <a:ext uri="{9D8B030D-6E8A-4147-A177-3AD203B41FA5}">
                      <a16:colId xmlns:a16="http://schemas.microsoft.com/office/drawing/2014/main" val="4132082798"/>
                    </a:ext>
                  </a:extLst>
                </a:gridCol>
                <a:gridCol w="734933">
                  <a:extLst>
                    <a:ext uri="{9D8B030D-6E8A-4147-A177-3AD203B41FA5}">
                      <a16:colId xmlns:a16="http://schemas.microsoft.com/office/drawing/2014/main" val="3390704022"/>
                    </a:ext>
                  </a:extLst>
                </a:gridCol>
                <a:gridCol w="1242439">
                  <a:extLst>
                    <a:ext uri="{9D8B030D-6E8A-4147-A177-3AD203B41FA5}">
                      <a16:colId xmlns:a16="http://schemas.microsoft.com/office/drawing/2014/main" val="384553212"/>
                    </a:ext>
                  </a:extLst>
                </a:gridCol>
                <a:gridCol w="1242439">
                  <a:extLst>
                    <a:ext uri="{9D8B030D-6E8A-4147-A177-3AD203B41FA5}">
                      <a16:colId xmlns:a16="http://schemas.microsoft.com/office/drawing/2014/main" val="1452442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PurchaseDt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Coupon?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7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Alicent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2023-10-02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6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Alicent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2023-09-11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049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Alicent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2023-08-11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971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Bala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67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Bala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2022-12-12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015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Bala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2024-01-02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28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28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Chantal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2023-11-01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5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6879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D686048-FCBC-68B0-1467-4463679D8CDE}"/>
              </a:ext>
            </a:extLst>
          </p:cNvPr>
          <p:cNvSpPr txBox="1"/>
          <p:nvPr/>
        </p:nvSpPr>
        <p:spPr>
          <a:xfrm>
            <a:off x="3478924" y="5612524"/>
            <a:ext cx="5742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could work, what might be the issues here? </a:t>
            </a:r>
          </a:p>
        </p:txBody>
      </p:sp>
    </p:spTree>
    <p:extLst>
      <p:ext uri="{BB962C8B-B14F-4D97-AF65-F5344CB8AC3E}">
        <p14:creationId xmlns:p14="http://schemas.microsoft.com/office/powerpoint/2010/main" val="141926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2494C-8655-4B97-9622-63BCDE24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36359-D6C7-3B42-BC0B-E3699CCC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800"/>
            <a:ext cx="10515600" cy="1001559"/>
          </a:xfrm>
        </p:spPr>
        <p:txBody>
          <a:bodyPr/>
          <a:lstStyle/>
          <a:p>
            <a:r>
              <a:rPr lang="en-US" dirty="0"/>
              <a:t>Netflix Prize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E5DB3D-8EFF-11E9-7EAD-3123AD142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935" y="1352332"/>
            <a:ext cx="5612130" cy="514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93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4AB40-195B-B8C9-2072-E5A93FED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04538" y="6045528"/>
            <a:ext cx="2133600" cy="476250"/>
          </a:xfrm>
        </p:spPr>
        <p:txBody>
          <a:bodyPr/>
          <a:lstStyle/>
          <a:p>
            <a:fld id="{ABBEE3BA-F264-1746-880E-39AD601DF2B1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C5570-2E76-E1A9-DB75-4CD86D247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50" y="0"/>
            <a:ext cx="10515600" cy="1001559"/>
          </a:xfrm>
        </p:spPr>
        <p:txBody>
          <a:bodyPr/>
          <a:lstStyle/>
          <a:p>
            <a:r>
              <a:rPr lang="en-US" sz="2400" dirty="0"/>
              <a:t>Netflix Prize Data</a:t>
            </a:r>
          </a:p>
        </p:txBody>
      </p:sp>
      <p:graphicFrame>
        <p:nvGraphicFramePr>
          <p:cNvPr id="5" name="Group 273">
            <a:extLst>
              <a:ext uri="{FF2B5EF4-FFF2-40B4-BE49-F238E27FC236}">
                <a16:creationId xmlns:a16="http://schemas.microsoft.com/office/drawing/2014/main" id="{76BEC846-823E-BC3A-5A81-F0D86EC6D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690769"/>
              </p:ext>
            </p:extLst>
          </p:nvPr>
        </p:nvGraphicFramePr>
        <p:xfrm>
          <a:off x="3575045" y="1646282"/>
          <a:ext cx="3791457" cy="3831314"/>
        </p:xfrm>
        <a:graphic>
          <a:graphicData uri="http://schemas.openxmlformats.org/drawingml/2006/table">
            <a:tbl>
              <a:tblPr rtl="1"/>
              <a:tblGrid>
                <a:gridCol w="1244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date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B2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score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B2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movie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B2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user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B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2002-01-03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1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21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1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2002-04-04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5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213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1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2002-05-05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4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345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2002-05-05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4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123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2003-05-03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3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768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2003-10-10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5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76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3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2004-10-11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4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45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4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2004-10-11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1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568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5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2004-10-11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342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5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2004-12-12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234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5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2005-01-02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5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76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6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2005-01-31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4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56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6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0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…</a:t>
                      </a:r>
                    </a:p>
                  </a:txBody>
                  <a:tcPr marT="45725" marB="45725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…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…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tx2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</a:rPr>
                        <a:t>….</a:t>
                      </a: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369191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1BA60FAF-AFF8-58FC-61D0-9CC394BFF9FC}"/>
              </a:ext>
            </a:extLst>
          </p:cNvPr>
          <p:cNvGrpSpPr/>
          <p:nvPr/>
        </p:nvGrpSpPr>
        <p:grpSpPr>
          <a:xfrm>
            <a:off x="2983275" y="948047"/>
            <a:ext cx="2252540" cy="631338"/>
            <a:chOff x="2539274" y="1457369"/>
            <a:chExt cx="2252540" cy="631338"/>
          </a:xfrm>
          <a:solidFill>
            <a:schemeClr val="bg2"/>
          </a:solidFill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5C4E8D-7B7D-D0B9-060C-0E409225C394}"/>
                </a:ext>
              </a:extLst>
            </p:cNvPr>
            <p:cNvSpPr txBox="1"/>
            <p:nvPr/>
          </p:nvSpPr>
          <p:spPr>
            <a:xfrm>
              <a:off x="2539274" y="1457369"/>
              <a:ext cx="225254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480k unique users</a:t>
              </a:r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AACBDB13-378B-4CF3-C77B-BCF91A5098FF}"/>
                </a:ext>
              </a:extLst>
            </p:cNvPr>
            <p:cNvSpPr/>
            <p:nvPr/>
          </p:nvSpPr>
          <p:spPr bwMode="auto">
            <a:xfrm rot="5400000">
              <a:off x="3440581" y="1787607"/>
              <a:ext cx="231227" cy="370974"/>
            </a:xfrm>
            <a:prstGeom prst="rightArrow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F79DAA9-8170-2170-4427-2CCBD14224FC}"/>
              </a:ext>
            </a:extLst>
          </p:cNvPr>
          <p:cNvGrpSpPr/>
          <p:nvPr/>
        </p:nvGrpSpPr>
        <p:grpSpPr>
          <a:xfrm>
            <a:off x="4000196" y="5510559"/>
            <a:ext cx="2646109" cy="751562"/>
            <a:chOff x="3258207" y="5044966"/>
            <a:chExt cx="2646109" cy="751562"/>
          </a:xfrm>
          <a:solidFill>
            <a:schemeClr val="bg2"/>
          </a:solidFill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A4DA64-4E57-401C-BB0D-02664DA6A9B0}"/>
                </a:ext>
              </a:extLst>
            </p:cNvPr>
            <p:cNvSpPr txBox="1"/>
            <p:nvPr/>
          </p:nvSpPr>
          <p:spPr>
            <a:xfrm>
              <a:off x="3258207" y="5396418"/>
              <a:ext cx="2646109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17,700 unique movies</a:t>
              </a:r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23FA39BD-67EC-48F1-D0DC-5916A1579A1E}"/>
                </a:ext>
              </a:extLst>
            </p:cNvPr>
            <p:cNvSpPr/>
            <p:nvPr/>
          </p:nvSpPr>
          <p:spPr bwMode="auto">
            <a:xfrm rot="16200000">
              <a:off x="4004276" y="5099826"/>
              <a:ext cx="496464" cy="386743"/>
            </a:xfrm>
            <a:prstGeom prst="rightArrow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0423ED3-040F-FC72-6A3E-216D7E8C1206}"/>
              </a:ext>
            </a:extLst>
          </p:cNvPr>
          <p:cNvGrpSpPr/>
          <p:nvPr/>
        </p:nvGrpSpPr>
        <p:grpSpPr>
          <a:xfrm>
            <a:off x="7509642" y="2041215"/>
            <a:ext cx="2381532" cy="400110"/>
            <a:chOff x="6272317" y="3470493"/>
            <a:chExt cx="2381532" cy="400110"/>
          </a:xfrm>
          <a:solidFill>
            <a:schemeClr val="bg2"/>
          </a:solidFill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82586D-555D-5188-71E8-0A150A8ABEB9}"/>
                </a:ext>
              </a:extLst>
            </p:cNvPr>
            <p:cNvSpPr txBox="1"/>
            <p:nvPr/>
          </p:nvSpPr>
          <p:spPr>
            <a:xfrm>
              <a:off x="6768781" y="3470493"/>
              <a:ext cx="1885068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 years of data</a:t>
              </a:r>
            </a:p>
          </p:txBody>
        </p:sp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188D83AD-2FD3-9016-B147-078A803E2CFB}"/>
                </a:ext>
              </a:extLst>
            </p:cNvPr>
            <p:cNvSpPr/>
            <p:nvPr/>
          </p:nvSpPr>
          <p:spPr bwMode="auto">
            <a:xfrm rot="10800000">
              <a:off x="6272317" y="3483860"/>
              <a:ext cx="496464" cy="386743"/>
            </a:xfrm>
            <a:prstGeom prst="rightArrow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28FF36-53BD-237A-88BA-D38BA72AA1B8}"/>
              </a:ext>
            </a:extLst>
          </p:cNvPr>
          <p:cNvGrpSpPr/>
          <p:nvPr/>
        </p:nvGrpSpPr>
        <p:grpSpPr>
          <a:xfrm>
            <a:off x="1624453" y="3149631"/>
            <a:ext cx="1912557" cy="412308"/>
            <a:chOff x="773114" y="3349328"/>
            <a:chExt cx="1912557" cy="412308"/>
          </a:xfrm>
          <a:solidFill>
            <a:schemeClr val="bg2"/>
          </a:solidFill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4A98C2-508E-1D40-7621-357749A9B208}"/>
                </a:ext>
              </a:extLst>
            </p:cNvPr>
            <p:cNvSpPr txBox="1"/>
            <p:nvPr/>
          </p:nvSpPr>
          <p:spPr>
            <a:xfrm>
              <a:off x="773114" y="3349328"/>
              <a:ext cx="1416093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sz="2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102M rows</a:t>
              </a: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D97D335D-372C-FC77-F447-19D04707C8B4}"/>
                </a:ext>
              </a:extLst>
            </p:cNvPr>
            <p:cNvSpPr/>
            <p:nvPr/>
          </p:nvSpPr>
          <p:spPr bwMode="auto">
            <a:xfrm>
              <a:off x="2189207" y="3374893"/>
              <a:ext cx="496464" cy="386743"/>
            </a:xfrm>
            <a:prstGeom prst="rightArrow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342900" indent="-342900"/>
              <a:endParaRPr lang="en-US">
                <a:cs typeface="Arial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FD527D7-6D42-BB8B-85E8-0096C1FEFBA3}"/>
              </a:ext>
            </a:extLst>
          </p:cNvPr>
          <p:cNvSpPr txBox="1"/>
          <p:nvPr/>
        </p:nvSpPr>
        <p:spPr>
          <a:xfrm>
            <a:off x="8948641" y="4153475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Also: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B15B820-7C5E-515A-2218-6CA418FC4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322675"/>
              </p:ext>
            </p:extLst>
          </p:nvPr>
        </p:nvGraphicFramePr>
        <p:xfrm>
          <a:off x="7957569" y="4597083"/>
          <a:ext cx="2464678" cy="136145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90414">
                  <a:extLst>
                    <a:ext uri="{9D8B030D-6E8A-4147-A177-3AD203B41FA5}">
                      <a16:colId xmlns:a16="http://schemas.microsoft.com/office/drawing/2014/main" val="1884039790"/>
                    </a:ext>
                  </a:extLst>
                </a:gridCol>
                <a:gridCol w="1674264">
                  <a:extLst>
                    <a:ext uri="{9D8B030D-6E8A-4147-A177-3AD203B41FA5}">
                      <a16:colId xmlns:a16="http://schemas.microsoft.com/office/drawing/2014/main" val="1289832975"/>
                    </a:ext>
                  </a:extLst>
                </a:gridCol>
              </a:tblGrid>
              <a:tr h="3003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761821"/>
                  </a:ext>
                </a:extLst>
              </a:tr>
              <a:tr h="35370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Dinosaur Planet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218754"/>
                  </a:ext>
                </a:extLst>
              </a:tr>
              <a:tr h="35370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Midnight 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823549"/>
                  </a:ext>
                </a:extLst>
              </a:tr>
              <a:tr h="35370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370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48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11053-F4BD-5841-01F7-91E7DC25E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E3BA-F264-1746-880E-39AD601DF2B1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0DC22-246D-A492-B5D4-CFBDBBB2B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658"/>
            <a:ext cx="10983686" cy="4890217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Some things you may want to do to features before modelling: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Covert Numeric Variable to categorical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define highest 10% or H/M/L categories</a:t>
            </a:r>
          </a:p>
          <a:p>
            <a:pPr>
              <a:lnSpc>
                <a:spcPct val="120000"/>
              </a:lnSpc>
            </a:pPr>
            <a:r>
              <a:rPr lang="en-US" dirty="0"/>
              <a:t>Location: Lat/long into zip codes/</a:t>
            </a:r>
            <a:r>
              <a:rPr lang="en-US" dirty="0" err="1"/>
              <a:t>boro</a:t>
            </a:r>
            <a:r>
              <a:rPr lang="en-US" dirty="0"/>
              <a:t>/counties</a:t>
            </a:r>
          </a:p>
          <a:p>
            <a:pPr>
              <a:lnSpc>
                <a:spcPct val="120000"/>
              </a:lnSpc>
            </a:pPr>
            <a:r>
              <a:rPr lang="en-US" dirty="0"/>
              <a:t>Add Census data to locations! </a:t>
            </a:r>
          </a:p>
          <a:p>
            <a:pPr>
              <a:lnSpc>
                <a:spcPct val="120000"/>
              </a:lnSpc>
            </a:pPr>
            <a:r>
              <a:rPr lang="en-US" dirty="0"/>
              <a:t>Create deciles of highly skewed features </a:t>
            </a:r>
            <a:r>
              <a:rPr lang="en-US"/>
              <a:t>(income)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Dates: Extract year/month/hour from date as separate features</a:t>
            </a:r>
          </a:p>
          <a:p>
            <a:pPr>
              <a:lnSpc>
                <a:spcPct val="120000"/>
              </a:lnSpc>
            </a:pPr>
            <a:r>
              <a:rPr lang="en-US" dirty="0"/>
              <a:t>Calculate useful features from dates (tenure, duration, last seen)</a:t>
            </a:r>
          </a:p>
          <a:p>
            <a:pPr>
              <a:lnSpc>
                <a:spcPct val="120000"/>
              </a:lnSpc>
            </a:pPr>
            <a:r>
              <a:rPr lang="en-US" dirty="0"/>
              <a:t>Combine columns / create aggregates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Mean, max, min, or total might be more relevant than individuals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Get Creative!  It can make a huge difference in predictive performance..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CE818-1F76-FDB4-6673-EC566226D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13422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LSL_PowerPoint_Template">
  <a:themeElements>
    <a:clrScheme name="Stern Color Palette">
      <a:dk1>
        <a:srgbClr val="000000"/>
      </a:dk1>
      <a:lt1>
        <a:srgbClr val="FFFFFF"/>
      </a:lt1>
      <a:dk2>
        <a:srgbClr val="0E2841"/>
      </a:dk2>
      <a:lt2>
        <a:srgbClr val="EEE6F3"/>
      </a:lt2>
      <a:accent1>
        <a:srgbClr val="57068C"/>
      </a:accent1>
      <a:accent2>
        <a:srgbClr val="8900E1"/>
      </a:accent2>
      <a:accent3>
        <a:srgbClr val="330661"/>
      </a:accent3>
      <a:accent4>
        <a:srgbClr val="702B9D"/>
      </a:accent4>
      <a:accent5>
        <a:srgbClr val="A02B93"/>
      </a:accent5>
      <a:accent6>
        <a:srgbClr val="7B59A6"/>
      </a:accent6>
      <a:hlink>
        <a:srgbClr val="009B8A"/>
      </a:hlink>
      <a:folHlink>
        <a:srgbClr val="FB0F78"/>
      </a:folHlink>
    </a:clrScheme>
    <a:fontScheme name="LSL Template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SL_PowerPoint_Template" id="{21962180-B26F-4A46-B8B0-B7D5112C3D72}" vid="{BB355436-7ED7-E64D-88EB-D09D3F4BC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LSL_PowerPoint_Template</Template>
  <TotalTime>24759</TotalTime>
  <Words>1084</Words>
  <Application>Microsoft Macintosh PowerPoint</Application>
  <PresentationFormat>Widescreen</PresentationFormat>
  <Paragraphs>495</Paragraphs>
  <Slides>9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Montserrat</vt:lpstr>
      <vt:lpstr>Montserrat SemiBold</vt:lpstr>
      <vt:lpstr>Tahoma</vt:lpstr>
      <vt:lpstr>Verdana</vt:lpstr>
      <vt:lpstr>Wingdings</vt:lpstr>
      <vt:lpstr>LSL_PowerPoint_Template</vt:lpstr>
      <vt:lpstr>Topic 8 – Feature Engineering</vt:lpstr>
      <vt:lpstr>Feature Preparation</vt:lpstr>
      <vt:lpstr>Feature Engineering</vt:lpstr>
      <vt:lpstr>Feature Engineering</vt:lpstr>
      <vt:lpstr>Feature Engineering</vt:lpstr>
      <vt:lpstr>Feature Engineering</vt:lpstr>
      <vt:lpstr>Netflix Prize Example</vt:lpstr>
      <vt:lpstr>Netflix Prize Data</vt:lpstr>
      <vt:lpstr>Feature Engineering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volinsky</dc:creator>
  <cp:lastModifiedBy>chris volinsky</cp:lastModifiedBy>
  <cp:revision>52</cp:revision>
  <dcterms:created xsi:type="dcterms:W3CDTF">2023-07-07T20:20:38Z</dcterms:created>
  <dcterms:modified xsi:type="dcterms:W3CDTF">2025-12-19T18:04:23Z</dcterms:modified>
</cp:coreProperties>
</file>