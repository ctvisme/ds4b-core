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00592"/>
    <a:srgbClr val="4A0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5"/>
    <p:restoredTop sz="84163"/>
  </p:normalViewPr>
  <p:slideViewPr>
    <p:cSldViewPr snapToGrid="0">
      <p:cViewPr varScale="1">
        <p:scale>
          <a:sx n="123" d="100"/>
          <a:sy n="123" d="100"/>
        </p:scale>
        <p:origin x="19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 and employment</a:t>
            </a:r>
          </a:p>
          <a:p>
            <a:endParaRPr lang="en-US" dirty="0"/>
          </a:p>
          <a:p>
            <a:r>
              <a:rPr lang="en-US" dirty="0"/>
              <a:t>Article: “Only 20 percent of the people predicted to commit violent crime went on to do so” – what is that?  Also </a:t>
            </a:r>
            <a:r>
              <a:rPr lang="en-US" dirty="0" err="1"/>
              <a:t>followup</a:t>
            </a:r>
            <a:r>
              <a:rPr lang="en-US" dirty="0"/>
              <a:t> accuracy statement</a:t>
            </a:r>
          </a:p>
          <a:p>
            <a:endParaRPr lang="en-US" dirty="0"/>
          </a:p>
          <a:p>
            <a:r>
              <a:rPr lang="en-US" dirty="0"/>
              <a:t>Using traits like intelligence, introversion and extroversion for to build assessment scores. </a:t>
            </a:r>
          </a:p>
          <a:p>
            <a:endParaRPr lang="en-US" dirty="0"/>
          </a:p>
          <a:p>
            <a:r>
              <a:rPr lang="en-US" dirty="0"/>
              <a:t>The problem is that the score is solely being used, instead of being taken into account with other factors.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 you think adding race as an explicit feature would create more racial disparity, or allow us to correct for racial disparity? </a:t>
            </a:r>
          </a:p>
          <a:p>
            <a:endParaRPr lang="en-US" dirty="0"/>
          </a:p>
          <a:p>
            <a:r>
              <a:rPr lang="en-US" dirty="0"/>
              <a:t>Can you relate this to PM decisions…rolling out cell towers – model says to place them in rich areas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40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measures FP related to TP</a:t>
            </a:r>
          </a:p>
          <a:p>
            <a:r>
              <a:rPr lang="en-US" dirty="0"/>
              <a:t>Precision Black = 1369/2174 = 63% recall=72</a:t>
            </a:r>
          </a:p>
          <a:p>
            <a:r>
              <a:rPr lang="en-US" dirty="0"/>
              <a:t>Precision White = 59% = 505/854 recall=52</a:t>
            </a:r>
          </a:p>
          <a:p>
            <a:endParaRPr lang="en-US" dirty="0"/>
          </a:p>
          <a:p>
            <a:r>
              <a:rPr lang="en-US" dirty="0"/>
              <a:t>FPR = 805 / (805+990) measures FP related to TN (of those that are truly negative)</a:t>
            </a:r>
          </a:p>
          <a:p>
            <a:r>
              <a:rPr lang="en-US" dirty="0" err="1"/>
              <a:t>Compas</a:t>
            </a:r>
            <a:r>
              <a:rPr lang="en-US" dirty="0"/>
              <a:t> is saying that a False </a:t>
            </a:r>
            <a:r>
              <a:rPr lang="en-US" dirty="0" err="1"/>
              <a:t>Postive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The model is more likely to correctly predict </a:t>
            </a:r>
            <a:r>
              <a:rPr lang="en-US" dirty="0" err="1"/>
              <a:t>recid</a:t>
            </a:r>
            <a:r>
              <a:rPr lang="en-US" dirty="0"/>
              <a:t> for blacks, but it is also more likely to incorrectly predict recidivism for blacks – because it is more like to predict pos for blacks overall! </a:t>
            </a:r>
          </a:p>
          <a:p>
            <a:endParaRPr lang="en-US" dirty="0"/>
          </a:p>
          <a:p>
            <a:r>
              <a:rPr lang="en-US" dirty="0"/>
              <a:t>For those that truly did not re-offend, blacks were more likely to be predicted as offenders</a:t>
            </a:r>
          </a:p>
          <a:p>
            <a:endParaRPr lang="en-US" dirty="0"/>
          </a:p>
          <a:p>
            <a:r>
              <a:rPr lang="en-US" dirty="0"/>
              <a:t>This is because of the overall </a:t>
            </a:r>
            <a:r>
              <a:rPr lang="en-US" dirty="0" err="1"/>
              <a:t>baserate</a:t>
            </a:r>
            <a:r>
              <a:rPr lang="en-US" dirty="0"/>
              <a:t> of black recidivism.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6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278640"/>
            <a:ext cx="10363200" cy="1470025"/>
          </a:xfrm>
        </p:spPr>
        <p:txBody>
          <a:bodyPr/>
          <a:lstStyle>
            <a:lvl1pPr>
              <a:defRPr>
                <a:solidFill>
                  <a:srgbClr val="600592"/>
                </a:solidFill>
              </a:defRPr>
            </a:lvl1pPr>
          </a:lstStyle>
          <a:p>
            <a:r>
              <a:rPr lang="en-US" dirty="0"/>
              <a:t>Topic Num - Name of Topic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139536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dirty="0"/>
              <a:t>Data Science for Business</a:t>
            </a:r>
          </a:p>
          <a:p>
            <a:endParaRPr lang="en-US" dirty="0"/>
          </a:p>
          <a:p>
            <a:r>
              <a:rPr lang="en-US" dirty="0"/>
              <a:t>Chris Volinsky</a:t>
            </a:r>
          </a:p>
          <a:p>
            <a:r>
              <a:rPr lang="en-US" dirty="0"/>
              <a:t>NYU Stern School of Business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F43C82-9B9B-AC4F-98CD-0ADC587116F3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14D675-817C-D2B8-A095-F0294E39F3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5339" y="3429000"/>
            <a:ext cx="6431721" cy="27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9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116E0C90-514F-E1AB-C247-966E1AD79D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28918"/>
            <a:ext cx="1861931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35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F769E5-24F5-8F43-8EA5-E948B75DD02E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775125-7C05-15FA-5541-A1CBF69CEB1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1454155"/>
            <a:ext cx="12192000" cy="133667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5pPr>
            <a:lvl6pPr marL="3429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6pPr>
            <a:lvl7pPr marL="685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7pPr>
            <a:lvl8pPr marL="10287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8pPr>
            <a:lvl9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buClrTx/>
              <a:buNone/>
            </a:pPr>
            <a:endParaRPr lang="en-US" sz="3300" kern="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D4B56B-BD9C-8550-2E67-7573EFC8A7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82661" y="4554495"/>
            <a:ext cx="3626679" cy="153227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056C3-2019-B406-B923-FB0A68BB94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476" y="1769441"/>
            <a:ext cx="4638168" cy="91440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87735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5B1BC2-7DC9-274F-9AA5-41AD410B73E8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0C1E545A-8684-E274-1BDD-2502E7C00A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28918"/>
            <a:ext cx="1861931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57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F9541A-B732-0842-A74F-0C72DB237063}" type="datetime1">
              <a:rPr lang="en-US" smtClean="0"/>
              <a:t>10/29/25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4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97BA72-28C9-9A46-8637-8A409BF0CACF}" type="datetime1">
              <a:rPr lang="en-US" smtClean="0"/>
              <a:t>10/29/25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73709BB1-05FC-92CD-8075-AC4198DEDB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28918"/>
            <a:ext cx="1861931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2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4BA4BC-FC40-B844-8CA3-66DD08AD127A}" type="datetime1">
              <a:rPr lang="en-US" smtClean="0"/>
              <a:t>10/29/25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7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381634-E977-7043-B341-F77FCA8D6817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9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42C96D-D083-B04B-BE8C-D38697A2B148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7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178AE4-2A10-5F42-AC8C-4BD01A79A0D1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7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5C519-8308-2748-8B0B-F7B055AE4297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90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D0997E-0CDD-7541-9D88-20A562751868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3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053AD8-5CA7-3F49-B495-B884AFEE8A16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79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4"/>
            <a:ext cx="10972800" cy="452596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1CFE-5FBC-BA47-8777-CE847435DFFA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7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/>
          <a:p>
            <a:pPr lvl="0"/>
            <a:r>
              <a:rPr lang="en-US" noProof="0"/>
              <a:t>Click icon to add online image</a:t>
            </a:r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75583E-7D50-3C4A-8A37-9B3FE7B04D6C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9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36525"/>
            <a:ext cx="10972800" cy="72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21899"/>
            <a:ext cx="10972800" cy="4814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050">
                <a:latin typeface="Arial" charset="0"/>
              </a:defRPr>
            </a:lvl1pPr>
          </a:lstStyle>
          <a:p>
            <a:fld id="{C3BC7800-B276-A64A-8AB0-19972C98F17B}" type="datetime1">
              <a:rPr lang="en-US" smtClean="0"/>
              <a:t>10/29/25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FontTx/>
              <a:buNone/>
              <a:defRPr sz="105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129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050">
                <a:latin typeface="Arial" charset="0"/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1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60059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Confusion_matri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technologyreview.com/2019/10/17/75285/ai-fairer-than-judge-criminal-risk-assessment-algorith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8CB2-5161-A2D9-BFD2-D12AC354E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Recidivism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6C622-3FD2-56DE-9038-629E8898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879025"/>
            <a:ext cx="10332720" cy="5659126"/>
          </a:xfrm>
        </p:spPr>
        <p:txBody>
          <a:bodyPr/>
          <a:lstStyle/>
          <a:p>
            <a:r>
              <a:rPr lang="en-US" dirty="0"/>
              <a:t>Describe the intent of the data science model behind the Northpointe algorithm?  </a:t>
            </a:r>
          </a:p>
          <a:p>
            <a:pPr lvl="1"/>
            <a:r>
              <a:rPr lang="en-US" dirty="0"/>
              <a:t>What population, data do you think they used for training?</a:t>
            </a:r>
          </a:p>
          <a:p>
            <a:pPr lvl="1"/>
            <a:r>
              <a:rPr lang="en-US" dirty="0"/>
              <a:t>What was the target, the features? </a:t>
            </a:r>
          </a:p>
          <a:p>
            <a:pPr lvl="1"/>
            <a:endParaRPr lang="en-US" dirty="0"/>
          </a:p>
          <a:p>
            <a:r>
              <a:rPr lang="en-US" dirty="0"/>
              <a:t>Do you think it is a good idea to use a model like this to help judges and courts determine criminal sentences?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are the false positives/negatives in this predictive model?  What are the costs of each?  Which is worse?  How would you consider going about setting a threshold?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They did not use race in their model, so why do you think the results are so different for race?</a:t>
            </a:r>
          </a:p>
          <a:p>
            <a:pPr lvl="1"/>
            <a:r>
              <a:rPr lang="en-US" dirty="0"/>
              <a:t>Do you have thoughts on how to correct for the apparent racial bias?</a:t>
            </a:r>
          </a:p>
          <a:p>
            <a:pPr lvl="1"/>
            <a:r>
              <a:rPr lang="en-US" dirty="0"/>
              <a:t>Or other thoughts on how to use data science fairly for this particular task? </a:t>
            </a:r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1DB78-EDD3-FED8-B85C-E4964652A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899FA-C6DB-008D-6772-9035AB52EC4A}"/>
              </a:ext>
            </a:extLst>
          </p:cNvPr>
          <p:cNvSpPr txBox="1"/>
          <p:nvPr/>
        </p:nvSpPr>
        <p:spPr>
          <a:xfrm>
            <a:off x="4529960" y="6138041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06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DFFCC6-EF7C-1646-9118-2DC18E1E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89900" y="5889625"/>
            <a:ext cx="2133600" cy="476250"/>
          </a:xfrm>
        </p:spPr>
        <p:txBody>
          <a:bodyPr/>
          <a:lstStyle/>
          <a:p>
            <a:fld id="{ABBEE3BA-F264-1746-880E-39AD601DF2B1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5958462-6517-F8A4-DB31-ACA1E6CFA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757" y="397790"/>
            <a:ext cx="9373527" cy="563086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D022A6-C95E-5E7B-3C39-98A3D1A5DD7F}"/>
              </a:ext>
            </a:extLst>
          </p:cNvPr>
          <p:cNvSpPr/>
          <p:nvPr/>
        </p:nvSpPr>
        <p:spPr bwMode="auto">
          <a:xfrm>
            <a:off x="3070788" y="3641170"/>
            <a:ext cx="5603311" cy="280610"/>
          </a:xfrm>
          <a:prstGeom prst="roundRect">
            <a:avLst/>
          </a:prstGeom>
          <a:solidFill>
            <a:srgbClr val="FFFF00">
              <a:alpha val="2705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ED3903-F1C0-F27B-1E1E-780657E34A0C}"/>
              </a:ext>
            </a:extLst>
          </p:cNvPr>
          <p:cNvSpPr/>
          <p:nvPr/>
        </p:nvSpPr>
        <p:spPr bwMode="auto">
          <a:xfrm>
            <a:off x="3070789" y="3921780"/>
            <a:ext cx="2910911" cy="215544"/>
          </a:xfrm>
          <a:prstGeom prst="roundRect">
            <a:avLst/>
          </a:prstGeom>
          <a:solidFill>
            <a:srgbClr val="FFFF00">
              <a:alpha val="2705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CAE485-74E6-7938-4A2D-9B0C51900E4F}"/>
              </a:ext>
            </a:extLst>
          </p:cNvPr>
          <p:cNvSpPr/>
          <p:nvPr/>
        </p:nvSpPr>
        <p:spPr bwMode="auto">
          <a:xfrm>
            <a:off x="3002422" y="4144685"/>
            <a:ext cx="5520820" cy="476250"/>
          </a:xfrm>
          <a:prstGeom prst="roundRect">
            <a:avLst/>
          </a:prstGeom>
          <a:solidFill>
            <a:srgbClr val="FF0000">
              <a:alpha val="2705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 dirty="0">
              <a:cs typeface="Arial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214CCA-DD8F-1BD3-172D-8BF164AC0CB7}"/>
              </a:ext>
            </a:extLst>
          </p:cNvPr>
          <p:cNvSpPr/>
          <p:nvPr/>
        </p:nvSpPr>
        <p:spPr bwMode="auto">
          <a:xfrm>
            <a:off x="5981700" y="3921781"/>
            <a:ext cx="2541542" cy="222905"/>
          </a:xfrm>
          <a:prstGeom prst="roundRect">
            <a:avLst/>
          </a:prstGeom>
          <a:solidFill>
            <a:srgbClr val="FF0000">
              <a:alpha val="2705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 dirty="0">
              <a:cs typeface="Arial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060ADBD-5338-24C1-9B68-4A846C7C5C18}"/>
              </a:ext>
            </a:extLst>
          </p:cNvPr>
          <p:cNvSpPr/>
          <p:nvPr/>
        </p:nvSpPr>
        <p:spPr bwMode="auto">
          <a:xfrm>
            <a:off x="6132557" y="3428189"/>
            <a:ext cx="2541543" cy="212982"/>
          </a:xfrm>
          <a:prstGeom prst="roundRect">
            <a:avLst/>
          </a:prstGeom>
          <a:solidFill>
            <a:srgbClr val="FFFF00">
              <a:alpha val="2705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3FFCA6-FFEA-8337-6220-52DFC8029B0A}"/>
              </a:ext>
            </a:extLst>
          </p:cNvPr>
          <p:cNvSpPr txBox="1"/>
          <p:nvPr/>
        </p:nvSpPr>
        <p:spPr>
          <a:xfrm>
            <a:off x="3078412" y="6368866"/>
            <a:ext cx="5588060" cy="34296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https://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en.wikipedia.org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/wiki/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Confusion_matrix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17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1C2AF5-135F-35B5-C05D-8F430A8A0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7332F-8547-5E9D-CB8A-B42900327853}"/>
              </a:ext>
            </a:extLst>
          </p:cNvPr>
          <p:cNvSpPr txBox="1"/>
          <p:nvPr/>
        </p:nvSpPr>
        <p:spPr>
          <a:xfrm>
            <a:off x="3442952" y="309093"/>
            <a:ext cx="4076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MIT Tech Review – COMPAS game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 descr="A screen shot of a chart&#10;&#10;AI-generated content may be incorrect.">
            <a:extLst>
              <a:ext uri="{FF2B5EF4-FFF2-40B4-BE49-F238E27FC236}">
                <a16:creationId xmlns:a16="http://schemas.microsoft.com/office/drawing/2014/main" id="{42A876A2-BCDF-567C-6BC9-EC121AA76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086" y="2048257"/>
            <a:ext cx="3251645" cy="3739895"/>
          </a:xfrm>
          <a:prstGeom prst="rect">
            <a:avLst/>
          </a:prstGeom>
        </p:spPr>
      </p:pic>
      <p:pic>
        <p:nvPicPr>
          <p:cNvPr id="7" name="Picture 6" descr="A screenshot of a news article&#10;&#10;AI-generated content may be incorrect.">
            <a:extLst>
              <a:ext uri="{FF2B5EF4-FFF2-40B4-BE49-F238E27FC236}">
                <a16:creationId xmlns:a16="http://schemas.microsoft.com/office/drawing/2014/main" id="{F9A4A757-AF1A-2E42-11FA-4EB8B341D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989547"/>
            <a:ext cx="5175504" cy="5731928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E86B64-BEF5-58C9-7415-5D623297FDDE}"/>
              </a:ext>
            </a:extLst>
          </p:cNvPr>
          <p:cNvSpPr/>
          <p:nvPr/>
        </p:nvSpPr>
        <p:spPr bwMode="auto">
          <a:xfrm>
            <a:off x="1650550" y="2931051"/>
            <a:ext cx="4630277" cy="648728"/>
          </a:xfrm>
          <a:prstGeom prst="roundRect">
            <a:avLst/>
          </a:prstGeom>
          <a:solidFill>
            <a:srgbClr val="FFFF00">
              <a:alpha val="2705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478216F-0617-D920-8C53-787D0E603ABD}"/>
              </a:ext>
            </a:extLst>
          </p:cNvPr>
          <p:cNvSpPr/>
          <p:nvPr/>
        </p:nvSpPr>
        <p:spPr bwMode="auto">
          <a:xfrm>
            <a:off x="5483158" y="2650441"/>
            <a:ext cx="797669" cy="280610"/>
          </a:xfrm>
          <a:prstGeom prst="roundRect">
            <a:avLst/>
          </a:prstGeom>
          <a:solidFill>
            <a:srgbClr val="FFFF00">
              <a:alpha val="2705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58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1_SBE10">
  <a:themeElements>
    <a:clrScheme name="1_SBE10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BE10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8E0D30"/>
          </a:buClr>
          <a:buSzTx/>
          <a:buFontTx/>
          <a:buChar char="•"/>
          <a:tabLst/>
          <a:defRPr kumimoji="0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ln>
          <a:headEnd type="none" w="med" len="med"/>
          <a:tailEnd type="triangl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 indent="0" algn="l">
          <a:buNone/>
          <a:defRPr sz="2000" dirty="0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>
    <a:extraClrScheme>
      <a:clrScheme name="1_SBE1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TV-style" id="{76D76506-A0BC-8D4F-A42C-BBF50ED27964}" vid="{B20F4F62-1BD5-CD4F-87A9-C146A9A146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1_SBE10</Template>
  <TotalTime>1649</TotalTime>
  <Words>395</Words>
  <Application>Microsoft Macintosh PowerPoint</Application>
  <PresentationFormat>Widescreen</PresentationFormat>
  <Paragraphs>42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Consolas</vt:lpstr>
      <vt:lpstr>Tahoma</vt:lpstr>
      <vt:lpstr>Times New Roman</vt:lpstr>
      <vt:lpstr>1_SBE10</vt:lpstr>
      <vt:lpstr>Recidivism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volinsky</dc:creator>
  <cp:lastModifiedBy>chris volinsky</cp:lastModifiedBy>
  <cp:revision>13</cp:revision>
  <cp:lastPrinted>2025-03-05T14:12:30Z</cp:lastPrinted>
  <dcterms:created xsi:type="dcterms:W3CDTF">2024-10-08T15:40:20Z</dcterms:created>
  <dcterms:modified xsi:type="dcterms:W3CDTF">2025-10-30T01:54:07Z</dcterms:modified>
</cp:coreProperties>
</file>