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47"/>
  </p:notesMasterIdLst>
  <p:sldIdLst>
    <p:sldId id="256" r:id="rId2"/>
    <p:sldId id="258" r:id="rId3"/>
    <p:sldId id="264" r:id="rId4"/>
    <p:sldId id="580" r:id="rId5"/>
    <p:sldId id="605" r:id="rId6"/>
    <p:sldId id="531" r:id="rId7"/>
    <p:sldId id="607" r:id="rId8"/>
    <p:sldId id="259" r:id="rId9"/>
    <p:sldId id="579" r:id="rId10"/>
    <p:sldId id="528" r:id="rId11"/>
    <p:sldId id="526" r:id="rId12"/>
    <p:sldId id="618" r:id="rId13"/>
    <p:sldId id="588" r:id="rId14"/>
    <p:sldId id="529" r:id="rId15"/>
    <p:sldId id="619" r:id="rId16"/>
    <p:sldId id="533" r:id="rId17"/>
    <p:sldId id="534" r:id="rId18"/>
    <p:sldId id="642" r:id="rId19"/>
    <p:sldId id="643" r:id="rId20"/>
    <p:sldId id="644" r:id="rId21"/>
    <p:sldId id="646" r:id="rId22"/>
    <p:sldId id="648" r:id="rId23"/>
    <p:sldId id="563" r:id="rId24"/>
    <p:sldId id="625" r:id="rId25"/>
    <p:sldId id="565" r:id="rId26"/>
    <p:sldId id="628" r:id="rId27"/>
    <p:sldId id="568" r:id="rId28"/>
    <p:sldId id="569" r:id="rId29"/>
    <p:sldId id="570" r:id="rId30"/>
    <p:sldId id="571" r:id="rId31"/>
    <p:sldId id="654" r:id="rId32"/>
    <p:sldId id="634" r:id="rId33"/>
    <p:sldId id="655" r:id="rId34"/>
    <p:sldId id="573" r:id="rId35"/>
    <p:sldId id="656" r:id="rId36"/>
    <p:sldId id="261" r:id="rId37"/>
    <p:sldId id="629" r:id="rId38"/>
    <p:sldId id="262" r:id="rId39"/>
    <p:sldId id="631" r:id="rId40"/>
    <p:sldId id="650" r:id="rId41"/>
    <p:sldId id="630" r:id="rId42"/>
    <p:sldId id="633" r:id="rId43"/>
    <p:sldId id="641" r:id="rId44"/>
    <p:sldId id="653" r:id="rId45"/>
    <p:sldId id="65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592"/>
    <a:srgbClr val="4A0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711"/>
    <p:restoredTop sz="83897"/>
  </p:normalViewPr>
  <p:slideViewPr>
    <p:cSldViewPr snapToGrid="0">
      <p:cViewPr varScale="1">
        <p:scale>
          <a:sx n="93" d="100"/>
          <a:sy n="93" d="100"/>
        </p:scale>
        <p:origin x="55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can be similar</a:t>
            </a:r>
          </a:p>
          <a:p>
            <a:r>
              <a:rPr lang="en-US" dirty="0"/>
              <a:t>Products can be bought together</a:t>
            </a:r>
          </a:p>
          <a:p>
            <a:r>
              <a:rPr lang="en-US" dirty="0"/>
              <a:t>People can be similar</a:t>
            </a:r>
          </a:p>
          <a:p>
            <a:endParaRPr lang="en-US" dirty="0"/>
          </a:p>
          <a:p>
            <a:r>
              <a:rPr lang="en-US" dirty="0"/>
              <a:t>How does similarity work in retail?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40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60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95A0C3-1755-467E-9DA0-31C71947610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And to take logs, for long-tail distributions  (in our case, we divided by 1000)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42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280E0-46B4-8149-A6A1-3A16A3720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4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Concptionslly</a:t>
            </a:r>
            <a:r>
              <a:rPr lang="en-US" dirty="0"/>
              <a:t> the idea is easy…who is he most similar to and use that to make a predictions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80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48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81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5D392E-64FE-4394-8A5B-9CEBA4466C8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5D392E-64FE-4394-8A5B-9CEBA4466C8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= n you predict the majority class for everybody</a:t>
            </a:r>
          </a:p>
          <a:p>
            <a:r>
              <a:rPr lang="en-US" dirty="0"/>
              <a:t>K=1 you have a lot of variance…</a:t>
            </a:r>
          </a:p>
          <a:p>
            <a:endParaRPr lang="en-US" dirty="0"/>
          </a:p>
          <a:p>
            <a:r>
              <a:rPr lang="en-US" dirty="0"/>
              <a:t>Which one has the most complexity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6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K=1 vs 3 might be different…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41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161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80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defining pre-set groups, no need to calculate all of the distances from everybody to everybody else.  </a:t>
            </a:r>
          </a:p>
          <a:p>
            <a:r>
              <a:rPr lang="en-US" dirty="0"/>
              <a:t>Also, can combine with distances for a new customer.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01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clustering assumes each point falls into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49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24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cross-validation because there is no metric for success!!!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80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25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 in </a:t>
            </a:r>
            <a:r>
              <a:rPr lang="en-US" dirty="0" err="1"/>
              <a:t>pybbb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76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A99D-3777-5CD6-E288-B430FDF6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4E776-7A52-31F2-200F-D71146324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3A95E-2EA6-1B34-3CE3-B9C5C23C8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C0397-64D6-40F2-5E1B-D22870673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619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723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836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355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284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0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F43C82-9B9B-AC4F-98CD-0ADC587116F3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54947" y="3467480"/>
            <a:ext cx="6912587" cy="1402207"/>
          </a:xfrm>
        </p:spPr>
        <p:txBody>
          <a:bodyPr lIns="91440" anchor="t">
            <a:noAutofit/>
          </a:bodyPr>
          <a:lstStyle>
            <a:lvl1pPr marL="0" indent="0" algn="l">
              <a:buNone/>
              <a:defRPr sz="2100" b="1" i="0">
                <a:solidFill>
                  <a:schemeClr val="bg2"/>
                </a:solidFill>
                <a:latin typeface="Montserrat SemiBold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Data Science and AI for Business</a:t>
            </a:r>
          </a:p>
          <a:p>
            <a:r>
              <a:rPr lang="en-US" dirty="0"/>
              <a:t>Prof: Chris Volinsky</a:t>
            </a:r>
          </a:p>
          <a:p>
            <a:r>
              <a:rPr lang="en-US" dirty="0"/>
              <a:t>Fall 2025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54947" y="567189"/>
            <a:ext cx="6912587" cy="2387600"/>
          </a:xfrm>
          <a:noFill/>
        </p:spPr>
        <p:txBody>
          <a:bodyPr anchor="b"/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X – Topic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DC4E50-CD11-16BF-68AD-35E76A47A0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75339" y="3429000"/>
            <a:ext cx="6431721" cy="27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81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ou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10B997DA-7AA6-CF7E-FDED-D6EF7D28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" y="5737653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24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28170696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F9871B73-938C-45E7-7799-A9A5443705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8E9548-3B4B-2F9B-6B67-2F904307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063297"/>
            <a:ext cx="10515600" cy="1001559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C5894B-C677-E349-FCAF-7A2C8488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9CEAD-DE05-890A-43F5-E308410E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C1DE4-B54C-87DD-FB01-5F894157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69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47533-C89B-7F4F-A98B-2DD0B0DD654B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450"/>
              </a:spcBef>
              <a:defRPr/>
            </a:lvl1pPr>
            <a:lvl2pPr marL="514350" indent="-171450">
              <a:lnSpc>
                <a:spcPct val="100000"/>
              </a:lnSpc>
              <a:spcBef>
                <a:spcPts val="450"/>
              </a:spcBef>
              <a:buSzPct val="75000"/>
              <a:buFont typeface="Wingdings" pitchFamily="2" charset="2"/>
              <a:buChar char="§"/>
              <a:defRPr/>
            </a:lvl2pPr>
            <a:lvl3pPr marL="857250" indent="-171450">
              <a:lnSpc>
                <a:spcPct val="100000"/>
              </a:lnSpc>
              <a:spcBef>
                <a:spcPts val="450"/>
              </a:spcBef>
              <a:buSzPct val="60000"/>
              <a:buFont typeface="Wingdings" pitchFamily="2" charset="2"/>
              <a:buChar char="v"/>
              <a:defRPr/>
            </a:lvl3pPr>
            <a:lvl4pPr>
              <a:lnSpc>
                <a:spcPct val="100000"/>
              </a:lnSpc>
              <a:spcBef>
                <a:spcPts val="450"/>
              </a:spcBef>
              <a:defRPr/>
            </a:lvl4pPr>
            <a:lvl5pPr>
              <a:lnSpc>
                <a:spcPct val="100000"/>
              </a:lnSpc>
              <a:spcBef>
                <a:spcPts val="45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91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674006" y="3447260"/>
            <a:ext cx="8160775" cy="1500187"/>
          </a:xfrm>
        </p:spPr>
        <p:txBody>
          <a:bodyPr lIns="9144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74006" y="1555278"/>
            <a:ext cx="8160775" cy="1864995"/>
          </a:xfrm>
          <a:noFill/>
        </p:spPr>
        <p:txBody>
          <a:bodyPr anchor="b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11108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1BC2-7DC9-274F-9AA5-41AD410B73E8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6172200" y="1602659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838200" y="1602659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9F2C1A42-EE70-C5EF-E94F-F2F3B4F58E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28918"/>
            <a:ext cx="1861931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541A-B732-0842-A74F-0C72DB237063}" type="datetime1">
              <a:rPr lang="en-US" smtClean="0"/>
              <a:t>11/12/25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2"/>
          <p:cNvSpPr>
            <a:spLocks noGrp="1"/>
          </p:cNvSpPr>
          <p:nvPr>
            <p:ph sz="quarter" idx="4"/>
          </p:nvPr>
        </p:nvSpPr>
        <p:spPr>
          <a:xfrm>
            <a:off x="6172201" y="2424112"/>
            <a:ext cx="5183188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ing 2"/>
          <p:cNvSpPr>
            <a:spLocks noGrp="1"/>
          </p:cNvSpPr>
          <p:nvPr>
            <p:ph type="body" sz="quarter" idx="3"/>
          </p:nvPr>
        </p:nvSpPr>
        <p:spPr>
          <a:xfrm>
            <a:off x="6172201" y="1600200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1"/>
          <p:cNvSpPr>
            <a:spLocks noGrp="1"/>
          </p:cNvSpPr>
          <p:nvPr>
            <p:ph sz="half" idx="2"/>
          </p:nvPr>
        </p:nvSpPr>
        <p:spPr>
          <a:xfrm>
            <a:off x="839789" y="2424112"/>
            <a:ext cx="5157787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Heading 1"/>
          <p:cNvSpPr>
            <a:spLocks noGrp="1"/>
          </p:cNvSpPr>
          <p:nvPr>
            <p:ph type="body" idx="1"/>
          </p:nvPr>
        </p:nvSpPr>
        <p:spPr>
          <a:xfrm>
            <a:off x="839789" y="1600200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5840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886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BA72-28C9-9A46-8637-8A409BF0CACF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7B87CF7F-661E-99F0-3982-1976D42B04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28918"/>
            <a:ext cx="1861931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0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idden Title">
            <a:extLst>
              <a:ext uri="{FF2B5EF4-FFF2-40B4-BE49-F238E27FC236}">
                <a16:creationId xmlns:a16="http://schemas.microsoft.com/office/drawing/2014/main" id="{2BFCB23C-FD7A-DDAB-2F31-3EA040396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139584"/>
            <a:ext cx="10515600" cy="1001559"/>
          </a:xfrm>
        </p:spPr>
        <p:txBody>
          <a:bodyPr/>
          <a:lstStyle/>
          <a:p>
            <a:r>
              <a:rPr lang="en-US" dirty="0"/>
              <a:t>Click to edit title (this will display for screen readers and outlines)</a:t>
            </a:r>
          </a:p>
        </p:txBody>
      </p:sp>
    </p:spTree>
    <p:extLst>
      <p:ext uri="{BB962C8B-B14F-4D97-AF65-F5344CB8AC3E}">
        <p14:creationId xmlns:p14="http://schemas.microsoft.com/office/powerpoint/2010/main" val="40241682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tIns="18288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F7BEC92A-23B7-BAAB-4CE5-D6D7A641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0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81622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tIns="18288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D76AD61-182C-13DD-7E32-DAED6ED8C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1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06497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8AE4-2A10-5F42-AC8C-4BD01A79A0D1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50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C519-8308-2748-8B0B-F7B055AE4297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 tIns="182880" bIns="18288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59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ic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E0315FA0-DFBB-0494-15F4-F94FA37B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48D3A38-8D3E-6EB0-FE34-FBB6F9A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31D1D9-60E1-36A2-EDA8-C31A7ED8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C4533C5-D85B-5D93-12B0-136A51D73C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4088" y="565150"/>
            <a:ext cx="5672171" cy="5511800"/>
          </a:xfrm>
          <a:solidFill>
            <a:schemeClr val="bg2"/>
          </a:solidFill>
        </p:spPr>
        <p:txBody>
          <a:bodyPr lIns="365760" tIns="45720" rIns="36576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52A58E-1F73-C381-F411-54304E513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6923" y="5453951"/>
            <a:ext cx="3868300" cy="622409"/>
          </a:xfrm>
        </p:spPr>
        <p:txBody>
          <a:bodyPr tIns="9144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F94145-6C3C-7197-F652-4095F3D46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925" y="4557834"/>
            <a:ext cx="3867807" cy="896117"/>
          </a:xfrm>
        </p:spPr>
        <p:txBody>
          <a:bodyPr lIns="91440" anchor="ctr">
            <a:noAutofit/>
          </a:bodyPr>
          <a:lstStyle>
            <a:lvl1pPr algn="ctr">
              <a:defRPr sz="21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Biographical Portrait">
            <a:extLst>
              <a:ext uri="{FF2B5EF4-FFF2-40B4-BE49-F238E27FC236}">
                <a16:creationId xmlns:a16="http://schemas.microsoft.com/office/drawing/2014/main" id="{C01C33A2-E0D6-52C6-B10A-B3D8B056EA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6923" y="490278"/>
            <a:ext cx="3867808" cy="4022020"/>
          </a:xfrm>
          <a:custGeom>
            <a:avLst/>
            <a:gdLst>
              <a:gd name="connsiteX0" fmla="*/ 1933904 w 3867808"/>
              <a:gd name="connsiteY0" fmla="*/ 0 h 4022020"/>
              <a:gd name="connsiteX1" fmla="*/ 3867808 w 3867808"/>
              <a:gd name="connsiteY1" fmla="*/ 2011366 h 4022020"/>
              <a:gd name="connsiteX2" fmla="*/ 2131635 w 3867808"/>
              <a:gd name="connsiteY2" fmla="*/ 4012348 h 4022020"/>
              <a:gd name="connsiteX3" fmla="*/ 1947462 w 3867808"/>
              <a:gd name="connsiteY3" fmla="*/ 4022020 h 4022020"/>
              <a:gd name="connsiteX4" fmla="*/ 1920347 w 3867808"/>
              <a:gd name="connsiteY4" fmla="*/ 4022020 h 4022020"/>
              <a:gd name="connsiteX5" fmla="*/ 1736174 w 3867808"/>
              <a:gd name="connsiteY5" fmla="*/ 4012348 h 4022020"/>
              <a:gd name="connsiteX6" fmla="*/ 0 w 3867808"/>
              <a:gd name="connsiteY6" fmla="*/ 2011366 h 4022020"/>
              <a:gd name="connsiteX7" fmla="*/ 1933904 w 3867808"/>
              <a:gd name="connsiteY7" fmla="*/ 0 h 40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808" h="4022020">
                <a:moveTo>
                  <a:pt x="1933904" y="0"/>
                </a:moveTo>
                <a:cubicBezTo>
                  <a:pt x="3001970" y="0"/>
                  <a:pt x="3867808" y="900519"/>
                  <a:pt x="3867808" y="2011366"/>
                </a:cubicBezTo>
                <a:cubicBezTo>
                  <a:pt x="3867808" y="3052785"/>
                  <a:pt x="3106818" y="3909346"/>
                  <a:pt x="2131635" y="4012348"/>
                </a:cubicBezTo>
                <a:lnTo>
                  <a:pt x="1947462" y="4022020"/>
                </a:lnTo>
                <a:lnTo>
                  <a:pt x="1920347" y="4022020"/>
                </a:lnTo>
                <a:lnTo>
                  <a:pt x="1736174" y="4012348"/>
                </a:lnTo>
                <a:cubicBezTo>
                  <a:pt x="760991" y="3909346"/>
                  <a:pt x="0" y="3052785"/>
                  <a:pt x="0" y="2011366"/>
                </a:cubicBezTo>
                <a:cubicBezTo>
                  <a:pt x="0" y="900519"/>
                  <a:pt x="865838" y="0"/>
                  <a:pt x="1933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04213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pper Right Background">
            <a:extLst>
              <a:ext uri="{FF2B5EF4-FFF2-40B4-BE49-F238E27FC236}">
                <a16:creationId xmlns:a16="http://schemas.microsoft.com/office/drawing/2014/main" id="{741348CF-8AE0-CDA7-6AF8-73CBD508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362456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3" name="Lower Left Background">
            <a:extLst>
              <a:ext uri="{FF2B5EF4-FFF2-40B4-BE49-F238E27FC236}">
                <a16:creationId xmlns:a16="http://schemas.microsoft.com/office/drawing/2014/main" id="{7A022FAC-8470-0247-48BA-724E9DA0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6879" y="3664139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7" name="Vertical Divider">
            <a:extLst>
              <a:ext uri="{FF2B5EF4-FFF2-40B4-BE49-F238E27FC236}">
                <a16:creationId xmlns:a16="http://schemas.microsoft.com/office/drawing/2014/main" id="{56653F9A-22F3-01A3-08FE-B872A42C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1362456"/>
            <a:ext cx="0" cy="4572000"/>
          </a:xfrm>
          <a:prstGeom prst="line">
            <a:avLst/>
          </a:prstGeom>
          <a:ln w="28575">
            <a:solidFill>
              <a:srgbClr val="330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orizontal Divider">
            <a:extLst>
              <a:ext uri="{FF2B5EF4-FFF2-40B4-BE49-F238E27FC236}">
                <a16:creationId xmlns:a16="http://schemas.microsoft.com/office/drawing/2014/main" id="{FD96D644-BABC-710D-9181-F5F1CFE2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06880" y="3648456"/>
            <a:ext cx="87782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8C45C620-8DCA-F412-3FAF-615D5BE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1FB36B0-30B4-5161-4F34-C0DB33DF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0834D6B-037D-B08E-B56B-6F63524B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Lower Right Content">
            <a:extLst>
              <a:ext uri="{FF2B5EF4-FFF2-40B4-BE49-F238E27FC236}">
                <a16:creationId xmlns:a16="http://schemas.microsoft.com/office/drawing/2014/main" id="{59A8F6BE-E970-A0F4-7DDA-8524CD5C33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95840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Lower Right Label 2">
            <a:extLst>
              <a:ext uri="{FF2B5EF4-FFF2-40B4-BE49-F238E27FC236}">
                <a16:creationId xmlns:a16="http://schemas.microsoft.com/office/drawing/2014/main" id="{CFD30BF1-A505-9ACC-025A-469B5F0297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03410" y="4654297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7" name="Lower Right Label 1">
            <a:extLst>
              <a:ext uri="{FF2B5EF4-FFF2-40B4-BE49-F238E27FC236}">
                <a16:creationId xmlns:a16="http://schemas.microsoft.com/office/drawing/2014/main" id="{C1877750-E333-F03B-47EC-F2033B802A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524" y="5962966"/>
            <a:ext cx="4389117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7" name="Lower Left Content">
            <a:extLst>
              <a:ext uri="{FF2B5EF4-FFF2-40B4-BE49-F238E27FC236}">
                <a16:creationId xmlns:a16="http://schemas.microsoft.com/office/drawing/2014/main" id="{6EB568C5-C36C-C3B6-B84E-33585ED25B1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06563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Lower Left Label 2">
            <a:extLst>
              <a:ext uri="{FF2B5EF4-FFF2-40B4-BE49-F238E27FC236}">
                <a16:creationId xmlns:a16="http://schemas.microsoft.com/office/drawing/2014/main" id="{837C4CC4-7EAF-DC30-D4DD-8B9A27E114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70" y="4654297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18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6" name="Lower Left Label 1">
            <a:extLst>
              <a:ext uri="{FF2B5EF4-FFF2-40B4-BE49-F238E27FC236}">
                <a16:creationId xmlns:a16="http://schemas.microsoft.com/office/drawing/2014/main" id="{4B5B599D-1D6D-2F42-226C-68559DBA7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407" y="5962966"/>
            <a:ext cx="4389119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6" name="Upper Right Content">
            <a:extLst>
              <a:ext uri="{FF2B5EF4-FFF2-40B4-BE49-F238E27FC236}">
                <a16:creationId xmlns:a16="http://schemas.microsoft.com/office/drawing/2014/main" id="{C9BA5D50-354F-362B-0D00-D2581CEB93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5840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Upper Right Label 2">
            <a:extLst>
              <a:ext uri="{FF2B5EF4-FFF2-40B4-BE49-F238E27FC236}">
                <a16:creationId xmlns:a16="http://schemas.microsoft.com/office/drawing/2014/main" id="{95D7251D-C3E9-D88C-6B59-37FDF825BC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410" y="2176813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5" name="Upper Right Label 1">
            <a:extLst>
              <a:ext uri="{FF2B5EF4-FFF2-40B4-BE49-F238E27FC236}">
                <a16:creationId xmlns:a16="http://schemas.microsoft.com/office/drawing/2014/main" id="{01DC97BE-4E44-4321-55D1-58467CA8C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524" y="904718"/>
            <a:ext cx="4389117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5" name="Upper Left Content">
            <a:extLst>
              <a:ext uri="{FF2B5EF4-FFF2-40B4-BE49-F238E27FC236}">
                <a16:creationId xmlns:a16="http://schemas.microsoft.com/office/drawing/2014/main" id="{34ADB10B-DD8F-366C-2FE7-EB6B19010D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706563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Upper Left Label 2">
            <a:extLst>
              <a:ext uri="{FF2B5EF4-FFF2-40B4-BE49-F238E27FC236}">
                <a16:creationId xmlns:a16="http://schemas.microsoft.com/office/drawing/2014/main" id="{A2A1B410-A6E6-1BF0-054A-670E8ED31F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170" y="2176813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18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Upper Left Label 1">
            <a:extLst>
              <a:ext uri="{FF2B5EF4-FFF2-40B4-BE49-F238E27FC236}">
                <a16:creationId xmlns:a16="http://schemas.microsoft.com/office/drawing/2014/main" id="{49583889-99E8-7796-E87C-F99F6EE72D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6407" y="904718"/>
            <a:ext cx="4389119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5C5A4C-3D9C-8F95-687D-4440AD423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42736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07662384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924D0665-6B62-D94C-6BB9-A5F32444BA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tIns="27432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picture. Resize to fill screen if necessary.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" y="5737653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24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321916056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345CF1A-4C10-1E0A-F359-242D961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F89A3E1-10E8-DF5C-ADA7-7AA1AC1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A5217EA-2F5D-8BD3-F6A4-7D27B940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28B89F34-6ED0-DAD7-D81D-47BF20B8B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5640428"/>
            <a:ext cx="10515601" cy="592656"/>
          </a:xfrm>
        </p:spPr>
        <p:txBody>
          <a:bodyPr/>
          <a:lstStyle>
            <a:lvl1pPr marL="0" indent="0" algn="ctr">
              <a:buNone/>
              <a:defRPr sz="1500" i="1"/>
            </a:lvl1pPr>
          </a:lstStyle>
          <a:p>
            <a:pPr lvl="0"/>
            <a:r>
              <a:rPr lang="en-US" dirty="0"/>
              <a:t>Click to add an image caption</a:t>
            </a:r>
          </a:p>
        </p:txBody>
      </p:sp>
      <p:sp>
        <p:nvSpPr>
          <p:cNvPr id="13" name="Picture or Content">
            <a:extLst>
              <a:ext uri="{FF2B5EF4-FFF2-40B4-BE49-F238E27FC236}">
                <a16:creationId xmlns:a16="http://schemas.microsoft.com/office/drawing/2014/main" id="{CD1EE5D5-5FAF-B62D-975C-50CD063993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377023"/>
            <a:ext cx="10515600" cy="4253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DF3277-C373-C98B-51F8-11BE6680E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53503867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lumn 3 Content">
            <a:extLst>
              <a:ext uri="{FF2B5EF4-FFF2-40B4-BE49-F238E27FC236}">
                <a16:creationId xmlns:a16="http://schemas.microsoft.com/office/drawing/2014/main" id="{05C1C30C-0CDC-3433-354D-EE9FD3483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401" y="2743201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lumn 3 Header">
            <a:extLst>
              <a:ext uri="{FF2B5EF4-FFF2-40B4-BE49-F238E27FC236}">
                <a16:creationId xmlns:a16="http://schemas.microsoft.com/office/drawing/2014/main" id="{EAD20429-72EA-1AA7-5960-5D9EC8A91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34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lumn 2 Content">
            <a:extLst>
              <a:ext uri="{FF2B5EF4-FFF2-40B4-BE49-F238E27FC236}">
                <a16:creationId xmlns:a16="http://schemas.microsoft.com/office/drawing/2014/main" id="{D0A545A4-8A49-4146-D78B-41174161D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801" y="2743201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lumn 2 Header">
            <a:extLst>
              <a:ext uri="{FF2B5EF4-FFF2-40B4-BE49-F238E27FC236}">
                <a16:creationId xmlns:a16="http://schemas.microsoft.com/office/drawing/2014/main" id="{9314D649-A64C-6E34-2130-1BDF8C87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58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0" y="2743201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75779463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lumn 4 Content">
            <a:extLst>
              <a:ext uri="{FF2B5EF4-FFF2-40B4-BE49-F238E27FC236}">
                <a16:creationId xmlns:a16="http://schemas.microsoft.com/office/drawing/2014/main" id="{34C4BCE7-4191-F2A9-F80D-F627E9EA07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199" y="2743200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lumn 4 Header">
            <a:extLst>
              <a:ext uri="{FF2B5EF4-FFF2-40B4-BE49-F238E27FC236}">
                <a16:creationId xmlns:a16="http://schemas.microsoft.com/office/drawing/2014/main" id="{1B8965D5-7659-2A00-C376-DD8B3ACA71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9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5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lumn 3 Content">
            <a:extLst>
              <a:ext uri="{FF2B5EF4-FFF2-40B4-BE49-F238E27FC236}">
                <a16:creationId xmlns:a16="http://schemas.microsoft.com/office/drawing/2014/main" id="{E901D810-CC36-C6AA-9EDE-FB64CCF9E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9165" y="2743200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lumn 3 Header">
            <a:extLst>
              <a:ext uri="{FF2B5EF4-FFF2-40B4-BE49-F238E27FC236}">
                <a16:creationId xmlns:a16="http://schemas.microsoft.com/office/drawing/2014/main" id="{303B94A8-CAE7-3320-55C2-EC5B8724067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5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lumn 2 Content">
            <a:extLst>
              <a:ext uri="{FF2B5EF4-FFF2-40B4-BE49-F238E27FC236}">
                <a16:creationId xmlns:a16="http://schemas.microsoft.com/office/drawing/2014/main" id="{CB09BE5E-E412-C4BE-23E6-1B9E9E610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8231" y="2743201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lumn 2 Header">
            <a:extLst>
              <a:ext uri="{FF2B5EF4-FFF2-40B4-BE49-F238E27FC236}">
                <a16:creationId xmlns:a16="http://schemas.microsoft.com/office/drawing/2014/main" id="{FE4E8193-CA60-39C5-BF2A-642510ED2A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5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5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9" y="2743201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5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47683192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F769E5-24F5-8F43-8EA5-E948B75DD02E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775125-7C05-15FA-5541-A1CBF69CEB1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1454155"/>
            <a:ext cx="12192000" cy="133667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buClrTx/>
              <a:buNone/>
            </a:pPr>
            <a:endParaRPr lang="en-US" sz="3300" kern="0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056C3-2019-B406-B923-FB0A68BB94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476" y="1769441"/>
            <a:ext cx="4638168" cy="91440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40672983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32A3F-B6CA-49C6-B60F-BB470C845F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147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053AD8-5CA7-3F49-B495-B884AFEE8A16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206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4BA4BC-FC40-B844-8CA3-66DD08AD127A}" type="datetime1">
              <a:rPr lang="en-US" smtClean="0"/>
              <a:t>11/12/25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5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6927794" y="6356352"/>
            <a:ext cx="137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BC7800-B276-A64A-8AB0-19972C98F17B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2501115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838200" y="6356352"/>
            <a:ext cx="13510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8200" y="1602659"/>
            <a:ext cx="10515600" cy="457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019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accent1"/>
          </a:solidFill>
          <a:latin typeface="Montserrat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SzPct val="8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SzPct val="70000"/>
        <a:buFont typeface="Wingdings" pitchFamily="2" charset="2"/>
        <a:buChar char="v"/>
        <a:defRPr sz="15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SzPct val="70000"/>
        <a:buFont typeface="Wingdings" pitchFamily="2" charset="2"/>
        <a:buChar char="§"/>
        <a:defRPr sz="135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SzPct val="70000"/>
        <a:buFont typeface="Wingdings" pitchFamily="2" charset="2"/>
        <a:buChar char="§"/>
        <a:defRPr sz="135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laritas360.claritas.com/mybestsegment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QTz7yVmz_g?si=sTuwwNxooeGaQCD5&amp;t=103" TargetMode="Externa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DQTz7yVmz_g?start=103&amp;feature=oembed" TargetMode="External"/><Relationship Id="rId4" Type="http://schemas.openxmlformats.org/officeDocument/2006/relationships/hyperlink" Target="https://www.youtube.com/watch?v=DQTz7yVmz_g&amp;t=103s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asses.html#module-sklearn.cluster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F9755-800C-BAA7-9886-5018A613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FFC07-3828-6FDB-8B93-EA871DD2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01609"/>
            <a:ext cx="11582400" cy="836754"/>
          </a:xfrm>
        </p:spPr>
        <p:txBody>
          <a:bodyPr/>
          <a:lstStyle/>
          <a:p>
            <a:r>
              <a:rPr lang="en-US" sz="2800" dirty="0"/>
              <a:t>Topic 10  – Similarity, Nearest Neighbors, and Clustering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FC1F6C-CAD7-694A-31BA-0DADD549BA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 Science </a:t>
            </a:r>
            <a:r>
              <a:rPr lang="en-US"/>
              <a:t>and AI for </a:t>
            </a:r>
            <a:r>
              <a:rPr lang="en-US" dirty="0"/>
              <a:t>Business – Fall 2025</a:t>
            </a:r>
          </a:p>
        </p:txBody>
      </p:sp>
      <p:pic>
        <p:nvPicPr>
          <p:cNvPr id="7" name="Picture 2" descr="data science meme">
            <a:extLst>
              <a:ext uri="{FF2B5EF4-FFF2-40B4-BE49-F238E27FC236}">
                <a16:creationId xmlns:a16="http://schemas.microsoft.com/office/drawing/2014/main" id="{86F76981-C303-03F2-DAC4-3A73AE194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851" y="779184"/>
            <a:ext cx="2145713" cy="3738492"/>
          </a:xfrm>
          <a:prstGeom prst="rect">
            <a:avLst/>
          </a:prstGeom>
          <a:noFill/>
          <a:ln w="76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82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5B1822-3781-7251-E607-927D9D543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D05F98-88CA-1889-64CB-12250DF7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79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F8B45-5228-EA99-C91A-C7F96908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437EA-BD34-7206-5BC5-C4FB7EF9E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704" y="865739"/>
            <a:ext cx="11215239" cy="48142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concept of </a:t>
            </a:r>
            <a:r>
              <a:rPr lang="en-US" i="1" dirty="0"/>
              <a:t>similarity</a:t>
            </a:r>
            <a:r>
              <a:rPr lang="en-US" dirty="0"/>
              <a:t> underlies many data science methods and solutions to business problems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Idea: If two things are similar in some ways, they often share other characteristics as well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 about how similarity is used in retail: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5F3E-BA50-FD50-E36A-CF3721DA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064"/>
            <a:ext cx="9810206" cy="610878"/>
          </a:xfrm>
        </p:spPr>
        <p:txBody>
          <a:bodyPr/>
          <a:lstStyle/>
          <a:p>
            <a:r>
              <a:rPr lang="en-US" dirty="0"/>
              <a:t>Similarity</a:t>
            </a:r>
          </a:p>
        </p:txBody>
      </p:sp>
      <p:pic>
        <p:nvPicPr>
          <p:cNvPr id="7" name="Content Placeholder 7" descr="A screenshot of a website&#10;&#10;Description automatically generated">
            <a:extLst>
              <a:ext uri="{FF2B5EF4-FFF2-40B4-BE49-F238E27FC236}">
                <a16:creationId xmlns:a16="http://schemas.microsoft.com/office/drawing/2014/main" id="{896E72FE-31F4-62F4-8819-7C341D599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753100" y="4288255"/>
            <a:ext cx="4648200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6A95445-F9AD-FE53-0235-083B97207D48}"/>
              </a:ext>
            </a:extLst>
          </p:cNvPr>
          <p:cNvGrpSpPr/>
          <p:nvPr/>
        </p:nvGrpSpPr>
        <p:grpSpPr>
          <a:xfrm>
            <a:off x="1583636" y="4319943"/>
            <a:ext cx="3578750" cy="2146673"/>
            <a:chOff x="59636" y="4319942"/>
            <a:chExt cx="3578750" cy="2146673"/>
          </a:xfrm>
        </p:grpSpPr>
        <p:pic>
          <p:nvPicPr>
            <p:cNvPr id="8" name="Picture 7" descr="A screenshot of a website&#10;&#10;Description automatically generated">
              <a:extLst>
                <a:ext uri="{FF2B5EF4-FFF2-40B4-BE49-F238E27FC236}">
                  <a16:creationId xmlns:a16="http://schemas.microsoft.com/office/drawing/2014/main" id="{E8695DAD-B6E3-5F67-1CD5-08ED98298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857" y="4345715"/>
              <a:ext cx="3505529" cy="21209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C3B704-3986-BA3D-4E46-95DBBF8ED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36" y="4319942"/>
              <a:ext cx="2019300" cy="203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833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4F183-248E-52A4-5EB6-F4054F83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351A7-A296-0091-19A7-E3BDC11C9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9234" y="1786351"/>
            <a:ext cx="7777725" cy="9771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need a metric to define how similar any two customers are: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115A8-DDAD-8C2D-7651-AC873A53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307"/>
            <a:ext cx="10515600" cy="823571"/>
          </a:xfrm>
        </p:spPr>
        <p:txBody>
          <a:bodyPr/>
          <a:lstStyle/>
          <a:p>
            <a:r>
              <a:rPr lang="en-US" dirty="0"/>
              <a:t>Similarity (and distance…)</a:t>
            </a:r>
          </a:p>
        </p:txBody>
      </p:sp>
      <p:graphicFrame>
        <p:nvGraphicFramePr>
          <p:cNvPr id="5" name="Group 10">
            <a:extLst>
              <a:ext uri="{FF2B5EF4-FFF2-40B4-BE49-F238E27FC236}">
                <a16:creationId xmlns:a16="http://schemas.microsoft.com/office/drawing/2014/main" id="{49DF2DD9-9F39-40C3-F17C-363FD52E4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051674"/>
              </p:ext>
            </p:extLst>
          </p:nvPr>
        </p:nvGraphicFramePr>
        <p:xfrm>
          <a:off x="3318934" y="2886891"/>
          <a:ext cx="6243076" cy="2921244"/>
        </p:xfrm>
        <a:graphic>
          <a:graphicData uri="http://schemas.openxmlformats.org/drawingml/2006/table">
            <a:tbl>
              <a:tblPr/>
              <a:tblGrid>
                <a:gridCol w="165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9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0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No. credit cards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Charlene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Rayshawn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Nellie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6" name="Picture 15" descr="A cartoon of a person smiling&#10;&#10;Description automatically generated">
            <a:extLst>
              <a:ext uri="{FF2B5EF4-FFF2-40B4-BE49-F238E27FC236}">
                <a16:creationId xmlns:a16="http://schemas.microsoft.com/office/drawing/2014/main" id="{88FAB07D-BBD6-7BE5-6810-A70A5FDC5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990" y="4112864"/>
            <a:ext cx="296523" cy="358987"/>
          </a:xfrm>
          <a:prstGeom prst="rect">
            <a:avLst/>
          </a:prstGeom>
        </p:spPr>
      </p:pic>
      <p:pic>
        <p:nvPicPr>
          <p:cNvPr id="17" name="Picture 16" descr="A cartoon of a person with a beard&#10;&#10;Description automatically generated">
            <a:extLst>
              <a:ext uri="{FF2B5EF4-FFF2-40B4-BE49-F238E27FC236}">
                <a16:creationId xmlns:a16="http://schemas.microsoft.com/office/drawing/2014/main" id="{12D4ADFB-1148-D3C5-A4BA-BDAB02A70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100" y="3674073"/>
            <a:ext cx="364913" cy="420407"/>
          </a:xfrm>
          <a:prstGeom prst="rect">
            <a:avLst/>
          </a:prstGeom>
        </p:spPr>
      </p:pic>
      <p:pic>
        <p:nvPicPr>
          <p:cNvPr id="19" name="Picture 18" descr="A cartoon of a child&#10;&#10;Description automatically generated">
            <a:extLst>
              <a:ext uri="{FF2B5EF4-FFF2-40B4-BE49-F238E27FC236}">
                <a16:creationId xmlns:a16="http://schemas.microsoft.com/office/drawing/2014/main" id="{715AEEB7-2B29-32F4-A736-BA916B23D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016" y="4561015"/>
            <a:ext cx="281997" cy="358775"/>
          </a:xfrm>
          <a:prstGeom prst="rect">
            <a:avLst/>
          </a:prstGeom>
        </p:spPr>
      </p:pic>
      <p:pic>
        <p:nvPicPr>
          <p:cNvPr id="21" name="Picture 20" descr="A cartoon of a person&#10;&#10;Description automatically generated">
            <a:extLst>
              <a:ext uri="{FF2B5EF4-FFF2-40B4-BE49-F238E27FC236}">
                <a16:creationId xmlns:a16="http://schemas.microsoft.com/office/drawing/2014/main" id="{1B1748CC-B6A8-DF19-64ED-9FD3AC911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591566" y="4967090"/>
            <a:ext cx="291534" cy="326101"/>
          </a:xfrm>
          <a:prstGeom prst="rect">
            <a:avLst/>
          </a:prstGeom>
        </p:spPr>
      </p:pic>
      <p:pic>
        <p:nvPicPr>
          <p:cNvPr id="23" name="Picture 22" descr="A cartoon of a person with long hair and earrings&#10;&#10;Description automatically generated">
            <a:extLst>
              <a:ext uri="{FF2B5EF4-FFF2-40B4-BE49-F238E27FC236}">
                <a16:creationId xmlns:a16="http://schemas.microsoft.com/office/drawing/2014/main" id="{9D4DB0E5-4BB7-4324-1F38-4EA8B7FA0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513" y="5386325"/>
            <a:ext cx="303524" cy="35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3"/>
          <p:cNvSpPr>
            <a:spLocks noChangeArrowheads="1"/>
          </p:cNvSpPr>
          <p:nvPr/>
        </p:nvSpPr>
        <p:spPr bwMode="auto">
          <a:xfrm>
            <a:off x="1908315" y="2712094"/>
            <a:ext cx="9229380" cy="1291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1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“Closeness” is defined in terms of the distance between two data items.</a:t>
            </a:r>
          </a:p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most common numeric difference is Euclidean distance: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5016"/>
            <a:ext cx="7968425" cy="675927"/>
          </a:xfrm>
        </p:spPr>
        <p:txBody>
          <a:bodyPr>
            <a:normAutofit/>
          </a:bodyPr>
          <a:lstStyle/>
          <a:p>
            <a:r>
              <a:rPr lang="en-US" dirty="0"/>
              <a:t>Similarity/distance</a:t>
            </a:r>
          </a:p>
        </p:txBody>
      </p:sp>
      <p:graphicFrame>
        <p:nvGraphicFramePr>
          <p:cNvPr id="1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333136"/>
              </p:ext>
            </p:extLst>
          </p:nvPr>
        </p:nvGraphicFramePr>
        <p:xfrm>
          <a:off x="2971801" y="1099688"/>
          <a:ext cx="6741663" cy="1509400"/>
        </p:xfrm>
        <a:graphic>
          <a:graphicData uri="http://schemas.openxmlformats.org/drawingml/2006/table">
            <a:tbl>
              <a:tblPr/>
              <a:tblGrid>
                <a:gridCol w="1313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2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(X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Income (X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No. credit cards (X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Response (Y)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Rayshawn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5" name="Picture 24" descr="A cartoon of a person with a beard&#10;&#10;Description automatically generated">
            <a:extLst>
              <a:ext uri="{FF2B5EF4-FFF2-40B4-BE49-F238E27FC236}">
                <a16:creationId xmlns:a16="http://schemas.microsoft.com/office/drawing/2014/main" id="{B9185B7C-FC84-6177-0DBB-100E7EA43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063" y="1843091"/>
            <a:ext cx="364913" cy="4204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3">
                <a:extLst>
                  <a:ext uri="{FF2B5EF4-FFF2-40B4-BE49-F238E27FC236}">
                    <a16:creationId xmlns:a16="http://schemas.microsoft.com/office/drawing/2014/main" id="{86372CE8-FA8B-E0BC-3877-EFB7BBE52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7063" y="4720866"/>
                <a:ext cx="7338164" cy="1291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557213" lvl="1" indent="-214313">
                  <a:buChar char="–"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557213" lvl="1" indent="-214313">
                  <a:buChar char="–"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Distance (John, Charlene)=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latin typeface="Tahoma" panose="020B0604030504040204" pitchFamily="34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(35−63)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Tahoma" panose="020B0604030504040204" pitchFamily="34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(35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Tahoma" panose="020B0604030504040204" pitchFamily="34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Tahoma" panose="020B0604030504040204" pitchFamily="34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−200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Tahoma" panose="020B0604030504040204" pitchFamily="34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Tahoma" panose="020B0604030504040204" pitchFamily="34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latin typeface="Tahoma" panose="020B0604030504040204" pitchFamily="34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(3−2)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</m:t>
                        </m:r>
                      </m:e>
                    </m:rad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Rectangle 3">
                <a:extLst>
                  <a:ext uri="{FF2B5EF4-FFF2-40B4-BE49-F238E27FC236}">
                    <a16:creationId xmlns:a16="http://schemas.microsoft.com/office/drawing/2014/main" id="{86372CE8-FA8B-E0BC-3877-EFB7BBE52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7063" y="4720866"/>
                <a:ext cx="7338164" cy="12910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50328535-3DE2-CF84-AC73-129B61285B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55" y="3828425"/>
            <a:ext cx="2634828" cy="892441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36DA4E-D2AC-2028-6DDA-D3B4B503C069}"/>
              </a:ext>
            </a:extLst>
          </p:cNvPr>
          <p:cNvSpPr txBox="1"/>
          <p:nvPr/>
        </p:nvSpPr>
        <p:spPr>
          <a:xfrm>
            <a:off x="3677559" y="5994317"/>
            <a:ext cx="5275996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you see any issue with calculating distance this way?</a:t>
            </a:r>
          </a:p>
        </p:txBody>
      </p:sp>
      <p:pic>
        <p:nvPicPr>
          <p:cNvPr id="3" name="Picture 2" descr="A cartoon of a child&#10;&#10;Description automatically generated">
            <a:extLst>
              <a:ext uri="{FF2B5EF4-FFF2-40B4-BE49-F238E27FC236}">
                <a16:creationId xmlns:a16="http://schemas.microsoft.com/office/drawing/2014/main" id="{7F1DD81C-169E-4FD3-1B50-5DABD4156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238" y="2316323"/>
            <a:ext cx="281997" cy="35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5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/>
      <p:bldP spid="26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idx="1"/>
          </p:nvPr>
        </p:nvSpPr>
        <p:spPr>
          <a:xfrm>
            <a:off x="365760" y="2577457"/>
            <a:ext cx="11064240" cy="378442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1" indent="0">
              <a:buNone/>
            </a:pPr>
            <a:endParaRPr lang="en-US" sz="2000" dirty="0"/>
          </a:p>
          <a:p>
            <a:r>
              <a:rPr lang="en-US" sz="2000" dirty="0"/>
              <a:t>Distance (John, Rayshawn)=sqrt [(35-63)</a:t>
            </a:r>
            <a:r>
              <a:rPr lang="en-US" sz="2000" baseline="30000" dirty="0"/>
              <a:t>2 </a:t>
            </a:r>
            <a:r>
              <a:rPr lang="en-US" sz="2000" b="1" dirty="0"/>
              <a:t>+ (35,000-200,000)</a:t>
            </a:r>
            <a:r>
              <a:rPr lang="en-US" sz="2000" b="1" baseline="30000" dirty="0"/>
              <a:t>2</a:t>
            </a:r>
            <a:r>
              <a:rPr lang="en-US" sz="2000" b="1" dirty="0"/>
              <a:t> </a:t>
            </a:r>
            <a:r>
              <a:rPr lang="en-US" sz="2000" dirty="0"/>
              <a:t>+ (3-1)</a:t>
            </a:r>
            <a:r>
              <a:rPr lang="en-US" sz="2000" baseline="30000" dirty="0"/>
              <a:t>2</a:t>
            </a:r>
            <a:r>
              <a:rPr lang="en-US" sz="2000" dirty="0"/>
              <a:t>] </a:t>
            </a:r>
          </a:p>
          <a:p>
            <a:endParaRPr lang="en-US" sz="2000" dirty="0"/>
          </a:p>
          <a:p>
            <a:r>
              <a:rPr lang="en-US" sz="2000" dirty="0"/>
              <a:t>Distance between neighbors will be dominated by attributes with relatively large values</a:t>
            </a:r>
          </a:p>
          <a:p>
            <a:pPr lvl="1"/>
            <a:r>
              <a:rPr lang="en-US" sz="1600" dirty="0"/>
              <a:t>Goal: Each attribute should have the same “weight”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Solution:   Normalize numeric variables – standard way to do this</a:t>
            </a:r>
          </a:p>
          <a:p>
            <a:pPr lvl="1"/>
            <a:r>
              <a:rPr lang="en-US" sz="2000" dirty="0"/>
              <a:t>Create z-scores by subtracting mean and dividing by standard dev</a:t>
            </a:r>
          </a:p>
          <a:p>
            <a:pPr lvl="2"/>
            <a:r>
              <a:rPr lang="en-US" sz="2000" dirty="0"/>
              <a:t>New feature will have mean = 0 and </a:t>
            </a:r>
            <a:r>
              <a:rPr lang="en-US" sz="2000" dirty="0" err="1"/>
              <a:t>sd</a:t>
            </a:r>
            <a:r>
              <a:rPr lang="en-US" sz="2000" dirty="0"/>
              <a:t> =1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685482"/>
          </a:xfrm>
        </p:spPr>
        <p:txBody>
          <a:bodyPr/>
          <a:lstStyle/>
          <a:p>
            <a:r>
              <a:rPr lang="en-US" dirty="0"/>
              <a:t>Euclidean Distance</a:t>
            </a:r>
          </a:p>
        </p:txBody>
      </p:sp>
      <p:graphicFrame>
        <p:nvGraphicFramePr>
          <p:cNvPr id="10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672916"/>
              </p:ext>
            </p:extLst>
          </p:nvPr>
        </p:nvGraphicFramePr>
        <p:xfrm>
          <a:off x="2971801" y="975863"/>
          <a:ext cx="7391401" cy="1521592"/>
        </p:xfrm>
        <a:graphic>
          <a:graphicData uri="http://schemas.openxmlformats.org/drawingml/2006/table">
            <a:tbl>
              <a:tblPr/>
              <a:tblGrid>
                <a:gridCol w="196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2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No. credit cards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Rayshawn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 descr="A cartoon of a person with a beard&#10;&#10;Description automatically generated">
            <a:extLst>
              <a:ext uri="{FF2B5EF4-FFF2-40B4-BE49-F238E27FC236}">
                <a16:creationId xmlns:a16="http://schemas.microsoft.com/office/drawing/2014/main" id="{D659D5B9-A693-0D10-7181-01DEC794B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742" y="1613042"/>
            <a:ext cx="364913" cy="4204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E75C34-4060-3A75-6D7C-C517A1C9EBAB}"/>
              </a:ext>
            </a:extLst>
          </p:cNvPr>
          <p:cNvSpPr txBox="1"/>
          <p:nvPr/>
        </p:nvSpPr>
        <p:spPr>
          <a:xfrm>
            <a:off x="8256032" y="5882137"/>
            <a:ext cx="3570208" cy="24622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1000" dirty="0">
                <a:solidFill>
                  <a:srgbClr val="0A0C1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sklearn.preprocessing</a:t>
            </a: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 import</a:t>
            </a:r>
            <a:r>
              <a:rPr lang="en-US" sz="1000" dirty="0">
                <a:solidFill>
                  <a:srgbClr val="0A0C1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StandardScaler</a:t>
            </a:r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Picture 3" descr="A cartoon of a child&#10;&#10;Description automatically generated">
            <a:extLst>
              <a:ext uri="{FF2B5EF4-FFF2-40B4-BE49-F238E27FC236}">
                <a16:creationId xmlns:a16="http://schemas.microsoft.com/office/drawing/2014/main" id="{AF7E2DEB-7416-A369-D84F-84C2D4818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199" y="2138681"/>
            <a:ext cx="281997" cy="35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263A-10E5-202A-C5EA-F949D357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39032-836B-545D-9893-2A75522AF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960939"/>
            <a:ext cx="5100924" cy="5439861"/>
          </a:xfrm>
        </p:spPr>
        <p:txBody>
          <a:bodyPr/>
          <a:lstStyle/>
          <a:p>
            <a:r>
              <a:rPr lang="en-US" dirty="0"/>
              <a:t>Euclidean</a:t>
            </a:r>
          </a:p>
          <a:p>
            <a:pPr lvl="1"/>
            <a:r>
              <a:rPr lang="en-US" dirty="0"/>
              <a:t>Squared differences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Manhattan</a:t>
            </a:r>
          </a:p>
          <a:p>
            <a:pPr lvl="1"/>
            <a:r>
              <a:rPr lang="en-US" dirty="0"/>
              <a:t>Absolute differences</a:t>
            </a:r>
          </a:p>
          <a:p>
            <a:pPr lvl="2"/>
            <a:r>
              <a:rPr lang="en-US" dirty="0"/>
              <a:t>Less sensitive to outliers</a:t>
            </a:r>
          </a:p>
          <a:p>
            <a:pPr lvl="2"/>
            <a:r>
              <a:rPr lang="en-US" dirty="0"/>
              <a:t>Often used with many dimensions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Cosine</a:t>
            </a:r>
          </a:p>
          <a:p>
            <a:pPr lvl="1"/>
            <a:r>
              <a:rPr lang="en-US" dirty="0"/>
              <a:t>Often used in text analysis, sparse data</a:t>
            </a:r>
          </a:p>
          <a:p>
            <a:pPr lvl="1"/>
            <a:r>
              <a:rPr lang="en-US" dirty="0"/>
              <a:t>Direction more important than magnitude</a:t>
            </a:r>
          </a:p>
          <a:p>
            <a:pPr marL="0" indent="0">
              <a:buNone/>
            </a:pPr>
            <a:endParaRPr lang="en-US" dirty="0"/>
          </a:p>
          <a:p>
            <a:pPr marL="685800" lvl="2" indent="0">
              <a:buNone/>
            </a:pPr>
            <a:endParaRPr lang="en-US" dirty="0"/>
          </a:p>
          <a:p>
            <a:pPr marL="6858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lvl="1" indent="0">
              <a:buNone/>
            </a:pPr>
            <a:endParaRPr lang="en-US" dirty="0"/>
          </a:p>
          <a:p>
            <a:pPr marL="342900" lvl="1" indent="0">
              <a:buNone/>
            </a:pPr>
            <a:endParaRPr lang="en-US" dirty="0"/>
          </a:p>
          <a:p>
            <a:pPr marL="342900" lvl="1" indent="0">
              <a:buNone/>
            </a:pPr>
            <a:endParaRPr lang="en-US" dirty="0"/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2DECD-7565-F58B-9CA4-017C18D74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27326" cy="623265"/>
          </a:xfrm>
        </p:spPr>
        <p:txBody>
          <a:bodyPr/>
          <a:lstStyle/>
          <a:p>
            <a:r>
              <a:rPr lang="en-US" dirty="0"/>
              <a:t>Different types of similarity/distances</a:t>
            </a:r>
          </a:p>
        </p:txBody>
      </p:sp>
      <p:pic>
        <p:nvPicPr>
          <p:cNvPr id="8" name="Picture 7" descr="A graph of cosine disorder&#10;&#10;Description automatically generated">
            <a:extLst>
              <a:ext uri="{FF2B5EF4-FFF2-40B4-BE49-F238E27FC236}">
                <a16:creationId xmlns:a16="http://schemas.microsoft.com/office/drawing/2014/main" id="{ADE5F150-992C-539E-32AA-EE774836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063" y="4728387"/>
            <a:ext cx="2950758" cy="1352998"/>
          </a:xfrm>
          <a:prstGeom prst="rect">
            <a:avLst/>
          </a:prstGeom>
        </p:spPr>
      </p:pic>
      <p:pic>
        <p:nvPicPr>
          <p:cNvPr id="11" name="Picture 10" descr="A graph with a green line and a green arrow&#10;&#10;Description automatically generated">
            <a:extLst>
              <a:ext uri="{FF2B5EF4-FFF2-40B4-BE49-F238E27FC236}">
                <a16:creationId xmlns:a16="http://schemas.microsoft.com/office/drawing/2014/main" id="{EDCD27CC-6CB7-43AB-F97A-62BA0392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124" y="2663442"/>
            <a:ext cx="3045364" cy="1487453"/>
          </a:xfrm>
          <a:prstGeom prst="rect">
            <a:avLst/>
          </a:prstGeom>
        </p:spPr>
      </p:pic>
      <p:pic>
        <p:nvPicPr>
          <p:cNvPr id="13" name="Picture 12" descr="A graph with a green arrow and a point&#10;&#10;Description automatically generated with medium confidence">
            <a:extLst>
              <a:ext uri="{FF2B5EF4-FFF2-40B4-BE49-F238E27FC236}">
                <a16:creationId xmlns:a16="http://schemas.microsoft.com/office/drawing/2014/main" id="{285769A8-B083-A797-2D7D-45B1B4754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124" y="714235"/>
            <a:ext cx="3064220" cy="1415379"/>
          </a:xfrm>
          <a:prstGeom prst="rect">
            <a:avLst/>
          </a:prstGeom>
        </p:spPr>
      </p:pic>
      <p:pic>
        <p:nvPicPr>
          <p:cNvPr id="19" name="Picture 18" descr="A black square with a square and a square with a square and a square with a square and a square with a square and a square with a square and a square with a square and a square&#10;&#10;Description automatically generated">
            <a:extLst>
              <a:ext uri="{FF2B5EF4-FFF2-40B4-BE49-F238E27FC236}">
                <a16:creationId xmlns:a16="http://schemas.microsoft.com/office/drawing/2014/main" id="{6F9670AE-0AB0-1BBD-FCBF-79FE9118F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5749" y="1265878"/>
            <a:ext cx="1488482" cy="77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08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DDBC-8EA5-4C8E-E174-046F32F7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35B76C-1B9C-270A-56D9-5742EAAB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Supervised:   K-Nearest Neighbors (</a:t>
            </a:r>
            <a:r>
              <a:rPr lang="en-US" dirty="0" err="1"/>
              <a:t>kNN</a:t>
            </a:r>
            <a:r>
              <a:rPr lang="en-US" dirty="0"/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5EA374-17E7-D533-12F9-C04FD391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34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knn_ex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502" y="1525459"/>
            <a:ext cx="7918074" cy="51939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" y="46404"/>
            <a:ext cx="8009466" cy="646331"/>
          </a:xfrm>
        </p:spPr>
        <p:txBody>
          <a:bodyPr>
            <a:normAutofit/>
          </a:bodyPr>
          <a:lstStyle/>
          <a:p>
            <a:r>
              <a:rPr lang="en-US" dirty="0"/>
              <a:t>Nearest Neighbors: 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2286" y="490031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02109" y="879128"/>
            <a:ext cx="8496389" cy="829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r>
              <a:rPr lang="en-US" dirty="0"/>
              <a:t>K-Nearest Neighbors (</a:t>
            </a:r>
            <a:r>
              <a:rPr lang="en-US" dirty="0" err="1"/>
              <a:t>kNN</a:t>
            </a:r>
            <a:r>
              <a:rPr lang="en-US" dirty="0"/>
              <a:t>) is a classification algorithm that ignores global structure and simply looks at similarities</a:t>
            </a:r>
          </a:p>
        </p:txBody>
      </p:sp>
      <p:sp>
        <p:nvSpPr>
          <p:cNvPr id="3" name="Oval 2"/>
          <p:cNvSpPr/>
          <p:nvPr/>
        </p:nvSpPr>
        <p:spPr>
          <a:xfrm>
            <a:off x="4622801" y="2861733"/>
            <a:ext cx="524933" cy="321734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909733" y="2353735"/>
            <a:ext cx="2685627" cy="829733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/>
            <a:r>
              <a:rPr lang="en-US" sz="1200" dirty="0"/>
              <a:t>I don’t know anything about this new customer…but if I can find their “neighbors” I might be able to infer something…</a:t>
            </a:r>
          </a:p>
        </p:txBody>
      </p:sp>
      <p:cxnSp>
        <p:nvCxnSpPr>
          <p:cNvPr id="8" name="Straight Arrow Connector 7"/>
          <p:cNvCxnSpPr>
            <a:endCxn id="3" idx="6"/>
          </p:cNvCxnSpPr>
          <p:nvPr/>
        </p:nvCxnSpPr>
        <p:spPr>
          <a:xfrm flipH="1">
            <a:off x="5147733" y="2675468"/>
            <a:ext cx="762000" cy="3471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882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46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64827"/>
              </p:ext>
            </p:extLst>
          </p:nvPr>
        </p:nvGraphicFramePr>
        <p:xfrm>
          <a:off x="2323496" y="1077592"/>
          <a:ext cx="6507480" cy="3078480"/>
        </p:xfrm>
        <a:graphic>
          <a:graphicData uri="http://schemas.openxmlformats.org/drawingml/2006/table">
            <a:tbl>
              <a:tblPr/>
              <a:tblGrid>
                <a:gridCol w="1728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1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No. credit cards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0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Charlene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Rayshawn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0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Nellie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Jalen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50K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233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0" y="0"/>
            <a:ext cx="8229600" cy="79078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/>
              <a:t>Using similarity for classification</a:t>
            </a:r>
          </a:p>
        </p:txBody>
      </p:sp>
      <p:pic>
        <p:nvPicPr>
          <p:cNvPr id="3" name="Picture 2" descr="A person with a beard&#10;&#10;Description automatically generated">
            <a:extLst>
              <a:ext uri="{FF2B5EF4-FFF2-40B4-BE49-F238E27FC236}">
                <a16:creationId xmlns:a16="http://schemas.microsoft.com/office/drawing/2014/main" id="{87BC6B9B-F789-D20A-559B-0C0048837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240" y="4377501"/>
            <a:ext cx="1447800" cy="140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7071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Oval 2"/>
          <p:cNvSpPr>
            <a:spLocks noChangeArrowheads="1"/>
          </p:cNvSpPr>
          <p:nvPr/>
        </p:nvSpPr>
        <p:spPr bwMode="auto">
          <a:xfrm>
            <a:off x="1524000" y="2895600"/>
            <a:ext cx="5715000" cy="3962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9268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925513"/>
            <a:ext cx="8686800" cy="2286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To determine the class of a new example (Jalen):</a:t>
            </a:r>
          </a:p>
          <a:p>
            <a:pPr lvl="1"/>
            <a:r>
              <a:rPr lang="en-US" dirty="0"/>
              <a:t>Calculate the distance between Jalen and all examples in the training set</a:t>
            </a:r>
          </a:p>
          <a:p>
            <a:pPr lvl="1"/>
            <a:r>
              <a:rPr lang="en-US" dirty="0"/>
              <a:t>Select k examples closest to Jalen in the training set</a:t>
            </a:r>
          </a:p>
          <a:p>
            <a:pPr lvl="1"/>
            <a:r>
              <a:rPr lang="en-US" dirty="0"/>
              <a:t>Assign Jalen to the most common class* among its k nearest neighbors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title"/>
          </p:nvPr>
        </p:nvSpPr>
        <p:spPr>
          <a:xfrm>
            <a:off x="1922462" y="162030"/>
            <a:ext cx="8229600" cy="5715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600" dirty="0"/>
              <a:t>Nearest Neighbors for Classification</a:t>
            </a:r>
          </a:p>
        </p:txBody>
      </p:sp>
      <p:sp>
        <p:nvSpPr>
          <p:cNvPr id="139275" name="Line 11"/>
          <p:cNvSpPr>
            <a:spLocks noChangeShapeType="1"/>
          </p:cNvSpPr>
          <p:nvPr/>
        </p:nvSpPr>
        <p:spPr bwMode="auto">
          <a:xfrm flipH="1">
            <a:off x="5257800" y="4524866"/>
            <a:ext cx="3068481" cy="347172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9284" name="Line 20"/>
          <p:cNvSpPr>
            <a:spLocks noChangeShapeType="1"/>
          </p:cNvSpPr>
          <p:nvPr/>
        </p:nvSpPr>
        <p:spPr bwMode="auto">
          <a:xfrm flipH="1">
            <a:off x="5143097" y="4524866"/>
            <a:ext cx="3168227" cy="1052798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9285" name="Line 21"/>
          <p:cNvSpPr>
            <a:spLocks noChangeShapeType="1"/>
          </p:cNvSpPr>
          <p:nvPr/>
        </p:nvSpPr>
        <p:spPr bwMode="auto">
          <a:xfrm flipH="1" flipV="1">
            <a:off x="5669635" y="3790174"/>
            <a:ext cx="2771881" cy="734693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 descr="A person with a beard&#10;&#10;Description automatically generated">
            <a:extLst>
              <a:ext uri="{FF2B5EF4-FFF2-40B4-BE49-F238E27FC236}">
                <a16:creationId xmlns:a16="http://schemas.microsoft.com/office/drawing/2014/main" id="{AB90DBCA-1D6A-68F3-170E-04DC15E9C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323" y="3953731"/>
            <a:ext cx="1447800" cy="1402907"/>
          </a:xfrm>
          <a:prstGeom prst="rect">
            <a:avLst/>
          </a:prstGeom>
        </p:spPr>
      </p:pic>
      <p:pic>
        <p:nvPicPr>
          <p:cNvPr id="4" name="Picture 3" descr="A cartoon of a person smiling&#10;&#10;Description automatically generated">
            <a:extLst>
              <a:ext uri="{FF2B5EF4-FFF2-40B4-BE49-F238E27FC236}">
                <a16:creationId xmlns:a16="http://schemas.microsoft.com/office/drawing/2014/main" id="{17C0DB5F-6158-B38A-33D0-76395F424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430" y="4370165"/>
            <a:ext cx="651500" cy="788742"/>
          </a:xfrm>
          <a:prstGeom prst="rect">
            <a:avLst/>
          </a:prstGeom>
        </p:spPr>
      </p:pic>
      <p:pic>
        <p:nvPicPr>
          <p:cNvPr id="5" name="Picture 4" descr="A cartoon of a person with a beard&#10;&#10;Description automatically generated">
            <a:extLst>
              <a:ext uri="{FF2B5EF4-FFF2-40B4-BE49-F238E27FC236}">
                <a16:creationId xmlns:a16="http://schemas.microsoft.com/office/drawing/2014/main" id="{89CC8F9C-9C4D-DADC-D706-9D4E89726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076" y="3357050"/>
            <a:ext cx="609600" cy="702305"/>
          </a:xfrm>
          <a:prstGeom prst="rect">
            <a:avLst/>
          </a:prstGeom>
        </p:spPr>
      </p:pic>
      <p:pic>
        <p:nvPicPr>
          <p:cNvPr id="6" name="Picture 5" descr="A cartoon of a child&#10;&#10;Description automatically generated">
            <a:extLst>
              <a:ext uri="{FF2B5EF4-FFF2-40B4-BE49-F238E27FC236}">
                <a16:creationId xmlns:a16="http://schemas.microsoft.com/office/drawing/2014/main" id="{527AE9FB-136A-B327-1D68-4069457FB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7855" y="3647350"/>
            <a:ext cx="619951" cy="788742"/>
          </a:xfrm>
          <a:prstGeom prst="rect">
            <a:avLst/>
          </a:prstGeom>
        </p:spPr>
      </p:pic>
      <p:pic>
        <p:nvPicPr>
          <p:cNvPr id="7" name="Picture 6" descr="A cartoon of a person&#10;&#10;Description automatically generated">
            <a:extLst>
              <a:ext uri="{FF2B5EF4-FFF2-40B4-BE49-F238E27FC236}">
                <a16:creationId xmlns:a16="http://schemas.microsoft.com/office/drawing/2014/main" id="{7EE08819-F7EB-ADBE-AB06-175BB039FF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2989235" y="5095820"/>
            <a:ext cx="651500" cy="728748"/>
          </a:xfrm>
          <a:prstGeom prst="rect">
            <a:avLst/>
          </a:prstGeom>
        </p:spPr>
      </p:pic>
      <p:pic>
        <p:nvPicPr>
          <p:cNvPr id="8" name="Picture 7" descr="A cartoon of a person with long hair and earrings&#10;&#10;Description automatically generated">
            <a:extLst>
              <a:ext uri="{FF2B5EF4-FFF2-40B4-BE49-F238E27FC236}">
                <a16:creationId xmlns:a16="http://schemas.microsoft.com/office/drawing/2014/main" id="{2B71C539-A311-7C6C-B692-A411E307A1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4537" y="5479786"/>
            <a:ext cx="685799" cy="810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B48998-DBF3-1C44-0740-053A178FFEC4}"/>
              </a:ext>
            </a:extLst>
          </p:cNvPr>
          <p:cNvSpPr txBox="1"/>
          <p:nvPr/>
        </p:nvSpPr>
        <p:spPr>
          <a:xfrm>
            <a:off x="4851182" y="4073516"/>
            <a:ext cx="997389" cy="21544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Similarity rank =2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B8EDF-B292-AE7E-1388-E75CA0F4658E}"/>
              </a:ext>
            </a:extLst>
          </p:cNvPr>
          <p:cNvSpPr txBox="1"/>
          <p:nvPr/>
        </p:nvSpPr>
        <p:spPr>
          <a:xfrm>
            <a:off x="4470185" y="5206766"/>
            <a:ext cx="997389" cy="21544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Similarity rank =1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12E7B9-8FE1-9962-EA49-A8C0F43F8798}"/>
              </a:ext>
            </a:extLst>
          </p:cNvPr>
          <p:cNvSpPr txBox="1"/>
          <p:nvPr/>
        </p:nvSpPr>
        <p:spPr>
          <a:xfrm>
            <a:off x="2774531" y="5862225"/>
            <a:ext cx="997389" cy="21544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Similarity rank =5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4E2C1-07C5-583C-7126-2347D8DEECD4}"/>
              </a:ext>
            </a:extLst>
          </p:cNvPr>
          <p:cNvSpPr txBox="1"/>
          <p:nvPr/>
        </p:nvSpPr>
        <p:spPr>
          <a:xfrm>
            <a:off x="2632405" y="4483008"/>
            <a:ext cx="997389" cy="21544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Similarity rank =4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26686-1D42-57B0-BA60-4104F71C27EA}"/>
              </a:ext>
            </a:extLst>
          </p:cNvPr>
          <p:cNvSpPr txBox="1"/>
          <p:nvPr/>
        </p:nvSpPr>
        <p:spPr>
          <a:xfrm>
            <a:off x="4828041" y="6214455"/>
            <a:ext cx="997389" cy="21544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Similarity rank =3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819A49-AE10-355B-E6C4-6CBE9085A17E}"/>
              </a:ext>
            </a:extLst>
          </p:cNvPr>
          <p:cNvSpPr txBox="1"/>
          <p:nvPr/>
        </p:nvSpPr>
        <p:spPr>
          <a:xfrm>
            <a:off x="5562400" y="3346717"/>
            <a:ext cx="336952" cy="21544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FEC3C-03C6-0D98-F272-F512DF68B13C}"/>
              </a:ext>
            </a:extLst>
          </p:cNvPr>
          <p:cNvSpPr txBox="1"/>
          <p:nvPr/>
        </p:nvSpPr>
        <p:spPr>
          <a:xfrm>
            <a:off x="5618912" y="5556561"/>
            <a:ext cx="336952" cy="21544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624AFD-1F36-2544-E794-2AF7D64F6C02}"/>
              </a:ext>
            </a:extLst>
          </p:cNvPr>
          <p:cNvSpPr txBox="1"/>
          <p:nvPr/>
        </p:nvSpPr>
        <p:spPr>
          <a:xfrm>
            <a:off x="5181399" y="4429147"/>
            <a:ext cx="298480" cy="21544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DAB641-6D37-BA74-7392-B92F8D795C64}"/>
              </a:ext>
            </a:extLst>
          </p:cNvPr>
          <p:cNvSpPr txBox="1"/>
          <p:nvPr/>
        </p:nvSpPr>
        <p:spPr>
          <a:xfrm>
            <a:off x="7499867" y="5484994"/>
            <a:ext cx="3070712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 for Jalen = yes</a:t>
            </a:r>
          </a:p>
        </p:txBody>
      </p:sp>
    </p:spTree>
    <p:extLst>
      <p:ext uri="{BB962C8B-B14F-4D97-AF65-F5344CB8AC3E}">
        <p14:creationId xmlns:p14="http://schemas.microsoft.com/office/powerpoint/2010/main" val="267281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5" grpId="0" animBg="1"/>
      <p:bldP spid="139284" grpId="0" animBg="1"/>
      <p:bldP spid="13928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D60AE-46E0-934B-89EB-92B4C359B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9"/>
            <a:ext cx="3533884" cy="50260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is called “k-nearest-neighbors” or </a:t>
            </a:r>
            <a:r>
              <a:rPr lang="en-US" dirty="0" err="1"/>
              <a:t>kNN</a:t>
            </a:r>
            <a:r>
              <a:rPr lang="en-US" dirty="0"/>
              <a:t> classification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42E56-0DD1-AC45-B5E2-11A601CC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368F3-A82F-494B-97EE-24466B32B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213" y="1366684"/>
            <a:ext cx="6757458" cy="50260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D64EB7-714B-C8A2-6728-5862BDB66299}"/>
              </a:ext>
            </a:extLst>
          </p:cNvPr>
          <p:cNvSpPr txBox="1"/>
          <p:nvPr/>
        </p:nvSpPr>
        <p:spPr>
          <a:xfrm>
            <a:off x="1470107" y="3677332"/>
            <a:ext cx="2094727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your answer will depend on the k that you choose</a:t>
            </a:r>
          </a:p>
        </p:txBody>
      </p:sp>
    </p:spTree>
    <p:extLst>
      <p:ext uri="{BB962C8B-B14F-4D97-AF65-F5344CB8AC3E}">
        <p14:creationId xmlns:p14="http://schemas.microsoft.com/office/powerpoint/2010/main" val="125793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7FFE677B-8EB3-7F7B-F0C1-64424A1C2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275" y="1672390"/>
            <a:ext cx="1236535" cy="541147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233563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662409"/>
              </p:ext>
            </p:extLst>
          </p:nvPr>
        </p:nvGraphicFramePr>
        <p:xfrm>
          <a:off x="1828801" y="1524001"/>
          <a:ext cx="4283075" cy="4718053"/>
        </p:xfrm>
        <a:graphic>
          <a:graphicData uri="http://schemas.openxmlformats.org/drawingml/2006/table">
            <a:tbl>
              <a:tblPr/>
              <a:tblGrid>
                <a:gridCol w="168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Charlene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Rayshawn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Nellie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Jalen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3546" name="Group 7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36839077"/>
              </p:ext>
            </p:extLst>
          </p:nvPr>
        </p:nvGraphicFramePr>
        <p:xfrm>
          <a:off x="7467600" y="1524001"/>
          <a:ext cx="2927350" cy="3973137"/>
        </p:xfrm>
        <a:graphic>
          <a:graphicData uri="http://schemas.openxmlformats.org/drawingml/2006/table">
            <a:tbl>
              <a:tblPr/>
              <a:tblGrid>
                <a:gridCol w="292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48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Distance from Jalen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3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0.78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1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3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1.66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3527" name="Group 5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29164786"/>
              </p:ext>
            </p:extLst>
          </p:nvPr>
        </p:nvGraphicFramePr>
        <p:xfrm>
          <a:off x="6096000" y="1524001"/>
          <a:ext cx="1371600" cy="471805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64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2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64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  ?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/>
              <a:t>Example: K=1</a:t>
            </a:r>
          </a:p>
        </p:txBody>
      </p:sp>
      <p:sp>
        <p:nvSpPr>
          <p:cNvPr id="233545" name="Rectangle 73"/>
          <p:cNvSpPr>
            <a:spLocks noChangeArrowheads="1"/>
          </p:cNvSpPr>
          <p:nvPr/>
        </p:nvSpPr>
        <p:spPr bwMode="auto">
          <a:xfrm>
            <a:off x="6111875" y="5497137"/>
            <a:ext cx="1371600" cy="762000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1" hangingPunct="1">
              <a:buNone/>
            </a:pPr>
            <a:r>
              <a:rPr lang="en-US" sz="2200" b="1" dirty="0">
                <a:latin typeface="Tahoma" pitchFamily="34" charset="0"/>
                <a:cs typeface="Arial" charset="0"/>
              </a:rPr>
              <a:t>NO (1/1)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81A566-5E88-86AD-9966-C0B27E4075EA}"/>
              </a:ext>
            </a:extLst>
          </p:cNvPr>
          <p:cNvSpPr txBox="1"/>
          <p:nvPr/>
        </p:nvSpPr>
        <p:spPr>
          <a:xfrm>
            <a:off x="3870158" y="1121461"/>
            <a:ext cx="1620252" cy="30777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Normalized data…</a:t>
            </a:r>
          </a:p>
        </p:txBody>
      </p:sp>
    </p:spTree>
    <p:extLst>
      <p:ext uri="{BB962C8B-B14F-4D97-AF65-F5344CB8AC3E}">
        <p14:creationId xmlns:p14="http://schemas.microsoft.com/office/powerpoint/2010/main" val="353816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545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AF1C4C1D-F26D-D363-2E84-0D352D881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666" y="1780675"/>
            <a:ext cx="1236535" cy="541147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233563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474701"/>
              </p:ext>
            </p:extLst>
          </p:nvPr>
        </p:nvGraphicFramePr>
        <p:xfrm>
          <a:off x="1828801" y="1524000"/>
          <a:ext cx="4283075" cy="4802190"/>
        </p:xfrm>
        <a:graphic>
          <a:graphicData uri="http://schemas.openxmlformats.org/drawingml/2006/table">
            <a:tbl>
              <a:tblPr/>
              <a:tblGrid>
                <a:gridCol w="168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Charlene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Rayshawn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Nellie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Jalen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3546" name="Group 7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46191551"/>
              </p:ext>
            </p:extLst>
          </p:nvPr>
        </p:nvGraphicFramePr>
        <p:xfrm>
          <a:off x="7496538" y="1531620"/>
          <a:ext cx="2895600" cy="4044951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9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Distance from Jalen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0.78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1.66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3527" name="Group 5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23208673"/>
              </p:ext>
            </p:extLst>
          </p:nvPr>
        </p:nvGraphicFramePr>
        <p:xfrm>
          <a:off x="6096000" y="1524001"/>
          <a:ext cx="1365250" cy="4876803"/>
        </p:xfrm>
        <a:graphic>
          <a:graphicData uri="http://schemas.openxmlformats.org/drawingml/2006/table">
            <a:tbl>
              <a:tblPr/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0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0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  ?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901337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/>
              <a:t>Example: K=3</a:t>
            </a:r>
          </a:p>
        </p:txBody>
      </p:sp>
      <p:sp>
        <p:nvSpPr>
          <p:cNvPr id="233545" name="Rectangle 73"/>
          <p:cNvSpPr>
            <a:spLocks noChangeArrowheads="1"/>
          </p:cNvSpPr>
          <p:nvPr/>
        </p:nvSpPr>
        <p:spPr bwMode="auto">
          <a:xfrm>
            <a:off x="6096000" y="5638800"/>
            <a:ext cx="1371600" cy="762000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eaLnBrk="1" hangingPunct="1">
              <a:buNone/>
            </a:pPr>
            <a:r>
              <a:rPr lang="en-US" b="1" dirty="0">
                <a:latin typeface="Tahoma" pitchFamily="34" charset="0"/>
                <a:cs typeface="Arial" charset="0"/>
              </a:rPr>
              <a:t>Yes (2/3)</a:t>
            </a:r>
          </a:p>
        </p:txBody>
      </p:sp>
    </p:spTree>
    <p:extLst>
      <p:ext uri="{BB962C8B-B14F-4D97-AF65-F5344CB8AC3E}">
        <p14:creationId xmlns:p14="http://schemas.microsoft.com/office/powerpoint/2010/main" val="205096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545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852D8-3B7B-FB5A-2CDA-9A11FCFE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9E75A9-87F6-5CB7-2335-37B8AA12D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0598" y="4512980"/>
            <a:ext cx="3669139" cy="202593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dirty="0"/>
              <a:t>Considerations</a:t>
            </a:r>
          </a:p>
          <a:p>
            <a:r>
              <a:rPr lang="en-US" sz="2400" dirty="0"/>
              <a:t>What k  is optimal?</a:t>
            </a:r>
          </a:p>
          <a:p>
            <a:r>
              <a:rPr lang="en-US" sz="2400" dirty="0"/>
              <a:t>What if k=N?</a:t>
            </a:r>
          </a:p>
          <a:p>
            <a:r>
              <a:rPr lang="en-US" sz="2400" dirty="0"/>
              <a:t>What if k=1?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45B76A-E616-9DE6-CFD1-795952364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64"/>
            <a:ext cx="10450286" cy="712093"/>
          </a:xfrm>
        </p:spPr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5321BAD-D88B-F09E-B80D-0B80BF25F0A6}"/>
              </a:ext>
            </a:extLst>
          </p:cNvPr>
          <p:cNvSpPr txBox="1">
            <a:spLocks/>
          </p:cNvSpPr>
          <p:nvPr/>
        </p:nvSpPr>
        <p:spPr bwMode="auto">
          <a:xfrm>
            <a:off x="838200" y="1403068"/>
            <a:ext cx="4696968" cy="2025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kern="0" dirty="0">
                <a:solidFill>
                  <a:srgbClr val="0070C0"/>
                </a:solidFill>
              </a:rPr>
              <a:t>Strengths</a:t>
            </a:r>
          </a:p>
          <a:p>
            <a:pPr marL="0" indent="0" algn="ctr">
              <a:buNone/>
            </a:pPr>
            <a:endParaRPr lang="en-US" sz="2400" kern="0" dirty="0">
              <a:solidFill>
                <a:srgbClr val="0070C0"/>
              </a:solidFill>
            </a:endParaRPr>
          </a:p>
          <a:p>
            <a:pPr>
              <a:buClrTx/>
            </a:pPr>
            <a:r>
              <a:rPr lang="en-US" sz="2400" kern="0" dirty="0">
                <a:solidFill>
                  <a:srgbClr val="0070C0"/>
                </a:solidFill>
              </a:rPr>
              <a:t>Simple to implement and use</a:t>
            </a:r>
          </a:p>
          <a:p>
            <a:pPr>
              <a:buClrTx/>
            </a:pPr>
            <a:r>
              <a:rPr lang="en-US" sz="2400" kern="0" dirty="0">
                <a:solidFill>
                  <a:srgbClr val="0070C0"/>
                </a:solidFill>
              </a:rPr>
              <a:t>Interpretable – easy to explain</a:t>
            </a:r>
          </a:p>
          <a:p>
            <a:pPr>
              <a:buClrTx/>
            </a:pPr>
            <a:r>
              <a:rPr lang="en-US" sz="2400" kern="0" dirty="0">
                <a:solidFill>
                  <a:srgbClr val="0070C0"/>
                </a:solidFill>
              </a:rPr>
              <a:t>easy to add data</a:t>
            </a:r>
          </a:p>
          <a:p>
            <a:pPr marL="0" indent="0">
              <a:buNone/>
            </a:pPr>
            <a:endParaRPr lang="en-US" sz="2400" kern="0" dirty="0">
              <a:solidFill>
                <a:srgbClr val="0070C0"/>
              </a:solidFill>
            </a:endParaRPr>
          </a:p>
          <a:p>
            <a:pPr>
              <a:buClrTx/>
            </a:pPr>
            <a:endParaRPr lang="en-US" sz="2400" kern="0" dirty="0">
              <a:solidFill>
                <a:srgbClr val="0070C0"/>
              </a:solidFill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50514065-0766-1411-89E1-CFF8CA0F5883}"/>
              </a:ext>
            </a:extLst>
          </p:cNvPr>
          <p:cNvSpPr txBox="1">
            <a:spLocks/>
          </p:cNvSpPr>
          <p:nvPr/>
        </p:nvSpPr>
        <p:spPr bwMode="auto">
          <a:xfrm>
            <a:off x="5942016" y="1403068"/>
            <a:ext cx="5030783" cy="1876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kern="0" dirty="0">
                <a:solidFill>
                  <a:srgbClr val="FF0000"/>
                </a:solidFill>
              </a:rPr>
              <a:t>Weakness</a:t>
            </a:r>
          </a:p>
          <a:p>
            <a:pPr marL="0" indent="0" algn="ctr"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Results are dependent on selection of k, distance function,  and scaling</a:t>
            </a:r>
          </a:p>
          <a:p>
            <a:r>
              <a:rPr lang="en-US" sz="2400" dirty="0">
                <a:solidFill>
                  <a:srgbClr val="C00000"/>
                </a:solidFill>
              </a:rPr>
              <a:t>Probability estimates less useful (precise) than other methods</a:t>
            </a:r>
          </a:p>
          <a:p>
            <a:pPr marL="0" indent="0">
              <a:buNone/>
            </a:pPr>
            <a:endParaRPr lang="en-US" sz="2400" kern="0" dirty="0">
              <a:solidFill>
                <a:srgbClr val="0070C0"/>
              </a:solidFill>
            </a:endParaRPr>
          </a:p>
          <a:p>
            <a:pPr>
              <a:buClrTx/>
            </a:pPr>
            <a:endParaRPr lang="en-US" sz="2400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59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952" y="47655"/>
            <a:ext cx="8229600" cy="6350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/>
              <a:t>Geometric interpretation</a:t>
            </a:r>
          </a:p>
        </p:txBody>
      </p:sp>
      <p:sp>
        <p:nvSpPr>
          <p:cNvPr id="23555" name="Line 3"/>
          <p:cNvSpPr>
            <a:spLocks noChangeShapeType="1"/>
          </p:cNvSpPr>
          <p:nvPr/>
        </p:nvSpPr>
        <p:spPr bwMode="auto">
          <a:xfrm>
            <a:off x="2362200" y="19050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2362200" y="53340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6345238" y="5486401"/>
            <a:ext cx="7768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rtl="1" eaLnBrk="1" hangingPunct="1">
              <a:buNone/>
            </a:pPr>
            <a:r>
              <a:rPr lang="en-US" sz="1400" dirty="0">
                <a:latin typeface="Tahoma" pitchFamily="34" charset="0"/>
                <a:cs typeface="Arial" charset="0"/>
              </a:rPr>
              <a:t>Income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1676401" y="2438401"/>
            <a:ext cx="48603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rtl="1" eaLnBrk="1" hangingPunct="1">
              <a:buNone/>
            </a:pPr>
            <a:r>
              <a:rPr lang="en-US" sz="1400" dirty="0">
                <a:latin typeface="Tahoma" pitchFamily="34" charset="0"/>
                <a:cs typeface="Arial" charset="0"/>
              </a:rPr>
              <a:t>Age</a:t>
            </a:r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6629400" y="21336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6781800" y="19812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6477000" y="27432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6629400" y="25908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5486400" y="27432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>
            <a:off x="5638800" y="25908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6019800" y="22860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>
            <a:off x="6172200" y="21336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>
            <a:off x="6781800" y="25146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>
            <a:off x="6934200" y="23622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9" name="Line 17"/>
          <p:cNvSpPr>
            <a:spLocks noChangeShapeType="1"/>
          </p:cNvSpPr>
          <p:nvPr/>
        </p:nvSpPr>
        <p:spPr bwMode="auto">
          <a:xfrm>
            <a:off x="6781800" y="31242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>
            <a:off x="6934200" y="29718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>
            <a:off x="5105400" y="22860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>
            <a:off x="5257800" y="21336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3" name="Line 21"/>
          <p:cNvSpPr>
            <a:spLocks noChangeShapeType="1"/>
          </p:cNvSpPr>
          <p:nvPr/>
        </p:nvSpPr>
        <p:spPr bwMode="auto">
          <a:xfrm>
            <a:off x="5943600" y="30480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4" name="Line 22"/>
          <p:cNvSpPr>
            <a:spLocks noChangeShapeType="1"/>
          </p:cNvSpPr>
          <p:nvPr/>
        </p:nvSpPr>
        <p:spPr bwMode="auto">
          <a:xfrm>
            <a:off x="6096000" y="28956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5" name="Line 23"/>
          <p:cNvSpPr>
            <a:spLocks noChangeShapeType="1"/>
          </p:cNvSpPr>
          <p:nvPr/>
        </p:nvSpPr>
        <p:spPr bwMode="auto">
          <a:xfrm>
            <a:off x="5638800" y="19050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6" name="Line 24"/>
          <p:cNvSpPr>
            <a:spLocks noChangeShapeType="1"/>
          </p:cNvSpPr>
          <p:nvPr/>
        </p:nvSpPr>
        <p:spPr bwMode="auto">
          <a:xfrm>
            <a:off x="5791200" y="17526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7" name="Oval 25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78" name="Group 26"/>
          <p:cNvGrpSpPr>
            <a:grpSpLocks/>
          </p:cNvGrpSpPr>
          <p:nvPr/>
        </p:nvGrpSpPr>
        <p:grpSpPr bwMode="auto">
          <a:xfrm>
            <a:off x="4114800" y="2819400"/>
            <a:ext cx="304800" cy="304800"/>
            <a:chOff x="2880" y="2160"/>
            <a:chExt cx="192" cy="192"/>
          </a:xfrm>
        </p:grpSpPr>
        <p:sp>
          <p:nvSpPr>
            <p:cNvPr id="23616" name="Line 27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Line 28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79" name="Group 29"/>
          <p:cNvGrpSpPr>
            <a:grpSpLocks/>
          </p:cNvGrpSpPr>
          <p:nvPr/>
        </p:nvGrpSpPr>
        <p:grpSpPr bwMode="auto">
          <a:xfrm>
            <a:off x="5181600" y="3581400"/>
            <a:ext cx="304800" cy="304800"/>
            <a:chOff x="2880" y="2160"/>
            <a:chExt cx="192" cy="192"/>
          </a:xfrm>
        </p:grpSpPr>
        <p:sp>
          <p:nvSpPr>
            <p:cNvPr id="23614" name="Line 30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Line 31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80" name="Group 32"/>
          <p:cNvGrpSpPr>
            <a:grpSpLocks/>
          </p:cNvGrpSpPr>
          <p:nvPr/>
        </p:nvGrpSpPr>
        <p:grpSpPr bwMode="auto">
          <a:xfrm>
            <a:off x="4953000" y="2743200"/>
            <a:ext cx="304800" cy="304800"/>
            <a:chOff x="2880" y="2160"/>
            <a:chExt cx="192" cy="192"/>
          </a:xfrm>
        </p:grpSpPr>
        <p:sp>
          <p:nvSpPr>
            <p:cNvPr id="23612" name="Line 33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Line 34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81" name="Oval 35"/>
          <p:cNvSpPr>
            <a:spLocks noChangeArrowheads="1"/>
          </p:cNvSpPr>
          <p:nvPr/>
        </p:nvSpPr>
        <p:spPr bwMode="auto">
          <a:xfrm>
            <a:off x="4267200" y="31242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82" name="Oval 36"/>
          <p:cNvSpPr>
            <a:spLocks noChangeArrowheads="1"/>
          </p:cNvSpPr>
          <p:nvPr/>
        </p:nvSpPr>
        <p:spPr bwMode="auto">
          <a:xfrm>
            <a:off x="4267200" y="4572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83" name="Oval 37"/>
          <p:cNvSpPr>
            <a:spLocks noChangeArrowheads="1"/>
          </p:cNvSpPr>
          <p:nvPr/>
        </p:nvSpPr>
        <p:spPr bwMode="auto">
          <a:xfrm>
            <a:off x="4191000" y="35814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84" name="Oval 38"/>
          <p:cNvSpPr>
            <a:spLocks noChangeArrowheads="1"/>
          </p:cNvSpPr>
          <p:nvPr/>
        </p:nvSpPr>
        <p:spPr bwMode="auto">
          <a:xfrm>
            <a:off x="3657600" y="28956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85" name="Oval 39"/>
          <p:cNvSpPr>
            <a:spLocks noChangeArrowheads="1"/>
          </p:cNvSpPr>
          <p:nvPr/>
        </p:nvSpPr>
        <p:spPr bwMode="auto">
          <a:xfrm>
            <a:off x="6781800" y="4114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86" name="Oval 40"/>
          <p:cNvSpPr>
            <a:spLocks noChangeArrowheads="1"/>
          </p:cNvSpPr>
          <p:nvPr/>
        </p:nvSpPr>
        <p:spPr bwMode="auto">
          <a:xfrm>
            <a:off x="3505200" y="4876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87" name="Oval 41"/>
          <p:cNvSpPr>
            <a:spLocks noChangeArrowheads="1"/>
          </p:cNvSpPr>
          <p:nvPr/>
        </p:nvSpPr>
        <p:spPr bwMode="auto">
          <a:xfrm>
            <a:off x="3124200" y="47244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88" name="Oval 42"/>
          <p:cNvSpPr>
            <a:spLocks noChangeArrowheads="1"/>
          </p:cNvSpPr>
          <p:nvPr/>
        </p:nvSpPr>
        <p:spPr bwMode="auto">
          <a:xfrm>
            <a:off x="3505200" y="35814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89" name="Oval 43"/>
          <p:cNvSpPr>
            <a:spLocks noChangeArrowheads="1"/>
          </p:cNvSpPr>
          <p:nvPr/>
        </p:nvSpPr>
        <p:spPr bwMode="auto">
          <a:xfrm>
            <a:off x="2895600" y="4114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90" name="Group 44"/>
          <p:cNvGrpSpPr>
            <a:grpSpLocks/>
          </p:cNvGrpSpPr>
          <p:nvPr/>
        </p:nvGrpSpPr>
        <p:grpSpPr bwMode="auto">
          <a:xfrm>
            <a:off x="4876800" y="3276600"/>
            <a:ext cx="304800" cy="304800"/>
            <a:chOff x="2880" y="2160"/>
            <a:chExt cx="192" cy="192"/>
          </a:xfrm>
        </p:grpSpPr>
        <p:sp>
          <p:nvSpPr>
            <p:cNvPr id="23610" name="Line 45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Line 46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91" name="Text Box 53"/>
          <p:cNvSpPr txBox="1">
            <a:spLocks noChangeArrowheads="1"/>
          </p:cNvSpPr>
          <p:nvPr/>
        </p:nvSpPr>
        <p:spPr bwMode="auto">
          <a:xfrm>
            <a:off x="4365625" y="5348289"/>
            <a:ext cx="5838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rtl="1" eaLnBrk="1" hangingPunct="1">
              <a:buNone/>
            </a:pPr>
            <a:r>
              <a:rPr lang="en-US" sz="1400" dirty="0">
                <a:latin typeface="Tahoma" pitchFamily="34" charset="0"/>
                <a:cs typeface="Arial" charset="0"/>
              </a:rPr>
              <a:t>100K</a:t>
            </a:r>
          </a:p>
        </p:txBody>
      </p:sp>
      <p:sp>
        <p:nvSpPr>
          <p:cNvPr id="23592" name="Text Box 54"/>
          <p:cNvSpPr txBox="1">
            <a:spLocks noChangeArrowheads="1"/>
          </p:cNvSpPr>
          <p:nvPr/>
        </p:nvSpPr>
        <p:spPr bwMode="auto">
          <a:xfrm>
            <a:off x="1808164" y="3276601"/>
            <a:ext cx="38023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rtl="1" eaLnBrk="1" hangingPunct="1">
              <a:buNone/>
            </a:pPr>
            <a:r>
              <a:rPr lang="en-US" sz="1400" dirty="0">
                <a:latin typeface="Tahoma" pitchFamily="34" charset="0"/>
                <a:cs typeface="Arial" charset="0"/>
              </a:rPr>
              <a:t>40</a:t>
            </a:r>
          </a:p>
        </p:txBody>
      </p:sp>
      <p:sp>
        <p:nvSpPr>
          <p:cNvPr id="23593" name="Line 55"/>
          <p:cNvSpPr>
            <a:spLocks noChangeShapeType="1"/>
          </p:cNvSpPr>
          <p:nvPr/>
        </p:nvSpPr>
        <p:spPr bwMode="auto">
          <a:xfrm>
            <a:off x="4724400" y="5257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94" name="Line 56"/>
          <p:cNvSpPr>
            <a:spLocks noChangeShapeType="1"/>
          </p:cNvSpPr>
          <p:nvPr/>
        </p:nvSpPr>
        <p:spPr bwMode="auto">
          <a:xfrm>
            <a:off x="2286000" y="3429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95" name="Oval 57"/>
          <p:cNvSpPr>
            <a:spLocks noChangeArrowheads="1"/>
          </p:cNvSpPr>
          <p:nvPr/>
        </p:nvSpPr>
        <p:spPr bwMode="auto">
          <a:xfrm>
            <a:off x="5257800" y="4114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96" name="Oval 58"/>
          <p:cNvSpPr>
            <a:spLocks noChangeArrowheads="1"/>
          </p:cNvSpPr>
          <p:nvPr/>
        </p:nvSpPr>
        <p:spPr bwMode="auto">
          <a:xfrm>
            <a:off x="6019800" y="40386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97" name="Oval 59"/>
          <p:cNvSpPr>
            <a:spLocks noChangeArrowheads="1"/>
          </p:cNvSpPr>
          <p:nvPr/>
        </p:nvSpPr>
        <p:spPr bwMode="auto">
          <a:xfrm>
            <a:off x="6858000" y="4876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98" name="Oval 60"/>
          <p:cNvSpPr>
            <a:spLocks noChangeArrowheads="1"/>
          </p:cNvSpPr>
          <p:nvPr/>
        </p:nvSpPr>
        <p:spPr bwMode="auto">
          <a:xfrm>
            <a:off x="4114800" y="2590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99" name="Oval 61"/>
          <p:cNvSpPr>
            <a:spLocks noChangeArrowheads="1"/>
          </p:cNvSpPr>
          <p:nvPr/>
        </p:nvSpPr>
        <p:spPr bwMode="auto">
          <a:xfrm>
            <a:off x="6324600" y="42672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600" name="Oval 62"/>
          <p:cNvSpPr>
            <a:spLocks noChangeArrowheads="1"/>
          </p:cNvSpPr>
          <p:nvPr/>
        </p:nvSpPr>
        <p:spPr bwMode="auto">
          <a:xfrm>
            <a:off x="4953000" y="4572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601" name="Group 63"/>
          <p:cNvGrpSpPr>
            <a:grpSpLocks/>
          </p:cNvGrpSpPr>
          <p:nvPr/>
        </p:nvGrpSpPr>
        <p:grpSpPr bwMode="auto">
          <a:xfrm>
            <a:off x="6400800" y="3429000"/>
            <a:ext cx="304800" cy="304800"/>
            <a:chOff x="2880" y="2160"/>
            <a:chExt cx="192" cy="192"/>
          </a:xfrm>
        </p:grpSpPr>
        <p:sp>
          <p:nvSpPr>
            <p:cNvPr id="23608" name="Line 64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Line 65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603" name="Oval 70"/>
          <p:cNvSpPr>
            <a:spLocks noChangeArrowheads="1"/>
          </p:cNvSpPr>
          <p:nvPr/>
        </p:nvSpPr>
        <p:spPr bwMode="auto">
          <a:xfrm>
            <a:off x="7315200" y="38862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604" name="Oval 71"/>
          <p:cNvSpPr>
            <a:spLocks noChangeArrowheads="1"/>
          </p:cNvSpPr>
          <p:nvPr/>
        </p:nvSpPr>
        <p:spPr bwMode="auto">
          <a:xfrm>
            <a:off x="6629400" y="4572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605" name="Oval 72"/>
          <p:cNvSpPr>
            <a:spLocks noChangeArrowheads="1"/>
          </p:cNvSpPr>
          <p:nvPr/>
        </p:nvSpPr>
        <p:spPr bwMode="auto">
          <a:xfrm>
            <a:off x="6400800" y="47244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98DE02-C2DB-A912-193D-11733145446E}"/>
              </a:ext>
            </a:extLst>
          </p:cNvPr>
          <p:cNvSpPr txBox="1"/>
          <p:nvPr/>
        </p:nvSpPr>
        <p:spPr>
          <a:xfrm>
            <a:off x="6040987" y="4552890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07D9C-8D9A-8133-60E8-8BAA42634F0C}"/>
              </a:ext>
            </a:extLst>
          </p:cNvPr>
          <p:cNvSpPr txBox="1"/>
          <p:nvPr/>
        </p:nvSpPr>
        <p:spPr>
          <a:xfrm>
            <a:off x="6830335" y="3305144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C6ACD-8012-D7C6-F99A-0D164C3D92E6}"/>
              </a:ext>
            </a:extLst>
          </p:cNvPr>
          <p:cNvSpPr txBox="1"/>
          <p:nvPr/>
        </p:nvSpPr>
        <p:spPr>
          <a:xfrm>
            <a:off x="4198752" y="2667000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B084B-B3A3-018E-AC70-478449F6CFFD}"/>
              </a:ext>
            </a:extLst>
          </p:cNvPr>
          <p:cNvSpPr txBox="1"/>
          <p:nvPr/>
        </p:nvSpPr>
        <p:spPr>
          <a:xfrm>
            <a:off x="7911802" y="2718138"/>
            <a:ext cx="2567088" cy="10156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would you classify these X values?</a:t>
            </a:r>
          </a:p>
        </p:txBody>
      </p:sp>
    </p:spTree>
    <p:extLst>
      <p:ext uri="{BB962C8B-B14F-4D97-AF65-F5344CB8AC3E}">
        <p14:creationId xmlns:p14="http://schemas.microsoft.com/office/powerpoint/2010/main" val="3388603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08000"/>
            <a:ext cx="8229600" cy="6350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dirty="0"/>
              <a:t>How does a 1-nearest-neighbor classifier partition the space?</a:t>
            </a:r>
          </a:p>
        </p:txBody>
      </p:sp>
      <p:sp>
        <p:nvSpPr>
          <p:cNvPr id="24579" name="Line 3"/>
          <p:cNvSpPr>
            <a:spLocks noChangeShapeType="1"/>
          </p:cNvSpPr>
          <p:nvPr/>
        </p:nvSpPr>
        <p:spPr bwMode="auto">
          <a:xfrm>
            <a:off x="2362200" y="19050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>
            <a:off x="2362200" y="53340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6345238" y="5486401"/>
            <a:ext cx="7768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rtl="1" eaLnBrk="1" hangingPunct="1">
              <a:buNone/>
            </a:pPr>
            <a:r>
              <a:rPr lang="en-US" sz="1400">
                <a:latin typeface="Tahoma" pitchFamily="34" charset="0"/>
                <a:cs typeface="Arial" charset="0"/>
              </a:rPr>
              <a:t>Income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1676401" y="2438401"/>
            <a:ext cx="48603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rtl="1" eaLnBrk="1" hangingPunct="1">
              <a:buNone/>
            </a:pPr>
            <a:r>
              <a:rPr lang="en-US" sz="1400">
                <a:latin typeface="Tahoma" pitchFamily="34" charset="0"/>
                <a:cs typeface="Arial" charset="0"/>
              </a:rPr>
              <a:t>Age</a:t>
            </a:r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>
            <a:off x="6629400" y="21336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>
            <a:off x="6781800" y="19812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6477000" y="27432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6629400" y="25908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5486400" y="27432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5638800" y="25908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>
            <a:off x="6019800" y="22860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6172200" y="21336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6781800" y="25146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6934200" y="23622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>
            <a:off x="6781800" y="31242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6934200" y="29718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5105400" y="22860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5257800" y="21336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7" name="Line 21"/>
          <p:cNvSpPr>
            <a:spLocks noChangeShapeType="1"/>
          </p:cNvSpPr>
          <p:nvPr/>
        </p:nvSpPr>
        <p:spPr bwMode="auto">
          <a:xfrm>
            <a:off x="5943600" y="30480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>
            <a:off x="6096000" y="28956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>
            <a:off x="5638800" y="1905000"/>
            <a:ext cx="304800" cy="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00" name="Line 24"/>
          <p:cNvSpPr>
            <a:spLocks noChangeShapeType="1"/>
          </p:cNvSpPr>
          <p:nvPr/>
        </p:nvSpPr>
        <p:spPr bwMode="auto">
          <a:xfrm>
            <a:off x="5791200" y="1752600"/>
            <a:ext cx="0" cy="304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01" name="Oval 25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602" name="Group 26"/>
          <p:cNvGrpSpPr>
            <a:grpSpLocks/>
          </p:cNvGrpSpPr>
          <p:nvPr/>
        </p:nvGrpSpPr>
        <p:grpSpPr bwMode="auto">
          <a:xfrm>
            <a:off x="4114800" y="2819400"/>
            <a:ext cx="304800" cy="304800"/>
            <a:chOff x="2880" y="2160"/>
            <a:chExt cx="192" cy="192"/>
          </a:xfrm>
        </p:grpSpPr>
        <p:sp>
          <p:nvSpPr>
            <p:cNvPr id="24650" name="Line 27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Line 28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3" name="Group 29"/>
          <p:cNvGrpSpPr>
            <a:grpSpLocks/>
          </p:cNvGrpSpPr>
          <p:nvPr/>
        </p:nvGrpSpPr>
        <p:grpSpPr bwMode="auto">
          <a:xfrm>
            <a:off x="5181600" y="3581400"/>
            <a:ext cx="304800" cy="304800"/>
            <a:chOff x="2880" y="2160"/>
            <a:chExt cx="192" cy="192"/>
          </a:xfrm>
        </p:grpSpPr>
        <p:sp>
          <p:nvSpPr>
            <p:cNvPr id="24648" name="Line 30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49" name="Line 31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4" name="Group 32"/>
          <p:cNvGrpSpPr>
            <a:grpSpLocks/>
          </p:cNvGrpSpPr>
          <p:nvPr/>
        </p:nvGrpSpPr>
        <p:grpSpPr bwMode="auto">
          <a:xfrm>
            <a:off x="4953000" y="2743200"/>
            <a:ext cx="304800" cy="304800"/>
            <a:chOff x="2880" y="2160"/>
            <a:chExt cx="192" cy="192"/>
          </a:xfrm>
        </p:grpSpPr>
        <p:sp>
          <p:nvSpPr>
            <p:cNvPr id="24646" name="Line 33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47" name="Line 34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05" name="Oval 35"/>
          <p:cNvSpPr>
            <a:spLocks noChangeArrowheads="1"/>
          </p:cNvSpPr>
          <p:nvPr/>
        </p:nvSpPr>
        <p:spPr bwMode="auto">
          <a:xfrm>
            <a:off x="4267200" y="31242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6" name="Oval 36"/>
          <p:cNvSpPr>
            <a:spLocks noChangeArrowheads="1"/>
          </p:cNvSpPr>
          <p:nvPr/>
        </p:nvSpPr>
        <p:spPr bwMode="auto">
          <a:xfrm>
            <a:off x="4267200" y="4572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7" name="Oval 37"/>
          <p:cNvSpPr>
            <a:spLocks noChangeArrowheads="1"/>
          </p:cNvSpPr>
          <p:nvPr/>
        </p:nvSpPr>
        <p:spPr bwMode="auto">
          <a:xfrm>
            <a:off x="4191000" y="35814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8" name="Oval 38"/>
          <p:cNvSpPr>
            <a:spLocks noChangeArrowheads="1"/>
          </p:cNvSpPr>
          <p:nvPr/>
        </p:nvSpPr>
        <p:spPr bwMode="auto">
          <a:xfrm>
            <a:off x="3657600" y="28956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9" name="Oval 39"/>
          <p:cNvSpPr>
            <a:spLocks noChangeArrowheads="1"/>
          </p:cNvSpPr>
          <p:nvPr/>
        </p:nvSpPr>
        <p:spPr bwMode="auto">
          <a:xfrm>
            <a:off x="6781800" y="4114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10" name="Oval 40"/>
          <p:cNvSpPr>
            <a:spLocks noChangeArrowheads="1"/>
          </p:cNvSpPr>
          <p:nvPr/>
        </p:nvSpPr>
        <p:spPr bwMode="auto">
          <a:xfrm>
            <a:off x="3505200" y="4876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11" name="Oval 41"/>
          <p:cNvSpPr>
            <a:spLocks noChangeArrowheads="1"/>
          </p:cNvSpPr>
          <p:nvPr/>
        </p:nvSpPr>
        <p:spPr bwMode="auto">
          <a:xfrm>
            <a:off x="3124200" y="47244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12" name="Oval 42"/>
          <p:cNvSpPr>
            <a:spLocks noChangeArrowheads="1"/>
          </p:cNvSpPr>
          <p:nvPr/>
        </p:nvSpPr>
        <p:spPr bwMode="auto">
          <a:xfrm>
            <a:off x="3505200" y="35814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13" name="Oval 43"/>
          <p:cNvSpPr>
            <a:spLocks noChangeArrowheads="1"/>
          </p:cNvSpPr>
          <p:nvPr/>
        </p:nvSpPr>
        <p:spPr bwMode="auto">
          <a:xfrm>
            <a:off x="2895600" y="4114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614" name="Group 44"/>
          <p:cNvGrpSpPr>
            <a:grpSpLocks/>
          </p:cNvGrpSpPr>
          <p:nvPr/>
        </p:nvGrpSpPr>
        <p:grpSpPr bwMode="auto">
          <a:xfrm>
            <a:off x="4876800" y="3276600"/>
            <a:ext cx="304800" cy="304800"/>
            <a:chOff x="2880" y="2160"/>
            <a:chExt cx="192" cy="192"/>
          </a:xfrm>
        </p:grpSpPr>
        <p:sp>
          <p:nvSpPr>
            <p:cNvPr id="24644" name="Line 45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45" name="Line 46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15" name="Text Box 53"/>
          <p:cNvSpPr txBox="1">
            <a:spLocks noChangeArrowheads="1"/>
          </p:cNvSpPr>
          <p:nvPr/>
        </p:nvSpPr>
        <p:spPr bwMode="auto">
          <a:xfrm>
            <a:off x="4365625" y="5348289"/>
            <a:ext cx="5838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rtl="1" eaLnBrk="1" hangingPunct="1">
              <a:buNone/>
            </a:pPr>
            <a:r>
              <a:rPr lang="en-US" sz="1400">
                <a:latin typeface="Tahoma" pitchFamily="34" charset="0"/>
                <a:cs typeface="Arial" charset="0"/>
              </a:rPr>
              <a:t>100K</a:t>
            </a:r>
          </a:p>
        </p:txBody>
      </p:sp>
      <p:sp>
        <p:nvSpPr>
          <p:cNvPr id="24616" name="Text Box 54"/>
          <p:cNvSpPr txBox="1">
            <a:spLocks noChangeArrowheads="1"/>
          </p:cNvSpPr>
          <p:nvPr/>
        </p:nvSpPr>
        <p:spPr bwMode="auto">
          <a:xfrm>
            <a:off x="1808164" y="3276601"/>
            <a:ext cx="38023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rtl="1" eaLnBrk="1" hangingPunct="1">
              <a:buNone/>
            </a:pPr>
            <a:r>
              <a:rPr lang="en-US" sz="1400" dirty="0">
                <a:latin typeface="Tahoma" pitchFamily="34" charset="0"/>
                <a:cs typeface="Arial" charset="0"/>
              </a:rPr>
              <a:t>40</a:t>
            </a:r>
          </a:p>
        </p:txBody>
      </p:sp>
      <p:sp>
        <p:nvSpPr>
          <p:cNvPr id="24617" name="Line 55"/>
          <p:cNvSpPr>
            <a:spLocks noChangeShapeType="1"/>
          </p:cNvSpPr>
          <p:nvPr/>
        </p:nvSpPr>
        <p:spPr bwMode="auto">
          <a:xfrm>
            <a:off x="4724400" y="5257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18" name="Line 56"/>
          <p:cNvSpPr>
            <a:spLocks noChangeShapeType="1"/>
          </p:cNvSpPr>
          <p:nvPr/>
        </p:nvSpPr>
        <p:spPr bwMode="auto">
          <a:xfrm>
            <a:off x="2286000" y="3429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19" name="Oval 57"/>
          <p:cNvSpPr>
            <a:spLocks noChangeArrowheads="1"/>
          </p:cNvSpPr>
          <p:nvPr/>
        </p:nvSpPr>
        <p:spPr bwMode="auto">
          <a:xfrm>
            <a:off x="5257800" y="4114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20" name="Oval 58"/>
          <p:cNvSpPr>
            <a:spLocks noChangeArrowheads="1"/>
          </p:cNvSpPr>
          <p:nvPr/>
        </p:nvSpPr>
        <p:spPr bwMode="auto">
          <a:xfrm>
            <a:off x="6019800" y="40386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21" name="Oval 59"/>
          <p:cNvSpPr>
            <a:spLocks noChangeArrowheads="1"/>
          </p:cNvSpPr>
          <p:nvPr/>
        </p:nvSpPr>
        <p:spPr bwMode="auto">
          <a:xfrm>
            <a:off x="6858000" y="4876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22" name="Oval 60"/>
          <p:cNvSpPr>
            <a:spLocks noChangeArrowheads="1"/>
          </p:cNvSpPr>
          <p:nvPr/>
        </p:nvSpPr>
        <p:spPr bwMode="auto">
          <a:xfrm>
            <a:off x="4114800" y="25908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23" name="Oval 61"/>
          <p:cNvSpPr>
            <a:spLocks noChangeArrowheads="1"/>
          </p:cNvSpPr>
          <p:nvPr/>
        </p:nvSpPr>
        <p:spPr bwMode="auto">
          <a:xfrm>
            <a:off x="6324600" y="42672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24" name="Oval 62"/>
          <p:cNvSpPr>
            <a:spLocks noChangeArrowheads="1"/>
          </p:cNvSpPr>
          <p:nvPr/>
        </p:nvSpPr>
        <p:spPr bwMode="auto">
          <a:xfrm>
            <a:off x="4953000" y="4572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625" name="Group 63"/>
          <p:cNvGrpSpPr>
            <a:grpSpLocks/>
          </p:cNvGrpSpPr>
          <p:nvPr/>
        </p:nvGrpSpPr>
        <p:grpSpPr bwMode="auto">
          <a:xfrm>
            <a:off x="6400800" y="3429000"/>
            <a:ext cx="304800" cy="304800"/>
            <a:chOff x="2880" y="2160"/>
            <a:chExt cx="192" cy="192"/>
          </a:xfrm>
        </p:grpSpPr>
        <p:sp>
          <p:nvSpPr>
            <p:cNvPr id="24642" name="Line 64"/>
            <p:cNvSpPr>
              <a:spLocks noChangeShapeType="1"/>
            </p:cNvSpPr>
            <p:nvPr/>
          </p:nvSpPr>
          <p:spPr bwMode="auto">
            <a:xfrm>
              <a:off x="2880" y="2256"/>
              <a:ext cx="192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43" name="Line 65"/>
            <p:cNvSpPr>
              <a:spLocks noChangeShapeType="1"/>
            </p:cNvSpPr>
            <p:nvPr/>
          </p:nvSpPr>
          <p:spPr bwMode="auto">
            <a:xfrm>
              <a:off x="2976" y="2160"/>
              <a:ext cx="0" cy="192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26" name="Oval 66"/>
          <p:cNvSpPr>
            <a:spLocks noChangeArrowheads="1"/>
          </p:cNvSpPr>
          <p:nvPr/>
        </p:nvSpPr>
        <p:spPr bwMode="auto">
          <a:xfrm>
            <a:off x="7315200" y="38862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27" name="Oval 67"/>
          <p:cNvSpPr>
            <a:spLocks noChangeArrowheads="1"/>
          </p:cNvSpPr>
          <p:nvPr/>
        </p:nvSpPr>
        <p:spPr bwMode="auto">
          <a:xfrm>
            <a:off x="6629400" y="4572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28" name="Oval 68"/>
          <p:cNvSpPr>
            <a:spLocks noChangeArrowheads="1"/>
          </p:cNvSpPr>
          <p:nvPr/>
        </p:nvSpPr>
        <p:spPr bwMode="auto">
          <a:xfrm>
            <a:off x="6400800" y="47244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29" name="Line 69"/>
          <p:cNvSpPr>
            <a:spLocks noChangeShapeType="1"/>
          </p:cNvSpPr>
          <p:nvPr/>
        </p:nvSpPr>
        <p:spPr bwMode="auto">
          <a:xfrm>
            <a:off x="4038600" y="3124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3962400" y="1447800"/>
            <a:ext cx="3429000" cy="2590800"/>
            <a:chOff x="1536" y="912"/>
            <a:chExt cx="2160" cy="1632"/>
          </a:xfrm>
        </p:grpSpPr>
        <p:sp>
          <p:nvSpPr>
            <p:cNvPr id="24631" name="Line 71"/>
            <p:cNvSpPr>
              <a:spLocks noChangeShapeType="1"/>
            </p:cNvSpPr>
            <p:nvPr/>
          </p:nvSpPr>
          <p:spPr bwMode="auto">
            <a:xfrm>
              <a:off x="1824" y="912"/>
              <a:ext cx="192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2" name="Line 72"/>
            <p:cNvSpPr>
              <a:spLocks noChangeShapeType="1"/>
            </p:cNvSpPr>
            <p:nvPr/>
          </p:nvSpPr>
          <p:spPr bwMode="auto">
            <a:xfrm flipH="1">
              <a:off x="1536" y="1536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3" name="Line 73"/>
            <p:cNvSpPr>
              <a:spLocks noChangeShapeType="1"/>
            </p:cNvSpPr>
            <p:nvPr/>
          </p:nvSpPr>
          <p:spPr bwMode="auto">
            <a:xfrm>
              <a:off x="1536" y="192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4" name="Line 74"/>
            <p:cNvSpPr>
              <a:spLocks noChangeShapeType="1"/>
            </p:cNvSpPr>
            <p:nvPr/>
          </p:nvSpPr>
          <p:spPr bwMode="auto">
            <a:xfrm flipV="1">
              <a:off x="1632" y="1824"/>
              <a:ext cx="28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5" name="Line 75"/>
            <p:cNvSpPr>
              <a:spLocks noChangeShapeType="1"/>
            </p:cNvSpPr>
            <p:nvPr/>
          </p:nvSpPr>
          <p:spPr bwMode="auto">
            <a:xfrm>
              <a:off x="1920" y="1824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6" name="Line 76"/>
            <p:cNvSpPr>
              <a:spLocks noChangeShapeType="1"/>
            </p:cNvSpPr>
            <p:nvPr/>
          </p:nvSpPr>
          <p:spPr bwMode="auto">
            <a:xfrm>
              <a:off x="2016" y="201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7" name="Line 77"/>
            <p:cNvSpPr>
              <a:spLocks noChangeShapeType="1"/>
            </p:cNvSpPr>
            <p:nvPr/>
          </p:nvSpPr>
          <p:spPr bwMode="auto">
            <a:xfrm>
              <a:off x="2016" y="2352"/>
              <a:ext cx="57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8" name="Line 78"/>
            <p:cNvSpPr>
              <a:spLocks noChangeShapeType="1"/>
            </p:cNvSpPr>
            <p:nvPr/>
          </p:nvSpPr>
          <p:spPr bwMode="auto">
            <a:xfrm flipV="1">
              <a:off x="2592" y="2304"/>
              <a:ext cx="19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9" name="Line 79"/>
            <p:cNvSpPr>
              <a:spLocks noChangeShapeType="1"/>
            </p:cNvSpPr>
            <p:nvPr/>
          </p:nvSpPr>
          <p:spPr bwMode="auto">
            <a:xfrm>
              <a:off x="2784" y="230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40" name="Line 80"/>
            <p:cNvSpPr>
              <a:spLocks noChangeShapeType="1"/>
            </p:cNvSpPr>
            <p:nvPr/>
          </p:nvSpPr>
          <p:spPr bwMode="auto">
            <a:xfrm>
              <a:off x="2928" y="2304"/>
              <a:ext cx="192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41" name="Line 81"/>
            <p:cNvSpPr>
              <a:spLocks noChangeShapeType="1"/>
            </p:cNvSpPr>
            <p:nvPr/>
          </p:nvSpPr>
          <p:spPr bwMode="auto">
            <a:xfrm flipV="1">
              <a:off x="3120" y="2160"/>
              <a:ext cx="57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344F6E3-098E-0BEA-3D51-5FC3E90E2140}"/>
              </a:ext>
            </a:extLst>
          </p:cNvPr>
          <p:cNvSpPr txBox="1"/>
          <p:nvPr/>
        </p:nvSpPr>
        <p:spPr>
          <a:xfrm>
            <a:off x="7924800" y="2669903"/>
            <a:ext cx="2667001" cy="10156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Question: Which is more complex, higher or lower k??</a:t>
            </a:r>
          </a:p>
        </p:txBody>
      </p:sp>
    </p:spTree>
    <p:extLst>
      <p:ext uri="{BB962C8B-B14F-4D97-AF65-F5344CB8AC3E}">
        <p14:creationId xmlns:p14="http://schemas.microsoft.com/office/powerpoint/2010/main" val="195083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B6423-1B1D-64D1-B26F-8FC19360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18</a:t>
            </a:fld>
            <a:endParaRPr lang="en-US"/>
          </a:p>
        </p:txBody>
      </p:sp>
      <p:pic>
        <p:nvPicPr>
          <p:cNvPr id="6" name="Content Placeholder 5" descr="A green circle with orange and blue dots&#10;&#10;Description automatically generated">
            <a:extLst>
              <a:ext uri="{FF2B5EF4-FFF2-40B4-BE49-F238E27FC236}">
                <a16:creationId xmlns:a16="http://schemas.microsoft.com/office/drawing/2014/main" id="{08B69834-8C45-FE73-6B4B-AC8451F80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5937" y="1290108"/>
            <a:ext cx="2809796" cy="327587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736CC5-1914-65FC-2094-E6B17EA7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kNN</a:t>
            </a:r>
            <a:r>
              <a:rPr lang="en-US" dirty="0"/>
              <a:t> – Decision Boundaries</a:t>
            </a:r>
          </a:p>
        </p:txBody>
      </p:sp>
      <p:pic>
        <p:nvPicPr>
          <p:cNvPr id="8" name="Picture 7" descr="A drawing of a face&#10;&#10;Description automatically generated">
            <a:extLst>
              <a:ext uri="{FF2B5EF4-FFF2-40B4-BE49-F238E27FC236}">
                <a16:creationId xmlns:a16="http://schemas.microsoft.com/office/drawing/2014/main" id="{2FF5F08F-5228-4DDC-D5EE-AFF84BEA7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244" y="1290108"/>
            <a:ext cx="2846254" cy="3275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88DA30-7B95-52EA-1FF5-2F23D3370FCC}"/>
              </a:ext>
            </a:extLst>
          </p:cNvPr>
          <p:cNvSpPr txBox="1"/>
          <p:nvPr/>
        </p:nvSpPr>
        <p:spPr>
          <a:xfrm>
            <a:off x="2878344" y="4876800"/>
            <a:ext cx="2744982" cy="400110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k=3 nearest neighbors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6EEDC-0BB0-4475-4E8F-FB5AF845589A}"/>
              </a:ext>
            </a:extLst>
          </p:cNvPr>
          <p:cNvSpPr txBox="1"/>
          <p:nvPr/>
        </p:nvSpPr>
        <p:spPr>
          <a:xfrm>
            <a:off x="6568677" y="4876800"/>
            <a:ext cx="3195811" cy="400110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boundary for k=3</a:t>
            </a:r>
          </a:p>
        </p:txBody>
      </p:sp>
    </p:spTree>
    <p:extLst>
      <p:ext uri="{BB962C8B-B14F-4D97-AF65-F5344CB8AC3E}">
        <p14:creationId xmlns:p14="http://schemas.microsoft.com/office/powerpoint/2010/main" val="147212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BBD04-2416-9B79-CB80-00EFDAFE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CF625-BA49-8AEF-928D-FE9BEB3AA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824" y="5364279"/>
            <a:ext cx="9047018" cy="835122"/>
          </a:xfrm>
        </p:spPr>
        <p:txBody>
          <a:bodyPr>
            <a:normAutofit/>
          </a:bodyPr>
          <a:lstStyle/>
          <a:p>
            <a:r>
              <a:rPr lang="en-US" dirty="0"/>
              <a:t>K is a complexity parameter </a:t>
            </a:r>
          </a:p>
          <a:p>
            <a:pPr lvl="1"/>
            <a:r>
              <a:rPr lang="en-US" dirty="0"/>
              <a:t>Small k has more complex decision boundary - tends to overfit the data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BE828-244F-EEF1-677D-01EC1376C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375"/>
            <a:ext cx="10528663" cy="815845"/>
          </a:xfrm>
        </p:spPr>
        <p:txBody>
          <a:bodyPr/>
          <a:lstStyle/>
          <a:p>
            <a:r>
              <a:rPr lang="en-US" dirty="0" err="1"/>
              <a:t>kNN</a:t>
            </a:r>
            <a:r>
              <a:rPr lang="en-US" dirty="0"/>
              <a:t> and Complexity</a:t>
            </a:r>
          </a:p>
        </p:txBody>
      </p:sp>
      <p:pic>
        <p:nvPicPr>
          <p:cNvPr id="8" name="Picture 7" descr="A map of a river&#10;&#10;Description automatically generated with medium confidence">
            <a:extLst>
              <a:ext uri="{FF2B5EF4-FFF2-40B4-BE49-F238E27FC236}">
                <a16:creationId xmlns:a16="http://schemas.microsoft.com/office/drawing/2014/main" id="{CC8B7E13-3413-278B-A8A4-22AF5D5A4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306" y="1001184"/>
            <a:ext cx="3340100" cy="3721100"/>
          </a:xfrm>
          <a:prstGeom prst="rect">
            <a:avLst/>
          </a:prstGeom>
        </p:spPr>
      </p:pic>
      <p:pic>
        <p:nvPicPr>
          <p:cNvPr id="10" name="Picture 9" descr="A graph of a line with colored dots&#10;&#10;Description automatically generated with medium confidence">
            <a:extLst>
              <a:ext uri="{FF2B5EF4-FFF2-40B4-BE49-F238E27FC236}">
                <a16:creationId xmlns:a16="http://schemas.microsoft.com/office/drawing/2014/main" id="{D0CFF622-727E-5630-C723-A37B1F847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34" y="1076160"/>
            <a:ext cx="3225800" cy="3670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BAB43E-1E88-F8CD-DF07-A503D684F1D6}"/>
              </a:ext>
            </a:extLst>
          </p:cNvPr>
          <p:cNvSpPr txBox="1"/>
          <p:nvPr/>
        </p:nvSpPr>
        <p:spPr>
          <a:xfrm>
            <a:off x="3462866" y="4730151"/>
            <a:ext cx="5604934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Dashed line is the best answer based on knowing how the data was simulated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AD986-4400-875B-B296-E4C467A32ED1}"/>
              </a:ext>
            </a:extLst>
          </p:cNvPr>
          <p:cNvSpPr txBox="1"/>
          <p:nvPr/>
        </p:nvSpPr>
        <p:spPr>
          <a:xfrm>
            <a:off x="8157635" y="6343752"/>
            <a:ext cx="1640193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 Chap 2.2</a:t>
            </a:r>
          </a:p>
        </p:txBody>
      </p:sp>
    </p:spTree>
    <p:extLst>
      <p:ext uri="{BB962C8B-B14F-4D97-AF65-F5344CB8AC3E}">
        <p14:creationId xmlns:p14="http://schemas.microsoft.com/office/powerpoint/2010/main" val="3471306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46A57-980B-9273-E72D-5FA28D50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20</a:t>
            </a:fld>
            <a:endParaRPr lang="en-US"/>
          </a:p>
        </p:txBody>
      </p:sp>
      <p:pic>
        <p:nvPicPr>
          <p:cNvPr id="8" name="Content Placeholder 7" descr="A graph of 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C03B0BFD-51D9-7E50-4FC2-3AB0DC705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638" y="1422400"/>
            <a:ext cx="4548527" cy="343182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D3F262-A146-81A3-D04B-7315D14DE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474"/>
            <a:ext cx="10541726" cy="830325"/>
          </a:xfrm>
        </p:spPr>
        <p:txBody>
          <a:bodyPr/>
          <a:lstStyle/>
          <a:p>
            <a:r>
              <a:rPr lang="en-US" dirty="0"/>
              <a:t>Optimizing k though cross-validation</a:t>
            </a:r>
          </a:p>
        </p:txBody>
      </p:sp>
      <p:pic>
        <p:nvPicPr>
          <p:cNvPr id="5" name="Picture 4" descr="A map of the ocean&#10;&#10;Description automatically generated">
            <a:extLst>
              <a:ext uri="{FF2B5EF4-FFF2-40B4-BE49-F238E27FC236}">
                <a16:creationId xmlns:a16="http://schemas.microsoft.com/office/drawing/2014/main" id="{6FAEC6BC-F7FD-946A-425C-FAD3C0F99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792" y="1422400"/>
            <a:ext cx="3677576" cy="35221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DBBB11-5482-98F6-86CD-7C84CC5B8183}"/>
              </a:ext>
            </a:extLst>
          </p:cNvPr>
          <p:cNvSpPr txBox="1"/>
          <p:nvPr/>
        </p:nvSpPr>
        <p:spPr>
          <a:xfrm>
            <a:off x="8251643" y="1114623"/>
            <a:ext cx="599844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k=10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B17FB-5CE5-28BD-7D7A-941D51BA3BDF}"/>
              </a:ext>
            </a:extLst>
          </p:cNvPr>
          <p:cNvSpPr txBox="1"/>
          <p:nvPr/>
        </p:nvSpPr>
        <p:spPr>
          <a:xfrm>
            <a:off x="1981201" y="5097047"/>
            <a:ext cx="4114800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Because high values of k correspond to low complexity, we use 1/k as the X-axis</a:t>
            </a:r>
          </a:p>
        </p:txBody>
      </p:sp>
    </p:spTree>
    <p:extLst>
      <p:ext uri="{BB962C8B-B14F-4D97-AF65-F5344CB8AC3E}">
        <p14:creationId xmlns:p14="http://schemas.microsoft.com/office/powerpoint/2010/main" val="47144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45112-CE72-4A61-8B02-A1FEC21C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00B81-03C3-E21C-87B3-00B2D131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945" y="1021899"/>
            <a:ext cx="8437044" cy="4215119"/>
          </a:xfrm>
        </p:spPr>
        <p:txBody>
          <a:bodyPr/>
          <a:lstStyle/>
          <a:p>
            <a:r>
              <a:rPr lang="en-US" dirty="0" err="1"/>
              <a:t>kNN</a:t>
            </a:r>
            <a:r>
              <a:rPr lang="en-US" dirty="0"/>
              <a:t> also works as a regression model</a:t>
            </a:r>
          </a:p>
          <a:p>
            <a:endParaRPr lang="en-US" dirty="0"/>
          </a:p>
          <a:p>
            <a:r>
              <a:rPr lang="en-US" dirty="0"/>
              <a:t>To get a prediction – use the average of the k nearest neighbors…</a:t>
            </a:r>
          </a:p>
          <a:p>
            <a:endParaRPr lang="en-US" dirty="0"/>
          </a:p>
          <a:p>
            <a:r>
              <a:rPr lang="en-US" dirty="0"/>
              <a:t>Finding the right k via cross-validation : use RMSE instead of error rate…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84686-3BF5-242E-2658-B68DAFBF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340"/>
            <a:ext cx="10515600" cy="1001559"/>
          </a:xfrm>
        </p:spPr>
        <p:txBody>
          <a:bodyPr/>
          <a:lstStyle/>
          <a:p>
            <a:r>
              <a:rPr lang="en-US" dirty="0" err="1"/>
              <a:t>kNN</a:t>
            </a:r>
            <a:r>
              <a:rPr lang="en-US" dirty="0"/>
              <a:t> as Regression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52254-8931-F2C8-50BF-CC711C1DCA4A}"/>
              </a:ext>
            </a:extLst>
          </p:cNvPr>
          <p:cNvSpPr txBox="1"/>
          <p:nvPr/>
        </p:nvSpPr>
        <p:spPr>
          <a:xfrm>
            <a:off x="906709" y="5237018"/>
            <a:ext cx="6250429" cy="70788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sklearn.kNeighborsClassifier</a:t>
            </a:r>
            <a:r>
              <a:rPr lang="en-US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n_neighbors</a:t>
            </a:r>
            <a:r>
              <a:rPr lang="en-US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=k)</a:t>
            </a:r>
          </a:p>
          <a:p>
            <a:r>
              <a:rPr lang="en-US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sklearn.kNeighborsRegressor</a:t>
            </a:r>
            <a:r>
              <a:rPr lang="en-US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n_neighbors</a:t>
            </a:r>
            <a:r>
              <a:rPr lang="en-US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=k)</a:t>
            </a:r>
          </a:p>
        </p:txBody>
      </p:sp>
      <p:pic>
        <p:nvPicPr>
          <p:cNvPr id="1026" name="Picture 2" descr="100,600+ Toolbox Stock Photos, Pictures &amp; Royalty-Free ...">
            <a:extLst>
              <a:ext uri="{FF2B5EF4-FFF2-40B4-BE49-F238E27FC236}">
                <a16:creationId xmlns:a16="http://schemas.microsoft.com/office/drawing/2014/main" id="{C5EC4725-9FE7-71EF-F7E6-6BD984E86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281" y="3426787"/>
            <a:ext cx="3131243" cy="260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478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6A29-3D8E-57B6-42AF-2A01BF67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EA9551-9AF5-21FA-7F8D-2A71AE8B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Unsupervised: Clustering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56E6D7-D694-B0F2-45C3-0B6FF683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91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5424616" cy="612775"/>
          </a:xfrm>
        </p:spPr>
        <p:txBody>
          <a:bodyPr wrap="square" anchor="ctr">
            <a:normAutofit/>
          </a:bodyPr>
          <a:lstStyle/>
          <a:p>
            <a:pPr eaLnBrk="1" hangingPunct="1">
              <a:defRPr/>
            </a:pPr>
            <a:r>
              <a:rPr lang="en-GB" dirty="0"/>
              <a:t>Clustering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13717" y="612775"/>
            <a:ext cx="8781534" cy="210552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GB" sz="2400" dirty="0"/>
              <a:t>Use data to automatically find interesting groupings of my data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Example: Claritas Customer Segmentation: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US" sz="2400" dirty="0">
                <a:hlinkClick r:id="rId3"/>
              </a:rPr>
              <a:t>https://claritas360.claritas.com/</a:t>
            </a:r>
            <a:r>
              <a:rPr lang="en-US" sz="2400" dirty="0" err="1">
                <a:hlinkClick r:id="rId3"/>
              </a:rPr>
              <a:t>mybestsegments</a:t>
            </a:r>
            <a:endParaRPr lang="en-US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305160" name="Slide Number Placeholder 4">
            <a:extLst>
              <a:ext uri="{FF2B5EF4-FFF2-40B4-BE49-F238E27FC236}">
                <a16:creationId xmlns:a16="http://schemas.microsoft.com/office/drawing/2014/main" id="{E645514F-EDB2-4BDC-5B7F-C2E1F7EC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BBEE3BA-F264-1746-880E-39AD601DF2B1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pic>
        <p:nvPicPr>
          <p:cNvPr id="5" name="Picture 4" descr="A screenshot of a web page&#10;&#10;Description automatically generated">
            <a:extLst>
              <a:ext uri="{FF2B5EF4-FFF2-40B4-BE49-F238E27FC236}">
                <a16:creationId xmlns:a16="http://schemas.microsoft.com/office/drawing/2014/main" id="{5C18291D-529B-EA40-0FEE-4514CF84F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982" y="3331072"/>
            <a:ext cx="5052035" cy="302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2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24795-7AC6-8132-324C-165D2DA2D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85C4B-C3B8-0C1E-4F65-E0BCFF164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451"/>
            <a:ext cx="10923373" cy="5378901"/>
          </a:xfrm>
        </p:spPr>
        <p:txBody>
          <a:bodyPr>
            <a:noAutofit/>
          </a:bodyPr>
          <a:lstStyle/>
          <a:p>
            <a:r>
              <a:rPr lang="en-US" sz="2400" dirty="0"/>
              <a:t>Question: How do I find (distinct) groupings of similar things?</a:t>
            </a:r>
          </a:p>
          <a:p>
            <a:pPr lvl="1"/>
            <a:r>
              <a:rPr lang="en-GB" sz="2000" dirty="0"/>
              <a:t>“things” are objects with many features (multidimensional)</a:t>
            </a:r>
          </a:p>
          <a:p>
            <a:pPr marL="342900" lvl="1" indent="0">
              <a:buNone/>
            </a:pPr>
            <a:endParaRPr lang="en-GB" sz="2000" dirty="0"/>
          </a:p>
          <a:p>
            <a:pPr marL="342900" lvl="1" indent="0">
              <a:buNone/>
            </a:pPr>
            <a:endParaRPr lang="en-GB" sz="2000" dirty="0"/>
          </a:p>
          <a:p>
            <a:r>
              <a:rPr lang="en-GB" sz="2400" dirty="0"/>
              <a:t> Key notions: </a:t>
            </a:r>
          </a:p>
          <a:p>
            <a:pPr lvl="1"/>
            <a:r>
              <a:rPr lang="en-GB" sz="2000" dirty="0"/>
              <a:t>Define a similarity/distance metric between objects</a:t>
            </a:r>
          </a:p>
          <a:p>
            <a:pPr lvl="1"/>
            <a:r>
              <a:rPr lang="en-GB" sz="2000" dirty="0"/>
              <a:t>Let the algorithm define clusters so the distance to things in a cluster are smaller than the distance between clusters</a:t>
            </a:r>
          </a:p>
          <a:p>
            <a:pPr marL="342900" lvl="1" indent="0">
              <a:buNone/>
            </a:pPr>
            <a:endParaRPr lang="en-GB" sz="2000" dirty="0"/>
          </a:p>
          <a:p>
            <a:pPr marL="342900" lvl="1" indent="0">
              <a:buNone/>
            </a:pPr>
            <a:endParaRPr lang="en-GB" sz="2000" dirty="0"/>
          </a:p>
          <a:p>
            <a:r>
              <a:rPr lang="en-GB" sz="2400" dirty="0"/>
              <a:t> Two basic types of clustering:</a:t>
            </a:r>
          </a:p>
          <a:p>
            <a:pPr lvl="1"/>
            <a:r>
              <a:rPr lang="en-GB" sz="2000" dirty="0"/>
              <a:t>Centroid based (a.k.a. Partitional)</a:t>
            </a:r>
          </a:p>
          <a:p>
            <a:pPr lvl="1"/>
            <a:r>
              <a:rPr lang="en-GB" sz="2000" dirty="0"/>
              <a:t>Hierarchical</a:t>
            </a:r>
          </a:p>
          <a:p>
            <a:pPr marL="342900" lvl="1" indent="0">
              <a:buNone/>
            </a:pPr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0DD61-5E42-89D9-2D97-2788EB0D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341"/>
            <a:ext cx="10490886" cy="680882"/>
          </a:xfrm>
        </p:spPr>
        <p:txBody>
          <a:bodyPr/>
          <a:lstStyle/>
          <a:p>
            <a:r>
              <a:rPr lang="en-US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318526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 descr="hr-clustering-colou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3360" y="2305814"/>
            <a:ext cx="6351588" cy="434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>
          <a:xfrm>
            <a:off x="2111375" y="975283"/>
            <a:ext cx="8229600" cy="407373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 Ideally : create clusters of data items to achieve:</a:t>
            </a:r>
          </a:p>
          <a:p>
            <a:pPr lvl="1"/>
            <a:r>
              <a:rPr lang="en-GB" dirty="0"/>
              <a:t>Maximum similarity between items within a cluster</a:t>
            </a:r>
          </a:p>
          <a:p>
            <a:pPr lvl="1"/>
            <a:r>
              <a:rPr lang="en-GB" dirty="0"/>
              <a:t>Maximum dissimilarity between characteristics of different clusters</a:t>
            </a:r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4907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chemeClr val="accent2"/>
                </a:solidFill>
              </a:rPr>
              <a:t>Clustering: Main idea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7401560" y="4134613"/>
            <a:ext cx="3200400" cy="2057400"/>
            <a:chOff x="5715000" y="4495800"/>
            <a:chExt cx="3200400" cy="2057400"/>
          </a:xfrm>
        </p:grpSpPr>
        <p:sp>
          <p:nvSpPr>
            <p:cNvPr id="43022" name="Line 32"/>
            <p:cNvSpPr>
              <a:spLocks noChangeShapeType="1"/>
            </p:cNvSpPr>
            <p:nvPr/>
          </p:nvSpPr>
          <p:spPr bwMode="auto">
            <a:xfrm flipV="1">
              <a:off x="5715000" y="4495800"/>
              <a:ext cx="304800" cy="457200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23" name="AutoShape 33"/>
            <p:cNvSpPr>
              <a:spLocks noChangeArrowheads="1"/>
            </p:cNvSpPr>
            <p:nvPr/>
          </p:nvSpPr>
          <p:spPr bwMode="auto">
            <a:xfrm>
              <a:off x="7086600" y="5533813"/>
              <a:ext cx="1828800" cy="1019387"/>
            </a:xfrm>
            <a:prstGeom prst="wedgeRectCallout">
              <a:avLst>
                <a:gd name="adj1" fmla="val -108755"/>
                <a:gd name="adj2" fmla="val -128056"/>
              </a:avLst>
            </a:prstGeom>
            <a:solidFill>
              <a:schemeClr val="tx2">
                <a:lumMod val="25000"/>
                <a:lumOff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sz="2000" dirty="0">
                  <a:latin typeface="Tahoma" charset="0"/>
                </a:rPr>
                <a:t>Inter-cluster distances are maximized</a:t>
              </a:r>
            </a:p>
          </p:txBody>
        </p:sp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1686560" y="2305813"/>
            <a:ext cx="4038600" cy="2743200"/>
            <a:chOff x="0" y="2667000"/>
            <a:chExt cx="4038600" cy="2743200"/>
          </a:xfrm>
        </p:grpSpPr>
        <p:sp>
          <p:nvSpPr>
            <p:cNvPr id="43020" name="Line 39"/>
            <p:cNvSpPr>
              <a:spLocks noChangeShapeType="1"/>
            </p:cNvSpPr>
            <p:nvPr/>
          </p:nvSpPr>
          <p:spPr bwMode="auto">
            <a:xfrm flipV="1">
              <a:off x="3733800" y="5257800"/>
              <a:ext cx="304800" cy="152400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21" name="AutoShape 40"/>
            <p:cNvSpPr>
              <a:spLocks noChangeArrowheads="1"/>
            </p:cNvSpPr>
            <p:nvPr/>
          </p:nvSpPr>
          <p:spPr bwMode="auto">
            <a:xfrm>
              <a:off x="0" y="2667000"/>
              <a:ext cx="1981200" cy="1066800"/>
            </a:xfrm>
            <a:prstGeom prst="wedgeRectCallout">
              <a:avLst>
                <a:gd name="adj1" fmla="val 128856"/>
                <a:gd name="adj2" fmla="val 186935"/>
              </a:avLst>
            </a:prstGeom>
            <a:solidFill>
              <a:schemeClr val="tx2">
                <a:lumMod val="25000"/>
                <a:lumOff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sz="2000" dirty="0">
                  <a:latin typeface="Tahoma" charset="0"/>
                </a:rPr>
                <a:t>Intra-cluster distances are minimized</a:t>
              </a:r>
            </a:p>
          </p:txBody>
        </p:sp>
      </p:grp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4525010" y="2885252"/>
            <a:ext cx="3727450" cy="2357437"/>
            <a:chOff x="2838737" y="3246120"/>
            <a:chExt cx="3726804" cy="2357553"/>
          </a:xfrm>
        </p:grpSpPr>
        <p:sp>
          <p:nvSpPr>
            <p:cNvPr id="43016" name="Oval 35"/>
            <p:cNvSpPr>
              <a:spLocks noChangeArrowheads="1"/>
            </p:cNvSpPr>
            <p:nvPr/>
          </p:nvSpPr>
          <p:spPr bwMode="auto">
            <a:xfrm rot="1088894">
              <a:off x="3415023" y="5070273"/>
              <a:ext cx="838200" cy="53340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7" name="Oval 36"/>
            <p:cNvSpPr>
              <a:spLocks noChangeArrowheads="1"/>
            </p:cNvSpPr>
            <p:nvPr/>
          </p:nvSpPr>
          <p:spPr bwMode="auto">
            <a:xfrm>
              <a:off x="4648200" y="3246120"/>
              <a:ext cx="1752600" cy="48768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8" name="Oval 37"/>
            <p:cNvSpPr>
              <a:spLocks noChangeArrowheads="1"/>
            </p:cNvSpPr>
            <p:nvPr/>
          </p:nvSpPr>
          <p:spPr bwMode="auto">
            <a:xfrm>
              <a:off x="5181600" y="3779520"/>
              <a:ext cx="1295400" cy="79248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9" name="Oval 36"/>
            <p:cNvSpPr>
              <a:spLocks noChangeArrowheads="1"/>
            </p:cNvSpPr>
            <p:nvPr/>
          </p:nvSpPr>
          <p:spPr bwMode="auto">
            <a:xfrm rot="2099565">
              <a:off x="2838737" y="4217254"/>
              <a:ext cx="3726804" cy="655467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939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CFE9F-488A-7E43-18A0-A74D7A11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B1E24-55FE-4902-EDD6-ABA83BBA9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One popular type of clustering is called “</a:t>
            </a:r>
            <a:r>
              <a:rPr lang="en-US" sz="2800" i="1" dirty="0"/>
              <a:t>k-means clustering”</a:t>
            </a:r>
          </a:p>
          <a:p>
            <a:pPr lvl="1"/>
            <a:r>
              <a:rPr lang="en-US" sz="2400" dirty="0"/>
              <a:t>Again with the </a:t>
            </a:r>
            <a:r>
              <a:rPr lang="en-US" sz="2400" i="1" dirty="0"/>
              <a:t>k!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sz="2800" dirty="0"/>
              <a:t>k-means clustering:</a:t>
            </a:r>
          </a:p>
          <a:p>
            <a:pPr lvl="1"/>
            <a:r>
              <a:rPr lang="en-US" sz="2400" dirty="0"/>
              <a:t>Requires you to pick the number of clusters when you start – k!</a:t>
            </a:r>
          </a:p>
          <a:p>
            <a:pPr lvl="1"/>
            <a:r>
              <a:rPr lang="en-US" sz="2400" dirty="0"/>
              <a:t>Start with some guess as to the cluster centers</a:t>
            </a:r>
          </a:p>
          <a:p>
            <a:pPr lvl="1"/>
            <a:r>
              <a:rPr lang="en-US" sz="2400" dirty="0"/>
              <a:t>Iterate between</a:t>
            </a:r>
          </a:p>
          <a:p>
            <a:pPr lvl="2"/>
            <a:r>
              <a:rPr lang="en-US" sz="1800" dirty="0"/>
              <a:t>Classifying each point in one of the clusters</a:t>
            </a:r>
          </a:p>
          <a:p>
            <a:pPr lvl="2"/>
            <a:r>
              <a:rPr lang="en-US" sz="1800" dirty="0"/>
              <a:t>Recalculating cluster centers</a:t>
            </a:r>
          </a:p>
          <a:p>
            <a:pPr lvl="1"/>
            <a:endParaRPr lang="en-US" sz="24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CF83A-CAD9-4812-99B8-1B26F98DA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5" y="136523"/>
            <a:ext cx="10344665" cy="709913"/>
          </a:xfrm>
        </p:spPr>
        <p:txBody>
          <a:bodyPr/>
          <a:lstStyle/>
          <a:p>
            <a:r>
              <a:rPr lang="en-US" dirty="0"/>
              <a:t>Clusters: k-means</a:t>
            </a:r>
          </a:p>
        </p:txBody>
      </p:sp>
    </p:spTree>
    <p:extLst>
      <p:ext uri="{BB962C8B-B14F-4D97-AF65-F5344CB8AC3E}">
        <p14:creationId xmlns:p14="http://schemas.microsoft.com/office/powerpoint/2010/main" val="3057510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K-Means</a:t>
            </a:r>
          </a:p>
        </p:txBody>
      </p:sp>
      <p:sp>
        <p:nvSpPr>
          <p:cNvPr id="46085" name="Line 4"/>
          <p:cNvSpPr>
            <a:spLocks noChangeShapeType="1"/>
          </p:cNvSpPr>
          <p:nvPr/>
        </p:nvSpPr>
        <p:spPr bwMode="auto">
          <a:xfrm flipV="1">
            <a:off x="3048000" y="1981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6" name="Line 5"/>
          <p:cNvSpPr>
            <a:spLocks noChangeShapeType="1"/>
          </p:cNvSpPr>
          <p:nvPr/>
        </p:nvSpPr>
        <p:spPr bwMode="auto">
          <a:xfrm>
            <a:off x="3048000" y="55626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7" name="Oval 6"/>
          <p:cNvSpPr>
            <a:spLocks noChangeArrowheads="1"/>
          </p:cNvSpPr>
          <p:nvPr/>
        </p:nvSpPr>
        <p:spPr bwMode="auto">
          <a:xfrm>
            <a:off x="3429000" y="464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8" name="Oval 7"/>
          <p:cNvSpPr>
            <a:spLocks noChangeArrowheads="1"/>
          </p:cNvSpPr>
          <p:nvPr/>
        </p:nvSpPr>
        <p:spPr bwMode="auto">
          <a:xfrm>
            <a:off x="4114800" y="4572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9" name="Oval 8"/>
          <p:cNvSpPr>
            <a:spLocks noChangeArrowheads="1"/>
          </p:cNvSpPr>
          <p:nvPr/>
        </p:nvSpPr>
        <p:spPr bwMode="auto">
          <a:xfrm>
            <a:off x="3657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0" name="Oval 9"/>
          <p:cNvSpPr>
            <a:spLocks noChangeArrowheads="1"/>
          </p:cNvSpPr>
          <p:nvPr/>
        </p:nvSpPr>
        <p:spPr bwMode="auto">
          <a:xfrm>
            <a:off x="3733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1" name="Oval 10"/>
          <p:cNvSpPr>
            <a:spLocks noChangeArrowheads="1"/>
          </p:cNvSpPr>
          <p:nvPr/>
        </p:nvSpPr>
        <p:spPr bwMode="auto">
          <a:xfrm>
            <a:off x="44958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2" name="Oval 11"/>
          <p:cNvSpPr>
            <a:spLocks noChangeArrowheads="1"/>
          </p:cNvSpPr>
          <p:nvPr/>
        </p:nvSpPr>
        <p:spPr bwMode="auto">
          <a:xfrm>
            <a:off x="6172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3" name="Oval 12"/>
          <p:cNvSpPr>
            <a:spLocks noChangeArrowheads="1"/>
          </p:cNvSpPr>
          <p:nvPr/>
        </p:nvSpPr>
        <p:spPr bwMode="auto">
          <a:xfrm>
            <a:off x="67818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4" name="Oval 13"/>
          <p:cNvSpPr>
            <a:spLocks noChangeArrowheads="1"/>
          </p:cNvSpPr>
          <p:nvPr/>
        </p:nvSpPr>
        <p:spPr bwMode="auto">
          <a:xfrm>
            <a:off x="6553200" y="3733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5" name="Oval 14"/>
          <p:cNvSpPr>
            <a:spLocks noChangeArrowheads="1"/>
          </p:cNvSpPr>
          <p:nvPr/>
        </p:nvSpPr>
        <p:spPr bwMode="auto">
          <a:xfrm>
            <a:off x="6934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6" name="Oval 15"/>
          <p:cNvSpPr>
            <a:spLocks noChangeArrowheads="1"/>
          </p:cNvSpPr>
          <p:nvPr/>
        </p:nvSpPr>
        <p:spPr bwMode="auto">
          <a:xfrm>
            <a:off x="6553200" y="2971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7" name="Oval 16"/>
          <p:cNvSpPr>
            <a:spLocks noChangeArrowheads="1"/>
          </p:cNvSpPr>
          <p:nvPr/>
        </p:nvSpPr>
        <p:spPr bwMode="auto">
          <a:xfrm>
            <a:off x="3886200" y="2819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8" name="Oval 17"/>
          <p:cNvSpPr>
            <a:spLocks noChangeArrowheads="1"/>
          </p:cNvSpPr>
          <p:nvPr/>
        </p:nvSpPr>
        <p:spPr bwMode="auto">
          <a:xfrm>
            <a:off x="34290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9" name="Oval 18"/>
          <p:cNvSpPr>
            <a:spLocks noChangeArrowheads="1"/>
          </p:cNvSpPr>
          <p:nvPr/>
        </p:nvSpPr>
        <p:spPr bwMode="auto">
          <a:xfrm>
            <a:off x="3505200" y="3048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0" name="Oval 19"/>
          <p:cNvSpPr>
            <a:spLocks noChangeArrowheads="1"/>
          </p:cNvSpPr>
          <p:nvPr/>
        </p:nvSpPr>
        <p:spPr bwMode="auto">
          <a:xfrm>
            <a:off x="4419600" y="2667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1" name="Oval 20"/>
          <p:cNvSpPr>
            <a:spLocks noChangeArrowheads="1"/>
          </p:cNvSpPr>
          <p:nvPr/>
        </p:nvSpPr>
        <p:spPr bwMode="auto">
          <a:xfrm>
            <a:off x="3886200" y="3200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2" name="Oval 21"/>
          <p:cNvSpPr>
            <a:spLocks noChangeArrowheads="1"/>
          </p:cNvSpPr>
          <p:nvPr/>
        </p:nvSpPr>
        <p:spPr bwMode="auto">
          <a:xfrm>
            <a:off x="4343400" y="3200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3" name="Oval 22"/>
          <p:cNvSpPr>
            <a:spLocks noChangeArrowheads="1"/>
          </p:cNvSpPr>
          <p:nvPr/>
        </p:nvSpPr>
        <p:spPr bwMode="auto">
          <a:xfrm>
            <a:off x="3886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4" name="Oval 24"/>
          <p:cNvSpPr>
            <a:spLocks noChangeArrowheads="1"/>
          </p:cNvSpPr>
          <p:nvPr/>
        </p:nvSpPr>
        <p:spPr bwMode="auto">
          <a:xfrm>
            <a:off x="3276600" y="3886200"/>
            <a:ext cx="228600" cy="2286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Oval 25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accent2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6106" name="Oval 26"/>
          <p:cNvSpPr>
            <a:spLocks noChangeArrowheads="1"/>
          </p:cNvSpPr>
          <p:nvPr/>
        </p:nvSpPr>
        <p:spPr bwMode="auto">
          <a:xfrm>
            <a:off x="5715000" y="3886200"/>
            <a:ext cx="228600" cy="228600"/>
          </a:xfrm>
          <a:prstGeom prst="ellipse">
            <a:avLst/>
          </a:prstGeom>
          <a:solidFill>
            <a:srgbClr val="00B050"/>
          </a:solidFill>
          <a:ln w="3810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7" name="Line 27"/>
          <p:cNvSpPr>
            <a:spLocks noChangeShapeType="1"/>
          </p:cNvSpPr>
          <p:nvPr/>
        </p:nvSpPr>
        <p:spPr bwMode="auto">
          <a:xfrm flipH="1" flipV="1">
            <a:off x="3505200" y="4114800"/>
            <a:ext cx="26670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8" name="Line 28"/>
          <p:cNvSpPr>
            <a:spLocks noChangeShapeType="1"/>
          </p:cNvSpPr>
          <p:nvPr/>
        </p:nvSpPr>
        <p:spPr bwMode="auto">
          <a:xfrm flipH="1" flipV="1">
            <a:off x="4419600" y="3810000"/>
            <a:ext cx="17526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9" name="Line 29"/>
          <p:cNvSpPr>
            <a:spLocks noChangeShapeType="1"/>
          </p:cNvSpPr>
          <p:nvPr/>
        </p:nvSpPr>
        <p:spPr bwMode="auto">
          <a:xfrm flipH="1" flipV="1">
            <a:off x="5943600" y="4191000"/>
            <a:ext cx="2286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10" name="Text Box 30"/>
          <p:cNvSpPr txBox="1">
            <a:spLocks noChangeArrowheads="1"/>
          </p:cNvSpPr>
          <p:nvPr/>
        </p:nvSpPr>
        <p:spPr bwMode="auto">
          <a:xfrm>
            <a:off x="5927726" y="5908676"/>
            <a:ext cx="9883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Seeds</a:t>
            </a:r>
          </a:p>
        </p:txBody>
      </p:sp>
      <p:sp>
        <p:nvSpPr>
          <p:cNvPr id="46111" name="Text Box 31"/>
          <p:cNvSpPr txBox="1">
            <a:spLocks noChangeArrowheads="1"/>
          </p:cNvSpPr>
          <p:nvPr/>
        </p:nvSpPr>
        <p:spPr bwMode="auto">
          <a:xfrm>
            <a:off x="8534409" y="308420"/>
            <a:ext cx="3254486" cy="16312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Predetermined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clusters</a:t>
            </a:r>
          </a:p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with seed centroids – random??</a:t>
            </a:r>
          </a:p>
        </p:txBody>
      </p:sp>
    </p:spTree>
    <p:extLst>
      <p:ext uri="{BB962C8B-B14F-4D97-AF65-F5344CB8AC3E}">
        <p14:creationId xmlns:p14="http://schemas.microsoft.com/office/powerpoint/2010/main" val="3344220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Mining and Knowledge Discovery</a:t>
            </a:r>
          </a:p>
        </p:txBody>
      </p:sp>
      <p:sp>
        <p:nvSpPr>
          <p:cNvPr id="307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815010-B3AD-46FC-9E67-9255006E955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Assign Instances to Clusters</a:t>
            </a:r>
          </a:p>
        </p:txBody>
      </p:sp>
      <p:sp>
        <p:nvSpPr>
          <p:cNvPr id="47109" name="Line 3"/>
          <p:cNvSpPr>
            <a:spLocks noChangeShapeType="1"/>
          </p:cNvSpPr>
          <p:nvPr/>
        </p:nvSpPr>
        <p:spPr bwMode="auto">
          <a:xfrm flipV="1">
            <a:off x="3048000" y="1981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Line 4"/>
          <p:cNvSpPr>
            <a:spLocks noChangeShapeType="1"/>
          </p:cNvSpPr>
          <p:nvPr/>
        </p:nvSpPr>
        <p:spPr bwMode="auto">
          <a:xfrm>
            <a:off x="3048000" y="55626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1" name="Oval 5"/>
          <p:cNvSpPr>
            <a:spLocks noChangeArrowheads="1"/>
          </p:cNvSpPr>
          <p:nvPr/>
        </p:nvSpPr>
        <p:spPr bwMode="auto">
          <a:xfrm>
            <a:off x="3429000" y="464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2" name="Oval 6"/>
          <p:cNvSpPr>
            <a:spLocks noChangeArrowheads="1"/>
          </p:cNvSpPr>
          <p:nvPr/>
        </p:nvSpPr>
        <p:spPr bwMode="auto">
          <a:xfrm>
            <a:off x="4114800" y="4572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3" name="Oval 7"/>
          <p:cNvSpPr>
            <a:spLocks noChangeArrowheads="1"/>
          </p:cNvSpPr>
          <p:nvPr/>
        </p:nvSpPr>
        <p:spPr bwMode="auto">
          <a:xfrm>
            <a:off x="3657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4" name="Oval 8"/>
          <p:cNvSpPr>
            <a:spLocks noChangeArrowheads="1"/>
          </p:cNvSpPr>
          <p:nvPr/>
        </p:nvSpPr>
        <p:spPr bwMode="auto">
          <a:xfrm>
            <a:off x="3733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5" name="Oval 9"/>
          <p:cNvSpPr>
            <a:spLocks noChangeArrowheads="1"/>
          </p:cNvSpPr>
          <p:nvPr/>
        </p:nvSpPr>
        <p:spPr bwMode="auto">
          <a:xfrm>
            <a:off x="44958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6" name="Oval 10"/>
          <p:cNvSpPr>
            <a:spLocks noChangeArrowheads="1"/>
          </p:cNvSpPr>
          <p:nvPr/>
        </p:nvSpPr>
        <p:spPr bwMode="auto">
          <a:xfrm>
            <a:off x="6172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Oval 11"/>
          <p:cNvSpPr>
            <a:spLocks noChangeArrowheads="1"/>
          </p:cNvSpPr>
          <p:nvPr/>
        </p:nvSpPr>
        <p:spPr bwMode="auto">
          <a:xfrm>
            <a:off x="67818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8" name="Oval 12"/>
          <p:cNvSpPr>
            <a:spLocks noChangeArrowheads="1"/>
          </p:cNvSpPr>
          <p:nvPr/>
        </p:nvSpPr>
        <p:spPr bwMode="auto">
          <a:xfrm>
            <a:off x="6553200" y="3733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9" name="Oval 13"/>
          <p:cNvSpPr>
            <a:spLocks noChangeArrowheads="1"/>
          </p:cNvSpPr>
          <p:nvPr/>
        </p:nvSpPr>
        <p:spPr bwMode="auto">
          <a:xfrm>
            <a:off x="6934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0" name="Oval 14"/>
          <p:cNvSpPr>
            <a:spLocks noChangeArrowheads="1"/>
          </p:cNvSpPr>
          <p:nvPr/>
        </p:nvSpPr>
        <p:spPr bwMode="auto">
          <a:xfrm>
            <a:off x="6553200" y="2971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1" name="Oval 15"/>
          <p:cNvSpPr>
            <a:spLocks noChangeArrowheads="1"/>
          </p:cNvSpPr>
          <p:nvPr/>
        </p:nvSpPr>
        <p:spPr bwMode="auto">
          <a:xfrm>
            <a:off x="3886200" y="2819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Oval 16"/>
          <p:cNvSpPr>
            <a:spLocks noChangeArrowheads="1"/>
          </p:cNvSpPr>
          <p:nvPr/>
        </p:nvSpPr>
        <p:spPr bwMode="auto">
          <a:xfrm>
            <a:off x="34290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3" name="Oval 17"/>
          <p:cNvSpPr>
            <a:spLocks noChangeArrowheads="1"/>
          </p:cNvSpPr>
          <p:nvPr/>
        </p:nvSpPr>
        <p:spPr bwMode="auto">
          <a:xfrm>
            <a:off x="3505200" y="3048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4" name="Oval 18"/>
          <p:cNvSpPr>
            <a:spLocks noChangeArrowheads="1"/>
          </p:cNvSpPr>
          <p:nvPr/>
        </p:nvSpPr>
        <p:spPr bwMode="auto">
          <a:xfrm>
            <a:off x="4419600" y="2667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5" name="Oval 19"/>
          <p:cNvSpPr>
            <a:spLocks noChangeArrowheads="1"/>
          </p:cNvSpPr>
          <p:nvPr/>
        </p:nvSpPr>
        <p:spPr bwMode="auto">
          <a:xfrm>
            <a:off x="3886200" y="3200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6" name="Oval 20"/>
          <p:cNvSpPr>
            <a:spLocks noChangeArrowheads="1"/>
          </p:cNvSpPr>
          <p:nvPr/>
        </p:nvSpPr>
        <p:spPr bwMode="auto">
          <a:xfrm>
            <a:off x="4343400" y="3200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7" name="Oval 21"/>
          <p:cNvSpPr>
            <a:spLocks noChangeArrowheads="1"/>
          </p:cNvSpPr>
          <p:nvPr/>
        </p:nvSpPr>
        <p:spPr bwMode="auto">
          <a:xfrm>
            <a:off x="3886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8" name="Oval 22"/>
          <p:cNvSpPr>
            <a:spLocks noChangeArrowheads="1"/>
          </p:cNvSpPr>
          <p:nvPr/>
        </p:nvSpPr>
        <p:spPr bwMode="auto">
          <a:xfrm>
            <a:off x="3276600" y="3886200"/>
            <a:ext cx="228600" cy="2286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45" name="Oval 23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accent2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7130" name="Oval 24"/>
          <p:cNvSpPr>
            <a:spLocks noChangeArrowheads="1"/>
          </p:cNvSpPr>
          <p:nvPr/>
        </p:nvSpPr>
        <p:spPr bwMode="auto">
          <a:xfrm>
            <a:off x="5715000" y="3886200"/>
            <a:ext cx="228600" cy="228600"/>
          </a:xfrm>
          <a:prstGeom prst="ellipse">
            <a:avLst/>
          </a:prstGeom>
          <a:solidFill>
            <a:srgbClr val="00B050"/>
          </a:solidFill>
          <a:ln w="3810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1" name="Line 30"/>
          <p:cNvSpPr>
            <a:spLocks noChangeShapeType="1"/>
          </p:cNvSpPr>
          <p:nvPr/>
        </p:nvSpPr>
        <p:spPr bwMode="auto">
          <a:xfrm>
            <a:off x="3048000" y="3200400"/>
            <a:ext cx="23622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2" name="Line 31"/>
          <p:cNvSpPr>
            <a:spLocks noChangeShapeType="1"/>
          </p:cNvSpPr>
          <p:nvPr/>
        </p:nvSpPr>
        <p:spPr bwMode="auto">
          <a:xfrm flipV="1">
            <a:off x="4267200" y="2133600"/>
            <a:ext cx="28194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 Box 31">
            <a:extLst>
              <a:ext uri="{FF2B5EF4-FFF2-40B4-BE49-F238E27FC236}">
                <a16:creationId xmlns:a16="http://schemas.microsoft.com/office/drawing/2014/main" id="{426CA26C-ED08-4530-02C4-B9AC70C22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2660047"/>
            <a:ext cx="2603330" cy="16312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Every point gets assigned to a cluster based on which centroid it is closest to</a:t>
            </a:r>
          </a:p>
        </p:txBody>
      </p:sp>
    </p:spTree>
    <p:extLst>
      <p:ext uri="{BB962C8B-B14F-4D97-AF65-F5344CB8AC3E}">
        <p14:creationId xmlns:p14="http://schemas.microsoft.com/office/powerpoint/2010/main" val="2640367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Mining and Knowledge Discovery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6DF4AF-049A-4DA5-B24F-8DD9D307285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141"/>
            <a:ext cx="10515600" cy="100155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Find New Centroids</a:t>
            </a:r>
          </a:p>
        </p:txBody>
      </p:sp>
      <p:sp>
        <p:nvSpPr>
          <p:cNvPr id="48133" name="Line 3"/>
          <p:cNvSpPr>
            <a:spLocks noChangeShapeType="1"/>
          </p:cNvSpPr>
          <p:nvPr/>
        </p:nvSpPr>
        <p:spPr bwMode="auto">
          <a:xfrm flipV="1">
            <a:off x="3048000" y="1981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4" name="Line 4"/>
          <p:cNvSpPr>
            <a:spLocks noChangeShapeType="1"/>
          </p:cNvSpPr>
          <p:nvPr/>
        </p:nvSpPr>
        <p:spPr bwMode="auto">
          <a:xfrm>
            <a:off x="3048000" y="55626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5" name="Oval 5"/>
          <p:cNvSpPr>
            <a:spLocks noChangeArrowheads="1"/>
          </p:cNvSpPr>
          <p:nvPr/>
        </p:nvSpPr>
        <p:spPr bwMode="auto">
          <a:xfrm>
            <a:off x="3429000" y="464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6" name="Oval 6"/>
          <p:cNvSpPr>
            <a:spLocks noChangeArrowheads="1"/>
          </p:cNvSpPr>
          <p:nvPr/>
        </p:nvSpPr>
        <p:spPr bwMode="auto">
          <a:xfrm>
            <a:off x="4114800" y="4572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7" name="Oval 7"/>
          <p:cNvSpPr>
            <a:spLocks noChangeArrowheads="1"/>
          </p:cNvSpPr>
          <p:nvPr/>
        </p:nvSpPr>
        <p:spPr bwMode="auto">
          <a:xfrm>
            <a:off x="3657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8" name="Oval 8"/>
          <p:cNvSpPr>
            <a:spLocks noChangeArrowheads="1"/>
          </p:cNvSpPr>
          <p:nvPr/>
        </p:nvSpPr>
        <p:spPr bwMode="auto">
          <a:xfrm>
            <a:off x="3733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9" name="Oval 9"/>
          <p:cNvSpPr>
            <a:spLocks noChangeArrowheads="1"/>
          </p:cNvSpPr>
          <p:nvPr/>
        </p:nvSpPr>
        <p:spPr bwMode="auto">
          <a:xfrm>
            <a:off x="44958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0" name="Oval 10"/>
          <p:cNvSpPr>
            <a:spLocks noChangeArrowheads="1"/>
          </p:cNvSpPr>
          <p:nvPr/>
        </p:nvSpPr>
        <p:spPr bwMode="auto">
          <a:xfrm>
            <a:off x="6172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Oval 11"/>
          <p:cNvSpPr>
            <a:spLocks noChangeArrowheads="1"/>
          </p:cNvSpPr>
          <p:nvPr/>
        </p:nvSpPr>
        <p:spPr bwMode="auto">
          <a:xfrm>
            <a:off x="67818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2" name="Oval 12"/>
          <p:cNvSpPr>
            <a:spLocks noChangeArrowheads="1"/>
          </p:cNvSpPr>
          <p:nvPr/>
        </p:nvSpPr>
        <p:spPr bwMode="auto">
          <a:xfrm>
            <a:off x="6553200" y="3733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3" name="Oval 13"/>
          <p:cNvSpPr>
            <a:spLocks noChangeArrowheads="1"/>
          </p:cNvSpPr>
          <p:nvPr/>
        </p:nvSpPr>
        <p:spPr bwMode="auto">
          <a:xfrm>
            <a:off x="6934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4" name="Oval 14"/>
          <p:cNvSpPr>
            <a:spLocks noChangeArrowheads="1"/>
          </p:cNvSpPr>
          <p:nvPr/>
        </p:nvSpPr>
        <p:spPr bwMode="auto">
          <a:xfrm>
            <a:off x="6553200" y="2971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5" name="Oval 15"/>
          <p:cNvSpPr>
            <a:spLocks noChangeArrowheads="1"/>
          </p:cNvSpPr>
          <p:nvPr/>
        </p:nvSpPr>
        <p:spPr bwMode="auto">
          <a:xfrm>
            <a:off x="3886200" y="2819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6" name="Oval 16"/>
          <p:cNvSpPr>
            <a:spLocks noChangeArrowheads="1"/>
          </p:cNvSpPr>
          <p:nvPr/>
        </p:nvSpPr>
        <p:spPr bwMode="auto">
          <a:xfrm>
            <a:off x="34290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7" name="Oval 17"/>
          <p:cNvSpPr>
            <a:spLocks noChangeArrowheads="1"/>
          </p:cNvSpPr>
          <p:nvPr/>
        </p:nvSpPr>
        <p:spPr bwMode="auto">
          <a:xfrm>
            <a:off x="3505200" y="3048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8" name="Oval 18"/>
          <p:cNvSpPr>
            <a:spLocks noChangeArrowheads="1"/>
          </p:cNvSpPr>
          <p:nvPr/>
        </p:nvSpPr>
        <p:spPr bwMode="auto">
          <a:xfrm>
            <a:off x="4419600" y="2667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9" name="Oval 19"/>
          <p:cNvSpPr>
            <a:spLocks noChangeArrowheads="1"/>
          </p:cNvSpPr>
          <p:nvPr/>
        </p:nvSpPr>
        <p:spPr bwMode="auto">
          <a:xfrm>
            <a:off x="3886200" y="3200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0" name="Oval 20"/>
          <p:cNvSpPr>
            <a:spLocks noChangeArrowheads="1"/>
          </p:cNvSpPr>
          <p:nvPr/>
        </p:nvSpPr>
        <p:spPr bwMode="auto">
          <a:xfrm>
            <a:off x="4343400" y="3200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1" name="Oval 21"/>
          <p:cNvSpPr>
            <a:spLocks noChangeArrowheads="1"/>
          </p:cNvSpPr>
          <p:nvPr/>
        </p:nvSpPr>
        <p:spPr bwMode="auto">
          <a:xfrm>
            <a:off x="3886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2" name="Oval 22"/>
          <p:cNvSpPr>
            <a:spLocks noChangeArrowheads="1"/>
          </p:cNvSpPr>
          <p:nvPr/>
        </p:nvSpPr>
        <p:spPr bwMode="auto">
          <a:xfrm>
            <a:off x="3276600" y="3886200"/>
            <a:ext cx="228600" cy="228600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3" name="Oval 23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4" name="Oval 24"/>
          <p:cNvSpPr>
            <a:spLocks noChangeArrowheads="1"/>
          </p:cNvSpPr>
          <p:nvPr/>
        </p:nvSpPr>
        <p:spPr bwMode="auto">
          <a:xfrm>
            <a:off x="5715000" y="3886200"/>
            <a:ext cx="228600" cy="228600"/>
          </a:xfrm>
          <a:prstGeom prst="ellipse">
            <a:avLst/>
          </a:prstGeom>
          <a:solidFill>
            <a:srgbClr val="FFFF99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5" name="AutoShape 29"/>
          <p:cNvSpPr>
            <a:spLocks noChangeArrowheads="1"/>
          </p:cNvSpPr>
          <p:nvPr/>
        </p:nvSpPr>
        <p:spPr bwMode="auto">
          <a:xfrm>
            <a:off x="3581400" y="4419600"/>
            <a:ext cx="228600" cy="228600"/>
          </a:xfrm>
          <a:prstGeom prst="plus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6" name="AutoShape 30"/>
          <p:cNvSpPr>
            <a:spLocks noChangeArrowheads="1"/>
          </p:cNvSpPr>
          <p:nvPr/>
        </p:nvSpPr>
        <p:spPr bwMode="auto">
          <a:xfrm>
            <a:off x="6324600" y="3657600"/>
            <a:ext cx="228600" cy="228600"/>
          </a:xfrm>
          <a:prstGeom prst="plus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7" name="AutoShape 31"/>
          <p:cNvSpPr>
            <a:spLocks noChangeArrowheads="1"/>
          </p:cNvSpPr>
          <p:nvPr/>
        </p:nvSpPr>
        <p:spPr bwMode="auto">
          <a:xfrm>
            <a:off x="3962400" y="2819400"/>
            <a:ext cx="228600" cy="228600"/>
          </a:xfrm>
          <a:prstGeom prst="plus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8" name="Oval 32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9" name="Oval 33"/>
          <p:cNvSpPr>
            <a:spLocks noChangeArrowheads="1"/>
          </p:cNvSpPr>
          <p:nvPr/>
        </p:nvSpPr>
        <p:spPr bwMode="auto">
          <a:xfrm>
            <a:off x="3276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0" name="Oval 34"/>
          <p:cNvSpPr>
            <a:spLocks noChangeArrowheads="1"/>
          </p:cNvSpPr>
          <p:nvPr/>
        </p:nvSpPr>
        <p:spPr bwMode="auto">
          <a:xfrm>
            <a:off x="5715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 Box 31">
            <a:extLst>
              <a:ext uri="{FF2B5EF4-FFF2-40B4-BE49-F238E27FC236}">
                <a16:creationId xmlns:a16="http://schemas.microsoft.com/office/drawing/2014/main" id="{F8748019-D512-8D70-3B6E-B5674AA90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383" y="2806869"/>
            <a:ext cx="2723634" cy="10156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new centroids of the clusters </a:t>
            </a:r>
          </a:p>
        </p:txBody>
      </p:sp>
    </p:spTree>
    <p:extLst>
      <p:ext uri="{BB962C8B-B14F-4D97-AF65-F5344CB8AC3E}">
        <p14:creationId xmlns:p14="http://schemas.microsoft.com/office/powerpoint/2010/main" val="1186111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E4A12D-BC90-4E34-84B7-1D1CF9E6F12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27454" y="32620"/>
            <a:ext cx="10515600" cy="100155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New Clusters</a:t>
            </a:r>
          </a:p>
        </p:txBody>
      </p:sp>
      <p:sp>
        <p:nvSpPr>
          <p:cNvPr id="49157" name="Line 3"/>
          <p:cNvSpPr>
            <a:spLocks noChangeShapeType="1"/>
          </p:cNvSpPr>
          <p:nvPr/>
        </p:nvSpPr>
        <p:spPr bwMode="auto">
          <a:xfrm flipV="1">
            <a:off x="3048000" y="1981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58" name="Line 4"/>
          <p:cNvSpPr>
            <a:spLocks noChangeShapeType="1"/>
          </p:cNvSpPr>
          <p:nvPr/>
        </p:nvSpPr>
        <p:spPr bwMode="auto">
          <a:xfrm>
            <a:off x="3048000" y="55626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59" name="Oval 5"/>
          <p:cNvSpPr>
            <a:spLocks noChangeArrowheads="1"/>
          </p:cNvSpPr>
          <p:nvPr/>
        </p:nvSpPr>
        <p:spPr bwMode="auto">
          <a:xfrm>
            <a:off x="3429000" y="464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0" name="Oval 6"/>
          <p:cNvSpPr>
            <a:spLocks noChangeArrowheads="1"/>
          </p:cNvSpPr>
          <p:nvPr/>
        </p:nvSpPr>
        <p:spPr bwMode="auto">
          <a:xfrm>
            <a:off x="4114800" y="4572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1" name="Oval 7"/>
          <p:cNvSpPr>
            <a:spLocks noChangeArrowheads="1"/>
          </p:cNvSpPr>
          <p:nvPr/>
        </p:nvSpPr>
        <p:spPr bwMode="auto">
          <a:xfrm>
            <a:off x="3657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2" name="Oval 8"/>
          <p:cNvSpPr>
            <a:spLocks noChangeArrowheads="1"/>
          </p:cNvSpPr>
          <p:nvPr/>
        </p:nvSpPr>
        <p:spPr bwMode="auto">
          <a:xfrm>
            <a:off x="3733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3" name="Oval 9"/>
          <p:cNvSpPr>
            <a:spLocks noChangeArrowheads="1"/>
          </p:cNvSpPr>
          <p:nvPr/>
        </p:nvSpPr>
        <p:spPr bwMode="auto">
          <a:xfrm>
            <a:off x="44958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4" name="Oval 10"/>
          <p:cNvSpPr>
            <a:spLocks noChangeArrowheads="1"/>
          </p:cNvSpPr>
          <p:nvPr/>
        </p:nvSpPr>
        <p:spPr bwMode="auto">
          <a:xfrm>
            <a:off x="6172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Oval 11"/>
          <p:cNvSpPr>
            <a:spLocks noChangeArrowheads="1"/>
          </p:cNvSpPr>
          <p:nvPr/>
        </p:nvSpPr>
        <p:spPr bwMode="auto">
          <a:xfrm>
            <a:off x="67818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6" name="Oval 12"/>
          <p:cNvSpPr>
            <a:spLocks noChangeArrowheads="1"/>
          </p:cNvSpPr>
          <p:nvPr/>
        </p:nvSpPr>
        <p:spPr bwMode="auto">
          <a:xfrm>
            <a:off x="6553200" y="3733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7" name="Oval 13"/>
          <p:cNvSpPr>
            <a:spLocks noChangeArrowheads="1"/>
          </p:cNvSpPr>
          <p:nvPr/>
        </p:nvSpPr>
        <p:spPr bwMode="auto">
          <a:xfrm>
            <a:off x="6934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8" name="Oval 14"/>
          <p:cNvSpPr>
            <a:spLocks noChangeArrowheads="1"/>
          </p:cNvSpPr>
          <p:nvPr/>
        </p:nvSpPr>
        <p:spPr bwMode="auto">
          <a:xfrm>
            <a:off x="6553200" y="2971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9" name="Oval 15"/>
          <p:cNvSpPr>
            <a:spLocks noChangeArrowheads="1"/>
          </p:cNvSpPr>
          <p:nvPr/>
        </p:nvSpPr>
        <p:spPr bwMode="auto">
          <a:xfrm>
            <a:off x="3886200" y="2819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0" name="Oval 16"/>
          <p:cNvSpPr>
            <a:spLocks noChangeArrowheads="1"/>
          </p:cNvSpPr>
          <p:nvPr/>
        </p:nvSpPr>
        <p:spPr bwMode="auto">
          <a:xfrm>
            <a:off x="34290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Oval 17"/>
          <p:cNvSpPr>
            <a:spLocks noChangeArrowheads="1"/>
          </p:cNvSpPr>
          <p:nvPr/>
        </p:nvSpPr>
        <p:spPr bwMode="auto">
          <a:xfrm>
            <a:off x="3505200" y="3048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Oval 18"/>
          <p:cNvSpPr>
            <a:spLocks noChangeArrowheads="1"/>
          </p:cNvSpPr>
          <p:nvPr/>
        </p:nvSpPr>
        <p:spPr bwMode="auto">
          <a:xfrm>
            <a:off x="4419600" y="2667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3" name="Oval 19"/>
          <p:cNvSpPr>
            <a:spLocks noChangeArrowheads="1"/>
          </p:cNvSpPr>
          <p:nvPr/>
        </p:nvSpPr>
        <p:spPr bwMode="auto">
          <a:xfrm>
            <a:off x="3886200" y="3200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4" name="Oval 20"/>
          <p:cNvSpPr>
            <a:spLocks noChangeArrowheads="1"/>
          </p:cNvSpPr>
          <p:nvPr/>
        </p:nvSpPr>
        <p:spPr bwMode="auto">
          <a:xfrm>
            <a:off x="4343400" y="3200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5" name="Oval 21"/>
          <p:cNvSpPr>
            <a:spLocks noChangeArrowheads="1"/>
          </p:cNvSpPr>
          <p:nvPr/>
        </p:nvSpPr>
        <p:spPr bwMode="auto">
          <a:xfrm>
            <a:off x="3886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6" name="Oval 22"/>
          <p:cNvSpPr>
            <a:spLocks noChangeArrowheads="1"/>
          </p:cNvSpPr>
          <p:nvPr/>
        </p:nvSpPr>
        <p:spPr bwMode="auto">
          <a:xfrm>
            <a:off x="3276600" y="3886200"/>
            <a:ext cx="228600" cy="228600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7" name="Oval 23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8" name="Oval 24"/>
          <p:cNvSpPr>
            <a:spLocks noChangeArrowheads="1"/>
          </p:cNvSpPr>
          <p:nvPr/>
        </p:nvSpPr>
        <p:spPr bwMode="auto">
          <a:xfrm>
            <a:off x="5715000" y="3886200"/>
            <a:ext cx="228600" cy="228600"/>
          </a:xfrm>
          <a:prstGeom prst="ellipse">
            <a:avLst/>
          </a:prstGeom>
          <a:solidFill>
            <a:srgbClr val="FFFF99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9" name="AutoShape 25"/>
          <p:cNvSpPr>
            <a:spLocks noChangeArrowheads="1"/>
          </p:cNvSpPr>
          <p:nvPr/>
        </p:nvSpPr>
        <p:spPr bwMode="auto">
          <a:xfrm>
            <a:off x="3581400" y="4419600"/>
            <a:ext cx="228600" cy="228600"/>
          </a:xfrm>
          <a:prstGeom prst="plus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0" name="AutoShape 26"/>
          <p:cNvSpPr>
            <a:spLocks noChangeArrowheads="1"/>
          </p:cNvSpPr>
          <p:nvPr/>
        </p:nvSpPr>
        <p:spPr bwMode="auto">
          <a:xfrm>
            <a:off x="6324600" y="3657600"/>
            <a:ext cx="228600" cy="228600"/>
          </a:xfrm>
          <a:prstGeom prst="plus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1" name="AutoShape 27"/>
          <p:cNvSpPr>
            <a:spLocks noChangeArrowheads="1"/>
          </p:cNvSpPr>
          <p:nvPr/>
        </p:nvSpPr>
        <p:spPr bwMode="auto">
          <a:xfrm>
            <a:off x="3962400" y="2819400"/>
            <a:ext cx="228600" cy="228600"/>
          </a:xfrm>
          <a:prstGeom prst="plus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2" name="Oval 28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3" name="Oval 29"/>
          <p:cNvSpPr>
            <a:spLocks noChangeArrowheads="1"/>
          </p:cNvSpPr>
          <p:nvPr/>
        </p:nvSpPr>
        <p:spPr bwMode="auto">
          <a:xfrm>
            <a:off x="3276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4" name="Oval 30"/>
          <p:cNvSpPr>
            <a:spLocks noChangeArrowheads="1"/>
          </p:cNvSpPr>
          <p:nvPr/>
        </p:nvSpPr>
        <p:spPr bwMode="auto">
          <a:xfrm>
            <a:off x="5715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5" name="Line 31"/>
          <p:cNvSpPr>
            <a:spLocks noChangeShapeType="1"/>
          </p:cNvSpPr>
          <p:nvPr/>
        </p:nvSpPr>
        <p:spPr bwMode="auto">
          <a:xfrm>
            <a:off x="3048000" y="3581400"/>
            <a:ext cx="2057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6" name="Line 32"/>
          <p:cNvSpPr>
            <a:spLocks noChangeShapeType="1"/>
          </p:cNvSpPr>
          <p:nvPr/>
        </p:nvSpPr>
        <p:spPr bwMode="auto">
          <a:xfrm>
            <a:off x="5105400" y="4114800"/>
            <a:ext cx="76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7" name="Line 33"/>
          <p:cNvSpPr>
            <a:spLocks noChangeShapeType="1"/>
          </p:cNvSpPr>
          <p:nvPr/>
        </p:nvSpPr>
        <p:spPr bwMode="auto">
          <a:xfrm flipV="1">
            <a:off x="5105400" y="2286000"/>
            <a:ext cx="15240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FEA9B-532D-8649-BC9A-C66902E549B5}"/>
              </a:ext>
            </a:extLst>
          </p:cNvPr>
          <p:cNvSpPr txBox="1"/>
          <p:nvPr/>
        </p:nvSpPr>
        <p:spPr>
          <a:xfrm>
            <a:off x="8556979" y="3276600"/>
            <a:ext cx="1220399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Repeat !!</a:t>
            </a:r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A399B740-8351-6279-2061-D2AA16C2C6C4}"/>
              </a:ext>
            </a:extLst>
          </p:cNvPr>
          <p:cNvSpPr txBox="1"/>
          <p:nvPr/>
        </p:nvSpPr>
        <p:spPr>
          <a:xfrm>
            <a:off x="8229600" y="4114800"/>
            <a:ext cx="2313454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Another example…</a:t>
            </a:r>
          </a:p>
        </p:txBody>
      </p:sp>
    </p:spTree>
    <p:extLst>
      <p:ext uri="{BB962C8B-B14F-4D97-AF65-F5344CB8AC3E}">
        <p14:creationId xmlns:p14="http://schemas.microsoft.com/office/powerpoint/2010/main" val="3743514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44C22E-B232-24EF-B103-27F65AF3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BDC56-1577-11F6-52AD-DCEBCD97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9"/>
            <a:ext cx="10515600" cy="1001559"/>
          </a:xfrm>
        </p:spPr>
        <p:txBody>
          <a:bodyPr/>
          <a:lstStyle/>
          <a:p>
            <a:r>
              <a:rPr lang="en-US" dirty="0"/>
              <a:t>K-means </a:t>
            </a:r>
          </a:p>
        </p:txBody>
      </p:sp>
      <p:pic>
        <p:nvPicPr>
          <p:cNvPr id="6" name="Online Media 5" descr="k-Means-Clustering visualized">
            <a:hlinkClick r:id="" action="ppaction://media"/>
            <a:extLst>
              <a:ext uri="{FF2B5EF4-FFF2-40B4-BE49-F238E27FC236}">
                <a16:creationId xmlns:a16="http://schemas.microsoft.com/office/drawing/2014/main" id="{9A2579BB-F1E1-496F-B038-A6EE466D512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rcRect/>
          <a:stretch/>
        </p:blipFill>
        <p:spPr>
          <a:xfrm>
            <a:off x="2643006" y="870026"/>
            <a:ext cx="7191188" cy="40630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C6147D-79F1-CCFC-EF22-E2BEDBAE057E}"/>
              </a:ext>
            </a:extLst>
          </p:cNvPr>
          <p:cNvSpPr txBox="1"/>
          <p:nvPr/>
        </p:nvSpPr>
        <p:spPr>
          <a:xfrm>
            <a:off x="2857500" y="5455342"/>
            <a:ext cx="7739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https://www.youtube.com/watch?v=DQTz7yVmz_g&amp;t=103s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(1:43)</a:t>
            </a:r>
          </a:p>
        </p:txBody>
      </p:sp>
    </p:spTree>
    <p:extLst>
      <p:ext uri="{BB962C8B-B14F-4D97-AF65-F5344CB8AC3E}">
        <p14:creationId xmlns:p14="http://schemas.microsoft.com/office/powerpoint/2010/main" val="46040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81BCB-3114-A2DF-5FC5-3965AAED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2264-F7C2-C8F6-AB5A-51AEC86F4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871"/>
            <a:ext cx="10515600" cy="4999093"/>
          </a:xfrm>
        </p:spPr>
        <p:txBody>
          <a:bodyPr/>
          <a:lstStyle/>
          <a:p>
            <a:r>
              <a:rPr lang="en-US" dirty="0"/>
              <a:t>When you start with a data set you have no idea how many clusters there are! </a:t>
            </a:r>
          </a:p>
          <a:p>
            <a:endParaRPr lang="en-US" dirty="0"/>
          </a:p>
          <a:p>
            <a:r>
              <a:rPr lang="en-US" b="1" i="1" dirty="0"/>
              <a:t>Why cant we just select k via cross-validation???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One method plots the decrease in intra-cluster variance as k increases – called the “elbow” method.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00247-D8B8-2178-B606-BD69F25F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7"/>
            <a:ext cx="10515600" cy="1001559"/>
          </a:xfrm>
        </p:spPr>
        <p:txBody>
          <a:bodyPr/>
          <a:lstStyle/>
          <a:p>
            <a:r>
              <a:rPr lang="en-US" dirty="0"/>
              <a:t>How to pick k?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576B660-327A-ECF0-6B88-538E8979B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896" y="3637189"/>
            <a:ext cx="4882101" cy="269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6D45AD-819D-AC9C-033B-F03CCBEE082E}"/>
              </a:ext>
            </a:extLst>
          </p:cNvPr>
          <p:cNvSpPr txBox="1"/>
          <p:nvPr/>
        </p:nvSpPr>
        <p:spPr>
          <a:xfrm>
            <a:off x="785126" y="4561115"/>
            <a:ext cx="1777025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Within cluster variance,</a:t>
            </a:r>
          </a:p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inertia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C647F-2366-6E7D-71B6-8B8DD93A7963}"/>
              </a:ext>
            </a:extLst>
          </p:cNvPr>
          <p:cNvSpPr txBox="1"/>
          <p:nvPr/>
        </p:nvSpPr>
        <p:spPr>
          <a:xfrm>
            <a:off x="4119459" y="6323828"/>
            <a:ext cx="2592125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K=number of clusters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53833-D35B-5707-7376-DB45EE4CF637}"/>
              </a:ext>
            </a:extLst>
          </p:cNvPr>
          <p:cNvSpPr txBox="1"/>
          <p:nvPr/>
        </p:nvSpPr>
        <p:spPr>
          <a:xfrm>
            <a:off x="7999742" y="3371805"/>
            <a:ext cx="39087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k increases, inertia always decreases,  </a:t>
            </a:r>
          </a:p>
          <a:p>
            <a:pPr algn="l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But…we can look for the point of diminishing returns, the “elbow”</a:t>
            </a:r>
          </a:p>
          <a:p>
            <a:pPr algn="l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an exact science!</a:t>
            </a:r>
          </a:p>
        </p:txBody>
      </p:sp>
    </p:spTree>
    <p:extLst>
      <p:ext uri="{BB962C8B-B14F-4D97-AF65-F5344CB8AC3E}">
        <p14:creationId xmlns:p14="http://schemas.microsoft.com/office/powerpoint/2010/main" val="4019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F2CE0B-080E-24D8-0B8D-9E90837A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245226"/>
            <a:ext cx="2133600" cy="454291"/>
          </a:xfrm>
        </p:spPr>
        <p:txBody>
          <a:bodyPr/>
          <a:lstStyle/>
          <a:p>
            <a:fld id="{ABBEE3BA-F264-1746-880E-39AD601DF2B1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3" descr="A group of colored dots&#10;&#10;AI-generated content may be incorrect.">
            <a:extLst>
              <a:ext uri="{FF2B5EF4-FFF2-40B4-BE49-F238E27FC236}">
                <a16:creationId xmlns:a16="http://schemas.microsoft.com/office/drawing/2014/main" id="{85BC63E8-EE98-265B-8AD5-28D44B137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36525"/>
            <a:ext cx="7772400" cy="31708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3898423-425E-B75E-2D3B-898F135A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52" y="3788125"/>
            <a:ext cx="4882101" cy="269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6FE422-FA71-9522-24B3-4BB02FEC8904}"/>
              </a:ext>
            </a:extLst>
          </p:cNvPr>
          <p:cNvSpPr txBox="1"/>
          <p:nvPr/>
        </p:nvSpPr>
        <p:spPr>
          <a:xfrm>
            <a:off x="1597549" y="1296063"/>
            <a:ext cx="1224502" cy="93871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consists of 5 clusters</a:t>
            </a:r>
          </a:p>
          <a:p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Fit k-means with k=[1,10]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1946D-EACD-E8B2-82B6-363A1ACF5B92}"/>
              </a:ext>
            </a:extLst>
          </p:cNvPr>
          <p:cNvSpPr txBox="1"/>
          <p:nvPr/>
        </p:nvSpPr>
        <p:spPr>
          <a:xfrm>
            <a:off x="4966916" y="4619707"/>
            <a:ext cx="2592125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”elbow” is where the curve starts to flatten, that is the optimal 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F8B8AC-46A9-32E5-DDC1-833F007C6D2D}"/>
              </a:ext>
            </a:extLst>
          </p:cNvPr>
          <p:cNvCxnSpPr/>
          <p:nvPr/>
        </p:nvCxnSpPr>
        <p:spPr bwMode="auto">
          <a:xfrm flipH="1">
            <a:off x="5801801" y="5104738"/>
            <a:ext cx="151076" cy="95415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36DDA3-C890-7751-98CC-18D8621C7D54}"/>
              </a:ext>
            </a:extLst>
          </p:cNvPr>
          <p:cNvSpPr txBox="1"/>
          <p:nvPr/>
        </p:nvSpPr>
        <p:spPr>
          <a:xfrm>
            <a:off x="1756339" y="4804373"/>
            <a:ext cx="1632242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Intra-cluster variance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12AC20-F204-EE93-07D7-876E1717C412}"/>
              </a:ext>
            </a:extLst>
          </p:cNvPr>
          <p:cNvSpPr txBox="1"/>
          <p:nvPr/>
        </p:nvSpPr>
        <p:spPr>
          <a:xfrm>
            <a:off x="4986722" y="6478836"/>
            <a:ext cx="2218556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kmeans_Clustering.ipynb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3C408-86F1-C9DE-9BF8-C1ABBAC7D40E}"/>
              </a:ext>
            </a:extLst>
          </p:cNvPr>
          <p:cNvSpPr txBox="1"/>
          <p:nvPr/>
        </p:nvSpPr>
        <p:spPr>
          <a:xfrm>
            <a:off x="327991" y="265043"/>
            <a:ext cx="1881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Best case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815EC3-EC36-E067-5B43-64D72DB712E7}"/>
              </a:ext>
            </a:extLst>
          </p:cNvPr>
          <p:cNvSpPr txBox="1"/>
          <p:nvPr/>
        </p:nvSpPr>
        <p:spPr>
          <a:xfrm>
            <a:off x="9137376" y="4302483"/>
            <a:ext cx="18818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Real data will be messier…</a:t>
            </a:r>
          </a:p>
        </p:txBody>
      </p:sp>
    </p:spTree>
    <p:extLst>
      <p:ext uri="{BB962C8B-B14F-4D97-AF65-F5344CB8AC3E}">
        <p14:creationId xmlns:p14="http://schemas.microsoft.com/office/powerpoint/2010/main" val="319802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1025611" y="926683"/>
            <a:ext cx="9867676" cy="4824759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endParaRPr lang="en-US" dirty="0"/>
          </a:p>
          <a:p>
            <a:pPr marL="0" indent="0" eaLnBrk="1" hangingPunct="1">
              <a:buNone/>
              <a:defRPr/>
            </a:pPr>
            <a:r>
              <a:rPr lang="en-US" sz="2600" dirty="0"/>
              <a:t>Data naturally does not cluster!!!! </a:t>
            </a:r>
          </a:p>
          <a:p>
            <a:pPr lvl="1">
              <a:defRPr/>
            </a:pPr>
            <a:r>
              <a:rPr lang="en-US" sz="2200" dirty="0"/>
              <a:t>But the algorithm will always find clusters….</a:t>
            </a:r>
          </a:p>
          <a:p>
            <a:pPr lvl="1">
              <a:defRPr/>
            </a:pPr>
            <a:r>
              <a:rPr lang="en-US" sz="2200" dirty="0"/>
              <a:t>Caveat emptor….</a:t>
            </a:r>
          </a:p>
          <a:p>
            <a:pPr marL="0" indent="0">
              <a:buNone/>
              <a:defRPr/>
            </a:pPr>
            <a:endParaRPr lang="en-US" sz="2600" dirty="0"/>
          </a:p>
          <a:p>
            <a:pPr marL="0" indent="0" eaLnBrk="1" hangingPunct="1">
              <a:buNone/>
              <a:defRPr/>
            </a:pPr>
            <a:r>
              <a:rPr lang="en-US" sz="2600" dirty="0"/>
              <a:t>Sensitive to initial centers</a:t>
            </a:r>
          </a:p>
          <a:p>
            <a:pPr lvl="1" eaLnBrk="1" hangingPunct="1">
              <a:defRPr/>
            </a:pP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n_init</a:t>
            </a:r>
            <a:r>
              <a:rPr lang="en-US" sz="2200" dirty="0"/>
              <a:t> in </a:t>
            </a:r>
            <a:r>
              <a:rPr lang="en-US" sz="2200" dirty="0" err="1"/>
              <a:t>sklearn</a:t>
            </a:r>
            <a:r>
              <a:rPr lang="en-US" sz="2200" dirty="0"/>
              <a:t> implementation helps</a:t>
            </a:r>
          </a:p>
          <a:p>
            <a:pPr marL="0" indent="0" eaLnBrk="1" hangingPunct="1">
              <a:buNone/>
              <a:defRPr/>
            </a:pPr>
            <a:r>
              <a:rPr lang="en-US" sz="2600" dirty="0"/>
              <a:t>Converges to a local optimum</a:t>
            </a:r>
          </a:p>
          <a:p>
            <a:pPr lvl="1">
              <a:defRPr/>
            </a:pPr>
            <a:r>
              <a:rPr lang="en-US" sz="2200" dirty="0"/>
              <a:t>Can run multiple times and get different results</a:t>
            </a:r>
          </a:p>
          <a:p>
            <a:pPr marL="0" indent="0" eaLnBrk="1" hangingPunct="1">
              <a:buNone/>
              <a:defRPr/>
            </a:pPr>
            <a:r>
              <a:rPr lang="en-US" sz="2600" dirty="0"/>
              <a:t>Specifying the number of centers is subjective</a:t>
            </a:r>
          </a:p>
          <a:p>
            <a:pPr lvl="1">
              <a:defRPr/>
            </a:pPr>
            <a:r>
              <a:rPr lang="en-US" sz="2200" dirty="0"/>
              <a:t>”elbow method” imprecise</a:t>
            </a: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084"/>
            <a:ext cx="10515600" cy="100155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Discussion: k-means clustering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D7774-EB42-3431-D82F-3E4A0D91BAB5}"/>
              </a:ext>
            </a:extLst>
          </p:cNvPr>
          <p:cNvSpPr txBox="1"/>
          <p:nvPr/>
        </p:nvSpPr>
        <p:spPr>
          <a:xfrm>
            <a:off x="4463705" y="6027084"/>
            <a:ext cx="2199488" cy="33855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 err="1">
                <a:solidFill>
                  <a:srgbClr val="2878A2"/>
                </a:solidFill>
                <a:highlight>
                  <a:srgbClr val="CDE8EF"/>
                </a:highlight>
                <a:latin typeface="-apple-system"/>
                <a:hlinkClick r:id="rId3" tooltip="sklearn.cluster"/>
              </a:rPr>
              <a:t>sklearn.cluster</a:t>
            </a:r>
            <a:r>
              <a:rPr lang="en-US" sz="1600" dirty="0" err="1">
                <a:solidFill>
                  <a:srgbClr val="212529"/>
                </a:solidFill>
                <a:highlight>
                  <a:srgbClr val="CDE8EF"/>
                </a:highlight>
                <a:latin typeface="-apple-system"/>
              </a:rPr>
              <a:t>.KMeans</a:t>
            </a:r>
            <a:endParaRPr lang="en-US" sz="1600" dirty="0">
              <a:solidFill>
                <a:srgbClr val="212529"/>
              </a:solidFill>
              <a:highlight>
                <a:srgbClr val="CDE8EF"/>
              </a:highlight>
              <a:latin typeface="-apple-system"/>
            </a:endParaRPr>
          </a:p>
        </p:txBody>
      </p:sp>
      <p:pic>
        <p:nvPicPr>
          <p:cNvPr id="1026" name="Picture 2" descr="r/DataScienceMemes - Its okay i got my cat to do it since she got 9 lives">
            <a:extLst>
              <a:ext uri="{FF2B5EF4-FFF2-40B4-BE49-F238E27FC236}">
                <a16:creationId xmlns:a16="http://schemas.microsoft.com/office/drawing/2014/main" id="{34A81609-BD7D-01F6-8311-FD9622D45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810" y="1263316"/>
            <a:ext cx="2165684" cy="216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72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EE871-5D9B-949F-E848-F5EFF0C7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F4AE0B-96FC-3EBA-5168-B2E8479C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0" y="2063297"/>
            <a:ext cx="10889343" cy="1001559"/>
          </a:xfrm>
        </p:spPr>
        <p:txBody>
          <a:bodyPr/>
          <a:lstStyle/>
          <a:p>
            <a:r>
              <a:rPr lang="en-US" dirty="0"/>
              <a:t>Unsupervised Learning – Hierarchical Clustering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5E2ED2-5944-D498-E4E1-0BA9B7CA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51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364480-E587-C645-04F7-6785B191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36</a:t>
            </a:fld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53162F5-A4B9-F7BC-0C1F-48318F36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036" y="888391"/>
            <a:ext cx="6606209" cy="445831"/>
          </a:xfrm>
          <a:solidFill>
            <a:schemeClr val="bg2"/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Build a hierarchy of clusters from the bottom-up 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E6652-3838-98F9-1C9D-D70BF698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8" y="63617"/>
            <a:ext cx="10515600" cy="721786"/>
          </a:xfrm>
        </p:spPr>
        <p:txBody>
          <a:bodyPr/>
          <a:lstStyle/>
          <a:p>
            <a:r>
              <a:rPr lang="en-US" dirty="0"/>
              <a:t>Clustering: Hierarchical Clustering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3D4AB-3A80-C233-D3ED-0E9B870EBD60}"/>
              </a:ext>
            </a:extLst>
          </p:cNvPr>
          <p:cNvSpPr/>
          <p:nvPr/>
        </p:nvSpPr>
        <p:spPr bwMode="auto">
          <a:xfrm>
            <a:off x="2418523" y="1557447"/>
            <a:ext cx="7007087" cy="388570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8E0D30"/>
              </a:buClr>
            </a:pPr>
            <a:endParaRPr lang="en-US" sz="3200" dirty="0"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CC8BE-4AB3-C797-9462-D10ADD2C0FDC}"/>
              </a:ext>
            </a:extLst>
          </p:cNvPr>
          <p:cNvSpPr txBox="1"/>
          <p:nvPr/>
        </p:nvSpPr>
        <p:spPr>
          <a:xfrm>
            <a:off x="4187687" y="3051313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E2D9D-FF8C-6EF2-ECEF-46D3A7F7CF24}"/>
              </a:ext>
            </a:extLst>
          </p:cNvPr>
          <p:cNvSpPr txBox="1"/>
          <p:nvPr/>
        </p:nvSpPr>
        <p:spPr>
          <a:xfrm>
            <a:off x="7510356" y="3165800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3F80A-95FA-23F7-A1BC-D4257BEA1D9A}"/>
              </a:ext>
            </a:extLst>
          </p:cNvPr>
          <p:cNvSpPr txBox="1"/>
          <p:nvPr/>
        </p:nvSpPr>
        <p:spPr>
          <a:xfrm>
            <a:off x="7315430" y="2637700"/>
            <a:ext cx="359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20755-48AA-133A-0A41-37945B74CCFB}"/>
              </a:ext>
            </a:extLst>
          </p:cNvPr>
          <p:cNvSpPr txBox="1"/>
          <p:nvPr/>
        </p:nvSpPr>
        <p:spPr>
          <a:xfrm>
            <a:off x="4440102" y="3251368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ED671-4092-3DBF-45DE-D4B008A15923}"/>
              </a:ext>
            </a:extLst>
          </p:cNvPr>
          <p:cNvSpPr txBox="1"/>
          <p:nvPr/>
        </p:nvSpPr>
        <p:spPr>
          <a:xfrm>
            <a:off x="4962320" y="2436087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88C075-791E-A15B-3635-8B4D0705DB86}"/>
              </a:ext>
            </a:extLst>
          </p:cNvPr>
          <p:cNvSpPr/>
          <p:nvPr/>
        </p:nvSpPr>
        <p:spPr bwMode="auto">
          <a:xfrm rot="1844125">
            <a:off x="4045907" y="3140067"/>
            <a:ext cx="954156" cy="49695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Clr>
                <a:srgbClr val="8E0D30"/>
              </a:buClr>
              <a:buFontTx/>
              <a:buChar char="•"/>
            </a:pPr>
            <a:endParaRPr lang="en-US" sz="3200"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488BEA-C04E-9B64-D36C-E0AEB94021D0}"/>
              </a:ext>
            </a:extLst>
          </p:cNvPr>
          <p:cNvSpPr/>
          <p:nvPr/>
        </p:nvSpPr>
        <p:spPr bwMode="auto">
          <a:xfrm rot="4336509">
            <a:off x="6967875" y="2862408"/>
            <a:ext cx="1230569" cy="554058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Clr>
                <a:srgbClr val="8E0D30"/>
              </a:buClr>
              <a:buFontTx/>
              <a:buChar char="•"/>
            </a:pPr>
            <a:endParaRPr lang="en-US" sz="3200"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EDB443-3133-0E22-816E-A4A755B6B7E8}"/>
              </a:ext>
            </a:extLst>
          </p:cNvPr>
          <p:cNvSpPr/>
          <p:nvPr/>
        </p:nvSpPr>
        <p:spPr bwMode="auto">
          <a:xfrm>
            <a:off x="3879575" y="2355574"/>
            <a:ext cx="1659835" cy="1649896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Clr>
                <a:srgbClr val="8E0D30"/>
              </a:buClr>
              <a:buFontTx/>
              <a:buChar char="•"/>
            </a:pPr>
            <a:endParaRPr lang="en-US" sz="3200"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030F4B7C-1D9D-74A9-F96C-11992E688FFE}"/>
              </a:ext>
            </a:extLst>
          </p:cNvPr>
          <p:cNvSpPr txBox="1">
            <a:spLocks/>
          </p:cNvSpPr>
          <p:nvPr/>
        </p:nvSpPr>
        <p:spPr bwMode="auto">
          <a:xfrm>
            <a:off x="1474304" y="5752234"/>
            <a:ext cx="9243391" cy="5618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kern="0" dirty="0"/>
              <a:t>Start with n clusters, and progressively merge data until you have one cluster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9259EFA-753B-1720-B6C4-C3FD8CD21F6C}"/>
              </a:ext>
            </a:extLst>
          </p:cNvPr>
          <p:cNvSpPr/>
          <p:nvPr/>
        </p:nvSpPr>
        <p:spPr bwMode="auto">
          <a:xfrm rot="21008727">
            <a:off x="3183835" y="1897761"/>
            <a:ext cx="5387009" cy="3107322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Clr>
                <a:srgbClr val="8E0D30"/>
              </a:buClr>
              <a:buFontTx/>
              <a:buChar char="•"/>
            </a:pPr>
            <a:endParaRPr lang="en-US" sz="3200">
              <a:latin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0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CE839-0E3E-594A-6805-2550AE30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6D900-623F-9984-3A15-C1819B74B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95" y="914401"/>
            <a:ext cx="7814753" cy="5262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different philosophy on how to find clusters: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  <a:defRPr/>
            </a:pPr>
            <a:r>
              <a:rPr lang="en-US" sz="2000" dirty="0"/>
              <a:t>Generic Algorithm:</a:t>
            </a:r>
          </a:p>
          <a:p>
            <a:pPr marL="990600" lvl="1" indent="-533400">
              <a:buFontTx/>
              <a:buAutoNum type="arabicPeriod"/>
              <a:defRPr/>
            </a:pPr>
            <a:endParaRPr lang="en-US" sz="2000" dirty="0"/>
          </a:p>
          <a:p>
            <a:pPr marL="990600" lvl="1" indent="-533400">
              <a:buFontTx/>
              <a:buAutoNum type="arabicPeriod"/>
              <a:defRPr/>
            </a:pPr>
            <a:r>
              <a:rPr lang="en-US" sz="2000" dirty="0"/>
              <a:t>Compute all pairwise similarities</a:t>
            </a:r>
          </a:p>
          <a:p>
            <a:pPr marL="990600" lvl="1" indent="-533400">
              <a:buFontTx/>
              <a:buAutoNum type="arabicPeriod"/>
              <a:defRPr/>
            </a:pPr>
            <a:r>
              <a:rPr lang="en-US" sz="2000" dirty="0"/>
              <a:t>Place each of </a:t>
            </a:r>
            <a:r>
              <a:rPr lang="en-US" sz="2000" i="1" dirty="0"/>
              <a:t>n</a:t>
            </a:r>
            <a:r>
              <a:rPr lang="en-US" sz="2000" dirty="0"/>
              <a:t> examples into a cluster of its own</a:t>
            </a:r>
          </a:p>
          <a:p>
            <a:pPr marL="990600" lvl="1" indent="-533400">
              <a:buFontTx/>
              <a:buAutoNum type="arabicPeriod"/>
              <a:defRPr/>
            </a:pPr>
            <a:r>
              <a:rPr lang="en-US" sz="2000" dirty="0"/>
              <a:t>Merge the two most similar clusters into one; </a:t>
            </a:r>
          </a:p>
          <a:p>
            <a:pPr marL="1290637" lvl="2" indent="-533400">
              <a:defRPr/>
            </a:pPr>
            <a:r>
              <a:rPr lang="en-US" sz="2000" dirty="0"/>
              <a:t>replace the two clusters by the new cluster</a:t>
            </a:r>
          </a:p>
          <a:p>
            <a:pPr marL="990600" lvl="1" indent="-533400">
              <a:buFont typeface="+mj-lt"/>
              <a:buAutoNum type="arabicPeriod"/>
              <a:defRPr/>
            </a:pPr>
            <a:r>
              <a:rPr lang="en-US" sz="2000" dirty="0"/>
              <a:t>Repeat the above step until there are only k clusters left (note k could = 1).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3F241-7FD6-4BD8-8F99-418E434F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5" y="0"/>
            <a:ext cx="10515600" cy="686437"/>
          </a:xfrm>
        </p:spPr>
        <p:txBody>
          <a:bodyPr/>
          <a:lstStyle/>
          <a:p>
            <a:r>
              <a:rPr lang="en-US" dirty="0"/>
              <a:t>Clustering: Hierarchical Clustering</a:t>
            </a:r>
          </a:p>
        </p:txBody>
      </p:sp>
      <p:pic>
        <p:nvPicPr>
          <p:cNvPr id="6" name="Picture 5" descr="A diagram of fruit and vegetables&#10;&#10;AI-generated content may be incorrect.">
            <a:extLst>
              <a:ext uri="{FF2B5EF4-FFF2-40B4-BE49-F238E27FC236}">
                <a16:creationId xmlns:a16="http://schemas.microsoft.com/office/drawing/2014/main" id="{B2321F3B-F8F6-3784-81F4-C8F63B8A5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322" y="2240721"/>
            <a:ext cx="3464700" cy="23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0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3B1DD-4197-DAAE-D523-765088FE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8EBAE-1282-B17F-05AC-645E38C89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052" y="1600150"/>
            <a:ext cx="9458739" cy="492074"/>
          </a:xfrm>
          <a:solidFill>
            <a:schemeClr val="bg2"/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Dendrograms are a visual representation of the hierarchical clustering process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BCD89-6248-2195-D7F1-238EFBFF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1559"/>
          </a:xfrm>
        </p:spPr>
        <p:txBody>
          <a:bodyPr/>
          <a:lstStyle/>
          <a:p>
            <a:r>
              <a:rPr lang="en-US" dirty="0"/>
              <a:t>Dendrograms</a:t>
            </a:r>
          </a:p>
        </p:txBody>
      </p:sp>
      <p:pic>
        <p:nvPicPr>
          <p:cNvPr id="8" name="Picture 7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CBCE1233-5439-9CD7-E605-EC96CDE2B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560" y="2646948"/>
            <a:ext cx="6682514" cy="3598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B89ABE-E5DD-A1A2-D44D-CBBC10EEB0BE}"/>
              </a:ext>
            </a:extLst>
          </p:cNvPr>
          <p:cNvSpPr txBox="1"/>
          <p:nvPr/>
        </p:nvSpPr>
        <p:spPr>
          <a:xfrm>
            <a:off x="8515074" y="3874988"/>
            <a:ext cx="1431757" cy="132343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Closest points get connected lower in the dendrogram</a:t>
            </a:r>
          </a:p>
        </p:txBody>
      </p:sp>
    </p:spTree>
    <p:extLst>
      <p:ext uri="{BB962C8B-B14F-4D97-AF65-F5344CB8AC3E}">
        <p14:creationId xmlns:p14="http://schemas.microsoft.com/office/powerpoint/2010/main" val="615728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diagram of a city&#10;&#10;AI-generated content may be incorrect.">
            <a:extLst>
              <a:ext uri="{FF2B5EF4-FFF2-40B4-BE49-F238E27FC236}">
                <a16:creationId xmlns:a16="http://schemas.microsoft.com/office/drawing/2014/main" id="{BD5A695E-FE2B-D57C-6A61-A5211D49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769" y="1673891"/>
            <a:ext cx="5560305" cy="44945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164B2-5555-04F1-282A-4729B43A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28AD0-A135-8B55-5624-43E2C88AA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886" y="1154588"/>
            <a:ext cx="9122228" cy="8141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Where you cut the dendrogram determines how many clusters you return: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7F49D8-E175-C3FA-6B12-102A2342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986"/>
            <a:ext cx="10478347" cy="772438"/>
          </a:xfrm>
        </p:spPr>
        <p:txBody>
          <a:bodyPr/>
          <a:lstStyle/>
          <a:p>
            <a:r>
              <a:rPr lang="en-US" dirty="0"/>
              <a:t>Dendrograms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7543AF-5734-C929-1576-57A2202091BD}"/>
              </a:ext>
            </a:extLst>
          </p:cNvPr>
          <p:cNvSpPr txBox="1"/>
          <p:nvPr/>
        </p:nvSpPr>
        <p:spPr>
          <a:xfrm>
            <a:off x="9014944" y="4388280"/>
            <a:ext cx="1642170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cut results in 8 clusters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7394D6-2EDD-2F88-B1ED-921EB1922E9E}"/>
              </a:ext>
            </a:extLst>
          </p:cNvPr>
          <p:cNvSpPr txBox="1"/>
          <p:nvPr/>
        </p:nvSpPr>
        <p:spPr>
          <a:xfrm>
            <a:off x="9014944" y="2841032"/>
            <a:ext cx="1642170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cut results in 3 clusters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B1D252-A5C8-6D4E-754D-7240C2068915}"/>
              </a:ext>
            </a:extLst>
          </p:cNvPr>
          <p:cNvSpPr txBox="1"/>
          <p:nvPr/>
        </p:nvSpPr>
        <p:spPr>
          <a:xfrm>
            <a:off x="2383769" y="6356352"/>
            <a:ext cx="5560305" cy="30777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partition your data into any number of clusters, from 1 to n</a:t>
            </a:r>
          </a:p>
        </p:txBody>
      </p:sp>
      <p:cxnSp>
        <p:nvCxnSpPr>
          <p:cNvPr id="19" name="Straight Connector 6">
            <a:extLst>
              <a:ext uri="{FF2B5EF4-FFF2-40B4-BE49-F238E27FC236}">
                <a16:creationId xmlns:a16="http://schemas.microsoft.com/office/drawing/2014/main" id="{00A11383-047B-F9AB-02B5-22A92E0DCD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58319" y="3102642"/>
            <a:ext cx="7217834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4" name="Straight Connector 6">
            <a:extLst>
              <a:ext uri="{FF2B5EF4-FFF2-40B4-BE49-F238E27FC236}">
                <a16:creationId xmlns:a16="http://schemas.microsoft.com/office/drawing/2014/main" id="{5A793EF8-B3A7-7D38-B755-E3DD5F3FD7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13717" y="4649890"/>
            <a:ext cx="7362436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5FED2A1-2DF7-A33F-D36C-779EFA37E35A}"/>
              </a:ext>
            </a:extLst>
          </p:cNvPr>
          <p:cNvSpPr/>
          <p:nvPr/>
        </p:nvSpPr>
        <p:spPr>
          <a:xfrm>
            <a:off x="2591453" y="4718618"/>
            <a:ext cx="550205" cy="1478506"/>
          </a:xfrm>
          <a:prstGeom prst="rect">
            <a:avLst/>
          </a:prstGeom>
          <a:solidFill>
            <a:srgbClr val="0070C0">
              <a:alpha val="2837"/>
            </a:srgbClr>
          </a:solidFill>
          <a:ln>
            <a:solidFill>
              <a:schemeClr val="accent1">
                <a:shade val="1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0EA634-BB1E-2A83-787D-708940F982AC}"/>
              </a:ext>
            </a:extLst>
          </p:cNvPr>
          <p:cNvSpPr/>
          <p:nvPr/>
        </p:nvSpPr>
        <p:spPr>
          <a:xfrm>
            <a:off x="3207309" y="4732003"/>
            <a:ext cx="390477" cy="1465107"/>
          </a:xfrm>
          <a:prstGeom prst="rect">
            <a:avLst/>
          </a:prstGeom>
          <a:solidFill>
            <a:srgbClr val="00B0F0">
              <a:alpha val="2837"/>
            </a:srgbClr>
          </a:solidFill>
          <a:ln>
            <a:solidFill>
              <a:schemeClr val="accent1">
                <a:shade val="1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AD8DB6-CAAD-0161-90B9-85A4DF8200B8}"/>
              </a:ext>
            </a:extLst>
          </p:cNvPr>
          <p:cNvSpPr/>
          <p:nvPr/>
        </p:nvSpPr>
        <p:spPr>
          <a:xfrm>
            <a:off x="3597786" y="4732014"/>
            <a:ext cx="550205" cy="1436447"/>
          </a:xfrm>
          <a:prstGeom prst="rect">
            <a:avLst/>
          </a:prstGeom>
          <a:solidFill>
            <a:srgbClr val="00B050">
              <a:alpha val="2837"/>
            </a:srgbClr>
          </a:solidFill>
          <a:ln>
            <a:solidFill>
              <a:schemeClr val="accent1">
                <a:shade val="1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689A07-60F4-DC36-5D48-7FA6645B7490}"/>
              </a:ext>
            </a:extLst>
          </p:cNvPr>
          <p:cNvSpPr/>
          <p:nvPr/>
        </p:nvSpPr>
        <p:spPr>
          <a:xfrm>
            <a:off x="4147992" y="4732014"/>
            <a:ext cx="852358" cy="1465110"/>
          </a:xfrm>
          <a:prstGeom prst="rect">
            <a:avLst/>
          </a:prstGeom>
          <a:solidFill>
            <a:srgbClr val="92D050">
              <a:alpha val="2837"/>
            </a:srgbClr>
          </a:solidFill>
          <a:ln>
            <a:solidFill>
              <a:schemeClr val="accent1">
                <a:shade val="1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B6A1CA-E9C0-BE60-974F-D1BDDD141D73}"/>
              </a:ext>
            </a:extLst>
          </p:cNvPr>
          <p:cNvSpPr/>
          <p:nvPr/>
        </p:nvSpPr>
        <p:spPr>
          <a:xfrm>
            <a:off x="4988271" y="4732014"/>
            <a:ext cx="604434" cy="1478518"/>
          </a:xfrm>
          <a:prstGeom prst="rect">
            <a:avLst/>
          </a:prstGeom>
          <a:solidFill>
            <a:srgbClr val="FFFF00">
              <a:alpha val="2837"/>
            </a:srgbClr>
          </a:solidFill>
          <a:ln>
            <a:solidFill>
              <a:schemeClr val="accent1">
                <a:shade val="1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27EF6D-239A-884D-E020-1E90855F1913}"/>
              </a:ext>
            </a:extLst>
          </p:cNvPr>
          <p:cNvSpPr/>
          <p:nvPr/>
        </p:nvSpPr>
        <p:spPr>
          <a:xfrm>
            <a:off x="5615550" y="4732014"/>
            <a:ext cx="325862" cy="1465110"/>
          </a:xfrm>
          <a:prstGeom prst="rect">
            <a:avLst/>
          </a:prstGeom>
          <a:solidFill>
            <a:srgbClr val="FFC000">
              <a:alpha val="2837"/>
            </a:srgbClr>
          </a:solidFill>
          <a:ln>
            <a:solidFill>
              <a:schemeClr val="accent1">
                <a:shade val="1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E4893A-3A87-0804-22D5-F4AFABF6A485}"/>
              </a:ext>
            </a:extLst>
          </p:cNvPr>
          <p:cNvSpPr/>
          <p:nvPr/>
        </p:nvSpPr>
        <p:spPr>
          <a:xfrm>
            <a:off x="5920350" y="4718618"/>
            <a:ext cx="772334" cy="1478518"/>
          </a:xfrm>
          <a:prstGeom prst="rect">
            <a:avLst/>
          </a:prstGeom>
          <a:solidFill>
            <a:srgbClr val="FF0000">
              <a:alpha val="2837"/>
            </a:srgbClr>
          </a:solidFill>
          <a:ln>
            <a:solidFill>
              <a:schemeClr val="accent1">
                <a:shade val="1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F6CDFF-007B-3C17-CEC7-3AF36C11B794}"/>
              </a:ext>
            </a:extLst>
          </p:cNvPr>
          <p:cNvSpPr/>
          <p:nvPr/>
        </p:nvSpPr>
        <p:spPr>
          <a:xfrm>
            <a:off x="6692684" y="4718619"/>
            <a:ext cx="1251390" cy="1449851"/>
          </a:xfrm>
          <a:prstGeom prst="rect">
            <a:avLst/>
          </a:prstGeom>
          <a:solidFill>
            <a:srgbClr val="C00000">
              <a:alpha val="2837"/>
            </a:srgbClr>
          </a:solidFill>
          <a:ln>
            <a:solidFill>
              <a:schemeClr val="accent1">
                <a:shade val="1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8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0FBB7-9CA2-3220-10F8-D73E0825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EACF0-54A4-FEE4-D026-39F2D47E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35" y="78879"/>
            <a:ext cx="10515600" cy="634963"/>
          </a:xfrm>
        </p:spPr>
        <p:txBody>
          <a:bodyPr/>
          <a:lstStyle/>
          <a:p>
            <a:r>
              <a:rPr lang="en-US" dirty="0"/>
              <a:t>Make the Dendrogram!!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E1FB0-C53B-458B-DD27-024B20663D51}"/>
              </a:ext>
            </a:extLst>
          </p:cNvPr>
          <p:cNvSpPr/>
          <p:nvPr/>
        </p:nvSpPr>
        <p:spPr bwMode="auto">
          <a:xfrm>
            <a:off x="2221833" y="1756611"/>
            <a:ext cx="5378115" cy="425917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Clr>
                <a:srgbClr val="8E0D30"/>
              </a:buClr>
              <a:buFontTx/>
              <a:buChar char="•"/>
            </a:pPr>
            <a:endParaRPr lang="en-US" sz="3200"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EC647-02F9-1D83-8D12-ECA04AE5D538}"/>
              </a:ext>
            </a:extLst>
          </p:cNvPr>
          <p:cNvSpPr txBox="1"/>
          <p:nvPr/>
        </p:nvSpPr>
        <p:spPr>
          <a:xfrm>
            <a:off x="2654968" y="5317958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61FDC-310C-5A14-D040-1EF7B3F51EDB}"/>
              </a:ext>
            </a:extLst>
          </p:cNvPr>
          <p:cNvSpPr txBox="1"/>
          <p:nvPr/>
        </p:nvSpPr>
        <p:spPr>
          <a:xfrm>
            <a:off x="6492209" y="3978442"/>
            <a:ext cx="338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E7BC7-3288-9F13-71C1-AF1FEF1D0EFE}"/>
              </a:ext>
            </a:extLst>
          </p:cNvPr>
          <p:cNvSpPr txBox="1"/>
          <p:nvPr/>
        </p:nvSpPr>
        <p:spPr>
          <a:xfrm>
            <a:off x="7203739" y="4870193"/>
            <a:ext cx="280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AEA79-DA6E-FFD4-69BD-CD22E58B3FD1}"/>
              </a:ext>
            </a:extLst>
          </p:cNvPr>
          <p:cNvSpPr txBox="1"/>
          <p:nvPr/>
        </p:nvSpPr>
        <p:spPr>
          <a:xfrm>
            <a:off x="5926723" y="3529010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C00B5-9178-818E-A157-40D83A6A2D93}"/>
              </a:ext>
            </a:extLst>
          </p:cNvPr>
          <p:cNvSpPr txBox="1"/>
          <p:nvPr/>
        </p:nvSpPr>
        <p:spPr>
          <a:xfrm>
            <a:off x="3959725" y="527030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B15B9-9EE7-651E-B30B-D5F0134B9B87}"/>
              </a:ext>
            </a:extLst>
          </p:cNvPr>
          <p:cNvSpPr txBox="1"/>
          <p:nvPr/>
        </p:nvSpPr>
        <p:spPr>
          <a:xfrm>
            <a:off x="2550418" y="2049614"/>
            <a:ext cx="317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8EEB3-9F29-EEA2-DB37-9991720B199F}"/>
              </a:ext>
            </a:extLst>
          </p:cNvPr>
          <p:cNvSpPr txBox="1"/>
          <p:nvPr/>
        </p:nvSpPr>
        <p:spPr>
          <a:xfrm>
            <a:off x="3165158" y="4680017"/>
            <a:ext cx="338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6C1E47-6C39-0CF8-4F98-FDECAD808E28}"/>
              </a:ext>
            </a:extLst>
          </p:cNvPr>
          <p:cNvSpPr txBox="1"/>
          <p:nvPr/>
        </p:nvSpPr>
        <p:spPr>
          <a:xfrm>
            <a:off x="2807368" y="5470358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807A68-DDB7-FD69-D535-D1DC8E3B902A}"/>
              </a:ext>
            </a:extLst>
          </p:cNvPr>
          <p:cNvSpPr txBox="1"/>
          <p:nvPr/>
        </p:nvSpPr>
        <p:spPr>
          <a:xfrm>
            <a:off x="6153655" y="4279907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7259328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556AE-A743-3D47-061F-CF00314B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EE630E-928C-D1F3-2360-D3DC85098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50494" y="1001664"/>
            <a:ext cx="5257800" cy="51235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Requires a metric for distance between clusters:</a:t>
            </a:r>
          </a:p>
          <a:p>
            <a:pPr lvl="1"/>
            <a:r>
              <a:rPr lang="en-US" sz="2000" dirty="0"/>
              <a:t>Maximum (complete linkage)</a:t>
            </a:r>
          </a:p>
          <a:p>
            <a:pPr lvl="2"/>
            <a:r>
              <a:rPr lang="en-US" sz="1600" dirty="0"/>
              <a:t>Distance between clusters is the maximum distance between two points</a:t>
            </a:r>
          </a:p>
          <a:p>
            <a:pPr lvl="1"/>
            <a:r>
              <a:rPr lang="en-US" sz="2000" dirty="0"/>
              <a:t>Minimum (single linkage)</a:t>
            </a:r>
          </a:p>
          <a:p>
            <a:pPr lvl="2"/>
            <a:r>
              <a:rPr lang="en-US" sz="1600" dirty="0"/>
              <a:t>Distance between clusters is the minimum distance between two points</a:t>
            </a:r>
          </a:p>
          <a:p>
            <a:pPr lvl="1"/>
            <a:r>
              <a:rPr lang="en-US" sz="2000" dirty="0"/>
              <a:t>Average</a:t>
            </a:r>
          </a:p>
          <a:p>
            <a:pPr lvl="2"/>
            <a:r>
              <a:rPr lang="en-US" sz="1600" dirty="0"/>
              <a:t>Distance is the average of all distances</a:t>
            </a:r>
          </a:p>
          <a:p>
            <a:pPr lvl="1"/>
            <a:r>
              <a:rPr lang="en-US" sz="2000" dirty="0"/>
              <a:t>Centroid</a:t>
            </a:r>
          </a:p>
          <a:p>
            <a:pPr lvl="2"/>
            <a:r>
              <a:rPr lang="en-US" sz="1600" dirty="0"/>
              <a:t>Distance is the distance between the centroids</a:t>
            </a:r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342900" lvl="1" indent="0">
              <a:buNone/>
            </a:pPr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E0861-8596-2821-4255-3D9B47E0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" y="-4176"/>
            <a:ext cx="10515600" cy="840199"/>
          </a:xfrm>
        </p:spPr>
        <p:txBody>
          <a:bodyPr/>
          <a:lstStyle/>
          <a:p>
            <a:r>
              <a:rPr lang="en-US" dirty="0"/>
              <a:t>Hierarchical Clustering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EDD96B7-84A9-2829-8F37-1666BB16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061" y="2309143"/>
            <a:ext cx="3462447" cy="289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575BD4-60C0-9AE5-9E89-6FFDF89BDED4}"/>
              </a:ext>
            </a:extLst>
          </p:cNvPr>
          <p:cNvSpPr txBox="1"/>
          <p:nvPr/>
        </p:nvSpPr>
        <p:spPr>
          <a:xfrm>
            <a:off x="4725879" y="6446726"/>
            <a:ext cx="1003801" cy="246221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Shmueli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Ch 15</a:t>
            </a:r>
          </a:p>
        </p:txBody>
      </p:sp>
    </p:spTree>
    <p:extLst>
      <p:ext uri="{BB962C8B-B14F-4D97-AF65-F5344CB8AC3E}">
        <p14:creationId xmlns:p14="http://schemas.microsoft.com/office/powerpoint/2010/main" val="181326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5CB81-6973-336C-B9FF-FCE098C5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C1584-1FE8-57EC-4CC0-220F9FA4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954773"/>
            <a:ext cx="8229600" cy="4814202"/>
          </a:xfrm>
        </p:spPr>
        <p:txBody>
          <a:bodyPr/>
          <a:lstStyle/>
          <a:p>
            <a:r>
              <a:rPr lang="en-US" dirty="0"/>
              <a:t>Clustering can look very different under different linkages!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91ADA-4712-3379-D005-C2CE622CA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36526"/>
            <a:ext cx="8229600" cy="530459"/>
          </a:xfrm>
        </p:spPr>
        <p:txBody>
          <a:bodyPr/>
          <a:lstStyle/>
          <a:p>
            <a:r>
              <a:rPr lang="en-US" sz="2400" dirty="0"/>
              <a:t>Hierarchical clustering – Music Example</a:t>
            </a:r>
          </a:p>
        </p:txBody>
      </p:sp>
      <p:pic>
        <p:nvPicPr>
          <p:cNvPr id="6" name="Picture 5" descr="A diagram of a clustering method&#10;&#10;Description automatically generated">
            <a:extLst>
              <a:ext uri="{FF2B5EF4-FFF2-40B4-BE49-F238E27FC236}">
                <a16:creationId xmlns:a16="http://schemas.microsoft.com/office/drawing/2014/main" id="{57C8EF65-9629-0A3D-B3DF-708A21630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1325349"/>
            <a:ext cx="4564935" cy="2750252"/>
          </a:xfrm>
          <a:prstGeom prst="rect">
            <a:avLst/>
          </a:prstGeom>
        </p:spPr>
      </p:pic>
      <p:pic>
        <p:nvPicPr>
          <p:cNvPr id="5" name="Picture 4" descr="A diagram of a family tree&#10;&#10;Description automatically generated">
            <a:extLst>
              <a:ext uri="{FF2B5EF4-FFF2-40B4-BE49-F238E27FC236}">
                <a16:creationId xmlns:a16="http://schemas.microsoft.com/office/drawing/2014/main" id="{6C4AEC14-4E5C-E8E6-E94E-73B165EE4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066" y="1587928"/>
            <a:ext cx="4564935" cy="2442493"/>
          </a:xfrm>
          <a:prstGeom prst="rect">
            <a:avLst/>
          </a:prstGeom>
        </p:spPr>
      </p:pic>
      <p:pic>
        <p:nvPicPr>
          <p:cNvPr id="7" name="Picture 6" descr="A diagram of a clustering method&#10;&#10;Description automatically generated">
            <a:extLst>
              <a:ext uri="{FF2B5EF4-FFF2-40B4-BE49-F238E27FC236}">
                <a16:creationId xmlns:a16="http://schemas.microsoft.com/office/drawing/2014/main" id="{72A401D7-4E16-A35A-FA06-7F7056898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0510" y="4030421"/>
            <a:ext cx="5190149" cy="2779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145519-B283-FD42-4378-7C5F567D05CA}"/>
              </a:ext>
            </a:extLst>
          </p:cNvPr>
          <p:cNvSpPr txBox="1"/>
          <p:nvPr/>
        </p:nvSpPr>
        <p:spPr>
          <a:xfrm>
            <a:off x="1851993" y="4634418"/>
            <a:ext cx="3289917" cy="137268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Another approach: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Ward’s method: a way of doing Hierarchical clustering – merging is decided based on increase in within-cluster variance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A82EF-4B28-BFB5-C973-BBB3A733851A}"/>
              </a:ext>
            </a:extLst>
          </p:cNvPr>
          <p:cNvSpPr txBox="1"/>
          <p:nvPr/>
        </p:nvSpPr>
        <p:spPr>
          <a:xfrm>
            <a:off x="3639047" y="1512372"/>
            <a:ext cx="858741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B0B4D2-F495-1635-4A8E-BBAB1E5EBE35}"/>
              </a:ext>
            </a:extLst>
          </p:cNvPr>
          <p:cNvSpPr txBox="1"/>
          <p:nvPr/>
        </p:nvSpPr>
        <p:spPr>
          <a:xfrm>
            <a:off x="8077200" y="1498894"/>
            <a:ext cx="978010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21DB70-D4A1-842B-5538-0BB0895DFC2E}"/>
              </a:ext>
            </a:extLst>
          </p:cNvPr>
          <p:cNvSpPr txBox="1"/>
          <p:nvPr/>
        </p:nvSpPr>
        <p:spPr>
          <a:xfrm>
            <a:off x="7816132" y="4034341"/>
            <a:ext cx="978010" cy="3077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Ward</a:t>
            </a:r>
          </a:p>
        </p:txBody>
      </p:sp>
    </p:spTree>
    <p:extLst>
      <p:ext uri="{BB962C8B-B14F-4D97-AF65-F5344CB8AC3E}">
        <p14:creationId xmlns:p14="http://schemas.microsoft.com/office/powerpoint/2010/main" val="332041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  <p:bldP spid="11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7B323-FD2C-96F8-692C-D255EAF1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7EA35-010F-AA35-D681-E4DB14F76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942" y="1181815"/>
            <a:ext cx="11072875" cy="5002009"/>
          </a:xfrm>
        </p:spPr>
        <p:txBody>
          <a:bodyPr>
            <a:normAutofit/>
          </a:bodyPr>
          <a:lstStyle/>
          <a:p>
            <a:r>
              <a:rPr lang="en-US" sz="2000" dirty="0"/>
              <a:t>Very hard to evaluate clustering output!  Consider the following:</a:t>
            </a:r>
          </a:p>
          <a:p>
            <a:pPr lvl="1"/>
            <a:r>
              <a:rPr lang="en-US" dirty="0"/>
              <a:t>Cluster interpretability – did you find anything interpretable?</a:t>
            </a:r>
          </a:p>
          <a:p>
            <a:pPr lvl="1"/>
            <a:r>
              <a:rPr lang="en-US" dirty="0"/>
              <a:t>Cluster stability – do your clusters change with different inputs? </a:t>
            </a:r>
          </a:p>
          <a:p>
            <a:pPr lvl="1"/>
            <a:r>
              <a:rPr lang="en-US" dirty="0"/>
              <a:t>Cluster separation – does there really seem to be a difference between the clusters in a meaningful way?</a:t>
            </a:r>
          </a:p>
          <a:p>
            <a:pPr lvl="1"/>
            <a:r>
              <a:rPr lang="en-US" dirty="0"/>
              <a:t>Number of clusters – did you end up with enough to be meaningful in a business sense?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sz="2000" dirty="0"/>
              <a:t>There are so many different levers to pull, and so little way to evaluate it!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It can be mis-used…algorithms will always reveal clusters, even if there is no real clustering in the data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Or just use as an exploratory measure to find interesting signal or to inspire other work.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BAC9EB-BC41-2DE5-C2CE-B2B34445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5" y="180256"/>
            <a:ext cx="10515600" cy="1001559"/>
          </a:xfrm>
        </p:spPr>
        <p:txBody>
          <a:bodyPr/>
          <a:lstStyle/>
          <a:p>
            <a:r>
              <a:rPr lang="en-US" dirty="0"/>
              <a:t>Beware Clustering</a:t>
            </a:r>
          </a:p>
        </p:txBody>
      </p:sp>
    </p:spTree>
    <p:extLst>
      <p:ext uri="{BB962C8B-B14F-4D97-AF65-F5344CB8AC3E}">
        <p14:creationId xmlns:p14="http://schemas.microsoft.com/office/powerpoint/2010/main" val="408688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85BF-769B-73F4-F4FB-EC276B91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5B75D-A6D3-6FEE-69BB-B5717FB1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F83B6-2683-8AD9-F5F6-4E81FE2027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30357" y="1769441"/>
            <a:ext cx="5354176" cy="914400"/>
          </a:xfrm>
        </p:spPr>
        <p:txBody>
          <a:bodyPr/>
          <a:lstStyle/>
          <a:p>
            <a:r>
              <a:rPr lang="en-US" dirty="0"/>
              <a:t>Analysis Using Similarities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ED4A4-1147-1A57-83E4-769ED78F69B6}"/>
              </a:ext>
            </a:extLst>
          </p:cNvPr>
          <p:cNvSpPr txBox="1"/>
          <p:nvPr/>
        </p:nvSpPr>
        <p:spPr>
          <a:xfrm>
            <a:off x="4807445" y="2902741"/>
            <a:ext cx="2518895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T9_Similarities.ipynb</a:t>
            </a:r>
          </a:p>
        </p:txBody>
      </p:sp>
    </p:spTree>
    <p:extLst>
      <p:ext uri="{BB962C8B-B14F-4D97-AF65-F5344CB8AC3E}">
        <p14:creationId xmlns:p14="http://schemas.microsoft.com/office/powerpoint/2010/main" val="874125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D36EA-090B-6ED1-F00D-1ADF3364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8D411-3EEC-42BF-C0E9-A587471CE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Similarities</a:t>
            </a:r>
          </a:p>
          <a:p>
            <a:pPr lvl="1"/>
            <a:r>
              <a:rPr lang="en-US" dirty="0"/>
              <a:t>Many different ways to calculate similarities (and differences!) between data points</a:t>
            </a:r>
          </a:p>
          <a:p>
            <a:pPr lvl="1"/>
            <a:endParaRPr lang="en-US" dirty="0"/>
          </a:p>
          <a:p>
            <a:r>
              <a:rPr lang="en-US" dirty="0"/>
              <a:t>K-nearest neighbors</a:t>
            </a:r>
          </a:p>
          <a:p>
            <a:pPr lvl="1"/>
            <a:r>
              <a:rPr lang="en-US" dirty="0"/>
              <a:t>A useful method for classification that doesn’t involve fitting a model</a:t>
            </a:r>
          </a:p>
          <a:p>
            <a:pPr lvl="1"/>
            <a:endParaRPr lang="en-US" dirty="0"/>
          </a:p>
          <a:p>
            <a:r>
              <a:rPr lang="en-US" dirty="0"/>
              <a:t>Clustering</a:t>
            </a:r>
          </a:p>
          <a:p>
            <a:pPr lvl="1"/>
            <a:r>
              <a:rPr lang="en-US" dirty="0"/>
              <a:t>Unsupervised learning method to find groups in data</a:t>
            </a:r>
          </a:p>
          <a:p>
            <a:pPr lvl="1"/>
            <a:r>
              <a:rPr lang="en-US" dirty="0"/>
              <a:t>K-means </a:t>
            </a:r>
          </a:p>
          <a:p>
            <a:pPr lvl="2"/>
            <a:r>
              <a:rPr lang="en-US" dirty="0"/>
              <a:t>Iterative clustering algorithm that finds groups using distances and a given k</a:t>
            </a:r>
          </a:p>
          <a:p>
            <a:pPr lvl="1"/>
            <a:r>
              <a:rPr lang="en-US" dirty="0"/>
              <a:t>Hierarchical clustering</a:t>
            </a:r>
          </a:p>
          <a:p>
            <a:pPr lvl="2"/>
            <a:r>
              <a:rPr lang="en-US" dirty="0"/>
              <a:t>Clustering algorithm that builds a nested sequence of clusters, allowing one to choose any possible 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A0BC1-6DAA-DDBE-7241-5EEEBCA7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78" y="136523"/>
            <a:ext cx="10515600" cy="654309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215545556"/>
      </p:ext>
    </p:extLst>
  </p:cSld>
  <p:clrMapOvr>
    <a:masterClrMapping/>
  </p:clrMapOvr>
</p:sld>
</file>

<file path=ppt/theme/theme1.xml><?xml version="1.0" encoding="utf-8"?>
<a:theme xmlns:a="http://schemas.openxmlformats.org/drawingml/2006/main" name="LSL_PowerPoint_Template">
  <a:themeElements>
    <a:clrScheme name="Stern Color Palette">
      <a:dk1>
        <a:srgbClr val="000000"/>
      </a:dk1>
      <a:lt1>
        <a:srgbClr val="FFFFFF"/>
      </a:lt1>
      <a:dk2>
        <a:srgbClr val="0E2841"/>
      </a:dk2>
      <a:lt2>
        <a:srgbClr val="EEE6F3"/>
      </a:lt2>
      <a:accent1>
        <a:srgbClr val="57068C"/>
      </a:accent1>
      <a:accent2>
        <a:srgbClr val="8900E1"/>
      </a:accent2>
      <a:accent3>
        <a:srgbClr val="330661"/>
      </a:accent3>
      <a:accent4>
        <a:srgbClr val="702B9D"/>
      </a:accent4>
      <a:accent5>
        <a:srgbClr val="A02B93"/>
      </a:accent5>
      <a:accent6>
        <a:srgbClr val="7B59A6"/>
      </a:accent6>
      <a:hlink>
        <a:srgbClr val="009B8A"/>
      </a:hlink>
      <a:folHlink>
        <a:srgbClr val="FB0F78"/>
      </a:folHlink>
    </a:clrScheme>
    <a:fontScheme name="LSL Templat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SL_PowerPoint_Template" id="{21962180-B26F-4A46-B8B0-B7D5112C3D72}" vid="{BB355436-7ED7-E64D-88EB-D09D3F4BC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LSL_PowerPoint_Template</Template>
  <TotalTime>34592</TotalTime>
  <Words>2057</Words>
  <Application>Microsoft Macintosh PowerPoint</Application>
  <PresentationFormat>Widescreen</PresentationFormat>
  <Paragraphs>565</Paragraphs>
  <Slides>45</Slides>
  <Notes>26</Notes>
  <HiddenSlides>2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-apple-system</vt:lpstr>
      <vt:lpstr>Aptos Narrow</vt:lpstr>
      <vt:lpstr>Arial</vt:lpstr>
      <vt:lpstr>Calibri</vt:lpstr>
      <vt:lpstr>Cambria Math</vt:lpstr>
      <vt:lpstr>Consolas</vt:lpstr>
      <vt:lpstr>Montserrat</vt:lpstr>
      <vt:lpstr>Montserrat SemiBold</vt:lpstr>
      <vt:lpstr>Tahoma</vt:lpstr>
      <vt:lpstr>Times New Roman</vt:lpstr>
      <vt:lpstr>Wingdings</vt:lpstr>
      <vt:lpstr>LSL_PowerPoint_Template</vt:lpstr>
      <vt:lpstr>Topic 10  – Similarity, Nearest Neighbors, and Clustering</vt:lpstr>
      <vt:lpstr>Similarity </vt:lpstr>
      <vt:lpstr>Similarity</vt:lpstr>
      <vt:lpstr>Similarity (and distance…)</vt:lpstr>
      <vt:lpstr>Similarity/distance</vt:lpstr>
      <vt:lpstr>Euclidean Distance</vt:lpstr>
      <vt:lpstr>Different types of similarity/distances</vt:lpstr>
      <vt:lpstr>Supervised:   K-Nearest Neighbors (kNN)</vt:lpstr>
      <vt:lpstr>Nearest Neighbors: The idea</vt:lpstr>
      <vt:lpstr>Using similarity for classification</vt:lpstr>
      <vt:lpstr>Nearest Neighbors for Classification</vt:lpstr>
      <vt:lpstr>K-nearest neighbors</vt:lpstr>
      <vt:lpstr>Example: K=1</vt:lpstr>
      <vt:lpstr>Example: K=3</vt:lpstr>
      <vt:lpstr>K-nearest neighbors</vt:lpstr>
      <vt:lpstr>Geometric interpretation</vt:lpstr>
      <vt:lpstr>How does a 1-nearest-neighbor classifier partition the space?</vt:lpstr>
      <vt:lpstr>kNN – Decision Boundaries</vt:lpstr>
      <vt:lpstr>kNN and Complexity</vt:lpstr>
      <vt:lpstr>Optimizing k though cross-validation</vt:lpstr>
      <vt:lpstr>kNN as Regression model</vt:lpstr>
      <vt:lpstr>Unsupervised: Clustering</vt:lpstr>
      <vt:lpstr>Clustering</vt:lpstr>
      <vt:lpstr>Clustering</vt:lpstr>
      <vt:lpstr>Clustering: Main idea</vt:lpstr>
      <vt:lpstr>Clusters: k-means</vt:lpstr>
      <vt:lpstr>K-Means</vt:lpstr>
      <vt:lpstr>Assign Instances to Clusters</vt:lpstr>
      <vt:lpstr>Find New Centroids</vt:lpstr>
      <vt:lpstr>New Clusters</vt:lpstr>
      <vt:lpstr>K-means </vt:lpstr>
      <vt:lpstr>How to pick k?</vt:lpstr>
      <vt:lpstr>PowerPoint Presentation</vt:lpstr>
      <vt:lpstr>Discussion: k-means clustering</vt:lpstr>
      <vt:lpstr>Unsupervised Learning – Hierarchical Clustering</vt:lpstr>
      <vt:lpstr>Clustering: Hierarchical Clustering</vt:lpstr>
      <vt:lpstr>Clustering: Hierarchical Clustering</vt:lpstr>
      <vt:lpstr>Dendrograms</vt:lpstr>
      <vt:lpstr>Dendrograms</vt:lpstr>
      <vt:lpstr>Make the Dendrogram!!</vt:lpstr>
      <vt:lpstr>Hierarchical Clustering</vt:lpstr>
      <vt:lpstr>Hierarchical clustering – Music Example</vt:lpstr>
      <vt:lpstr>Beware Clustering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9  – Similarity and Nearest Neighbors</dc:title>
  <dc:creator>chris volinsky</dc:creator>
  <cp:lastModifiedBy>chris volinsky</cp:lastModifiedBy>
  <cp:revision>46</cp:revision>
  <dcterms:created xsi:type="dcterms:W3CDTF">2024-01-04T18:17:20Z</dcterms:created>
  <dcterms:modified xsi:type="dcterms:W3CDTF">2025-11-13T15:54:53Z</dcterms:modified>
</cp:coreProperties>
</file>