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43"/>
  </p:notesMasterIdLst>
  <p:sldIdLst>
    <p:sldId id="256" r:id="rId2"/>
    <p:sldId id="257" r:id="rId3"/>
    <p:sldId id="858" r:id="rId4"/>
    <p:sldId id="862" r:id="rId5"/>
    <p:sldId id="863" r:id="rId6"/>
    <p:sldId id="864" r:id="rId7"/>
    <p:sldId id="865" r:id="rId8"/>
    <p:sldId id="866" r:id="rId9"/>
    <p:sldId id="867" r:id="rId10"/>
    <p:sldId id="291" r:id="rId11"/>
    <p:sldId id="871" r:id="rId12"/>
    <p:sldId id="296" r:id="rId13"/>
    <p:sldId id="295" r:id="rId14"/>
    <p:sldId id="306" r:id="rId15"/>
    <p:sldId id="887" r:id="rId16"/>
    <p:sldId id="859" r:id="rId17"/>
    <p:sldId id="891" r:id="rId18"/>
    <p:sldId id="892" r:id="rId19"/>
    <p:sldId id="894" r:id="rId20"/>
    <p:sldId id="263" r:id="rId21"/>
    <p:sldId id="266" r:id="rId22"/>
    <p:sldId id="268" r:id="rId23"/>
    <p:sldId id="884" r:id="rId24"/>
    <p:sldId id="277" r:id="rId25"/>
    <p:sldId id="284" r:id="rId26"/>
    <p:sldId id="300" r:id="rId27"/>
    <p:sldId id="893" r:id="rId28"/>
    <p:sldId id="860" r:id="rId29"/>
    <p:sldId id="873" r:id="rId30"/>
    <p:sldId id="874" r:id="rId31"/>
    <p:sldId id="875" r:id="rId32"/>
    <p:sldId id="877" r:id="rId33"/>
    <p:sldId id="876" r:id="rId34"/>
    <p:sldId id="878" r:id="rId35"/>
    <p:sldId id="879" r:id="rId36"/>
    <p:sldId id="880" r:id="rId37"/>
    <p:sldId id="881" r:id="rId38"/>
    <p:sldId id="882" r:id="rId39"/>
    <p:sldId id="890" r:id="rId40"/>
    <p:sldId id="855" r:id="rId41"/>
    <p:sldId id="88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0592"/>
    <a:srgbClr val="4A04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33"/>
    <p:restoredTop sz="86239"/>
  </p:normalViewPr>
  <p:slideViewPr>
    <p:cSldViewPr snapToGrid="0">
      <p:cViewPr varScale="1">
        <p:scale>
          <a:sx n="100" d="100"/>
          <a:sy n="100" d="100"/>
        </p:scale>
        <p:origin x="824" y="472"/>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13ED7A-E0CC-A14D-8702-3DBB30C4345D}" type="datetimeFigureOut">
              <a:rPr lang="en-US" smtClean="0"/>
              <a:t>11/19/25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12B09-6666-2149-A7EC-89A035875DEE}" type="slidenum">
              <a:rPr lang="en-US" smtClean="0"/>
              <a:t>‹#›</a:t>
            </a:fld>
            <a:endParaRPr lang="en-US"/>
          </a:p>
        </p:txBody>
      </p:sp>
    </p:spTree>
    <p:extLst>
      <p:ext uri="{BB962C8B-B14F-4D97-AF65-F5344CB8AC3E}">
        <p14:creationId xmlns:p14="http://schemas.microsoft.com/office/powerpoint/2010/main" val="2405811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They are everywhere! </a:t>
            </a:r>
          </a:p>
        </p:txBody>
      </p:sp>
      <p:sp>
        <p:nvSpPr>
          <p:cNvPr id="4" name="Slide Number Placeholder 3"/>
          <p:cNvSpPr>
            <a:spLocks noGrp="1"/>
          </p:cNvSpPr>
          <p:nvPr>
            <p:ph type="sldNum" sz="quarter" idx="5"/>
          </p:nvPr>
        </p:nvSpPr>
        <p:spPr/>
        <p:txBody>
          <a:bodyPr/>
          <a:lstStyle/>
          <a:p>
            <a:fld id="{85312B09-6666-2149-A7EC-89A035875DEE}" type="slidenum">
              <a:rPr lang="en-US" smtClean="0"/>
              <a:t>2</a:t>
            </a:fld>
            <a:endParaRPr lang="en-US"/>
          </a:p>
        </p:txBody>
      </p:sp>
    </p:spTree>
    <p:extLst>
      <p:ext uri="{BB962C8B-B14F-4D97-AF65-F5344CB8AC3E}">
        <p14:creationId xmlns:p14="http://schemas.microsoft.com/office/powerpoint/2010/main" val="1551148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Talk about why companies do recommendations – </a:t>
            </a:r>
          </a:p>
          <a:p>
            <a:endParaRPr lang="en-US" dirty="0"/>
          </a:p>
          <a:p>
            <a:r>
              <a:rPr lang="en-US" dirty="0"/>
              <a:t>because they surprise and delight</a:t>
            </a:r>
          </a:p>
          <a:p>
            <a:r>
              <a:rPr lang="en-US" dirty="0"/>
              <a:t>Get you to buy things</a:t>
            </a:r>
          </a:p>
          <a:p>
            <a:r>
              <a:rPr lang="en-US" dirty="0"/>
              <a:t>Create good word of mouth</a:t>
            </a:r>
          </a:p>
        </p:txBody>
      </p:sp>
      <p:sp>
        <p:nvSpPr>
          <p:cNvPr id="4" name="Slide Number Placeholder 3"/>
          <p:cNvSpPr>
            <a:spLocks noGrp="1"/>
          </p:cNvSpPr>
          <p:nvPr>
            <p:ph type="sldNum" sz="quarter" idx="5"/>
          </p:nvPr>
        </p:nvSpPr>
        <p:spPr/>
        <p:txBody>
          <a:bodyPr/>
          <a:lstStyle/>
          <a:p>
            <a:fld id="{85312B09-6666-2149-A7EC-89A035875DEE}" type="slidenum">
              <a:rPr lang="en-US" smtClean="0"/>
              <a:t>4</a:t>
            </a:fld>
            <a:endParaRPr lang="en-US"/>
          </a:p>
        </p:txBody>
      </p:sp>
    </p:spTree>
    <p:extLst>
      <p:ext uri="{BB962C8B-B14F-4D97-AF65-F5344CB8AC3E}">
        <p14:creationId xmlns:p14="http://schemas.microsoft.com/office/powerpoint/2010/main" val="3444314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Search – if you search for something like “immigration policy” it will use previous info to bias what results you get.  </a:t>
            </a:r>
          </a:p>
          <a:p>
            <a:endParaRPr lang="en-US" dirty="0"/>
          </a:p>
          <a:p>
            <a:r>
              <a:rPr lang="en-US" dirty="0"/>
              <a:t>What is the business angle here?  </a:t>
            </a:r>
            <a:r>
              <a:rPr lang="en-US" dirty="0" err="1"/>
              <a:t>Arent</a:t>
            </a:r>
            <a:r>
              <a:rPr lang="en-US" dirty="0"/>
              <a:t> you just better off </a:t>
            </a:r>
            <a:r>
              <a:rPr lang="en-US" dirty="0" err="1"/>
              <a:t>givng</a:t>
            </a:r>
            <a:r>
              <a:rPr lang="en-US" dirty="0"/>
              <a:t> the customer what they want? </a:t>
            </a:r>
          </a:p>
          <a:p>
            <a:endParaRPr lang="en-US" dirty="0"/>
          </a:p>
          <a:p>
            <a:pPr algn="l"/>
            <a:r>
              <a:rPr lang="en-US" b="1" i="0" dirty="0">
                <a:solidFill>
                  <a:srgbClr val="0D0D0D"/>
                </a:solidFill>
                <a:effectLst/>
                <a:highlight>
                  <a:srgbClr val="FFFFFF"/>
                </a:highlight>
                <a:latin typeface="Söhne"/>
              </a:rPr>
              <a:t>Strategic Business Goals vs. Filter Bubbles</a:t>
            </a:r>
          </a:p>
          <a:p>
            <a:pPr algn="l">
              <a:buFont typeface="+mj-lt"/>
              <a:buAutoNum type="arabicPeriod"/>
            </a:pPr>
            <a:r>
              <a:rPr lang="en-US" b="1" i="0" dirty="0">
                <a:solidFill>
                  <a:srgbClr val="0D0D0D"/>
                </a:solidFill>
                <a:effectLst/>
                <a:highlight>
                  <a:srgbClr val="FFFFFF"/>
                </a:highlight>
                <a:latin typeface="Söhne"/>
              </a:rPr>
              <a:t>Customer Engagement and Satisfaction</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1" i="0" dirty="0">
                <a:solidFill>
                  <a:srgbClr val="0D0D0D"/>
                </a:solidFill>
                <a:effectLst/>
                <a:highlight>
                  <a:srgbClr val="FFFFFF"/>
                </a:highlight>
                <a:latin typeface="Söhne"/>
              </a:rPr>
              <a:t>Short-term</a:t>
            </a:r>
            <a:r>
              <a:rPr lang="en-US" b="0" i="0" dirty="0">
                <a:solidFill>
                  <a:srgbClr val="0D0D0D"/>
                </a:solidFill>
                <a:effectLst/>
                <a:highlight>
                  <a:srgbClr val="FFFFFF"/>
                </a:highlight>
                <a:latin typeface="Söhne"/>
              </a:rPr>
              <a:t>: Initially, recommender systems that create filter bubbles may increase user engagement and satisfaction by presenting highly personalized content. This can drive immediate metrics such as time on site, repeat visits, or sales conversions.</a:t>
            </a:r>
          </a:p>
          <a:p>
            <a:pPr marL="742950" lvl="1" indent="-285750" algn="l">
              <a:buFont typeface="+mj-lt"/>
              <a:buAutoNum type="arabicPeriod"/>
            </a:pPr>
            <a:r>
              <a:rPr lang="en-US" b="1" i="0" dirty="0">
                <a:solidFill>
                  <a:srgbClr val="0D0D0D"/>
                </a:solidFill>
                <a:effectLst/>
                <a:highlight>
                  <a:srgbClr val="FFFFFF"/>
                </a:highlight>
                <a:latin typeface="Söhne"/>
              </a:rPr>
              <a:t>Long-term</a:t>
            </a:r>
            <a:r>
              <a:rPr lang="en-US" b="0" i="0" dirty="0">
                <a:solidFill>
                  <a:srgbClr val="0D0D0D"/>
                </a:solidFill>
                <a:effectLst/>
                <a:highlight>
                  <a:srgbClr val="FFFFFF"/>
                </a:highlight>
                <a:latin typeface="Söhne"/>
              </a:rPr>
              <a:t>: Over time, however, users might experience a decrease in content diversity, leading to dissatisfaction, reduced engagement, and potential loss of trust in the brand as they seek more varied content elsewhere.</a:t>
            </a:r>
          </a:p>
          <a:p>
            <a:pPr algn="l">
              <a:buFont typeface="+mj-lt"/>
              <a:buAutoNum type="arabicPeriod"/>
            </a:pPr>
            <a:r>
              <a:rPr lang="en-US" b="1" i="0" dirty="0">
                <a:solidFill>
                  <a:srgbClr val="0D0D0D"/>
                </a:solidFill>
                <a:effectLst/>
                <a:highlight>
                  <a:srgbClr val="FFFFFF"/>
                </a:highlight>
                <a:latin typeface="Söhne"/>
              </a:rPr>
              <a:t>Brand Perception and Market Reach</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1" i="0" dirty="0">
                <a:solidFill>
                  <a:srgbClr val="0D0D0D"/>
                </a:solidFill>
                <a:effectLst/>
                <a:highlight>
                  <a:srgbClr val="FFFFFF"/>
                </a:highlight>
                <a:latin typeface="Söhne"/>
              </a:rPr>
              <a:t>Niche Marketing</a:t>
            </a:r>
            <a:r>
              <a:rPr lang="en-US" b="0" i="0" dirty="0">
                <a:solidFill>
                  <a:srgbClr val="0D0D0D"/>
                </a:solidFill>
                <a:effectLst/>
                <a:highlight>
                  <a:srgbClr val="FFFFFF"/>
                </a:highlight>
                <a:latin typeface="Söhne"/>
              </a:rPr>
              <a:t>: Tailored content can strengthen brand loyalty among existing customers by catering precisely to their preferences.</a:t>
            </a:r>
          </a:p>
          <a:p>
            <a:pPr marL="742950" lvl="1" indent="-285750" algn="l">
              <a:buFont typeface="+mj-lt"/>
              <a:buAutoNum type="arabicPeriod"/>
            </a:pPr>
            <a:r>
              <a:rPr lang="en-US" b="1" i="0" dirty="0">
                <a:solidFill>
                  <a:srgbClr val="0D0D0D"/>
                </a:solidFill>
                <a:effectLst/>
                <a:highlight>
                  <a:srgbClr val="FFFFFF"/>
                </a:highlight>
                <a:latin typeface="Söhne"/>
              </a:rPr>
              <a:t>Market Expansion</a:t>
            </a:r>
            <a:r>
              <a:rPr lang="en-US" b="0" i="0" dirty="0">
                <a:solidFill>
                  <a:srgbClr val="0D0D0D"/>
                </a:solidFill>
                <a:effectLst/>
                <a:highlight>
                  <a:srgbClr val="FFFFFF"/>
                </a:highlight>
                <a:latin typeface="Söhne"/>
              </a:rPr>
              <a:t>: Conversely, avoiding filter bubbles can help businesses reach new audiences and market segments, preventing them from being pigeonholed into serving a narrow customer base.</a:t>
            </a:r>
          </a:p>
          <a:p>
            <a:pPr algn="l">
              <a:buFont typeface="+mj-lt"/>
              <a:buAutoNum type="arabicPeriod"/>
            </a:pPr>
            <a:r>
              <a:rPr lang="en-US" b="1" i="0" dirty="0">
                <a:solidFill>
                  <a:srgbClr val="0D0D0D"/>
                </a:solidFill>
                <a:effectLst/>
                <a:highlight>
                  <a:srgbClr val="FFFFFF"/>
                </a:highlight>
                <a:latin typeface="Söhne"/>
              </a:rPr>
              <a:t>Innovation and Growth</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Recommender systems focused narrowly on user past behavior may stifle discovery and innovation, both for users and the business. Encouraging exposure to a broader range of products or content can spur innovation, as it allows businesses to test and refine new offerings based on a wider array of user interactions and feedback.</a:t>
            </a:r>
          </a:p>
          <a:p>
            <a:pPr algn="l">
              <a:buFont typeface="+mj-lt"/>
              <a:buAutoNum type="arabicPeriod"/>
            </a:pPr>
            <a:r>
              <a:rPr lang="en-US" b="1" i="0" dirty="0">
                <a:solidFill>
                  <a:srgbClr val="0D0D0D"/>
                </a:solidFill>
                <a:effectLst/>
                <a:highlight>
                  <a:srgbClr val="FFFFFF"/>
                </a:highlight>
                <a:latin typeface="Söhne"/>
              </a:rPr>
              <a:t>Ethical Considerations and Corporate Responsibility</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There's a growing demand for ethical considerations in business practices, including how data and AI are used. Companies that proactively address the downsides of technologies like recommender systems can enhance their corporate responsibility profile, appealing to consumers and investors who value ethical considerations.</a:t>
            </a:r>
          </a:p>
          <a:p>
            <a:pPr algn="l">
              <a:buFont typeface="+mj-lt"/>
              <a:buAutoNum type="arabicPeriod"/>
            </a:pPr>
            <a:r>
              <a:rPr lang="en-US" b="1" i="0" dirty="0">
                <a:solidFill>
                  <a:srgbClr val="0D0D0D"/>
                </a:solidFill>
                <a:effectLst/>
                <a:highlight>
                  <a:srgbClr val="FFFFFF"/>
                </a:highlight>
                <a:latin typeface="Söhne"/>
              </a:rPr>
              <a:t>Economic Implications</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From an economic perspective, filter bubbles can lead to market fragmentation, where users become isolated within echo chambers. This can limit the overall market potential and reduce the effectiveness of broad-based marketing strategies.</a:t>
            </a:r>
          </a:p>
          <a:p>
            <a:pPr algn="l"/>
            <a:r>
              <a:rPr lang="en-US" b="1" i="0" dirty="0">
                <a:solidFill>
                  <a:srgbClr val="0D0D0D"/>
                </a:solidFill>
                <a:effectLst/>
                <a:highlight>
                  <a:srgbClr val="FFFFFF"/>
                </a:highlight>
                <a:latin typeface="Söhne"/>
              </a:rPr>
              <a:t>Are Firm's Goals Met by Avoiding Filter Bubbles?</a:t>
            </a:r>
          </a:p>
          <a:p>
            <a:pPr algn="l"/>
            <a:r>
              <a:rPr lang="en-US" b="0" i="0" dirty="0">
                <a:solidFill>
                  <a:srgbClr val="0D0D0D"/>
                </a:solidFill>
                <a:effectLst/>
                <a:highlight>
                  <a:srgbClr val="FFFFFF"/>
                </a:highlight>
                <a:latin typeface="Söhne"/>
              </a:rPr>
              <a:t>The alignment of a firm's goals with the strategy to avoid filter bubbles largely depends on the firm's long-term vision and values. If a company prioritizes sustainable growth, market expansion, innovation, and ethical practices, then developing strategies to mitigate the effects of filter bubbles could align well with its objectives. For instance:</a:t>
            </a:r>
          </a:p>
          <a:p>
            <a:pPr algn="l">
              <a:buFont typeface="Arial" panose="020B0604020202020204" pitchFamily="34" charset="0"/>
              <a:buChar char="•"/>
            </a:pPr>
            <a:r>
              <a:rPr lang="en-US" b="1" i="0" dirty="0">
                <a:solidFill>
                  <a:srgbClr val="0D0D0D"/>
                </a:solidFill>
                <a:effectLst/>
                <a:highlight>
                  <a:srgbClr val="FFFFFF"/>
                </a:highlight>
                <a:latin typeface="Söhne"/>
              </a:rPr>
              <a:t>Diversifying User Experience</a:t>
            </a:r>
            <a:r>
              <a:rPr lang="en-US" b="0" i="0" dirty="0">
                <a:solidFill>
                  <a:srgbClr val="0D0D0D"/>
                </a:solidFill>
                <a:effectLst/>
                <a:highlight>
                  <a:srgbClr val="FFFFFF"/>
                </a:highlight>
                <a:latin typeface="Söhne"/>
              </a:rPr>
              <a:t>: By introducing users to a broader range of products or content, firms can foster a more diverse and engaging user experience, potentially increasing user retention and attracting a wider audience.</a:t>
            </a:r>
          </a:p>
          <a:p>
            <a:pPr algn="l">
              <a:buFont typeface="Arial" panose="020B0604020202020204" pitchFamily="34" charset="0"/>
              <a:buChar char="•"/>
            </a:pPr>
            <a:r>
              <a:rPr lang="en-US" b="1" i="0" dirty="0">
                <a:solidFill>
                  <a:srgbClr val="0D0D0D"/>
                </a:solidFill>
                <a:effectLst/>
                <a:highlight>
                  <a:srgbClr val="FFFFFF"/>
                </a:highlight>
                <a:latin typeface="Söhne"/>
              </a:rPr>
              <a:t>Building Trust and Transparency</a:t>
            </a:r>
            <a:r>
              <a:rPr lang="en-US" b="0" i="0" dirty="0">
                <a:solidFill>
                  <a:srgbClr val="0D0D0D"/>
                </a:solidFill>
                <a:effectLst/>
                <a:highlight>
                  <a:srgbClr val="FFFFFF"/>
                </a:highlight>
                <a:latin typeface="Söhne"/>
              </a:rPr>
              <a:t>: Companies that address the downsides of personalization openly can build trust with their customers, showing commitment to more than just short-term engagement metrics.</a:t>
            </a:r>
          </a:p>
          <a:p>
            <a:pPr algn="l">
              <a:buFont typeface="Arial" panose="020B0604020202020204" pitchFamily="34" charset="0"/>
              <a:buChar char="•"/>
            </a:pPr>
            <a:r>
              <a:rPr lang="en-US" b="1" i="0" dirty="0">
                <a:solidFill>
                  <a:srgbClr val="0D0D0D"/>
                </a:solidFill>
                <a:effectLst/>
                <a:highlight>
                  <a:srgbClr val="FFFFFF"/>
                </a:highlight>
                <a:latin typeface="Söhne"/>
              </a:rPr>
              <a:t>Fostering a Healthy Information Ecosystem</a:t>
            </a:r>
            <a:r>
              <a:rPr lang="en-US" b="0" i="0" dirty="0">
                <a:solidFill>
                  <a:srgbClr val="0D0D0D"/>
                </a:solidFill>
                <a:effectLst/>
                <a:highlight>
                  <a:srgbClr val="FFFFFF"/>
                </a:highlight>
                <a:latin typeface="Söhne"/>
              </a:rPr>
              <a:t>: For platforms that rely on content consumption, avoiding filter bubbles can contribute to a healthier public discourse, which can be particularly important for brand reputation in the long term.</a:t>
            </a:r>
          </a:p>
          <a:p>
            <a:pPr algn="l"/>
            <a:r>
              <a:rPr lang="en-US" b="0" i="0" dirty="0">
                <a:solidFill>
                  <a:srgbClr val="0D0D0D"/>
                </a:solidFill>
                <a:effectLst/>
                <a:highlight>
                  <a:srgbClr val="FFFFFF"/>
                </a:highlight>
                <a:latin typeface="Söhne"/>
              </a:rPr>
              <a:t>In summary, while the immediate efficiency metrics of recommender systems may seem attractive, business students should consider the broader implications of these systems on market dynamics, consumer behavior, and societal impact. Balancing personalization with the need to avoid filter bubbles can help businesses achieve more sustainable and ethical growth.</a:t>
            </a:r>
          </a:p>
        </p:txBody>
      </p:sp>
      <p:sp>
        <p:nvSpPr>
          <p:cNvPr id="4" name="Slide Number Placeholder 3"/>
          <p:cNvSpPr>
            <a:spLocks noGrp="1"/>
          </p:cNvSpPr>
          <p:nvPr>
            <p:ph type="sldNum" sz="quarter" idx="5"/>
          </p:nvPr>
        </p:nvSpPr>
        <p:spPr/>
        <p:txBody>
          <a:bodyPr/>
          <a:lstStyle/>
          <a:p>
            <a:fld id="{85312B09-6666-2149-A7EC-89A035875DEE}" type="slidenum">
              <a:rPr lang="en-US" smtClean="0"/>
              <a:t>5</a:t>
            </a:fld>
            <a:endParaRPr lang="en-US"/>
          </a:p>
        </p:txBody>
      </p:sp>
    </p:spTree>
    <p:extLst>
      <p:ext uri="{BB962C8B-B14F-4D97-AF65-F5344CB8AC3E}">
        <p14:creationId xmlns:p14="http://schemas.microsoft.com/office/powerpoint/2010/main" val="3438555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Training data is not a bunch of observations with a label…it is many observations with many labels…</a:t>
            </a:r>
          </a:p>
        </p:txBody>
      </p:sp>
      <p:sp>
        <p:nvSpPr>
          <p:cNvPr id="4" name="Slide Number Placeholder 3"/>
          <p:cNvSpPr>
            <a:spLocks noGrp="1"/>
          </p:cNvSpPr>
          <p:nvPr>
            <p:ph type="sldNum" sz="quarter" idx="5"/>
          </p:nvPr>
        </p:nvSpPr>
        <p:spPr/>
        <p:txBody>
          <a:bodyPr/>
          <a:lstStyle/>
          <a:p>
            <a:fld id="{85312B09-6666-2149-A7EC-89A035875DEE}" type="slidenum">
              <a:rPr lang="en-US" smtClean="0"/>
              <a:t>7</a:t>
            </a:fld>
            <a:endParaRPr lang="en-US"/>
          </a:p>
        </p:txBody>
      </p:sp>
    </p:spTree>
    <p:extLst>
      <p:ext uri="{BB962C8B-B14F-4D97-AF65-F5344CB8AC3E}">
        <p14:creationId xmlns:p14="http://schemas.microsoft.com/office/powerpoint/2010/main" val="1683020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8</a:t>
            </a:fld>
            <a:endParaRPr lang="en-US"/>
          </a:p>
        </p:txBody>
      </p:sp>
    </p:spTree>
    <p:extLst>
      <p:ext uri="{BB962C8B-B14F-4D97-AF65-F5344CB8AC3E}">
        <p14:creationId xmlns:p14="http://schemas.microsoft.com/office/powerpoint/2010/main" val="3663407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10</a:t>
            </a:fld>
            <a:endParaRPr lang="en-US"/>
          </a:p>
        </p:txBody>
      </p:sp>
    </p:spTree>
    <p:extLst>
      <p:ext uri="{BB962C8B-B14F-4D97-AF65-F5344CB8AC3E}">
        <p14:creationId xmlns:p14="http://schemas.microsoft.com/office/powerpoint/2010/main" val="7922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a:p>
            <a:endParaRPr lang="en-US" dirty="0"/>
          </a:p>
          <a:p>
            <a:r>
              <a:rPr lang="en-US" dirty="0"/>
              <a:t>Additionally </a:t>
            </a:r>
          </a:p>
          <a:p>
            <a:endParaRPr lang="en-US" dirty="0"/>
          </a:p>
          <a:p>
            <a:r>
              <a:rPr lang="en-US" dirty="0"/>
              <a:t>10000 x 1000 = 10 000 000</a:t>
            </a:r>
          </a:p>
          <a:p>
            <a:endParaRPr lang="en-US" dirty="0"/>
          </a:p>
          <a:p>
            <a:r>
              <a:rPr lang="en-US" dirty="0"/>
              <a:t>10000 x 10 + 10 x 10 + 1000 x 10 = 100k + 100 + 10k = 110k</a:t>
            </a:r>
          </a:p>
        </p:txBody>
      </p:sp>
      <p:sp>
        <p:nvSpPr>
          <p:cNvPr id="4" name="Slide Number Placeholder 3"/>
          <p:cNvSpPr>
            <a:spLocks noGrp="1"/>
          </p:cNvSpPr>
          <p:nvPr>
            <p:ph type="sldNum" sz="quarter" idx="5"/>
          </p:nvPr>
        </p:nvSpPr>
        <p:spPr/>
        <p:txBody>
          <a:bodyPr/>
          <a:lstStyle/>
          <a:p>
            <a:fld id="{85312B09-6666-2149-A7EC-89A035875DEE}" type="slidenum">
              <a:rPr lang="en-US" smtClean="0"/>
              <a:t>11</a:t>
            </a:fld>
            <a:endParaRPr lang="en-US"/>
          </a:p>
        </p:txBody>
      </p:sp>
    </p:spTree>
    <p:extLst>
      <p:ext uri="{BB962C8B-B14F-4D97-AF65-F5344CB8AC3E}">
        <p14:creationId xmlns:p14="http://schemas.microsoft.com/office/powerpoint/2010/main" val="1471563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latent factors</a:t>
            </a:r>
            <a:r>
              <a:rPr lang="en-US" dirty="0"/>
              <a:t> — which are </a:t>
            </a:r>
            <a:r>
              <a:rPr lang="en-US" b="1" dirty="0"/>
              <a:t>hidden traits</a:t>
            </a:r>
            <a:r>
              <a:rPr lang="en-US" dirty="0"/>
              <a:t> that explain preferences.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they’re discovered automatically from the data. That’s why they’re called </a:t>
            </a:r>
            <a:r>
              <a:rPr lang="en-US" i="1" dirty="0"/>
              <a:t>latent</a:t>
            </a:r>
            <a:r>
              <a:rPr lang="en-US" dirty="0"/>
              <a:t>.</a:t>
            </a:r>
          </a:p>
          <a:p>
            <a:endParaRPr lang="en-US" dirty="0"/>
          </a:p>
          <a:p>
            <a:r>
              <a:rPr lang="en-US" dirty="0"/>
              <a:t>For instance, it might discover…</a:t>
            </a:r>
          </a:p>
          <a:p>
            <a:endParaRPr lang="en-US" dirty="0"/>
          </a:p>
          <a:p>
            <a:r>
              <a:rPr lang="en-US" dirty="0"/>
              <a:t>The approximation that does the best job of reconstructing what is there</a:t>
            </a:r>
          </a:p>
          <a:p>
            <a:endParaRPr lang="en-US" dirty="0"/>
          </a:p>
          <a:p>
            <a:r>
              <a:rPr lang="en-US" dirty="0"/>
              <a:t>As a by-product, it fills in the missing values!! </a:t>
            </a:r>
          </a:p>
        </p:txBody>
      </p:sp>
      <p:sp>
        <p:nvSpPr>
          <p:cNvPr id="4" name="Slide Number Placeholder 3"/>
          <p:cNvSpPr>
            <a:spLocks noGrp="1"/>
          </p:cNvSpPr>
          <p:nvPr>
            <p:ph type="sldNum" sz="quarter" idx="5"/>
          </p:nvPr>
        </p:nvSpPr>
        <p:spPr/>
        <p:txBody>
          <a:bodyPr/>
          <a:lstStyle/>
          <a:p>
            <a:fld id="{85312B09-6666-2149-A7EC-89A035875DEE}" type="slidenum">
              <a:rPr lang="en-US" smtClean="0"/>
              <a:t>12</a:t>
            </a:fld>
            <a:endParaRPr lang="en-US"/>
          </a:p>
        </p:txBody>
      </p:sp>
    </p:spTree>
    <p:extLst>
      <p:ext uri="{BB962C8B-B14F-4D97-AF65-F5344CB8AC3E}">
        <p14:creationId xmlns:p14="http://schemas.microsoft.com/office/powerpoint/2010/main" val="3191768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3B5A50AE-DCDA-4FA2-A9B9-23DB674285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a:solidFill>
                  <a:schemeClr val="tx1"/>
                </a:solidFill>
                <a:latin typeface="Times" charset="0"/>
                <a:ea typeface="ＭＳ Ｐゴシック" panose="020B0600070205080204" pitchFamily="34" charset="-128"/>
              </a:defRPr>
            </a:lvl1pPr>
            <a:lvl2pPr marL="742950" indent="-285750" defTabSz="917575">
              <a:defRPr sz="2400">
                <a:solidFill>
                  <a:schemeClr val="tx1"/>
                </a:solidFill>
                <a:latin typeface="Times" charset="0"/>
                <a:ea typeface="ＭＳ Ｐゴシック" panose="020B0600070205080204" pitchFamily="34" charset="-128"/>
              </a:defRPr>
            </a:lvl2pPr>
            <a:lvl3pPr marL="1143000" indent="-228600" defTabSz="917575">
              <a:defRPr sz="2400">
                <a:solidFill>
                  <a:schemeClr val="tx1"/>
                </a:solidFill>
                <a:latin typeface="Times" charset="0"/>
                <a:ea typeface="ＭＳ Ｐゴシック" panose="020B0600070205080204" pitchFamily="34" charset="-128"/>
              </a:defRPr>
            </a:lvl3pPr>
            <a:lvl4pPr marL="1600200" indent="-228600" defTabSz="917575">
              <a:defRPr sz="2400">
                <a:solidFill>
                  <a:schemeClr val="tx1"/>
                </a:solidFill>
                <a:latin typeface="Times" charset="0"/>
                <a:ea typeface="ＭＳ Ｐゴシック" panose="020B0600070205080204" pitchFamily="34" charset="-128"/>
              </a:defRPr>
            </a:lvl4pPr>
            <a:lvl5pPr marL="2057400" indent="-228600" defTabSz="917575">
              <a:defRPr sz="2400">
                <a:solidFill>
                  <a:schemeClr val="tx1"/>
                </a:solidFill>
                <a:latin typeface="Times" charset="0"/>
                <a:ea typeface="ＭＳ Ｐゴシック" panose="020B0600070205080204" pitchFamily="34" charset="-128"/>
              </a:defRPr>
            </a:lvl5pPr>
            <a:lvl6pPr marL="2514600" indent="-228600" defTabSz="917575"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defTabSz="917575"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defTabSz="917575"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defTabSz="917575"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E4C23A1F-F536-B142-800F-131DA781732C}" type="slidenum">
              <a:rPr lang="en-US" altLang="en-US" sz="1200"/>
              <a:pPr/>
              <a:t>13</a:t>
            </a:fld>
            <a:endParaRPr lang="en-US" altLang="en-US" sz="1200"/>
          </a:p>
        </p:txBody>
      </p:sp>
      <p:sp>
        <p:nvSpPr>
          <p:cNvPr id="51202" name="Rectangle 2">
            <a:extLst>
              <a:ext uri="{FF2B5EF4-FFF2-40B4-BE49-F238E27FC236}">
                <a16:creationId xmlns:a16="http://schemas.microsoft.com/office/drawing/2014/main" id="{FE2EE918-3975-D2AE-6EED-66B48F598F82}"/>
              </a:ext>
            </a:extLst>
          </p:cNvPr>
          <p:cNvSpPr>
            <a:spLocks noGrp="1" noRot="1" noChangeAspect="1" noChangeArrowheads="1"/>
          </p:cNvSpPr>
          <p:nvPr>
            <p:ph type="sldImg"/>
          </p:nvPr>
        </p:nvSpPr>
        <p:spPr>
          <a:xfrm>
            <a:off x="2698750" y="509588"/>
            <a:ext cx="4530725" cy="2549525"/>
          </a:xfrm>
          <a:solidFill>
            <a:srgbClr val="FFFFFF"/>
          </a:solidFill>
          <a:ln/>
        </p:spPr>
      </p:sp>
      <p:sp>
        <p:nvSpPr>
          <p:cNvPr id="51203" name="Rectangle 3">
            <a:extLst>
              <a:ext uri="{FF2B5EF4-FFF2-40B4-BE49-F238E27FC236}">
                <a16:creationId xmlns:a16="http://schemas.microsoft.com/office/drawing/2014/main" id="{D30EBBD7-A302-9C77-D16C-D0E19E80EA96}"/>
              </a:ext>
            </a:extLst>
          </p:cNvPr>
          <p:cNvSpPr>
            <a:spLocks noGrp="1" noChangeArrowheads="1"/>
          </p:cNvSpPr>
          <p:nvPr>
            <p:ph type="body" idx="1"/>
          </p:nvPr>
        </p:nvSpPr>
        <p:spPr>
          <a:xfrm>
            <a:off x="1323975" y="3228975"/>
            <a:ext cx="7280275" cy="3059113"/>
          </a:xfrm>
          <a:solidFill>
            <a:srgbClr val="FFFFFF"/>
          </a:solidFill>
          <a:ln>
            <a:solidFill>
              <a:srgbClr val="000000"/>
            </a:solidFill>
          </a:ln>
        </p:spPr>
        <p:txBody>
          <a:bodyPr/>
          <a:lstStyle/>
          <a:p>
            <a:r>
              <a:rPr lang="en-GB" altLang="en-US" dirty="0">
                <a:latin typeface="Times" charset="0"/>
                <a:ea typeface="ＭＳ Ｐゴシック" panose="020B0600070205080204" pitchFamily="34" charset="-128"/>
              </a:rPr>
              <a:t>SVD reduces the data into dimensions that describe the data.</a:t>
            </a:r>
          </a:p>
          <a:p>
            <a:endParaRPr lang="en-GB" altLang="en-US" dirty="0">
              <a:latin typeface="Times" charset="0"/>
              <a:ea typeface="ＭＳ Ｐゴシック" panose="020B0600070205080204" pitchFamily="34" charset="-128"/>
            </a:endParaRPr>
          </a:p>
          <a:p>
            <a:r>
              <a:rPr lang="en-GB" altLang="en-US" dirty="0">
                <a:latin typeface="Times" charset="0"/>
                <a:ea typeface="ＭＳ Ｐゴシック" panose="020B0600070205080204" pitchFamily="34" charset="-128"/>
              </a:rPr>
              <a:t>This is all just automatically revealed by the algorithm…it identifies the features that separate peoples </a:t>
            </a:r>
            <a:r>
              <a:rPr lang="en-GB" altLang="en-US" dirty="0" err="1">
                <a:latin typeface="Times" charset="0"/>
                <a:ea typeface="ＭＳ Ｐゴシック" panose="020B0600070205080204" pitchFamily="34" charset="-128"/>
              </a:rPr>
              <a:t>tasts</a:t>
            </a:r>
            <a:r>
              <a:rPr lang="en-GB" altLang="en-US" dirty="0">
                <a:latin typeface="Times" charset="0"/>
                <a:ea typeface="ＭＳ Ｐゴシック" panose="020B0600070205080204" pitchFamily="34" charset="-128"/>
              </a:rP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14</a:t>
            </a:fld>
            <a:endParaRPr lang="en-US"/>
          </a:p>
        </p:txBody>
      </p:sp>
    </p:spTree>
    <p:extLst>
      <p:ext uri="{BB962C8B-B14F-4D97-AF65-F5344CB8AC3E}">
        <p14:creationId xmlns:p14="http://schemas.microsoft.com/office/powerpoint/2010/main" val="2728358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Evaluation could be based on click, on buy, on rating….</a:t>
            </a:r>
          </a:p>
          <a:p>
            <a:endParaRPr lang="en-US" dirty="0"/>
          </a:p>
          <a:p>
            <a:r>
              <a:rPr lang="en-US" dirty="0"/>
              <a:t>Would they have watched without a recommendation at all? </a:t>
            </a:r>
          </a:p>
          <a:p>
            <a:endParaRPr lang="en-US" dirty="0"/>
          </a:p>
          <a:p>
            <a:r>
              <a:rPr lang="en-US" dirty="0"/>
              <a:t>What if you only recommend the most popular things? </a:t>
            </a:r>
          </a:p>
          <a:p>
            <a:endParaRPr lang="en-US" dirty="0"/>
          </a:p>
          <a:p>
            <a:r>
              <a:rPr lang="en-US" dirty="0"/>
              <a:t>What if they watched it, but would have watched it anyway? </a:t>
            </a:r>
          </a:p>
          <a:p>
            <a:endParaRPr lang="en-US" dirty="0"/>
          </a:p>
          <a:p>
            <a:r>
              <a:rPr lang="en-US" dirty="0"/>
              <a:t>Best feedback is a survey,, but those </a:t>
            </a:r>
            <a:r>
              <a:rPr lang="en-US" dirty="0" err="1"/>
              <a:t>arehared</a:t>
            </a:r>
            <a:r>
              <a:rPr lang="en-US" dirty="0"/>
              <a:t>.  </a:t>
            </a:r>
          </a:p>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15</a:t>
            </a:fld>
            <a:endParaRPr lang="en-US"/>
          </a:p>
        </p:txBody>
      </p:sp>
    </p:spTree>
    <p:extLst>
      <p:ext uri="{BB962C8B-B14F-4D97-AF65-F5344CB8AC3E}">
        <p14:creationId xmlns:p14="http://schemas.microsoft.com/office/powerpoint/2010/main" val="2768365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17</a:t>
            </a:fld>
            <a:endParaRPr lang="en-US"/>
          </a:p>
        </p:txBody>
      </p:sp>
    </p:spTree>
    <p:extLst>
      <p:ext uri="{BB962C8B-B14F-4D97-AF65-F5344CB8AC3E}">
        <p14:creationId xmlns:p14="http://schemas.microsoft.com/office/powerpoint/2010/main" val="2062508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18</a:t>
            </a:fld>
            <a:endParaRPr lang="en-US"/>
          </a:p>
        </p:txBody>
      </p:sp>
    </p:spTree>
    <p:extLst>
      <p:ext uri="{BB962C8B-B14F-4D97-AF65-F5344CB8AC3E}">
        <p14:creationId xmlns:p14="http://schemas.microsoft.com/office/powerpoint/2010/main" val="2509807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19</a:t>
            </a:fld>
            <a:endParaRPr lang="en-US"/>
          </a:p>
        </p:txBody>
      </p:sp>
    </p:spTree>
    <p:extLst>
      <p:ext uri="{BB962C8B-B14F-4D97-AF65-F5344CB8AC3E}">
        <p14:creationId xmlns:p14="http://schemas.microsoft.com/office/powerpoint/2010/main" val="792389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What are the features?  What is the target?</a:t>
            </a:r>
          </a:p>
          <a:p>
            <a:endParaRPr lang="en-US" dirty="0"/>
          </a:p>
          <a:p>
            <a:r>
              <a:rPr lang="en-US" dirty="0"/>
              <a:t>Build a model for each movie. </a:t>
            </a:r>
          </a:p>
          <a:p>
            <a:endParaRPr lang="en-US" dirty="0"/>
          </a:p>
          <a:p>
            <a:r>
              <a:rPr lang="en-US" dirty="0"/>
              <a:t>Want to predict if someone will like Jurassic Park</a:t>
            </a:r>
          </a:p>
          <a:p>
            <a:r>
              <a:rPr lang="en-US" dirty="0"/>
              <a:t>Need a matrix – training data of all the people who watched Jurassic Park</a:t>
            </a:r>
          </a:p>
          <a:p>
            <a:r>
              <a:rPr lang="en-US" dirty="0"/>
              <a:t>Target is rating of JP</a:t>
            </a:r>
          </a:p>
          <a:p>
            <a:r>
              <a:rPr lang="en-US" dirty="0"/>
              <a:t>What are the features? </a:t>
            </a:r>
          </a:p>
          <a:p>
            <a:endParaRPr lang="en-US" dirty="0"/>
          </a:p>
          <a:p>
            <a:r>
              <a:rPr lang="en-US" dirty="0"/>
              <a:t>What is the average number of movies rated per user? </a:t>
            </a:r>
          </a:p>
          <a:p>
            <a:r>
              <a:rPr lang="en-US" dirty="0"/>
              <a:t>What is the average number of users that rate a movie? </a:t>
            </a:r>
          </a:p>
          <a:p>
            <a:r>
              <a:rPr lang="en-US" dirty="0"/>
              <a:t>Want to create features for the users, how can we do that?  Create 10 for users and 10 for movies…</a:t>
            </a:r>
          </a:p>
          <a:p>
            <a:r>
              <a:rPr lang="en-US" dirty="0"/>
              <a:t>Max rating user”. 17659 (is that real?) average is just over 200…</a:t>
            </a:r>
          </a:p>
          <a:p>
            <a:r>
              <a:rPr lang="en-US" dirty="0"/>
              <a:t>Max number of ratings movie? 240k – Miss Congeniality. </a:t>
            </a:r>
          </a:p>
          <a:p>
            <a:endParaRPr lang="en-US" dirty="0"/>
          </a:p>
          <a:p>
            <a:r>
              <a:rPr lang="en-US" dirty="0"/>
              <a:t>Number of movies rated</a:t>
            </a:r>
          </a:p>
          <a:p>
            <a:r>
              <a:rPr lang="en-US" dirty="0"/>
              <a:t>Average of movies rated</a:t>
            </a:r>
          </a:p>
          <a:p>
            <a:r>
              <a:rPr lang="en-US" dirty="0"/>
              <a:t>Max score</a:t>
            </a:r>
          </a:p>
          <a:p>
            <a:r>
              <a:rPr lang="en-US" dirty="0"/>
              <a:t>Min score</a:t>
            </a:r>
          </a:p>
          <a:p>
            <a:r>
              <a:rPr lang="en-US" dirty="0"/>
              <a:t>Average score</a:t>
            </a:r>
          </a:p>
          <a:p>
            <a:r>
              <a:rPr lang="en-US" dirty="0"/>
              <a:t>SD score</a:t>
            </a:r>
          </a:p>
          <a:p>
            <a:r>
              <a:rPr lang="en-US" dirty="0"/>
              <a:t>How did they rate similar movies to Jurassic park</a:t>
            </a:r>
            <a:br>
              <a:rPr lang="en-US" dirty="0"/>
            </a:br>
            <a:r>
              <a:rPr lang="en-US" dirty="0"/>
              <a:t>how did they rate movies with same director (if any) </a:t>
            </a:r>
          </a:p>
          <a:p>
            <a:r>
              <a:rPr lang="en-US" dirty="0"/>
              <a:t>% of ratings that are 5</a:t>
            </a:r>
          </a:p>
          <a:p>
            <a:r>
              <a:rPr lang="en-US" dirty="0"/>
              <a:t>Day span of ratings</a:t>
            </a:r>
          </a:p>
          <a:p>
            <a:r>
              <a:rPr lang="en-US" dirty="0"/>
              <a:t>Max ratings on a single day</a:t>
            </a:r>
          </a:p>
          <a:p>
            <a:r>
              <a:rPr lang="en-US" dirty="0"/>
              <a:t>Most recent rating (how many days ago)</a:t>
            </a:r>
          </a:p>
          <a:p>
            <a:r>
              <a:rPr lang="en-US" dirty="0"/>
              <a:t>Summer/winter? </a:t>
            </a:r>
          </a:p>
          <a:p>
            <a:r>
              <a:rPr lang="en-US" dirty="0"/>
              <a:t>How many other movies were rated on this day? </a:t>
            </a:r>
          </a:p>
          <a:p>
            <a:endParaRPr lang="en-US" dirty="0"/>
          </a:p>
          <a:p>
            <a:r>
              <a:rPr lang="en-US" dirty="0"/>
              <a:t>DATE ISNT USEFUL!</a:t>
            </a:r>
          </a:p>
          <a:p>
            <a:endParaRPr lang="en-US" dirty="0"/>
          </a:p>
          <a:p>
            <a:endParaRPr lang="en-US" dirty="0"/>
          </a:p>
          <a:p>
            <a:r>
              <a:rPr lang="en-US" dirty="0"/>
              <a:t>Movies</a:t>
            </a:r>
          </a:p>
          <a:p>
            <a:r>
              <a:rPr lang="en-US" dirty="0"/>
              <a:t>How many people rated it? </a:t>
            </a:r>
          </a:p>
          <a:p>
            <a:r>
              <a:rPr lang="en-US" dirty="0"/>
              <a:t>What is the span of time? </a:t>
            </a:r>
          </a:p>
          <a:p>
            <a:r>
              <a:rPr lang="en-US" dirty="0"/>
              <a:t>Genre</a:t>
            </a:r>
          </a:p>
          <a:p>
            <a:r>
              <a:rPr lang="en-US" dirty="0"/>
              <a:t>Sub-genre</a:t>
            </a:r>
          </a:p>
          <a:p>
            <a:r>
              <a:rPr lang="en-US" dirty="0"/>
              <a:t>director</a:t>
            </a:r>
          </a:p>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20</a:t>
            </a:fld>
            <a:endParaRPr lang="en-US"/>
          </a:p>
        </p:txBody>
      </p:sp>
    </p:spTree>
    <p:extLst>
      <p:ext uri="{BB962C8B-B14F-4D97-AF65-F5344CB8AC3E}">
        <p14:creationId xmlns:p14="http://schemas.microsoft.com/office/powerpoint/2010/main" val="1598171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23</a:t>
            </a:fld>
            <a:endParaRPr lang="en-US"/>
          </a:p>
        </p:txBody>
      </p:sp>
    </p:spTree>
    <p:extLst>
      <p:ext uri="{BB962C8B-B14F-4D97-AF65-F5344CB8AC3E}">
        <p14:creationId xmlns:p14="http://schemas.microsoft.com/office/powerpoint/2010/main" val="1019133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24</a:t>
            </a:fld>
            <a:endParaRPr lang="en-US"/>
          </a:p>
        </p:txBody>
      </p:sp>
    </p:spTree>
    <p:extLst>
      <p:ext uri="{BB962C8B-B14F-4D97-AF65-F5344CB8AC3E}">
        <p14:creationId xmlns:p14="http://schemas.microsoft.com/office/powerpoint/2010/main" val="1384097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fld id="{85312B09-6666-2149-A7EC-89A035875DEE}" type="slidenum">
              <a:rPr lang="en-US" smtClean="0"/>
              <a:t>25</a:t>
            </a:fld>
            <a:endParaRPr lang="en-US"/>
          </a:p>
        </p:txBody>
      </p:sp>
    </p:spTree>
    <p:extLst>
      <p:ext uri="{BB962C8B-B14F-4D97-AF65-F5344CB8AC3E}">
        <p14:creationId xmlns:p14="http://schemas.microsoft.com/office/powerpoint/2010/main" val="3896191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26</a:t>
            </a:fld>
            <a:endParaRPr lang="en-US"/>
          </a:p>
        </p:txBody>
      </p:sp>
    </p:spTree>
    <p:extLst>
      <p:ext uri="{BB962C8B-B14F-4D97-AF65-F5344CB8AC3E}">
        <p14:creationId xmlns:p14="http://schemas.microsoft.com/office/powerpoint/2010/main" val="2918864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a:p>
            <a:r>
              <a:rPr lang="en-US" dirty="0"/>
              <a:t>	Maybe introduce the bias / variance tradeoff. </a:t>
            </a:r>
          </a:p>
        </p:txBody>
      </p:sp>
      <p:sp>
        <p:nvSpPr>
          <p:cNvPr id="4" name="Slide Number Placeholder 3"/>
          <p:cNvSpPr>
            <a:spLocks noGrp="1"/>
          </p:cNvSpPr>
          <p:nvPr>
            <p:ph type="sldNum" sz="quarter" idx="5"/>
          </p:nvPr>
        </p:nvSpPr>
        <p:spPr/>
        <p:txBody>
          <a:bodyPr/>
          <a:lstStyle/>
          <a:p>
            <a:fld id="{85312B09-6666-2149-A7EC-89A035875DEE}" type="slidenum">
              <a:rPr lang="en-US" smtClean="0"/>
              <a:t>30</a:t>
            </a:fld>
            <a:endParaRPr lang="en-US"/>
          </a:p>
        </p:txBody>
      </p:sp>
    </p:spTree>
    <p:extLst>
      <p:ext uri="{BB962C8B-B14F-4D97-AF65-F5344CB8AC3E}">
        <p14:creationId xmlns:p14="http://schemas.microsoft.com/office/powerpoint/2010/main" val="1432731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Work very </a:t>
            </a:r>
          </a:p>
        </p:txBody>
      </p:sp>
      <p:sp>
        <p:nvSpPr>
          <p:cNvPr id="4" name="Slide Number Placeholder 3"/>
          <p:cNvSpPr>
            <a:spLocks noGrp="1"/>
          </p:cNvSpPr>
          <p:nvPr>
            <p:ph type="sldNum" sz="quarter" idx="5"/>
          </p:nvPr>
        </p:nvSpPr>
        <p:spPr/>
        <p:txBody>
          <a:bodyPr/>
          <a:lstStyle/>
          <a:p>
            <a:fld id="{85312B09-6666-2149-A7EC-89A035875DEE}" type="slidenum">
              <a:rPr lang="en-US" smtClean="0"/>
              <a:t>32</a:t>
            </a:fld>
            <a:endParaRPr lang="en-US"/>
          </a:p>
        </p:txBody>
      </p:sp>
    </p:spTree>
    <p:extLst>
      <p:ext uri="{BB962C8B-B14F-4D97-AF65-F5344CB8AC3E}">
        <p14:creationId xmlns:p14="http://schemas.microsoft.com/office/powerpoint/2010/main" val="2531019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33</a:t>
            </a:fld>
            <a:endParaRPr lang="en-US"/>
          </a:p>
        </p:txBody>
      </p:sp>
    </p:spTree>
    <p:extLst>
      <p:ext uri="{BB962C8B-B14F-4D97-AF65-F5344CB8AC3E}">
        <p14:creationId xmlns:p14="http://schemas.microsoft.com/office/powerpoint/2010/main" val="475507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34</a:t>
            </a:fld>
            <a:endParaRPr lang="en-US"/>
          </a:p>
        </p:txBody>
      </p:sp>
    </p:spTree>
    <p:extLst>
      <p:ext uri="{BB962C8B-B14F-4D97-AF65-F5344CB8AC3E}">
        <p14:creationId xmlns:p14="http://schemas.microsoft.com/office/powerpoint/2010/main" val="3244721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35</a:t>
            </a:fld>
            <a:endParaRPr lang="en-US"/>
          </a:p>
        </p:txBody>
      </p:sp>
    </p:spTree>
    <p:extLst>
      <p:ext uri="{BB962C8B-B14F-4D97-AF65-F5344CB8AC3E}">
        <p14:creationId xmlns:p14="http://schemas.microsoft.com/office/powerpoint/2010/main" val="1811524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a:p>
            <a:r>
              <a:rPr lang="en-US" dirty="0"/>
              <a:t>Gradient –  Gradient Descent…it is how the model is fit</a:t>
            </a:r>
          </a:p>
          <a:p>
            <a:r>
              <a:rPr lang="en-US" dirty="0"/>
              <a:t>Boosted –  Boosting!  Using many many trees, as weak learners. </a:t>
            </a:r>
          </a:p>
          <a:p>
            <a:r>
              <a:rPr lang="en-US" dirty="0"/>
              <a:t>Decision Trees –  we know what these are, but we are mostly using stumps</a:t>
            </a:r>
          </a:p>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36</a:t>
            </a:fld>
            <a:endParaRPr lang="en-US"/>
          </a:p>
        </p:txBody>
      </p:sp>
    </p:spTree>
    <p:extLst>
      <p:ext uri="{BB962C8B-B14F-4D97-AF65-F5344CB8AC3E}">
        <p14:creationId xmlns:p14="http://schemas.microsoft.com/office/powerpoint/2010/main" val="1843700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Some of the absolute best predictive models are based on Boosting!</a:t>
            </a:r>
          </a:p>
          <a:p>
            <a:pPr lvl="1"/>
            <a:r>
              <a:rPr lang="en-US" dirty="0" err="1"/>
              <a:t>Adaboost</a:t>
            </a:r>
            <a:endParaRPr lang="en-US" dirty="0"/>
          </a:p>
          <a:p>
            <a:pPr lvl="1"/>
            <a:r>
              <a:rPr lang="en-US" dirty="0"/>
              <a:t>Gradient-boosted decision trees (GBDT)**</a:t>
            </a:r>
          </a:p>
          <a:p>
            <a:pPr lvl="1"/>
            <a:r>
              <a:rPr lang="en-US" dirty="0" err="1"/>
              <a:t>XGBoost</a:t>
            </a:r>
            <a:endParaRPr lang="en-US" dirty="0"/>
          </a:p>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39</a:t>
            </a:fld>
            <a:endParaRPr lang="en-US"/>
          </a:p>
        </p:txBody>
      </p:sp>
    </p:spTree>
    <p:extLst>
      <p:ext uri="{BB962C8B-B14F-4D97-AF65-F5344CB8AC3E}">
        <p14:creationId xmlns:p14="http://schemas.microsoft.com/office/powerpoint/2010/main" val="33114215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40</a:t>
            </a:fld>
            <a:endParaRPr lang="en-US"/>
          </a:p>
        </p:txBody>
      </p:sp>
    </p:spTree>
    <p:extLst>
      <p:ext uri="{BB962C8B-B14F-4D97-AF65-F5344CB8AC3E}">
        <p14:creationId xmlns:p14="http://schemas.microsoft.com/office/powerpoint/2010/main" val="11182535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12B09-6666-2149-A7EC-89A035875DEE}" type="slidenum">
              <a:rPr lang="en-US" smtClean="0"/>
              <a:t>41</a:t>
            </a:fld>
            <a:endParaRPr lang="en-US"/>
          </a:p>
        </p:txBody>
      </p:sp>
    </p:spTree>
    <p:extLst>
      <p:ext uri="{BB962C8B-B14F-4D97-AF65-F5344CB8AC3E}">
        <p14:creationId xmlns:p14="http://schemas.microsoft.com/office/powerpoint/2010/main" val="3501803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lvl1pPr>
              <a:defRPr>
                <a:solidFill>
                  <a:schemeClr val="bg2"/>
                </a:solidFill>
              </a:defRPr>
            </a:lvl1pPr>
          </a:lstStyle>
          <a:p>
            <a:fld id="{59F43C82-9B9B-AC4F-98CD-0ADC587116F3}" type="datetime1">
              <a:rPr lang="en-US" smtClean="0"/>
              <a:t>11/19/25</a:t>
            </a:fld>
            <a:endParaRPr lang="en-US"/>
          </a:p>
        </p:txBody>
      </p:sp>
      <p:sp>
        <p:nvSpPr>
          <p:cNvPr id="5" name="Foote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cNvSpPr>
            <a:spLocks noGrp="1"/>
          </p:cNvSpPr>
          <p:nvPr>
            <p:ph type="sldNum" sz="quarter" idx="12"/>
          </p:nvPr>
        </p:nvSpPr>
        <p:spPr/>
        <p:txBody>
          <a:bodyPr/>
          <a:lstStyle>
            <a:lvl1pPr algn="l">
              <a:defRPr>
                <a:solidFill>
                  <a:schemeClr val="bg2"/>
                </a:solidFill>
              </a:defRPr>
            </a:lvl1pPr>
          </a:lstStyle>
          <a:p>
            <a:fld id="{ABBEE3BA-F264-1746-880E-39AD601DF2B1}" type="slidenum">
              <a:rPr lang="en-US" smtClean="0"/>
              <a:t>‹#›</a:t>
            </a:fld>
            <a:endParaRPr lang="en-US"/>
          </a:p>
        </p:txBody>
      </p:sp>
      <p:sp>
        <p:nvSpPr>
          <p:cNvPr id="3" name="Subtitle"/>
          <p:cNvSpPr>
            <a:spLocks noGrp="1"/>
          </p:cNvSpPr>
          <p:nvPr>
            <p:ph type="subTitle" idx="1" hasCustomPrompt="1"/>
          </p:nvPr>
        </p:nvSpPr>
        <p:spPr>
          <a:xfrm>
            <a:off x="4254946" y="3467480"/>
            <a:ext cx="6912587" cy="1402207"/>
          </a:xfrm>
        </p:spPr>
        <p:txBody>
          <a:bodyPr lIns="91440" anchor="t">
            <a:noAutofit/>
          </a:bodyPr>
          <a:lstStyle>
            <a:lvl1pPr marL="0" indent="0" algn="l">
              <a:buNone/>
              <a:defRPr sz="2800" b="1" i="0">
                <a:solidFill>
                  <a:schemeClr val="bg2"/>
                </a:solidFill>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Data Science and AI for Business</a:t>
            </a:r>
          </a:p>
          <a:p>
            <a:r>
              <a:rPr lang="en-US" dirty="0"/>
              <a:t>Prof: Chris Volinsky</a:t>
            </a:r>
          </a:p>
          <a:p>
            <a:r>
              <a:rPr lang="en-US" dirty="0"/>
              <a:t>Fall 2025</a:t>
            </a:r>
          </a:p>
        </p:txBody>
      </p:sp>
      <p:sp>
        <p:nvSpPr>
          <p:cNvPr id="2" name="Title"/>
          <p:cNvSpPr>
            <a:spLocks noGrp="1"/>
          </p:cNvSpPr>
          <p:nvPr>
            <p:ph type="ctrTitle" hasCustomPrompt="1"/>
          </p:nvPr>
        </p:nvSpPr>
        <p:spPr>
          <a:xfrm>
            <a:off x="4254946" y="567189"/>
            <a:ext cx="6912587" cy="2387600"/>
          </a:xfrm>
          <a:noFill/>
        </p:spPr>
        <p:txBody>
          <a:bodyPr anchor="b"/>
          <a:lstStyle>
            <a:lvl1pPr algn="l">
              <a:defRPr sz="6000" b="1">
                <a:solidFill>
                  <a:schemeClr val="bg1"/>
                </a:solidFill>
              </a:defRPr>
            </a:lvl1pPr>
          </a:lstStyle>
          <a:p>
            <a:r>
              <a:rPr lang="en-US" dirty="0"/>
              <a:t>Topic X – Topic Name</a:t>
            </a:r>
          </a:p>
        </p:txBody>
      </p:sp>
    </p:spTree>
    <p:extLst>
      <p:ext uri="{BB962C8B-B14F-4D97-AF65-F5344CB8AC3E}">
        <p14:creationId xmlns:p14="http://schemas.microsoft.com/office/powerpoint/2010/main" val="2749735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Gould">
    <p:spTree>
      <p:nvGrpSpPr>
        <p:cNvPr id="1" name=""/>
        <p:cNvGrpSpPr/>
        <p:nvPr/>
      </p:nvGrpSpPr>
      <p:grpSpPr>
        <a:xfrm>
          <a:off x="0" y="0"/>
          <a:ext cx="0" cy="0"/>
          <a:chOff x="0" y="0"/>
          <a:chExt cx="0" cy="0"/>
        </a:xfrm>
      </p:grpSpPr>
      <p:pic>
        <p:nvPicPr>
          <p:cNvPr id="8" name="Picture 7" descr="A building with stairs and people walking&#10;&#10;AI-generated content may be incorrect.">
            <a:extLst>
              <a:ext uri="{FF2B5EF4-FFF2-40B4-BE49-F238E27FC236}">
                <a16:creationId xmlns:a16="http://schemas.microsoft.com/office/drawing/2014/main" id="{10B997DA-7AA6-CF7E-FDED-D6EF7D28ED6F}"/>
              </a:ext>
            </a:extLst>
          </p:cNvPr>
          <p:cNvPicPr>
            <a:picLocks noChangeAspect="1"/>
          </p:cNvPicPr>
          <p:nvPr/>
        </p:nvPicPr>
        <p:blipFill>
          <a:blip r:embed="rId2"/>
          <a:stretch>
            <a:fillRect/>
          </a:stretch>
        </p:blipFill>
        <p:spPr>
          <a:xfrm>
            <a:off x="0" y="0"/>
            <a:ext cx="12192000" cy="6858000"/>
          </a:xfrm>
          <a:prstGeom prst="rect">
            <a:avLst/>
          </a:prstGeom>
        </p:spPr>
      </p:pic>
      <p:sp>
        <p:nvSpPr>
          <p:cNvPr id="3" name="Date">
            <a:extLst>
              <a:ext uri="{FF2B5EF4-FFF2-40B4-BE49-F238E27FC236}">
                <a16:creationId xmlns:a16="http://schemas.microsoft.com/office/drawing/2014/main" id="{5BF72350-7C98-FBEB-2F3B-2484C5946840}"/>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EE8AD11E-DA5D-22C0-7E98-72840ACE0BFB}"/>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5F3E7FD-E179-CFF4-29F5-C801F3EC40C8}"/>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7" name="Caption">
            <a:extLst>
              <a:ext uri="{FF2B5EF4-FFF2-40B4-BE49-F238E27FC236}">
                <a16:creationId xmlns:a16="http://schemas.microsoft.com/office/drawing/2014/main" id="{D0F66A68-CFCE-76B6-AA53-FDBE844F5700}"/>
              </a:ext>
            </a:extLst>
          </p:cNvPr>
          <p:cNvSpPr>
            <a:spLocks noGrp="1"/>
          </p:cNvSpPr>
          <p:nvPr>
            <p:ph type="body" sz="quarter" idx="13" hasCustomPrompt="1"/>
          </p:nvPr>
        </p:nvSpPr>
        <p:spPr>
          <a:xfrm>
            <a:off x="0" y="5737651"/>
            <a:ext cx="5872095" cy="587375"/>
          </a:xfrm>
          <a:solidFill>
            <a:schemeClr val="accent6"/>
          </a:solidFill>
        </p:spPr>
        <p:txBody>
          <a:bodyPr lIns="822960" anchor="ctr">
            <a:normAutofit/>
          </a:bodyPr>
          <a:lstStyle>
            <a:lvl1pPr marL="0" indent="0">
              <a:buNone/>
              <a:defRPr sz="2400">
                <a:solidFill>
                  <a:schemeClr val="bg1"/>
                </a:solidFill>
              </a:defRPr>
            </a:lvl1pPr>
          </a:lstStyle>
          <a:p>
            <a:pPr lvl="0"/>
            <a:r>
              <a:rPr lang="en-US" dirty="0"/>
              <a:t>Add image caption</a:t>
            </a:r>
          </a:p>
        </p:txBody>
      </p:sp>
      <p:sp>
        <p:nvSpPr>
          <p:cNvPr id="2" name="Title">
            <a:extLst>
              <a:ext uri="{FF2B5EF4-FFF2-40B4-BE49-F238E27FC236}">
                <a16:creationId xmlns:a16="http://schemas.microsoft.com/office/drawing/2014/main" id="{A8B02C69-13B3-AF45-CE38-55FAC6F83018}"/>
              </a:ext>
            </a:extLst>
          </p:cNvPr>
          <p:cNvSpPr>
            <a:spLocks noGrp="1"/>
          </p:cNvSpPr>
          <p:nvPr>
            <p:ph type="title" hasCustomPrompt="1"/>
          </p:nvPr>
        </p:nvSpPr>
        <p:spPr>
          <a:xfrm>
            <a:off x="0" y="4901609"/>
            <a:ext cx="6171117" cy="836754"/>
          </a:xfrm>
          <a:solidFill>
            <a:schemeClr val="accent1"/>
          </a:solidFill>
        </p:spPr>
        <p:txBody>
          <a:bodyPr lIns="822960">
            <a:noAutofit/>
          </a:bodyPr>
          <a:lstStyle>
            <a:lvl1pPr>
              <a:defRPr sz="3200">
                <a:solidFill>
                  <a:schemeClr val="bg1"/>
                </a:solidFill>
                <a:effectLst/>
              </a:defRPr>
            </a:lvl1pPr>
          </a:lstStyle>
          <a:p>
            <a:r>
              <a:rPr lang="en-US" dirty="0"/>
              <a:t>Click to add image title</a:t>
            </a:r>
          </a:p>
        </p:txBody>
      </p:sp>
    </p:spTree>
    <p:extLst>
      <p:ext uri="{BB962C8B-B14F-4D97-AF65-F5344CB8AC3E}">
        <p14:creationId xmlns:p14="http://schemas.microsoft.com/office/powerpoint/2010/main" val="87944055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pic>
        <p:nvPicPr>
          <p:cNvPr id="8" name="Picture 7" descr="A building with stairs and people walking&#10;&#10;AI-generated content may be incorrect.">
            <a:extLst>
              <a:ext uri="{FF2B5EF4-FFF2-40B4-BE49-F238E27FC236}">
                <a16:creationId xmlns:a16="http://schemas.microsoft.com/office/drawing/2014/main" id="{F9871B73-938C-45E7-7799-A9A54437054D}"/>
              </a:ext>
            </a:extLst>
          </p:cNvPr>
          <p:cNvPicPr>
            <a:picLocks noChangeAspect="1"/>
          </p:cNvPicPr>
          <p:nvPr/>
        </p:nvPicPr>
        <p:blipFill>
          <a:blip r:embed="rId2">
            <a:alphaModFix amt="30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78E9548-3B4B-2F9B-6B67-2F904307859E}"/>
              </a:ext>
            </a:extLst>
          </p:cNvPr>
          <p:cNvSpPr>
            <a:spLocks noGrp="1"/>
          </p:cNvSpPr>
          <p:nvPr>
            <p:ph type="title"/>
          </p:nvPr>
        </p:nvSpPr>
        <p:spPr>
          <a:xfrm>
            <a:off x="402771" y="2063296"/>
            <a:ext cx="10515600" cy="1001559"/>
          </a:xfrm>
          <a:solidFill>
            <a:schemeClr val="accent1"/>
          </a:solidFill>
        </p:spPr>
        <p:txBody>
          <a:bodyPr/>
          <a:lstStyle>
            <a:lvl1pPr>
              <a:defRPr>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92C5894B-C677-E349-FCAF-7A2C8488A663}"/>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Placeholder 3">
            <a:extLst>
              <a:ext uri="{FF2B5EF4-FFF2-40B4-BE49-F238E27FC236}">
                <a16:creationId xmlns:a16="http://schemas.microsoft.com/office/drawing/2014/main" id="{0119CEAD-DE05-890A-43F5-E308410EE9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4C1DE4-B54C-87DD-FB01-5F8941577D75}"/>
              </a:ext>
            </a:extLst>
          </p:cNvPr>
          <p:cNvSpPr>
            <a:spLocks noGrp="1"/>
          </p:cNvSpPr>
          <p:nvPr>
            <p:ph type="sldNum" sz="quarter" idx="12"/>
          </p:nvPr>
        </p:nvSpPr>
        <p:spPr/>
        <p:txBody>
          <a:bodyPr/>
          <a:lstStyle/>
          <a:p>
            <a:fld id="{ABBEE3BA-F264-1746-880E-39AD601DF2B1}" type="slidenum">
              <a:rPr lang="en-US" smtClean="0"/>
              <a:t>‹#›</a:t>
            </a:fld>
            <a:endParaRPr lang="en-US"/>
          </a:p>
        </p:txBody>
      </p:sp>
    </p:spTree>
    <p:extLst>
      <p:ext uri="{BB962C8B-B14F-4D97-AF65-F5344CB8AC3E}">
        <p14:creationId xmlns:p14="http://schemas.microsoft.com/office/powerpoint/2010/main" val="80860878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A2647533-C89B-7F4F-A98B-2DD0B0DD654B}" type="datetimeFigureOut">
              <a:rPr lang="en-US" smtClean="0"/>
              <a:t>11/19/25</a:t>
            </a:fld>
            <a:endParaRPr lang="en-US" dirty="0"/>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Content"/>
          <p:cNvSpPr>
            <a:spLocks noGrp="1"/>
          </p:cNvSpPr>
          <p:nvPr>
            <p:ph idx="1"/>
          </p:nvPr>
        </p:nvSpPr>
        <p:spPr/>
        <p:txBody>
          <a:bodyPr/>
          <a:lstStyle>
            <a:lvl1pPr>
              <a:lnSpc>
                <a:spcPct val="100000"/>
              </a:lnSpc>
              <a:spcBef>
                <a:spcPts val="600"/>
              </a:spcBef>
              <a:defRPr/>
            </a:lvl1pPr>
            <a:lvl2pPr marL="685800" indent="-228600">
              <a:lnSpc>
                <a:spcPct val="100000"/>
              </a:lnSpc>
              <a:spcBef>
                <a:spcPts val="600"/>
              </a:spcBef>
              <a:buSzPct val="75000"/>
              <a:buFont typeface="Wingdings" pitchFamily="2" charset="2"/>
              <a:buChar char="§"/>
              <a:defRPr/>
            </a:lvl2pPr>
            <a:lvl3pPr marL="1143000" indent="-228600">
              <a:lnSpc>
                <a:spcPct val="100000"/>
              </a:lnSpc>
              <a:spcBef>
                <a:spcPts val="600"/>
              </a:spcBef>
              <a:buSzPct val="60000"/>
              <a:buFont typeface="Wingdings" pitchFamily="2" charset="2"/>
              <a:buChar char="v"/>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713909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lvl1pPr>
              <a:defRPr>
                <a:solidFill>
                  <a:schemeClr val="bg2"/>
                </a:solidFill>
              </a:defRPr>
            </a:lvl1pPr>
          </a:lstStyle>
          <a:p>
            <a:fld id="{C3BC7800-B276-A64A-8AB0-19972C98F17B}" type="datetime1">
              <a:rPr lang="en-US" smtClean="0"/>
              <a:t>11/19/25</a:t>
            </a:fld>
            <a:endParaRPr lang="en-US"/>
          </a:p>
        </p:txBody>
      </p:sp>
      <p:sp>
        <p:nvSpPr>
          <p:cNvPr id="5" name="Foote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cNvSpPr>
            <a:spLocks noGrp="1"/>
          </p:cNvSpPr>
          <p:nvPr>
            <p:ph type="sldNum" sz="quarter" idx="12"/>
          </p:nvPr>
        </p:nvSpPr>
        <p:spPr/>
        <p:txBody>
          <a:bodyPr/>
          <a:lstStyle>
            <a:lvl1pPr>
              <a:defRPr>
                <a:solidFill>
                  <a:schemeClr val="bg2"/>
                </a:solidFill>
              </a:defRPr>
            </a:lvl1pPr>
          </a:lstStyle>
          <a:p>
            <a:fld id="{ABBEE3BA-F264-1746-880E-39AD601DF2B1}" type="slidenum">
              <a:rPr lang="en-US" smtClean="0"/>
              <a:t>‹#›</a:t>
            </a:fld>
            <a:endParaRPr lang="en-US"/>
          </a:p>
        </p:txBody>
      </p:sp>
      <p:sp>
        <p:nvSpPr>
          <p:cNvPr id="3" name="Subtitle"/>
          <p:cNvSpPr>
            <a:spLocks noGrp="1"/>
          </p:cNvSpPr>
          <p:nvPr>
            <p:ph type="body" idx="1"/>
          </p:nvPr>
        </p:nvSpPr>
        <p:spPr>
          <a:xfrm>
            <a:off x="1674006" y="3447259"/>
            <a:ext cx="8160774" cy="1500187"/>
          </a:xfrm>
        </p:spPr>
        <p:txBody>
          <a:bodyPr lIns="91440">
            <a:normAutofit/>
          </a:bodyPr>
          <a:lstStyle>
            <a:lvl1pPr marL="0" indent="0">
              <a:buNone/>
              <a:defRPr sz="3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2" name="Title"/>
          <p:cNvSpPr>
            <a:spLocks noGrp="1"/>
          </p:cNvSpPr>
          <p:nvPr>
            <p:ph type="title"/>
          </p:nvPr>
        </p:nvSpPr>
        <p:spPr>
          <a:xfrm>
            <a:off x="1674006" y="1555276"/>
            <a:ext cx="8160774" cy="1864995"/>
          </a:xfrm>
          <a:noFill/>
        </p:spPr>
        <p:txBody>
          <a:bodyPr anchor="b">
            <a:normAutofit/>
          </a:bodyPr>
          <a:lstStyle>
            <a:lvl1pPr>
              <a:defRPr lang="en-US" dirty="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0186083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8D5B1BC2-7DC9-274F-9AA5-41AD410B73E8}" type="datetime1">
              <a:rPr lang="en-US" smtClean="0"/>
              <a:t>11/19/25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4" name="Content 2"/>
          <p:cNvSpPr>
            <a:spLocks noGrp="1"/>
          </p:cNvSpPr>
          <p:nvPr>
            <p:ph sz="half" idx="2"/>
          </p:nvPr>
        </p:nvSpPr>
        <p:spPr>
          <a:xfrm>
            <a:off x="6172200" y="1602658"/>
            <a:ext cx="5181600" cy="4574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1"/>
          <p:cNvSpPr>
            <a:spLocks noGrp="1"/>
          </p:cNvSpPr>
          <p:nvPr>
            <p:ph sz="half" idx="1"/>
          </p:nvPr>
        </p:nvSpPr>
        <p:spPr>
          <a:xfrm>
            <a:off x="838200" y="1602658"/>
            <a:ext cx="5181600" cy="4574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838200" y="365126"/>
            <a:ext cx="10515600" cy="1005840"/>
          </a:xfrm>
        </p:spPr>
        <p:txBody>
          <a:bodyPr/>
          <a:lstStyle/>
          <a:p>
            <a:r>
              <a:rPr lang="en-US"/>
              <a:t>Click to edit Master title style</a:t>
            </a:r>
            <a:endParaRPr lang="en-US" dirty="0"/>
          </a:p>
        </p:txBody>
      </p:sp>
    </p:spTree>
    <p:extLst>
      <p:ext uri="{BB962C8B-B14F-4D97-AF65-F5344CB8AC3E}">
        <p14:creationId xmlns:p14="http://schemas.microsoft.com/office/powerpoint/2010/main" val="961067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cNvSpPr>
            <a:spLocks noGrp="1"/>
          </p:cNvSpPr>
          <p:nvPr>
            <p:ph type="dt" sz="half" idx="10"/>
          </p:nvPr>
        </p:nvSpPr>
        <p:spPr/>
        <p:txBody>
          <a:bodyPr/>
          <a:lstStyle/>
          <a:p>
            <a:fld id="{B7F9541A-B732-0842-A74F-0C72DB237063}" type="datetime1">
              <a:rPr lang="en-US" smtClean="0"/>
              <a:t>11/19/25</a:t>
            </a:fld>
            <a:endParaRPr lang="en-US"/>
          </a:p>
        </p:txBody>
      </p:sp>
      <p:sp>
        <p:nvSpPr>
          <p:cNvPr id="8" name="Footer"/>
          <p:cNvSpPr>
            <a:spLocks noGrp="1"/>
          </p:cNvSpPr>
          <p:nvPr>
            <p:ph type="ftr" sz="quarter" idx="11"/>
          </p:nvPr>
        </p:nvSpPr>
        <p:spPr/>
        <p:txBody>
          <a:bodyPr/>
          <a:lstStyle/>
          <a:p>
            <a:endParaRPr lang="en-US"/>
          </a:p>
        </p:txBody>
      </p:sp>
      <p:sp>
        <p:nvSpPr>
          <p:cNvPr id="9"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6" name="Content 2"/>
          <p:cNvSpPr>
            <a:spLocks noGrp="1"/>
          </p:cNvSpPr>
          <p:nvPr>
            <p:ph sz="quarter" idx="4"/>
          </p:nvPr>
        </p:nvSpPr>
        <p:spPr>
          <a:xfrm>
            <a:off x="6172200" y="2424112"/>
            <a:ext cx="5183188" cy="3765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Heading 2"/>
          <p:cNvSpPr>
            <a:spLocks noGrp="1"/>
          </p:cNvSpPr>
          <p:nvPr>
            <p:ph type="body" sz="quarter" idx="3"/>
          </p:nvPr>
        </p:nvSpPr>
        <p:spPr>
          <a:xfrm>
            <a:off x="6172200" y="16002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1"/>
          <p:cNvSpPr>
            <a:spLocks noGrp="1"/>
          </p:cNvSpPr>
          <p:nvPr>
            <p:ph sz="half" idx="2"/>
          </p:nvPr>
        </p:nvSpPr>
        <p:spPr>
          <a:xfrm>
            <a:off x="839788" y="2424112"/>
            <a:ext cx="5157787" cy="3765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Heading 1"/>
          <p:cNvSpPr>
            <a:spLocks noGrp="1"/>
          </p:cNvSpPr>
          <p:nvPr>
            <p:ph type="body" idx="1"/>
          </p:nvPr>
        </p:nvSpPr>
        <p:spPr>
          <a:xfrm>
            <a:off x="839788" y="16002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p:cNvSpPr>
            <a:spLocks noGrp="1"/>
          </p:cNvSpPr>
          <p:nvPr>
            <p:ph type="title"/>
          </p:nvPr>
        </p:nvSpPr>
        <p:spPr>
          <a:xfrm>
            <a:off x="839788" y="365125"/>
            <a:ext cx="10515600" cy="1005840"/>
          </a:xfrm>
        </p:spPr>
        <p:txBody>
          <a:bodyPr/>
          <a:lstStyle>
            <a:lvl1pPr>
              <a:defRPr lang="en-US" dirty="0"/>
            </a:lvl1pPr>
          </a:lstStyle>
          <a:p>
            <a:r>
              <a:rPr lang="en-US"/>
              <a:t>Click to edit Master title style</a:t>
            </a:r>
            <a:endParaRPr lang="en-US" dirty="0"/>
          </a:p>
        </p:txBody>
      </p:sp>
    </p:spTree>
    <p:extLst>
      <p:ext uri="{BB962C8B-B14F-4D97-AF65-F5344CB8AC3E}">
        <p14:creationId xmlns:p14="http://schemas.microsoft.com/office/powerpoint/2010/main" val="102763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cNvSpPr>
            <a:spLocks noGrp="1"/>
          </p:cNvSpPr>
          <p:nvPr>
            <p:ph type="dt" sz="half" idx="10"/>
          </p:nvPr>
        </p:nvSpPr>
        <p:spPr/>
        <p:txBody>
          <a:bodyPr/>
          <a:lstStyle/>
          <a:p>
            <a:fld id="{F397BA72-28C9-9A46-8637-8A409BF0CACF}" type="datetime1">
              <a:rPr lang="en-US" smtClean="0"/>
              <a:t>11/19/25</a:t>
            </a:fld>
            <a:endParaRPr lang="en-US"/>
          </a:p>
        </p:txBody>
      </p:sp>
      <p:sp>
        <p:nvSpPr>
          <p:cNvPr id="4" name="Footer"/>
          <p:cNvSpPr>
            <a:spLocks noGrp="1"/>
          </p:cNvSpPr>
          <p:nvPr>
            <p:ph type="ftr" sz="quarter" idx="11"/>
          </p:nvPr>
        </p:nvSpPr>
        <p:spPr/>
        <p:txBody>
          <a:bodyPr/>
          <a:lstStyle/>
          <a:p>
            <a:endParaRPr lang="en-US"/>
          </a:p>
        </p:txBody>
      </p:sp>
      <p:sp>
        <p:nvSpPr>
          <p:cNvPr id="5"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6370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cNvSpPr>
            <a:spLocks noGrp="1"/>
          </p:cNvSpPr>
          <p:nvPr>
            <p:ph type="dt" sz="half" idx="10"/>
          </p:nvPr>
        </p:nvSpPr>
        <p:spPr/>
        <p:txBody>
          <a:bodyPr/>
          <a:lstStyle/>
          <a:p>
            <a:fld id="{C3BC7800-B276-A64A-8AB0-19972C98F17B}" type="datetime1">
              <a:rPr lang="en-US" smtClean="0"/>
              <a:t>11/19/25</a:t>
            </a:fld>
            <a:endParaRPr lang="en-US"/>
          </a:p>
        </p:txBody>
      </p:sp>
      <p:sp>
        <p:nvSpPr>
          <p:cNvPr id="3" name="Footer"/>
          <p:cNvSpPr>
            <a:spLocks noGrp="1"/>
          </p:cNvSpPr>
          <p:nvPr>
            <p:ph type="ftr" sz="quarter" idx="11"/>
          </p:nvPr>
        </p:nvSpPr>
        <p:spPr/>
        <p:txBody>
          <a:bodyPr/>
          <a:lstStyle/>
          <a:p>
            <a:endParaRPr lang="en-US"/>
          </a:p>
        </p:txBody>
      </p:sp>
      <p:sp>
        <p:nvSpPr>
          <p:cNvPr id="4"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5" name="Hidden Title">
            <a:extLst>
              <a:ext uri="{FF2B5EF4-FFF2-40B4-BE49-F238E27FC236}">
                <a16:creationId xmlns:a16="http://schemas.microsoft.com/office/drawing/2014/main" id="{2BFCB23C-FD7A-DDAB-2F31-3EA04039618B}"/>
              </a:ext>
            </a:extLst>
          </p:cNvPr>
          <p:cNvSpPr>
            <a:spLocks noGrp="1"/>
          </p:cNvSpPr>
          <p:nvPr>
            <p:ph type="title" hasCustomPrompt="1"/>
          </p:nvPr>
        </p:nvSpPr>
        <p:spPr>
          <a:xfrm>
            <a:off x="838200" y="-1139584"/>
            <a:ext cx="10515600" cy="1001559"/>
          </a:xfrm>
        </p:spPr>
        <p:txBody>
          <a:bodyPr/>
          <a:lstStyle/>
          <a:p>
            <a:r>
              <a:rPr lang="en-US" dirty="0"/>
              <a:t>Click to edit title (this will display for screen readers and outlines)</a:t>
            </a:r>
          </a:p>
        </p:txBody>
      </p:sp>
    </p:spTree>
    <p:extLst>
      <p:ext uri="{BB962C8B-B14F-4D97-AF65-F5344CB8AC3E}">
        <p14:creationId xmlns:p14="http://schemas.microsoft.com/office/powerpoint/2010/main" val="185147169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C3BC7800-B276-A64A-8AB0-19972C98F17B}" type="datetime1">
              <a:rPr lang="en-US" smtClean="0"/>
              <a:t>11/19/25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Content"/>
          <p:cNvSpPr>
            <a:spLocks noGrp="1"/>
          </p:cNvSpPr>
          <p:nvPr>
            <p:ph idx="1"/>
          </p:nvPr>
        </p:nvSpPr>
        <p:spPr>
          <a:xfrm>
            <a:off x="5183188" y="457201"/>
            <a:ext cx="6172200" cy="5403850"/>
          </a:xfrm>
        </p:spPr>
        <p:txBody>
          <a:bodyPr tIns="18288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aption">
            <a:extLst>
              <a:ext uri="{FF2B5EF4-FFF2-40B4-BE49-F238E27FC236}">
                <a16:creationId xmlns:a16="http://schemas.microsoft.com/office/drawing/2014/main" id="{F7BEC92A-23B7-BAAB-4CE5-D6D7A6417B7F}"/>
              </a:ext>
            </a:extLst>
          </p:cNvPr>
          <p:cNvSpPr>
            <a:spLocks noGrp="1"/>
          </p:cNvSpPr>
          <p:nvPr>
            <p:ph type="body" sz="quarter" idx="13"/>
          </p:nvPr>
        </p:nvSpPr>
        <p:spPr>
          <a:xfrm>
            <a:off x="836612" y="2057400"/>
            <a:ext cx="3935413" cy="380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839788" y="457200"/>
            <a:ext cx="3932237" cy="1600200"/>
          </a:xfrm>
        </p:spPr>
        <p:txBody>
          <a:bodyPr rIns="274320" anchor="ct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62534753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Date"/>
          <p:cNvSpPr>
            <a:spLocks noGrp="1"/>
          </p:cNvSpPr>
          <p:nvPr>
            <p:ph type="dt" sz="half" idx="10"/>
          </p:nvPr>
        </p:nvSpPr>
        <p:spPr/>
        <p:txBody>
          <a:bodyPr/>
          <a:lstStyle/>
          <a:p>
            <a:fld id="{C3BC7800-B276-A64A-8AB0-19972C98F17B}" type="datetime1">
              <a:rPr lang="en-US" smtClean="0"/>
              <a:t>11/19/25</a:t>
            </a:fld>
            <a:endParaRPr lang="en-US"/>
          </a:p>
        </p:txBody>
      </p:sp>
      <p:sp>
        <p:nvSpPr>
          <p:cNvPr id="6" name="Footer"/>
          <p:cNvSpPr>
            <a:spLocks noGrp="1"/>
          </p:cNvSpPr>
          <p:nvPr>
            <p:ph type="ftr" sz="quarter" idx="11"/>
          </p:nvPr>
        </p:nvSpPr>
        <p:spPr/>
        <p:txBody>
          <a:bodyPr/>
          <a:lstStyle/>
          <a:p>
            <a:endParaRPr lang="en-US"/>
          </a:p>
        </p:txBody>
      </p:sp>
      <p:sp>
        <p:nvSpPr>
          <p:cNvPr id="7"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Picture"/>
          <p:cNvSpPr>
            <a:spLocks noGrp="1" noChangeAspect="1"/>
          </p:cNvSpPr>
          <p:nvPr>
            <p:ph type="pic" idx="1"/>
          </p:nvPr>
        </p:nvSpPr>
        <p:spPr>
          <a:xfrm>
            <a:off x="5183188" y="457201"/>
            <a:ext cx="6172200" cy="5403850"/>
          </a:xfrm>
        </p:spPr>
        <p:txBody>
          <a:bodyPr tIns="18288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Caption">
            <a:extLst>
              <a:ext uri="{FF2B5EF4-FFF2-40B4-BE49-F238E27FC236}">
                <a16:creationId xmlns:a16="http://schemas.microsoft.com/office/drawing/2014/main" id="{7D76AD61-182C-13DD-7E32-DAED6ED8CDEB}"/>
              </a:ext>
            </a:extLst>
          </p:cNvPr>
          <p:cNvSpPr>
            <a:spLocks noGrp="1"/>
          </p:cNvSpPr>
          <p:nvPr>
            <p:ph type="body" sz="quarter" idx="13"/>
          </p:nvPr>
        </p:nvSpPr>
        <p:spPr>
          <a:xfrm>
            <a:off x="836612" y="2057401"/>
            <a:ext cx="3935413" cy="380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839788" y="457200"/>
            <a:ext cx="3932237" cy="1600200"/>
          </a:xfrm>
        </p:spPr>
        <p:txBody>
          <a:bodyPr rIns="274320" anchor="ct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8296410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F1178AE4-2A10-5F42-AC8C-4BD01A79A0D1}" type="datetime1">
              <a:rPr lang="en-US" smtClean="0"/>
              <a:t>11/19/25</a:t>
            </a:fld>
            <a:endParaRPr lang="en-US"/>
          </a:p>
        </p:txBody>
      </p:sp>
      <p:sp>
        <p:nvSpPr>
          <p:cNvPr id="5" name="Footer"/>
          <p:cNvSpPr>
            <a:spLocks noGrp="1"/>
          </p:cNvSpPr>
          <p:nvPr>
            <p:ph type="ftr" sz="quarter" idx="11"/>
          </p:nvPr>
        </p:nvSpPr>
        <p:spPr/>
        <p:txBody>
          <a:bodyPr/>
          <a:lstStyle/>
          <a:p>
            <a:endParaRPr lang="en-US"/>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Vertical Text"/>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75057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cNvSpPr>
            <a:spLocks noGrp="1"/>
          </p:cNvSpPr>
          <p:nvPr>
            <p:ph type="dt" sz="half" idx="10"/>
          </p:nvPr>
        </p:nvSpPr>
        <p:spPr/>
        <p:txBody>
          <a:bodyPr/>
          <a:lstStyle/>
          <a:p>
            <a:fld id="{E675C519-8308-2748-8B0B-F7B055AE4297}" type="datetime1">
              <a:rPr lang="en-US" smtClean="0"/>
              <a:t>11/19/25</a:t>
            </a:fld>
            <a:endParaRPr lang="en-US"/>
          </a:p>
        </p:txBody>
      </p:sp>
      <p:sp>
        <p:nvSpPr>
          <p:cNvPr id="5" name="Footer"/>
          <p:cNvSpPr>
            <a:spLocks noGrp="1"/>
          </p:cNvSpPr>
          <p:nvPr>
            <p:ph type="ftr" sz="quarter" idx="11"/>
          </p:nvPr>
        </p:nvSpPr>
        <p:spPr/>
        <p:txBody>
          <a:bodyPr/>
          <a:lstStyle/>
          <a:p>
            <a:endParaRPr lang="en-US"/>
          </a:p>
        </p:txBody>
      </p:sp>
      <p:sp>
        <p:nvSpPr>
          <p:cNvPr id="6" name="Slide Number"/>
          <p:cNvSpPr>
            <a:spLocks noGrp="1"/>
          </p:cNvSpPr>
          <p:nvPr>
            <p:ph type="sldNum" sz="quarter" idx="12"/>
          </p:nvPr>
        </p:nvSpPr>
        <p:spPr/>
        <p:txBody>
          <a:bodyPr/>
          <a:lstStyle/>
          <a:p>
            <a:fld id="{ABBEE3BA-F264-1746-880E-39AD601DF2B1}" type="slidenum">
              <a:rPr lang="en-US" smtClean="0"/>
              <a:t>‹#›</a:t>
            </a:fld>
            <a:endParaRPr lang="en-US"/>
          </a:p>
        </p:txBody>
      </p:sp>
      <p:sp>
        <p:nvSpPr>
          <p:cNvPr id="3" name="Vertical Text"/>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Vertical Title"/>
          <p:cNvSpPr>
            <a:spLocks noGrp="1"/>
          </p:cNvSpPr>
          <p:nvPr>
            <p:ph type="title" orient="vert"/>
          </p:nvPr>
        </p:nvSpPr>
        <p:spPr>
          <a:xfrm>
            <a:off x="8724900" y="365125"/>
            <a:ext cx="2628900" cy="5811838"/>
          </a:xfrm>
        </p:spPr>
        <p:txBody>
          <a:bodyPr vert="eaVert" tIns="182880" bIns="182880"/>
          <a:lstStyle/>
          <a:p>
            <a:r>
              <a:rPr lang="en-US"/>
              <a:t>Click to edit Master title style</a:t>
            </a:r>
            <a:endParaRPr lang="en-US" dirty="0"/>
          </a:p>
        </p:txBody>
      </p:sp>
    </p:spTree>
    <p:extLst>
      <p:ext uri="{BB962C8B-B14F-4D97-AF65-F5344CB8AC3E}">
        <p14:creationId xmlns:p14="http://schemas.microsoft.com/office/powerpoint/2010/main" val="910565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iographical profile">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E0315FA0-DFBB-0494-15F4-F94FA37BC439}"/>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248D3A38-8D3E-6EB0-FE34-FBB6F9AFC164}"/>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3331D1D9-60E1-36A2-EDA8-C31A7ED84877}"/>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6" name="Text 2">
            <a:extLst>
              <a:ext uri="{FF2B5EF4-FFF2-40B4-BE49-F238E27FC236}">
                <a16:creationId xmlns:a16="http://schemas.microsoft.com/office/drawing/2014/main" id="{AC4533C5-D85B-5D93-12B0-136A51D73C68}"/>
              </a:ext>
            </a:extLst>
          </p:cNvPr>
          <p:cNvSpPr>
            <a:spLocks noGrp="1"/>
          </p:cNvSpPr>
          <p:nvPr>
            <p:ph type="body" sz="quarter" idx="15"/>
          </p:nvPr>
        </p:nvSpPr>
        <p:spPr>
          <a:xfrm>
            <a:off x="5684088" y="565150"/>
            <a:ext cx="5672170" cy="5511800"/>
          </a:xfrm>
          <a:solidFill>
            <a:schemeClr val="bg2"/>
          </a:solidFill>
        </p:spPr>
        <p:txBody>
          <a:bodyPr lIns="365760" tIns="45720" rIns="36576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1">
            <a:extLst>
              <a:ext uri="{FF2B5EF4-FFF2-40B4-BE49-F238E27FC236}">
                <a16:creationId xmlns:a16="http://schemas.microsoft.com/office/drawing/2014/main" id="{8F52A58E-1F73-C381-F411-54304E513F36}"/>
              </a:ext>
            </a:extLst>
          </p:cNvPr>
          <p:cNvSpPr>
            <a:spLocks noGrp="1"/>
          </p:cNvSpPr>
          <p:nvPr>
            <p:ph type="body" sz="quarter" idx="13"/>
          </p:nvPr>
        </p:nvSpPr>
        <p:spPr>
          <a:xfrm>
            <a:off x="1126923" y="5453949"/>
            <a:ext cx="3868300" cy="622409"/>
          </a:xfrm>
        </p:spPr>
        <p:txBody>
          <a:bodyPr tIns="91440">
            <a:noAutofit/>
          </a:bodyPr>
          <a:lstStyle>
            <a:lvl1pPr marL="0" indent="0" algn="ctr">
              <a:lnSpc>
                <a:spcPct val="100000"/>
              </a:lnSpc>
              <a:spcBef>
                <a:spcPts val="0"/>
              </a:spcBef>
              <a:buNone/>
              <a:defRPr sz="1800"/>
            </a:lvl1pPr>
          </a:lstStyle>
          <a:p>
            <a:pPr lvl="0"/>
            <a:r>
              <a:rPr lang="en-US"/>
              <a:t>Click to edit Master text styles</a:t>
            </a:r>
          </a:p>
        </p:txBody>
      </p:sp>
      <p:sp>
        <p:nvSpPr>
          <p:cNvPr id="2" name="Title">
            <a:extLst>
              <a:ext uri="{FF2B5EF4-FFF2-40B4-BE49-F238E27FC236}">
                <a16:creationId xmlns:a16="http://schemas.microsoft.com/office/drawing/2014/main" id="{8DF94145-6C3C-7197-F652-4095F3D46474}"/>
              </a:ext>
            </a:extLst>
          </p:cNvPr>
          <p:cNvSpPr>
            <a:spLocks noGrp="1"/>
          </p:cNvSpPr>
          <p:nvPr>
            <p:ph type="title" hasCustomPrompt="1"/>
          </p:nvPr>
        </p:nvSpPr>
        <p:spPr>
          <a:xfrm>
            <a:off x="1126923" y="4557832"/>
            <a:ext cx="3867807" cy="896117"/>
          </a:xfrm>
        </p:spPr>
        <p:txBody>
          <a:bodyPr lIns="91440" anchor="ctr">
            <a:noAutofit/>
          </a:bodyPr>
          <a:lstStyle>
            <a:lvl1pPr algn="ctr">
              <a:defRPr sz="2800"/>
            </a:lvl1pPr>
          </a:lstStyle>
          <a:p>
            <a:r>
              <a:rPr lang="en-US" dirty="0"/>
              <a:t>Click to edit slide title</a:t>
            </a:r>
          </a:p>
        </p:txBody>
      </p:sp>
      <p:sp>
        <p:nvSpPr>
          <p:cNvPr id="14" name="Biographical Portrait">
            <a:extLst>
              <a:ext uri="{FF2B5EF4-FFF2-40B4-BE49-F238E27FC236}">
                <a16:creationId xmlns:a16="http://schemas.microsoft.com/office/drawing/2014/main" id="{C01C33A2-E0D6-52C6-B10A-B3D8B056EAC7}"/>
              </a:ext>
            </a:extLst>
          </p:cNvPr>
          <p:cNvSpPr>
            <a:spLocks noGrp="1"/>
          </p:cNvSpPr>
          <p:nvPr>
            <p:ph sz="quarter" idx="14"/>
          </p:nvPr>
        </p:nvSpPr>
        <p:spPr>
          <a:xfrm>
            <a:off x="1126923" y="490278"/>
            <a:ext cx="3867808" cy="4022020"/>
          </a:xfrm>
          <a:custGeom>
            <a:avLst/>
            <a:gdLst>
              <a:gd name="connsiteX0" fmla="*/ 1933904 w 3867808"/>
              <a:gd name="connsiteY0" fmla="*/ 0 h 4022020"/>
              <a:gd name="connsiteX1" fmla="*/ 3867808 w 3867808"/>
              <a:gd name="connsiteY1" fmla="*/ 2011366 h 4022020"/>
              <a:gd name="connsiteX2" fmla="*/ 2131635 w 3867808"/>
              <a:gd name="connsiteY2" fmla="*/ 4012348 h 4022020"/>
              <a:gd name="connsiteX3" fmla="*/ 1947462 w 3867808"/>
              <a:gd name="connsiteY3" fmla="*/ 4022020 h 4022020"/>
              <a:gd name="connsiteX4" fmla="*/ 1920347 w 3867808"/>
              <a:gd name="connsiteY4" fmla="*/ 4022020 h 4022020"/>
              <a:gd name="connsiteX5" fmla="*/ 1736174 w 3867808"/>
              <a:gd name="connsiteY5" fmla="*/ 4012348 h 4022020"/>
              <a:gd name="connsiteX6" fmla="*/ 0 w 3867808"/>
              <a:gd name="connsiteY6" fmla="*/ 2011366 h 4022020"/>
              <a:gd name="connsiteX7" fmla="*/ 1933904 w 3867808"/>
              <a:gd name="connsiteY7" fmla="*/ 0 h 402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7808" h="4022020">
                <a:moveTo>
                  <a:pt x="1933904" y="0"/>
                </a:moveTo>
                <a:cubicBezTo>
                  <a:pt x="3001970" y="0"/>
                  <a:pt x="3867808" y="900519"/>
                  <a:pt x="3867808" y="2011366"/>
                </a:cubicBezTo>
                <a:cubicBezTo>
                  <a:pt x="3867808" y="3052785"/>
                  <a:pt x="3106818" y="3909346"/>
                  <a:pt x="2131635" y="4012348"/>
                </a:cubicBezTo>
                <a:lnTo>
                  <a:pt x="1947462" y="4022020"/>
                </a:lnTo>
                <a:lnTo>
                  <a:pt x="1920347" y="4022020"/>
                </a:lnTo>
                <a:lnTo>
                  <a:pt x="1736174" y="4012348"/>
                </a:lnTo>
                <a:cubicBezTo>
                  <a:pt x="760991" y="3909346"/>
                  <a:pt x="0" y="3052785"/>
                  <a:pt x="0" y="2011366"/>
                </a:cubicBezTo>
                <a:cubicBezTo>
                  <a:pt x="0" y="900519"/>
                  <a:pt x="865838" y="0"/>
                  <a:pt x="1933904" y="0"/>
                </a:cubicBez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945508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x2 Grid">
    <p:spTree>
      <p:nvGrpSpPr>
        <p:cNvPr id="1" name=""/>
        <p:cNvGrpSpPr/>
        <p:nvPr/>
      </p:nvGrpSpPr>
      <p:grpSpPr>
        <a:xfrm>
          <a:off x="0" y="0"/>
          <a:ext cx="0" cy="0"/>
          <a:chOff x="0" y="0"/>
          <a:chExt cx="0" cy="0"/>
        </a:xfrm>
      </p:grpSpPr>
      <p:sp>
        <p:nvSpPr>
          <p:cNvPr id="22" name="Upper Right Background">
            <a:extLst>
              <a:ext uri="{FF2B5EF4-FFF2-40B4-BE49-F238E27FC236}">
                <a16:creationId xmlns:a16="http://schemas.microsoft.com/office/drawing/2014/main" id="{741348CF-8AE0-CDA7-6AF8-73CBD508D9C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096000" y="1362456"/>
            <a:ext cx="4389120" cy="228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Lower Left Background">
            <a:extLst>
              <a:ext uri="{FF2B5EF4-FFF2-40B4-BE49-F238E27FC236}">
                <a16:creationId xmlns:a16="http://schemas.microsoft.com/office/drawing/2014/main" id="{7A022FAC-8470-0247-48BA-724E9DA0456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706879" y="3664139"/>
            <a:ext cx="4389120" cy="228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Vertical Divider">
            <a:extLst>
              <a:ext uri="{FF2B5EF4-FFF2-40B4-BE49-F238E27FC236}">
                <a16:creationId xmlns:a16="http://schemas.microsoft.com/office/drawing/2014/main" id="{56653F9A-22F3-01A3-08FE-B872A42C741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6096000" y="1362456"/>
            <a:ext cx="0" cy="4572000"/>
          </a:xfrm>
          <a:prstGeom prst="line">
            <a:avLst/>
          </a:prstGeom>
          <a:ln w="28575">
            <a:solidFill>
              <a:srgbClr val="330662"/>
            </a:solidFill>
          </a:ln>
        </p:spPr>
        <p:style>
          <a:lnRef idx="2">
            <a:schemeClr val="accent1"/>
          </a:lnRef>
          <a:fillRef idx="0">
            <a:schemeClr val="accent1"/>
          </a:fillRef>
          <a:effectRef idx="1">
            <a:schemeClr val="accent1"/>
          </a:effectRef>
          <a:fontRef idx="minor">
            <a:schemeClr val="tx1"/>
          </a:fontRef>
        </p:style>
      </p:cxnSp>
      <p:cxnSp>
        <p:nvCxnSpPr>
          <p:cNvPr id="9" name="Horizontal Divider">
            <a:extLst>
              <a:ext uri="{FF2B5EF4-FFF2-40B4-BE49-F238E27FC236}">
                <a16:creationId xmlns:a16="http://schemas.microsoft.com/office/drawing/2014/main" id="{FD96D644-BABC-710D-9181-F5F1CFE255B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1706880" y="3648456"/>
            <a:ext cx="8778240"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sp>
        <p:nvSpPr>
          <p:cNvPr id="3" name="Date">
            <a:extLst>
              <a:ext uri="{FF2B5EF4-FFF2-40B4-BE49-F238E27FC236}">
                <a16:creationId xmlns:a16="http://schemas.microsoft.com/office/drawing/2014/main" id="{8C45C620-8DCA-F412-3FAF-615D5BE68A0C}"/>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01FB36B0-30B4-5161-4F34-C0DB33DF0497}"/>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0834D6B-037D-B08E-B56B-6F63524B7455}"/>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28" name="Lower Right Content">
            <a:extLst>
              <a:ext uri="{FF2B5EF4-FFF2-40B4-BE49-F238E27FC236}">
                <a16:creationId xmlns:a16="http://schemas.microsoft.com/office/drawing/2014/main" id="{59A8F6BE-E970-A0F4-7DDA-8524CD5C332D}"/>
              </a:ext>
            </a:extLst>
          </p:cNvPr>
          <p:cNvSpPr>
            <a:spLocks noGrp="1"/>
          </p:cNvSpPr>
          <p:nvPr>
            <p:ph sz="quarter" idx="24"/>
          </p:nvPr>
        </p:nvSpPr>
        <p:spPr>
          <a:xfrm>
            <a:off x="6095840" y="3740145"/>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Lower Right Label 2">
            <a:extLst>
              <a:ext uri="{FF2B5EF4-FFF2-40B4-BE49-F238E27FC236}">
                <a16:creationId xmlns:a16="http://schemas.microsoft.com/office/drawing/2014/main" id="{CFD30BF1-A505-9ACC-025A-469B5F029781}"/>
              </a:ext>
            </a:extLst>
          </p:cNvPr>
          <p:cNvSpPr>
            <a:spLocks noGrp="1"/>
          </p:cNvSpPr>
          <p:nvPr>
            <p:ph type="body" sz="quarter" idx="20" hasCustomPrompt="1"/>
          </p:nvPr>
        </p:nvSpPr>
        <p:spPr>
          <a:xfrm>
            <a:off x="10503409" y="4654295"/>
            <a:ext cx="1487423" cy="392113"/>
          </a:xfrm>
        </p:spPr>
        <p:txBody>
          <a:bodyPr>
            <a:noAutofit/>
          </a:bodyPr>
          <a:lstStyle>
            <a:lvl1pPr marL="0" indent="0" algn="l">
              <a:buNone/>
              <a:defRPr sz="2400" b="1"/>
            </a:lvl1pPr>
          </a:lstStyle>
          <a:p>
            <a:pPr lvl="0"/>
            <a:r>
              <a:rPr lang="en-US" dirty="0"/>
              <a:t>Label</a:t>
            </a:r>
          </a:p>
        </p:txBody>
      </p:sp>
      <p:sp>
        <p:nvSpPr>
          <p:cNvPr id="17" name="Lower Right Label 1">
            <a:extLst>
              <a:ext uri="{FF2B5EF4-FFF2-40B4-BE49-F238E27FC236}">
                <a16:creationId xmlns:a16="http://schemas.microsoft.com/office/drawing/2014/main" id="{C1877750-E333-F03B-47EC-F2033B802A89}"/>
              </a:ext>
            </a:extLst>
          </p:cNvPr>
          <p:cNvSpPr>
            <a:spLocks noGrp="1"/>
          </p:cNvSpPr>
          <p:nvPr>
            <p:ph type="body" sz="quarter" idx="16" hasCustomPrompt="1"/>
          </p:nvPr>
        </p:nvSpPr>
        <p:spPr>
          <a:xfrm>
            <a:off x="6095524" y="5962966"/>
            <a:ext cx="4389117" cy="457200"/>
          </a:xfrm>
        </p:spPr>
        <p:txBody>
          <a:bodyPr>
            <a:normAutofit/>
          </a:bodyPr>
          <a:lstStyle>
            <a:lvl1pPr marL="0" indent="0" algn="ctr">
              <a:buNone/>
              <a:defRPr sz="2400" b="1"/>
            </a:lvl1pPr>
          </a:lstStyle>
          <a:p>
            <a:pPr lvl="0"/>
            <a:r>
              <a:rPr lang="en-US" dirty="0"/>
              <a:t>Label</a:t>
            </a:r>
          </a:p>
        </p:txBody>
      </p:sp>
      <p:sp>
        <p:nvSpPr>
          <p:cNvPr id="27" name="Lower Left Content">
            <a:extLst>
              <a:ext uri="{FF2B5EF4-FFF2-40B4-BE49-F238E27FC236}">
                <a16:creationId xmlns:a16="http://schemas.microsoft.com/office/drawing/2014/main" id="{6EB568C5-C36C-C3B6-B84E-33585ED25B11}"/>
              </a:ext>
            </a:extLst>
          </p:cNvPr>
          <p:cNvSpPr>
            <a:spLocks noGrp="1"/>
          </p:cNvSpPr>
          <p:nvPr>
            <p:ph sz="quarter" idx="23"/>
          </p:nvPr>
        </p:nvSpPr>
        <p:spPr>
          <a:xfrm>
            <a:off x="1706563" y="3740145"/>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Lower Left Label 2">
            <a:extLst>
              <a:ext uri="{FF2B5EF4-FFF2-40B4-BE49-F238E27FC236}">
                <a16:creationId xmlns:a16="http://schemas.microsoft.com/office/drawing/2014/main" id="{837C4CC4-7EAF-DC30-D4DD-8B9A27E114F7}"/>
              </a:ext>
            </a:extLst>
          </p:cNvPr>
          <p:cNvSpPr>
            <a:spLocks noGrp="1"/>
          </p:cNvSpPr>
          <p:nvPr>
            <p:ph type="body" sz="quarter" idx="18" hasCustomPrompt="1"/>
          </p:nvPr>
        </p:nvSpPr>
        <p:spPr>
          <a:xfrm>
            <a:off x="201168" y="4654295"/>
            <a:ext cx="1487423" cy="392113"/>
          </a:xfrm>
        </p:spPr>
        <p:txBody>
          <a:bodyPr>
            <a:noAutofit/>
          </a:bodyPr>
          <a:lstStyle>
            <a:lvl1pPr marL="0" indent="0" algn="r">
              <a:buNone/>
              <a:defRPr sz="2400" b="1"/>
            </a:lvl1pPr>
          </a:lstStyle>
          <a:p>
            <a:pPr lvl="0"/>
            <a:r>
              <a:rPr lang="en-US" dirty="0"/>
              <a:t>Label</a:t>
            </a:r>
          </a:p>
        </p:txBody>
      </p:sp>
      <p:sp>
        <p:nvSpPr>
          <p:cNvPr id="16" name="Lower Left Label 1">
            <a:extLst>
              <a:ext uri="{FF2B5EF4-FFF2-40B4-BE49-F238E27FC236}">
                <a16:creationId xmlns:a16="http://schemas.microsoft.com/office/drawing/2014/main" id="{4B5B599D-1D6D-2F42-226C-68559DBA7D13}"/>
              </a:ext>
            </a:extLst>
          </p:cNvPr>
          <p:cNvSpPr>
            <a:spLocks noGrp="1"/>
          </p:cNvSpPr>
          <p:nvPr>
            <p:ph type="body" sz="quarter" idx="15" hasCustomPrompt="1"/>
          </p:nvPr>
        </p:nvSpPr>
        <p:spPr>
          <a:xfrm>
            <a:off x="1706406" y="5962966"/>
            <a:ext cx="4389119" cy="457200"/>
          </a:xfrm>
        </p:spPr>
        <p:txBody>
          <a:bodyPr>
            <a:normAutofit/>
          </a:bodyPr>
          <a:lstStyle>
            <a:lvl1pPr marL="0" indent="0" algn="ctr">
              <a:buNone/>
              <a:defRPr sz="2400" b="1"/>
            </a:lvl1pPr>
          </a:lstStyle>
          <a:p>
            <a:pPr lvl="0"/>
            <a:r>
              <a:rPr lang="en-US" dirty="0"/>
              <a:t>Label</a:t>
            </a:r>
          </a:p>
        </p:txBody>
      </p:sp>
      <p:sp>
        <p:nvSpPr>
          <p:cNvPr id="26" name="Upper Right Content">
            <a:extLst>
              <a:ext uri="{FF2B5EF4-FFF2-40B4-BE49-F238E27FC236}">
                <a16:creationId xmlns:a16="http://schemas.microsoft.com/office/drawing/2014/main" id="{C9BA5D50-354F-362B-0D00-D2581CEB93AE}"/>
              </a:ext>
            </a:extLst>
          </p:cNvPr>
          <p:cNvSpPr>
            <a:spLocks noGrp="1"/>
          </p:cNvSpPr>
          <p:nvPr>
            <p:ph sz="quarter" idx="22"/>
          </p:nvPr>
        </p:nvSpPr>
        <p:spPr>
          <a:xfrm>
            <a:off x="6095840" y="1358773"/>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Upper Right Label 2">
            <a:extLst>
              <a:ext uri="{FF2B5EF4-FFF2-40B4-BE49-F238E27FC236}">
                <a16:creationId xmlns:a16="http://schemas.microsoft.com/office/drawing/2014/main" id="{95D7251D-C3E9-D88C-6B59-37FDF825BC98}"/>
              </a:ext>
            </a:extLst>
          </p:cNvPr>
          <p:cNvSpPr>
            <a:spLocks noGrp="1"/>
          </p:cNvSpPr>
          <p:nvPr>
            <p:ph type="body" sz="quarter" idx="19" hasCustomPrompt="1"/>
          </p:nvPr>
        </p:nvSpPr>
        <p:spPr>
          <a:xfrm>
            <a:off x="10503409" y="2176811"/>
            <a:ext cx="1487423" cy="392113"/>
          </a:xfrm>
        </p:spPr>
        <p:txBody>
          <a:bodyPr>
            <a:noAutofit/>
          </a:bodyPr>
          <a:lstStyle>
            <a:lvl1pPr marL="0" indent="0" algn="l">
              <a:buNone/>
              <a:defRPr sz="2400" b="1"/>
            </a:lvl1pPr>
          </a:lstStyle>
          <a:p>
            <a:pPr lvl="0"/>
            <a:r>
              <a:rPr lang="en-US" dirty="0"/>
              <a:t>Label</a:t>
            </a:r>
          </a:p>
        </p:txBody>
      </p:sp>
      <p:sp>
        <p:nvSpPr>
          <p:cNvPr id="15" name="Upper Right Label 1">
            <a:extLst>
              <a:ext uri="{FF2B5EF4-FFF2-40B4-BE49-F238E27FC236}">
                <a16:creationId xmlns:a16="http://schemas.microsoft.com/office/drawing/2014/main" id="{01DC97BE-4E44-4321-55D1-58467CA8CD69}"/>
              </a:ext>
            </a:extLst>
          </p:cNvPr>
          <p:cNvSpPr>
            <a:spLocks noGrp="1"/>
          </p:cNvSpPr>
          <p:nvPr>
            <p:ph type="body" sz="quarter" idx="14" hasCustomPrompt="1"/>
          </p:nvPr>
        </p:nvSpPr>
        <p:spPr>
          <a:xfrm>
            <a:off x="6095524" y="904718"/>
            <a:ext cx="4389117" cy="457200"/>
          </a:xfrm>
        </p:spPr>
        <p:txBody>
          <a:bodyPr anchor="b">
            <a:normAutofit/>
          </a:bodyPr>
          <a:lstStyle>
            <a:lvl1pPr marL="0" indent="0" algn="ctr">
              <a:buNone/>
              <a:defRPr sz="2400" b="1"/>
            </a:lvl1pPr>
          </a:lstStyle>
          <a:p>
            <a:pPr lvl="0"/>
            <a:r>
              <a:rPr lang="en-US" dirty="0"/>
              <a:t>Label</a:t>
            </a:r>
          </a:p>
        </p:txBody>
      </p:sp>
      <p:sp>
        <p:nvSpPr>
          <p:cNvPr id="25" name="Upper Left Content">
            <a:extLst>
              <a:ext uri="{FF2B5EF4-FFF2-40B4-BE49-F238E27FC236}">
                <a16:creationId xmlns:a16="http://schemas.microsoft.com/office/drawing/2014/main" id="{34ADB10B-DD8F-366C-2FE7-EB6B19010DCA}"/>
              </a:ext>
            </a:extLst>
          </p:cNvPr>
          <p:cNvSpPr>
            <a:spLocks noGrp="1"/>
          </p:cNvSpPr>
          <p:nvPr>
            <p:ph sz="quarter" idx="21"/>
          </p:nvPr>
        </p:nvSpPr>
        <p:spPr>
          <a:xfrm>
            <a:off x="1706563" y="1358773"/>
            <a:ext cx="4389437" cy="2207388"/>
          </a:xfrm>
        </p:spPr>
        <p:txBody>
          <a:bodyPr lIns="182880" tIns="274320" rIns="27432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Upper Left Label 2">
            <a:extLst>
              <a:ext uri="{FF2B5EF4-FFF2-40B4-BE49-F238E27FC236}">
                <a16:creationId xmlns:a16="http://schemas.microsoft.com/office/drawing/2014/main" id="{A2A1B410-A6E6-1BF0-054A-670E8ED31FDA}"/>
              </a:ext>
            </a:extLst>
          </p:cNvPr>
          <p:cNvSpPr>
            <a:spLocks noGrp="1"/>
          </p:cNvSpPr>
          <p:nvPr>
            <p:ph type="body" sz="quarter" idx="17" hasCustomPrompt="1"/>
          </p:nvPr>
        </p:nvSpPr>
        <p:spPr>
          <a:xfrm>
            <a:off x="201168" y="2176811"/>
            <a:ext cx="1487423" cy="392113"/>
          </a:xfrm>
        </p:spPr>
        <p:txBody>
          <a:bodyPr>
            <a:noAutofit/>
          </a:bodyPr>
          <a:lstStyle>
            <a:lvl1pPr marL="0" indent="0" algn="r">
              <a:buNone/>
              <a:defRPr sz="2400" b="1"/>
            </a:lvl1pPr>
          </a:lstStyle>
          <a:p>
            <a:pPr lvl="0"/>
            <a:r>
              <a:rPr lang="en-US" dirty="0"/>
              <a:t>Label</a:t>
            </a:r>
          </a:p>
        </p:txBody>
      </p:sp>
      <p:sp>
        <p:nvSpPr>
          <p:cNvPr id="14" name="Upper Left Label 1">
            <a:extLst>
              <a:ext uri="{FF2B5EF4-FFF2-40B4-BE49-F238E27FC236}">
                <a16:creationId xmlns:a16="http://schemas.microsoft.com/office/drawing/2014/main" id="{49583889-99E8-7796-E87C-F99F6EE72DE7}"/>
              </a:ext>
            </a:extLst>
          </p:cNvPr>
          <p:cNvSpPr>
            <a:spLocks noGrp="1"/>
          </p:cNvSpPr>
          <p:nvPr>
            <p:ph type="body" sz="quarter" idx="13" hasCustomPrompt="1"/>
          </p:nvPr>
        </p:nvSpPr>
        <p:spPr>
          <a:xfrm>
            <a:off x="1706406" y="904718"/>
            <a:ext cx="4389119" cy="457200"/>
          </a:xfrm>
        </p:spPr>
        <p:txBody>
          <a:bodyPr anchor="b">
            <a:normAutofit/>
          </a:bodyPr>
          <a:lstStyle>
            <a:lvl1pPr marL="0" indent="0" algn="ctr">
              <a:buNone/>
              <a:defRPr sz="2400" b="1"/>
            </a:lvl1pPr>
          </a:lstStyle>
          <a:p>
            <a:pPr lvl="0"/>
            <a:r>
              <a:rPr lang="en-US" dirty="0"/>
              <a:t>Label</a:t>
            </a:r>
          </a:p>
        </p:txBody>
      </p:sp>
      <p:sp>
        <p:nvSpPr>
          <p:cNvPr id="2" name="Title">
            <a:extLst>
              <a:ext uri="{FF2B5EF4-FFF2-40B4-BE49-F238E27FC236}">
                <a16:creationId xmlns:a16="http://schemas.microsoft.com/office/drawing/2014/main" id="{1C5C5A4C-3D9C-8F95-687D-4440AD423F6B}"/>
              </a:ext>
            </a:extLst>
          </p:cNvPr>
          <p:cNvSpPr>
            <a:spLocks noGrp="1"/>
          </p:cNvSpPr>
          <p:nvPr>
            <p:ph type="title" hasCustomPrompt="1"/>
          </p:nvPr>
        </p:nvSpPr>
        <p:spPr>
          <a:xfrm>
            <a:off x="838200" y="365126"/>
            <a:ext cx="10515600" cy="542736"/>
          </a:xfrm>
        </p:spPr>
        <p:txBody>
          <a:bodyPr>
            <a:noAutofit/>
          </a:bodyPr>
          <a:lstStyle>
            <a:lvl1pPr>
              <a:defRPr sz="3200"/>
            </a:lvl1pPr>
          </a:lstStyle>
          <a:p>
            <a:r>
              <a:rPr lang="en-US" dirty="0"/>
              <a:t>Click to edit slide title</a:t>
            </a:r>
          </a:p>
        </p:txBody>
      </p:sp>
    </p:spTree>
    <p:extLst>
      <p:ext uri="{BB962C8B-B14F-4D97-AF65-F5344CB8AC3E}">
        <p14:creationId xmlns:p14="http://schemas.microsoft.com/office/powerpoint/2010/main" val="102993819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5BF72350-7C98-FBEB-2F3B-2484C5946840}"/>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EE8AD11E-DA5D-22C0-7E98-72840ACE0BFB}"/>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E5F3E7FD-E179-CFF4-29F5-C801F3EC40C8}"/>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9" name="Picture">
            <a:extLst>
              <a:ext uri="{FF2B5EF4-FFF2-40B4-BE49-F238E27FC236}">
                <a16:creationId xmlns:a16="http://schemas.microsoft.com/office/drawing/2014/main" id="{924D0665-6B62-D94C-6BB9-A5F32444BAF7}"/>
              </a:ext>
            </a:extLst>
          </p:cNvPr>
          <p:cNvSpPr>
            <a:spLocks noGrp="1"/>
          </p:cNvSpPr>
          <p:nvPr>
            <p:ph type="pic" sz="quarter" idx="14" hasCustomPrompt="1"/>
          </p:nvPr>
        </p:nvSpPr>
        <p:spPr>
          <a:xfrm>
            <a:off x="0" y="0"/>
            <a:ext cx="12192000" cy="6858000"/>
          </a:xfrm>
        </p:spPr>
        <p:txBody>
          <a:bodyPr tIns="2743200"/>
          <a:lstStyle>
            <a:lvl1pPr marL="0" indent="0" algn="ctr">
              <a:buNone/>
              <a:defRPr/>
            </a:lvl1pPr>
          </a:lstStyle>
          <a:p>
            <a:r>
              <a:rPr lang="en-US" dirty="0"/>
              <a:t>Click icon to add picture. Resize to fill screen if necessary.</a:t>
            </a:r>
          </a:p>
        </p:txBody>
      </p:sp>
      <p:sp>
        <p:nvSpPr>
          <p:cNvPr id="7" name="Caption">
            <a:extLst>
              <a:ext uri="{FF2B5EF4-FFF2-40B4-BE49-F238E27FC236}">
                <a16:creationId xmlns:a16="http://schemas.microsoft.com/office/drawing/2014/main" id="{D0F66A68-CFCE-76B6-AA53-FDBE844F5700}"/>
              </a:ext>
            </a:extLst>
          </p:cNvPr>
          <p:cNvSpPr>
            <a:spLocks noGrp="1"/>
          </p:cNvSpPr>
          <p:nvPr>
            <p:ph type="body" sz="quarter" idx="13" hasCustomPrompt="1"/>
          </p:nvPr>
        </p:nvSpPr>
        <p:spPr>
          <a:xfrm>
            <a:off x="0" y="5737651"/>
            <a:ext cx="5872095" cy="587375"/>
          </a:xfrm>
          <a:solidFill>
            <a:schemeClr val="accent6"/>
          </a:solidFill>
        </p:spPr>
        <p:txBody>
          <a:bodyPr lIns="822960" anchor="ctr">
            <a:normAutofit/>
          </a:bodyPr>
          <a:lstStyle>
            <a:lvl1pPr marL="0" indent="0">
              <a:buNone/>
              <a:defRPr sz="2400">
                <a:solidFill>
                  <a:schemeClr val="bg1"/>
                </a:solidFill>
              </a:defRPr>
            </a:lvl1pPr>
          </a:lstStyle>
          <a:p>
            <a:pPr lvl="0"/>
            <a:r>
              <a:rPr lang="en-US" dirty="0"/>
              <a:t>Add image caption</a:t>
            </a:r>
          </a:p>
        </p:txBody>
      </p:sp>
      <p:sp>
        <p:nvSpPr>
          <p:cNvPr id="2" name="Title">
            <a:extLst>
              <a:ext uri="{FF2B5EF4-FFF2-40B4-BE49-F238E27FC236}">
                <a16:creationId xmlns:a16="http://schemas.microsoft.com/office/drawing/2014/main" id="{A8B02C69-13B3-AF45-CE38-55FAC6F83018}"/>
              </a:ext>
            </a:extLst>
          </p:cNvPr>
          <p:cNvSpPr>
            <a:spLocks noGrp="1"/>
          </p:cNvSpPr>
          <p:nvPr>
            <p:ph type="title" hasCustomPrompt="1"/>
          </p:nvPr>
        </p:nvSpPr>
        <p:spPr>
          <a:xfrm>
            <a:off x="0" y="4901609"/>
            <a:ext cx="6171117" cy="836754"/>
          </a:xfrm>
          <a:solidFill>
            <a:schemeClr val="accent1"/>
          </a:solidFill>
        </p:spPr>
        <p:txBody>
          <a:bodyPr lIns="822960">
            <a:noAutofit/>
          </a:bodyPr>
          <a:lstStyle>
            <a:lvl1pPr>
              <a:defRPr sz="3200">
                <a:solidFill>
                  <a:schemeClr val="bg1"/>
                </a:solidFill>
                <a:effectLst/>
              </a:defRPr>
            </a:lvl1pPr>
          </a:lstStyle>
          <a:p>
            <a:r>
              <a:rPr lang="en-US" dirty="0"/>
              <a:t>Click to add image title</a:t>
            </a:r>
          </a:p>
        </p:txBody>
      </p:sp>
    </p:spTree>
    <p:extLst>
      <p:ext uri="{BB962C8B-B14F-4D97-AF65-F5344CB8AC3E}">
        <p14:creationId xmlns:p14="http://schemas.microsoft.com/office/powerpoint/2010/main" val="1709585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rge image with capti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5345CF1A-4C10-1E0A-F359-242D961D8EC1}"/>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5F89A3E1-10E8-DF5C-ADA7-7AA1AC1888E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9A5217EA-2F5D-8BD3-F6A4-7D27B940EF71}"/>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1" name="Caption">
            <a:extLst>
              <a:ext uri="{FF2B5EF4-FFF2-40B4-BE49-F238E27FC236}">
                <a16:creationId xmlns:a16="http://schemas.microsoft.com/office/drawing/2014/main" id="{28B89F34-6ED0-DAD7-D81D-47BF20B8B65B}"/>
              </a:ext>
            </a:extLst>
          </p:cNvPr>
          <p:cNvSpPr>
            <a:spLocks noGrp="1"/>
          </p:cNvSpPr>
          <p:nvPr>
            <p:ph type="body" sz="quarter" idx="14" hasCustomPrompt="1"/>
          </p:nvPr>
        </p:nvSpPr>
        <p:spPr>
          <a:xfrm>
            <a:off x="838199" y="5640428"/>
            <a:ext cx="10515601" cy="592656"/>
          </a:xfrm>
        </p:spPr>
        <p:txBody>
          <a:bodyPr/>
          <a:lstStyle>
            <a:lvl1pPr marL="0" indent="0" algn="ctr">
              <a:buNone/>
              <a:defRPr sz="2000" i="1"/>
            </a:lvl1pPr>
          </a:lstStyle>
          <a:p>
            <a:pPr lvl="0"/>
            <a:r>
              <a:rPr lang="en-US" dirty="0"/>
              <a:t>Click to add an image caption</a:t>
            </a:r>
          </a:p>
        </p:txBody>
      </p:sp>
      <p:sp>
        <p:nvSpPr>
          <p:cNvPr id="13" name="Picture or Content">
            <a:extLst>
              <a:ext uri="{FF2B5EF4-FFF2-40B4-BE49-F238E27FC236}">
                <a16:creationId xmlns:a16="http://schemas.microsoft.com/office/drawing/2014/main" id="{CD1EE5D5-5FAF-B62D-975C-50CD0639937E}"/>
              </a:ext>
            </a:extLst>
          </p:cNvPr>
          <p:cNvSpPr>
            <a:spLocks noGrp="1"/>
          </p:cNvSpPr>
          <p:nvPr>
            <p:ph sz="quarter" idx="15"/>
          </p:nvPr>
        </p:nvSpPr>
        <p:spPr>
          <a:xfrm>
            <a:off x="838200" y="1377023"/>
            <a:ext cx="10515600" cy="4253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6EDF3277-C373-C98B-51F8-11BE6680E54C}"/>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77459114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Way Comparis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672552CE-57B0-D785-85F5-225E32E6D2A3}"/>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93EB0BEA-0AF7-A252-24DF-6C97D14F175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54B4D71D-AD5D-4C98-1899-1F087628EB0F}"/>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3" name="Column 3 Content">
            <a:extLst>
              <a:ext uri="{FF2B5EF4-FFF2-40B4-BE49-F238E27FC236}">
                <a16:creationId xmlns:a16="http://schemas.microsoft.com/office/drawing/2014/main" id="{05C1C30C-0CDC-3433-354D-EE9FD3483FE1}"/>
              </a:ext>
            </a:extLst>
          </p:cNvPr>
          <p:cNvSpPr>
            <a:spLocks noGrp="1"/>
          </p:cNvSpPr>
          <p:nvPr>
            <p:ph type="body" sz="quarter" idx="16"/>
          </p:nvPr>
        </p:nvSpPr>
        <p:spPr>
          <a:xfrm>
            <a:off x="8153399"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lumn 3 Header">
            <a:extLst>
              <a:ext uri="{FF2B5EF4-FFF2-40B4-BE49-F238E27FC236}">
                <a16:creationId xmlns:a16="http://schemas.microsoft.com/office/drawing/2014/main" id="{EAD20429-72EA-1AA7-5960-5D9EC8A91AE0}"/>
              </a:ext>
            </a:extLst>
          </p:cNvPr>
          <p:cNvSpPr>
            <a:spLocks noGrp="1"/>
          </p:cNvSpPr>
          <p:nvPr>
            <p:ph type="body" sz="quarter" idx="15"/>
          </p:nvPr>
        </p:nvSpPr>
        <p:spPr>
          <a:xfrm>
            <a:off x="81534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Column 2 Content">
            <a:extLst>
              <a:ext uri="{FF2B5EF4-FFF2-40B4-BE49-F238E27FC236}">
                <a16:creationId xmlns:a16="http://schemas.microsoft.com/office/drawing/2014/main" id="{D0A545A4-8A49-4146-D78B-41174161DC0F}"/>
              </a:ext>
            </a:extLst>
          </p:cNvPr>
          <p:cNvSpPr>
            <a:spLocks noGrp="1"/>
          </p:cNvSpPr>
          <p:nvPr>
            <p:ph type="body" sz="quarter" idx="17"/>
          </p:nvPr>
        </p:nvSpPr>
        <p:spPr>
          <a:xfrm>
            <a:off x="4495799"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lumn 2 Header">
            <a:extLst>
              <a:ext uri="{FF2B5EF4-FFF2-40B4-BE49-F238E27FC236}">
                <a16:creationId xmlns:a16="http://schemas.microsoft.com/office/drawing/2014/main" id="{9314D649-A64C-6E34-2130-1BDF8C873E8E}"/>
              </a:ext>
            </a:extLst>
          </p:cNvPr>
          <p:cNvSpPr>
            <a:spLocks noGrp="1"/>
          </p:cNvSpPr>
          <p:nvPr>
            <p:ph type="body" sz="quarter" idx="14"/>
          </p:nvPr>
        </p:nvSpPr>
        <p:spPr>
          <a:xfrm>
            <a:off x="44958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5" name="Column 1 Content">
            <a:extLst>
              <a:ext uri="{FF2B5EF4-FFF2-40B4-BE49-F238E27FC236}">
                <a16:creationId xmlns:a16="http://schemas.microsoft.com/office/drawing/2014/main" id="{C23072DC-4A0E-C83E-BDE9-54755DDCF746}"/>
              </a:ext>
            </a:extLst>
          </p:cNvPr>
          <p:cNvSpPr>
            <a:spLocks noGrp="1"/>
          </p:cNvSpPr>
          <p:nvPr>
            <p:ph type="body" sz="quarter" idx="18"/>
          </p:nvPr>
        </p:nvSpPr>
        <p:spPr>
          <a:xfrm>
            <a:off x="838198" y="2743199"/>
            <a:ext cx="3200401" cy="3328045"/>
          </a:xfrm>
          <a:solidFill>
            <a:schemeClr val="bg2"/>
          </a:solidFill>
        </p:spPr>
        <p:txBody>
          <a:bodyPr lIns="182880" tIns="18288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lumn 1 Header">
            <a:extLst>
              <a:ext uri="{FF2B5EF4-FFF2-40B4-BE49-F238E27FC236}">
                <a16:creationId xmlns:a16="http://schemas.microsoft.com/office/drawing/2014/main" id="{C9BF1D7D-132C-5DC4-A1F8-16FE0BFECFB3}"/>
              </a:ext>
            </a:extLst>
          </p:cNvPr>
          <p:cNvSpPr>
            <a:spLocks noGrp="1"/>
          </p:cNvSpPr>
          <p:nvPr>
            <p:ph type="body" sz="quarter" idx="13"/>
          </p:nvPr>
        </p:nvSpPr>
        <p:spPr>
          <a:xfrm>
            <a:off x="838200" y="1828800"/>
            <a:ext cx="3200400" cy="914400"/>
          </a:xfrm>
          <a:solidFill>
            <a:schemeClr val="accent6"/>
          </a:solidFill>
        </p:spPr>
        <p:txBody>
          <a:bodyPr anchor="ctr">
            <a:normAutofit/>
          </a:bodyPr>
          <a:lstStyle>
            <a:lvl1pPr marL="0" indent="0" algn="ctr">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Title">
            <a:extLst>
              <a:ext uri="{FF2B5EF4-FFF2-40B4-BE49-F238E27FC236}">
                <a16:creationId xmlns:a16="http://schemas.microsoft.com/office/drawing/2014/main" id="{9F6E66BC-C77D-5E9E-4407-6B490F15E21A}"/>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2649032347"/>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Way Comparison">
    <p:spTree>
      <p:nvGrpSpPr>
        <p:cNvPr id="1" name=""/>
        <p:cNvGrpSpPr/>
        <p:nvPr/>
      </p:nvGrpSpPr>
      <p:grpSpPr>
        <a:xfrm>
          <a:off x="0" y="0"/>
          <a:ext cx="0" cy="0"/>
          <a:chOff x="0" y="0"/>
          <a:chExt cx="0" cy="0"/>
        </a:xfrm>
      </p:grpSpPr>
      <p:sp>
        <p:nvSpPr>
          <p:cNvPr id="3" name="Date">
            <a:extLst>
              <a:ext uri="{FF2B5EF4-FFF2-40B4-BE49-F238E27FC236}">
                <a16:creationId xmlns:a16="http://schemas.microsoft.com/office/drawing/2014/main" id="{672552CE-57B0-D785-85F5-225E32E6D2A3}"/>
              </a:ext>
            </a:extLst>
          </p:cNvPr>
          <p:cNvSpPr>
            <a:spLocks noGrp="1"/>
          </p:cNvSpPr>
          <p:nvPr>
            <p:ph type="dt" sz="half" idx="10"/>
          </p:nvPr>
        </p:nvSpPr>
        <p:spPr/>
        <p:txBody>
          <a:bodyPr/>
          <a:lstStyle/>
          <a:p>
            <a:fld id="{C3BC7800-B276-A64A-8AB0-19972C98F17B}" type="datetime1">
              <a:rPr lang="en-US" smtClean="0"/>
              <a:t>11/19/25</a:t>
            </a:fld>
            <a:endParaRPr lang="en-US"/>
          </a:p>
        </p:txBody>
      </p:sp>
      <p:sp>
        <p:nvSpPr>
          <p:cNvPr id="4" name="Footer">
            <a:extLst>
              <a:ext uri="{FF2B5EF4-FFF2-40B4-BE49-F238E27FC236}">
                <a16:creationId xmlns:a16="http://schemas.microsoft.com/office/drawing/2014/main" id="{93EB0BEA-0AF7-A252-24DF-6C97D14F175E}"/>
              </a:ext>
            </a:extLst>
          </p:cNvPr>
          <p:cNvSpPr>
            <a:spLocks noGrp="1"/>
          </p:cNvSpPr>
          <p:nvPr>
            <p:ph type="ftr" sz="quarter" idx="11"/>
          </p:nvPr>
        </p:nvSpPr>
        <p:spPr/>
        <p:txBody>
          <a:bodyPr/>
          <a:lstStyle/>
          <a:p>
            <a:endParaRPr lang="en-US"/>
          </a:p>
        </p:txBody>
      </p:sp>
      <p:sp>
        <p:nvSpPr>
          <p:cNvPr id="5" name="Slide Number">
            <a:extLst>
              <a:ext uri="{FF2B5EF4-FFF2-40B4-BE49-F238E27FC236}">
                <a16:creationId xmlns:a16="http://schemas.microsoft.com/office/drawing/2014/main" id="{54B4D71D-AD5D-4C98-1899-1F087628EB0F}"/>
              </a:ext>
            </a:extLst>
          </p:cNvPr>
          <p:cNvSpPr>
            <a:spLocks noGrp="1"/>
          </p:cNvSpPr>
          <p:nvPr>
            <p:ph type="sldNum" sz="quarter" idx="12"/>
          </p:nvPr>
        </p:nvSpPr>
        <p:spPr/>
        <p:txBody>
          <a:bodyPr/>
          <a:lstStyle/>
          <a:p>
            <a:fld id="{ABBEE3BA-F264-1746-880E-39AD601DF2B1}" type="slidenum">
              <a:rPr lang="en-US" smtClean="0"/>
              <a:t>‹#›</a:t>
            </a:fld>
            <a:endParaRPr lang="en-US"/>
          </a:p>
        </p:txBody>
      </p:sp>
      <p:sp>
        <p:nvSpPr>
          <p:cNvPr id="17" name="Column 4 Content">
            <a:extLst>
              <a:ext uri="{FF2B5EF4-FFF2-40B4-BE49-F238E27FC236}">
                <a16:creationId xmlns:a16="http://schemas.microsoft.com/office/drawing/2014/main" id="{34C4BCE7-4191-F2A9-F80D-F627E9EA0778}"/>
              </a:ext>
            </a:extLst>
          </p:cNvPr>
          <p:cNvSpPr>
            <a:spLocks noGrp="1"/>
          </p:cNvSpPr>
          <p:nvPr>
            <p:ph type="body" sz="quarter" idx="24"/>
          </p:nvPr>
        </p:nvSpPr>
        <p:spPr>
          <a:xfrm>
            <a:off x="8839198" y="2743198"/>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lumn 4 Header">
            <a:extLst>
              <a:ext uri="{FF2B5EF4-FFF2-40B4-BE49-F238E27FC236}">
                <a16:creationId xmlns:a16="http://schemas.microsoft.com/office/drawing/2014/main" id="{1B8965D5-7659-2A00-C376-DD8B3ACA7130}"/>
              </a:ext>
            </a:extLst>
          </p:cNvPr>
          <p:cNvSpPr>
            <a:spLocks noGrp="1"/>
          </p:cNvSpPr>
          <p:nvPr>
            <p:ph type="body" sz="quarter" idx="23"/>
          </p:nvPr>
        </p:nvSpPr>
        <p:spPr>
          <a:xfrm>
            <a:off x="8839200" y="1828799"/>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2" name="Column 3 Content">
            <a:extLst>
              <a:ext uri="{FF2B5EF4-FFF2-40B4-BE49-F238E27FC236}">
                <a16:creationId xmlns:a16="http://schemas.microsoft.com/office/drawing/2014/main" id="{E901D810-CC36-C6AA-9EDE-FB64CCF9EABF}"/>
              </a:ext>
            </a:extLst>
          </p:cNvPr>
          <p:cNvSpPr>
            <a:spLocks noGrp="1"/>
          </p:cNvSpPr>
          <p:nvPr>
            <p:ph type="body" sz="quarter" idx="22"/>
          </p:nvPr>
        </p:nvSpPr>
        <p:spPr>
          <a:xfrm>
            <a:off x="6179166" y="2743198"/>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lumn 3 Header">
            <a:extLst>
              <a:ext uri="{FF2B5EF4-FFF2-40B4-BE49-F238E27FC236}">
                <a16:creationId xmlns:a16="http://schemas.microsoft.com/office/drawing/2014/main" id="{303B94A8-CAE7-3320-55C2-EC5B8724067F}"/>
              </a:ext>
            </a:extLst>
          </p:cNvPr>
          <p:cNvSpPr>
            <a:spLocks noGrp="1"/>
          </p:cNvSpPr>
          <p:nvPr>
            <p:ph type="body" sz="quarter" idx="21"/>
          </p:nvPr>
        </p:nvSpPr>
        <p:spPr>
          <a:xfrm>
            <a:off x="6172200" y="1828799"/>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Column 2 Content">
            <a:extLst>
              <a:ext uri="{FF2B5EF4-FFF2-40B4-BE49-F238E27FC236}">
                <a16:creationId xmlns:a16="http://schemas.microsoft.com/office/drawing/2014/main" id="{CB09BE5E-E412-C4BE-23E6-1B9E9E610C0A}"/>
              </a:ext>
            </a:extLst>
          </p:cNvPr>
          <p:cNvSpPr>
            <a:spLocks noGrp="1"/>
          </p:cNvSpPr>
          <p:nvPr>
            <p:ph type="body" sz="quarter" idx="20"/>
          </p:nvPr>
        </p:nvSpPr>
        <p:spPr>
          <a:xfrm>
            <a:off x="3498230" y="2743199"/>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lumn 2 Header">
            <a:extLst>
              <a:ext uri="{FF2B5EF4-FFF2-40B4-BE49-F238E27FC236}">
                <a16:creationId xmlns:a16="http://schemas.microsoft.com/office/drawing/2014/main" id="{FE4E8193-CA60-39C5-BF2A-642510ED2AD5}"/>
              </a:ext>
            </a:extLst>
          </p:cNvPr>
          <p:cNvSpPr>
            <a:spLocks noGrp="1"/>
          </p:cNvSpPr>
          <p:nvPr>
            <p:ph type="body" sz="quarter" idx="19"/>
          </p:nvPr>
        </p:nvSpPr>
        <p:spPr>
          <a:xfrm>
            <a:off x="3505200" y="1828800"/>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5" name="Column 1 Content">
            <a:extLst>
              <a:ext uri="{FF2B5EF4-FFF2-40B4-BE49-F238E27FC236}">
                <a16:creationId xmlns:a16="http://schemas.microsoft.com/office/drawing/2014/main" id="{C23072DC-4A0E-C83E-BDE9-54755DDCF746}"/>
              </a:ext>
            </a:extLst>
          </p:cNvPr>
          <p:cNvSpPr>
            <a:spLocks noGrp="1"/>
          </p:cNvSpPr>
          <p:nvPr>
            <p:ph type="body" sz="quarter" idx="18"/>
          </p:nvPr>
        </p:nvSpPr>
        <p:spPr>
          <a:xfrm>
            <a:off x="838198" y="2743199"/>
            <a:ext cx="2514600" cy="3328045"/>
          </a:xfrm>
          <a:solidFill>
            <a:schemeClr val="bg2"/>
          </a:solidFill>
        </p:spPr>
        <p:txBody>
          <a:bodyPr tIns="182880">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lumn 1 Header">
            <a:extLst>
              <a:ext uri="{FF2B5EF4-FFF2-40B4-BE49-F238E27FC236}">
                <a16:creationId xmlns:a16="http://schemas.microsoft.com/office/drawing/2014/main" id="{C9BF1D7D-132C-5DC4-A1F8-16FE0BFECFB3}"/>
              </a:ext>
            </a:extLst>
          </p:cNvPr>
          <p:cNvSpPr>
            <a:spLocks noGrp="1"/>
          </p:cNvSpPr>
          <p:nvPr>
            <p:ph type="body" sz="quarter" idx="13"/>
          </p:nvPr>
        </p:nvSpPr>
        <p:spPr>
          <a:xfrm>
            <a:off x="838200" y="1828800"/>
            <a:ext cx="2514600" cy="914400"/>
          </a:xfrm>
          <a:solidFill>
            <a:schemeClr val="accent6"/>
          </a:solidFill>
        </p:spPr>
        <p:txBody>
          <a:bodyPr anchor="ctr">
            <a:normAutofit/>
          </a:bodyPr>
          <a:lstStyle>
            <a:lvl1pPr marL="0" indent="0" algn="ctr">
              <a:buNone/>
              <a:defRPr sz="1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Title">
            <a:extLst>
              <a:ext uri="{FF2B5EF4-FFF2-40B4-BE49-F238E27FC236}">
                <a16:creationId xmlns:a16="http://schemas.microsoft.com/office/drawing/2014/main" id="{9F6E66BC-C77D-5E9E-4407-6B490F15E21A}"/>
              </a:ext>
            </a:extLst>
          </p:cNvPr>
          <p:cNvSpPr>
            <a:spLocks noGrp="1"/>
          </p:cNvSpPr>
          <p:nvPr>
            <p:ph type="title" hasCustomPrompt="1"/>
          </p:nvPr>
        </p:nvSpPr>
        <p:spPr/>
        <p:txBody>
          <a:bodyPr/>
          <a:lstStyle/>
          <a:p>
            <a:r>
              <a:rPr lang="en-US" dirty="0"/>
              <a:t>Click to edit slide title</a:t>
            </a:r>
          </a:p>
        </p:txBody>
      </p:sp>
    </p:spTree>
    <p:extLst>
      <p:ext uri="{BB962C8B-B14F-4D97-AF65-F5344CB8AC3E}">
        <p14:creationId xmlns:p14="http://schemas.microsoft.com/office/powerpoint/2010/main" val="356018592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sp>
        <p:nvSpPr>
          <p:cNvPr id="4" name="Rectangle 4"/>
          <p:cNvSpPr>
            <a:spLocks noGrp="1" noChangeArrowheads="1"/>
          </p:cNvSpPr>
          <p:nvPr>
            <p:ph type="dt" sz="half" idx="10"/>
          </p:nvPr>
        </p:nvSpPr>
        <p:spPr>
          <a:ln/>
        </p:spPr>
        <p:txBody>
          <a:bodyPr/>
          <a:lstStyle>
            <a:lvl1pPr>
              <a:defRPr/>
            </a:lvl1pPr>
          </a:lstStyle>
          <a:p>
            <a:fld id="{C3BC7800-B276-A64A-8AB0-19972C98F17B}" type="datetime1">
              <a:rPr lang="en-US" smtClean="0"/>
              <a:t>11/19/25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BBEE3BA-F264-1746-880E-39AD601DF2B1}" type="slidenum">
              <a:rPr lang="en-US" smtClean="0"/>
              <a:t>‹#›</a:t>
            </a:fld>
            <a:endParaRPr lang="en-US"/>
          </a:p>
        </p:txBody>
      </p:sp>
      <p:sp>
        <p:nvSpPr>
          <p:cNvPr id="3" name="Text Placeholder 2">
            <a:extLst>
              <a:ext uri="{FF2B5EF4-FFF2-40B4-BE49-F238E27FC236}">
                <a16:creationId xmlns:a16="http://schemas.microsoft.com/office/drawing/2014/main" id="{39B056C3-2019-B406-B923-FB0A68BB9435}"/>
              </a:ext>
            </a:extLst>
          </p:cNvPr>
          <p:cNvSpPr>
            <a:spLocks noGrp="1"/>
          </p:cNvSpPr>
          <p:nvPr>
            <p:ph type="body" sz="quarter" idx="13" hasCustomPrompt="1"/>
          </p:nvPr>
        </p:nvSpPr>
        <p:spPr>
          <a:xfrm>
            <a:off x="808476" y="1769441"/>
            <a:ext cx="4638168" cy="914400"/>
          </a:xfrm>
        </p:spPr>
        <p:txBody>
          <a:bodyPr/>
          <a:lstStyle>
            <a:lvl1pPr marL="0" indent="0">
              <a:buNone/>
              <a:defRPr sz="3200">
                <a:solidFill>
                  <a:schemeClr val="bg1"/>
                </a:solidFill>
              </a:defRPr>
            </a:lvl1pPr>
          </a:lstStyle>
          <a:p>
            <a:pPr lvl="0"/>
            <a:r>
              <a:rPr lang="en-US" dirty="0"/>
              <a:t>Placeholder</a:t>
            </a:r>
          </a:p>
        </p:txBody>
      </p:sp>
    </p:spTree>
    <p:extLst>
      <p:ext uri="{BB962C8B-B14F-4D97-AF65-F5344CB8AC3E}">
        <p14:creationId xmlns:p14="http://schemas.microsoft.com/office/powerpoint/2010/main" val="3587961308"/>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4"/>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4"/>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AC053AD8-5CA7-3F49-B495-B884AFEE8A16}" type="datetime1">
              <a:rPr lang="en-US" smtClean="0"/>
              <a:t>11/19/25</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BBEE3BA-F264-1746-880E-39AD601DF2B1}" type="slidenum">
              <a:rPr lang="en-US" smtClean="0"/>
              <a:t>‹#›</a:t>
            </a:fld>
            <a:endParaRPr lang="en-US"/>
          </a:p>
        </p:txBody>
      </p:sp>
    </p:spTree>
    <p:extLst>
      <p:ext uri="{BB962C8B-B14F-4D97-AF65-F5344CB8AC3E}">
        <p14:creationId xmlns:p14="http://schemas.microsoft.com/office/powerpoint/2010/main" val="1037339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3">
            <a:lum/>
          </a:blip>
          <a:srcRect/>
          <a:stretch>
            <a:fillRect/>
          </a:stretch>
        </a:blipFill>
        <a:effectLst/>
      </p:bgPr>
    </p:bg>
    <p:spTree>
      <p:nvGrpSpPr>
        <p:cNvPr id="1" name=""/>
        <p:cNvGrpSpPr/>
        <p:nvPr/>
      </p:nvGrpSpPr>
      <p:grpSpPr>
        <a:xfrm>
          <a:off x="0" y="0"/>
          <a:ext cx="0" cy="0"/>
          <a:chOff x="0" y="0"/>
          <a:chExt cx="0" cy="0"/>
        </a:xfrm>
      </p:grpSpPr>
      <p:sp>
        <p:nvSpPr>
          <p:cNvPr id="4" name="Date"/>
          <p:cNvSpPr>
            <a:spLocks noGrp="1"/>
          </p:cNvSpPr>
          <p:nvPr>
            <p:ph type="dt" sz="half" idx="2"/>
          </p:nvPr>
        </p:nvSpPr>
        <p:spPr>
          <a:xfrm>
            <a:off x="6927794" y="6356350"/>
            <a:ext cx="1370926"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3BC7800-B276-A64A-8AB0-19972C98F17B}" type="datetime1">
              <a:rPr lang="en-US" smtClean="0"/>
              <a:t>11/19/25</a:t>
            </a:fld>
            <a:endParaRPr lang="en-US"/>
          </a:p>
        </p:txBody>
      </p:sp>
      <p:sp>
        <p:nvSpPr>
          <p:cNvPr id="5" name="Footer"/>
          <p:cNvSpPr>
            <a:spLocks noGrp="1"/>
          </p:cNvSpPr>
          <p:nvPr>
            <p:ph type="ftr" sz="quarter" idx="3"/>
          </p:nvPr>
        </p:nvSpPr>
        <p:spPr>
          <a:xfrm>
            <a:off x="2501114" y="6356350"/>
            <a:ext cx="41148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cNvSpPr>
            <a:spLocks noGrp="1"/>
          </p:cNvSpPr>
          <p:nvPr>
            <p:ph type="sldNum" sz="quarter" idx="4"/>
          </p:nvPr>
        </p:nvSpPr>
        <p:spPr>
          <a:xfrm>
            <a:off x="838200" y="6356350"/>
            <a:ext cx="1351034"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ABBEE3BA-F264-1746-880E-39AD601DF2B1}" type="slidenum">
              <a:rPr lang="en-US" smtClean="0"/>
              <a:t>‹#›</a:t>
            </a:fld>
            <a:endParaRPr lang="en-US"/>
          </a:p>
        </p:txBody>
      </p:sp>
      <p:sp>
        <p:nvSpPr>
          <p:cNvPr id="3" name="Text"/>
          <p:cNvSpPr>
            <a:spLocks noGrp="1"/>
          </p:cNvSpPr>
          <p:nvPr>
            <p:ph type="body" idx="1"/>
          </p:nvPr>
        </p:nvSpPr>
        <p:spPr>
          <a:xfrm>
            <a:off x="838200" y="1602658"/>
            <a:ext cx="10515600" cy="45743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838200" y="365125"/>
            <a:ext cx="10515600" cy="1001559"/>
          </a:xfrm>
          <a:prstGeom prst="rect">
            <a:avLst/>
          </a:prstGeom>
          <a:noFill/>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296162826"/>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Lst>
  <p:hf hdr="0" ftr="0" dt="0"/>
  <p:txStyles>
    <p:titleStyle>
      <a:lvl1pPr algn="l" defTabSz="914400" rtl="0" eaLnBrk="1" latinLnBrk="0" hangingPunct="1">
        <a:lnSpc>
          <a:spcPct val="90000"/>
        </a:lnSpc>
        <a:spcBef>
          <a:spcPct val="0"/>
        </a:spcBef>
        <a:buNone/>
        <a:defRPr sz="4400" b="1" kern="1200">
          <a:solidFill>
            <a:schemeClr val="accent1"/>
          </a:solidFill>
          <a:latin typeface="Montserrat" pitchFamily="2" charset="77"/>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100000"/>
        </a:lnSpc>
        <a:spcBef>
          <a:spcPts val="500"/>
        </a:spcBef>
        <a:buSzPct val="80000"/>
        <a:buFont typeface="Wingdings" pitchFamily="2" charset="2"/>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100000"/>
        </a:lnSpc>
        <a:spcBef>
          <a:spcPts val="500"/>
        </a:spcBef>
        <a:buSzPct val="70000"/>
        <a:buFont typeface="Wingdings"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500"/>
        </a:spcBef>
        <a:buSzPct val="70000"/>
        <a:buFont typeface="Wingdings" pitchFamily="2"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500"/>
        </a:spcBef>
        <a:buSzPct val="70000"/>
        <a:buFont typeface="Wingdings" pitchFamily="2" charset="2"/>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notesSlide" Target="../notesSlides/notesSlide9.xml"/><Relationship Id="rId7" Type="http://schemas.openxmlformats.org/officeDocument/2006/relationships/image" Target="../media/image17.jpeg"/><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16.pn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pn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8.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1.jpeg"/><Relationship Id="rId5" Type="http://schemas.openxmlformats.org/officeDocument/2006/relationships/image" Target="../media/image30.png"/><Relationship Id="rId4" Type="http://schemas.openxmlformats.org/officeDocument/2006/relationships/image" Target="../media/image29.emf"/></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jpeg"/><Relationship Id="rId7" Type="http://schemas.openxmlformats.org/officeDocument/2006/relationships/hyperlink" Target="https://www.thrillist.com/entertainment/nation/the-netflix-prize" TargetMode="External"/><Relationship Id="rId2"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hyperlink" Target="https://www.nytimes.com/2008/11/23/magazine/23Netflix-t.html" TargetMode="Externa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AF9755-800C-BAA7-9886-5018A613A8E7}"/>
              </a:ext>
            </a:extLst>
          </p:cNvPr>
          <p:cNvSpPr>
            <a:spLocks noGrp="1"/>
          </p:cNvSpPr>
          <p:nvPr>
            <p:ph type="sldNum" sz="quarter" idx="12"/>
          </p:nvPr>
        </p:nvSpPr>
        <p:spPr/>
        <p:txBody>
          <a:bodyPr/>
          <a:lstStyle/>
          <a:p>
            <a:fld id="{ABBEE3BA-F264-1746-880E-39AD601DF2B1}" type="slidenum">
              <a:rPr lang="en-US" smtClean="0"/>
              <a:t>1</a:t>
            </a:fld>
            <a:endParaRPr lang="en-US"/>
          </a:p>
        </p:txBody>
      </p:sp>
      <p:sp>
        <p:nvSpPr>
          <p:cNvPr id="3" name="Subtitle 2">
            <a:extLst>
              <a:ext uri="{FF2B5EF4-FFF2-40B4-BE49-F238E27FC236}">
                <a16:creationId xmlns:a16="http://schemas.microsoft.com/office/drawing/2014/main" id="{6C775E86-3AC1-27FE-A80E-914C9B637816}"/>
              </a:ext>
            </a:extLst>
          </p:cNvPr>
          <p:cNvSpPr>
            <a:spLocks noGrp="1"/>
          </p:cNvSpPr>
          <p:nvPr>
            <p:ph type="body" sz="quarter" idx="13"/>
          </p:nvPr>
        </p:nvSpPr>
        <p:spPr>
          <a:xfrm>
            <a:off x="0" y="5737651"/>
            <a:ext cx="6171117" cy="587375"/>
          </a:xfrm>
        </p:spPr>
        <p:txBody>
          <a:bodyPr>
            <a:normAutofit fontScale="85000" lnSpcReduction="10000"/>
          </a:bodyPr>
          <a:lstStyle/>
          <a:p>
            <a:r>
              <a:rPr lang="en-US" dirty="0"/>
              <a:t>Data Science and AI For Business – Fall 2025</a:t>
            </a:r>
          </a:p>
        </p:txBody>
      </p:sp>
      <p:sp>
        <p:nvSpPr>
          <p:cNvPr id="2" name="Title 1">
            <a:extLst>
              <a:ext uri="{FF2B5EF4-FFF2-40B4-BE49-F238E27FC236}">
                <a16:creationId xmlns:a16="http://schemas.microsoft.com/office/drawing/2014/main" id="{A92FFC07-3828-6FDB-8B93-EA871DD298E9}"/>
              </a:ext>
            </a:extLst>
          </p:cNvPr>
          <p:cNvSpPr>
            <a:spLocks noGrp="1"/>
          </p:cNvSpPr>
          <p:nvPr>
            <p:ph type="title"/>
          </p:nvPr>
        </p:nvSpPr>
        <p:spPr>
          <a:xfrm>
            <a:off x="0" y="4901609"/>
            <a:ext cx="8229600" cy="836754"/>
          </a:xfrm>
        </p:spPr>
        <p:txBody>
          <a:bodyPr>
            <a:normAutofit fontScale="90000"/>
          </a:bodyPr>
          <a:lstStyle/>
          <a:p>
            <a:r>
              <a:rPr lang="en-US" dirty="0"/>
              <a:t>Topic 11 – Recommender Systems and Ensembles </a:t>
            </a:r>
          </a:p>
        </p:txBody>
      </p:sp>
    </p:spTree>
    <p:extLst>
      <p:ext uri="{BB962C8B-B14F-4D97-AF65-F5344CB8AC3E}">
        <p14:creationId xmlns:p14="http://schemas.microsoft.com/office/powerpoint/2010/main" val="1941828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51DB78-EDD3-FED8-B85C-E4964652A388}"/>
              </a:ext>
            </a:extLst>
          </p:cNvPr>
          <p:cNvSpPr>
            <a:spLocks noGrp="1"/>
          </p:cNvSpPr>
          <p:nvPr>
            <p:ph type="sldNum" sz="quarter" idx="12"/>
          </p:nvPr>
        </p:nvSpPr>
        <p:spPr/>
        <p:txBody>
          <a:bodyPr/>
          <a:lstStyle/>
          <a:p>
            <a:fld id="{ABBEE3BA-F264-1746-880E-39AD601DF2B1}" type="slidenum">
              <a:rPr lang="en-US" smtClean="0"/>
              <a:t>2</a:t>
            </a:fld>
            <a:endParaRPr lang="en-US"/>
          </a:p>
        </p:txBody>
      </p:sp>
      <p:sp>
        <p:nvSpPr>
          <p:cNvPr id="3" name="Content Placeholder 2">
            <a:extLst>
              <a:ext uri="{FF2B5EF4-FFF2-40B4-BE49-F238E27FC236}">
                <a16:creationId xmlns:a16="http://schemas.microsoft.com/office/drawing/2014/main" id="{BED6C622-3FD2-56DE-9038-629E88982318}"/>
              </a:ext>
            </a:extLst>
          </p:cNvPr>
          <p:cNvSpPr>
            <a:spLocks noGrp="1"/>
          </p:cNvSpPr>
          <p:nvPr>
            <p:ph idx="1"/>
          </p:nvPr>
        </p:nvSpPr>
        <p:spPr>
          <a:xfrm>
            <a:off x="266007" y="1021900"/>
            <a:ext cx="5471179" cy="4638121"/>
          </a:xfrm>
        </p:spPr>
        <p:txBody>
          <a:bodyPr/>
          <a:lstStyle/>
          <a:p>
            <a:r>
              <a:rPr lang="en-US" dirty="0"/>
              <a:t>Recommender systems</a:t>
            </a:r>
          </a:p>
          <a:p>
            <a:pPr lvl="1"/>
            <a:r>
              <a:rPr lang="en-US" dirty="0"/>
              <a:t>Models used</a:t>
            </a:r>
          </a:p>
          <a:p>
            <a:r>
              <a:rPr lang="en-US" dirty="0"/>
              <a:t>Netflix Prize and its impact</a:t>
            </a:r>
          </a:p>
          <a:p>
            <a:r>
              <a:rPr lang="en-US" dirty="0"/>
              <a:t>Ensemble Models</a:t>
            </a:r>
          </a:p>
          <a:p>
            <a:pPr lvl="1"/>
            <a:r>
              <a:rPr lang="en-US" dirty="0"/>
              <a:t>Why ensembles win</a:t>
            </a:r>
          </a:p>
          <a:p>
            <a:pPr lvl="1"/>
            <a:r>
              <a:rPr lang="en-US" dirty="0"/>
              <a:t>Boosting, Bagging, Random Forests</a:t>
            </a:r>
          </a:p>
          <a:p>
            <a:pPr lvl="1"/>
            <a:r>
              <a:rPr lang="en-US" dirty="0" err="1"/>
              <a:t>XGBoost</a:t>
            </a:r>
            <a:r>
              <a:rPr lang="en-US" dirty="0"/>
              <a:t> and GBDT</a:t>
            </a:r>
          </a:p>
        </p:txBody>
      </p:sp>
      <p:sp>
        <p:nvSpPr>
          <p:cNvPr id="2" name="Title 1">
            <a:extLst>
              <a:ext uri="{FF2B5EF4-FFF2-40B4-BE49-F238E27FC236}">
                <a16:creationId xmlns:a16="http://schemas.microsoft.com/office/drawing/2014/main" id="{527D8CB2-5161-A2D9-BFD2-D12AC354E32F}"/>
              </a:ext>
            </a:extLst>
          </p:cNvPr>
          <p:cNvSpPr>
            <a:spLocks noGrp="1"/>
          </p:cNvSpPr>
          <p:nvPr>
            <p:ph type="title"/>
          </p:nvPr>
        </p:nvSpPr>
        <p:spPr>
          <a:xfrm>
            <a:off x="52648" y="43100"/>
            <a:ext cx="10515600" cy="1001559"/>
          </a:xfrm>
        </p:spPr>
        <p:txBody>
          <a:bodyPr/>
          <a:lstStyle/>
          <a:p>
            <a:r>
              <a:rPr lang="en-US" dirty="0"/>
              <a:t>Outline</a:t>
            </a:r>
          </a:p>
        </p:txBody>
      </p:sp>
      <p:sp>
        <p:nvSpPr>
          <p:cNvPr id="5" name="TextBox 4">
            <a:extLst>
              <a:ext uri="{FF2B5EF4-FFF2-40B4-BE49-F238E27FC236}">
                <a16:creationId xmlns:a16="http://schemas.microsoft.com/office/drawing/2014/main" id="{75B899FA-C6DB-008D-6772-9035AB52EC4A}"/>
              </a:ext>
            </a:extLst>
          </p:cNvPr>
          <p:cNvSpPr txBox="1"/>
          <p:nvPr/>
        </p:nvSpPr>
        <p:spPr>
          <a:xfrm>
            <a:off x="4529960" y="6138041"/>
            <a:ext cx="184731" cy="400110"/>
          </a:xfrm>
          <a:prstGeom prst="rect">
            <a:avLst/>
          </a:prstGeom>
          <a:noFill/>
        </p:spPr>
        <p:txBody>
          <a:bodyPr wrap="none" rtlCol="0">
            <a:spAutoFit/>
          </a:bodyPr>
          <a:lstStyle/>
          <a:p>
            <a:pPr>
              <a:buNone/>
            </a:pP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2" descr="machine learning meme">
            <a:extLst>
              <a:ext uri="{FF2B5EF4-FFF2-40B4-BE49-F238E27FC236}">
                <a16:creationId xmlns:a16="http://schemas.microsoft.com/office/drawing/2014/main" id="{A56B7A81-0F14-CD05-6376-A97303407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7355" y="1184498"/>
            <a:ext cx="4082768" cy="43356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9DD049E-AEA0-359F-1F54-0057239906BB}"/>
              </a:ext>
            </a:extLst>
          </p:cNvPr>
          <p:cNvSpPr txBox="1"/>
          <p:nvPr/>
        </p:nvSpPr>
        <p:spPr>
          <a:xfrm>
            <a:off x="3665269" y="5212404"/>
            <a:ext cx="2098844" cy="307777"/>
          </a:xfrm>
          <a:prstGeom prst="rect">
            <a:avLst/>
          </a:prstGeom>
          <a:solidFill>
            <a:schemeClr val="accent5">
              <a:lumMod val="20000"/>
              <a:lumOff val="80000"/>
            </a:schemeClr>
          </a:solidFill>
        </p:spPr>
        <p:txBody>
          <a:bodyPr wrap="none" rtlCol="0">
            <a:spAutoFit/>
          </a:bodyPr>
          <a:lstStyle/>
          <a:p>
            <a:pPr>
              <a:buNone/>
            </a:pPr>
            <a:r>
              <a:rPr lang="en-US" sz="1400" dirty="0" err="1">
                <a:latin typeface="Tahoma" panose="020B0604030504040204" pitchFamily="34" charset="0"/>
                <a:ea typeface="Tahoma" panose="020B0604030504040204" pitchFamily="34" charset="0"/>
                <a:cs typeface="Tahoma" panose="020B0604030504040204" pitchFamily="34" charset="0"/>
              </a:rPr>
              <a:t>Shmueli</a:t>
            </a:r>
            <a:r>
              <a:rPr lang="en-US" sz="1400" dirty="0">
                <a:latin typeface="Tahoma" panose="020B0604030504040204" pitchFamily="34" charset="0"/>
                <a:ea typeface="Tahoma" panose="020B0604030504040204" pitchFamily="34" charset="0"/>
                <a:cs typeface="Tahoma" panose="020B0604030504040204" pitchFamily="34" charset="0"/>
              </a:rPr>
              <a:t> Chapter 9.8, 13</a:t>
            </a:r>
          </a:p>
        </p:txBody>
      </p:sp>
      <p:sp>
        <p:nvSpPr>
          <p:cNvPr id="8" name="TextBox 7">
            <a:extLst>
              <a:ext uri="{FF2B5EF4-FFF2-40B4-BE49-F238E27FC236}">
                <a16:creationId xmlns:a16="http://schemas.microsoft.com/office/drawing/2014/main" id="{A6485813-46F6-CE08-347D-B978104F3C3D}"/>
              </a:ext>
            </a:extLst>
          </p:cNvPr>
          <p:cNvSpPr txBox="1"/>
          <p:nvPr/>
        </p:nvSpPr>
        <p:spPr>
          <a:xfrm>
            <a:off x="3665270" y="5605303"/>
            <a:ext cx="1205779" cy="307777"/>
          </a:xfrm>
          <a:prstGeom prst="rect">
            <a:avLst/>
          </a:prstGeom>
          <a:solidFill>
            <a:schemeClr val="accent5">
              <a:lumMod val="20000"/>
              <a:lumOff val="80000"/>
            </a:schemeClr>
          </a:solidFill>
        </p:spPr>
        <p:txBody>
          <a:bodyPr wrap="none" rtlCol="0">
            <a:spAutoFit/>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ISL 8.2, 12.3</a:t>
            </a:r>
          </a:p>
        </p:txBody>
      </p:sp>
    </p:spTree>
    <p:extLst>
      <p:ext uri="{BB962C8B-B14F-4D97-AF65-F5344CB8AC3E}">
        <p14:creationId xmlns:p14="http://schemas.microsoft.com/office/powerpoint/2010/main" val="1970065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653FE4-D575-B20F-642C-B8822A06953B}"/>
              </a:ext>
            </a:extLst>
          </p:cNvPr>
          <p:cNvSpPr>
            <a:spLocks noGrp="1"/>
          </p:cNvSpPr>
          <p:nvPr>
            <p:ph type="title"/>
          </p:nvPr>
        </p:nvSpPr>
        <p:spPr/>
        <p:txBody>
          <a:bodyPr>
            <a:normAutofit/>
          </a:bodyPr>
          <a:lstStyle/>
          <a:p>
            <a:r>
              <a:rPr lang="en-US" dirty="0"/>
              <a:t>Recommender Systems</a:t>
            </a:r>
          </a:p>
        </p:txBody>
      </p:sp>
      <p:sp>
        <p:nvSpPr>
          <p:cNvPr id="2" name="Slide Number Placeholder 1">
            <a:extLst>
              <a:ext uri="{FF2B5EF4-FFF2-40B4-BE49-F238E27FC236}">
                <a16:creationId xmlns:a16="http://schemas.microsoft.com/office/drawing/2014/main" id="{12514020-855B-C9C6-0373-CAA010AB62FD}"/>
              </a:ext>
            </a:extLst>
          </p:cNvPr>
          <p:cNvSpPr>
            <a:spLocks noGrp="1"/>
          </p:cNvSpPr>
          <p:nvPr>
            <p:ph type="sldNum" sz="quarter" idx="12"/>
          </p:nvPr>
        </p:nvSpPr>
        <p:spPr/>
        <p:txBody>
          <a:bodyPr/>
          <a:lstStyle/>
          <a:p>
            <a:fld id="{ABBEE3BA-F264-1746-880E-39AD601DF2B1}" type="slidenum">
              <a:rPr lang="en-US" smtClean="0"/>
              <a:t>3</a:t>
            </a:fld>
            <a:endParaRPr lang="en-US"/>
          </a:p>
        </p:txBody>
      </p:sp>
    </p:spTree>
    <p:extLst>
      <p:ext uri="{BB962C8B-B14F-4D97-AF65-F5344CB8AC3E}">
        <p14:creationId xmlns:p14="http://schemas.microsoft.com/office/powerpoint/2010/main" val="3605077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539011-C240-0ACD-B432-D020AF325971}"/>
              </a:ext>
            </a:extLst>
          </p:cNvPr>
          <p:cNvSpPr>
            <a:spLocks noGrp="1"/>
          </p:cNvSpPr>
          <p:nvPr>
            <p:ph type="sldNum" sz="quarter" idx="12"/>
          </p:nvPr>
        </p:nvSpPr>
        <p:spPr/>
        <p:txBody>
          <a:bodyPr/>
          <a:lstStyle/>
          <a:p>
            <a:fld id="{ABBEE3BA-F264-1746-880E-39AD601DF2B1}" type="slidenum">
              <a:rPr lang="en-US" smtClean="0"/>
              <a:t>4</a:t>
            </a:fld>
            <a:endParaRPr lang="en-US"/>
          </a:p>
        </p:txBody>
      </p:sp>
      <p:sp>
        <p:nvSpPr>
          <p:cNvPr id="3" name="Content Placeholder 2">
            <a:extLst>
              <a:ext uri="{FF2B5EF4-FFF2-40B4-BE49-F238E27FC236}">
                <a16:creationId xmlns:a16="http://schemas.microsoft.com/office/drawing/2014/main" id="{1F324A19-7873-2129-459A-29D11152C3EB}"/>
              </a:ext>
            </a:extLst>
          </p:cNvPr>
          <p:cNvSpPr>
            <a:spLocks noGrp="1"/>
          </p:cNvSpPr>
          <p:nvPr>
            <p:ph idx="1"/>
          </p:nvPr>
        </p:nvSpPr>
        <p:spPr>
          <a:xfrm>
            <a:off x="817633" y="1001560"/>
            <a:ext cx="10619623" cy="4018796"/>
          </a:xfrm>
        </p:spPr>
        <p:txBody>
          <a:bodyPr/>
          <a:lstStyle/>
          <a:p>
            <a:r>
              <a:rPr lang="en-US" dirty="0"/>
              <a:t>Is accurate</a:t>
            </a:r>
          </a:p>
          <a:p>
            <a:r>
              <a:rPr lang="en-US" dirty="0"/>
              <a:t>Is personalized</a:t>
            </a:r>
          </a:p>
          <a:p>
            <a:r>
              <a:rPr lang="en-US" dirty="0"/>
              <a:t>Is exploratory</a:t>
            </a:r>
          </a:p>
          <a:p>
            <a:pPr lvl="1"/>
            <a:r>
              <a:rPr lang="en-US" dirty="0"/>
              <a:t>Explore vs. exploit</a:t>
            </a:r>
          </a:p>
          <a:p>
            <a:pPr lvl="1"/>
            <a:r>
              <a:rPr lang="en-US" dirty="0"/>
              <a:t>New discoveries are the largest satisfier </a:t>
            </a:r>
          </a:p>
          <a:p>
            <a:r>
              <a:rPr lang="en-US" dirty="0"/>
              <a:t>Is diverse</a:t>
            </a:r>
          </a:p>
          <a:p>
            <a:pPr lvl="1"/>
            <a:r>
              <a:rPr lang="en-US" dirty="0"/>
              <a:t>Not the same thing every time (inject randomness?) </a:t>
            </a:r>
          </a:p>
          <a:p>
            <a:r>
              <a:rPr lang="en-US" dirty="0"/>
              <a:t>Learns from data</a:t>
            </a:r>
          </a:p>
        </p:txBody>
      </p:sp>
      <p:sp>
        <p:nvSpPr>
          <p:cNvPr id="2" name="Title 1">
            <a:extLst>
              <a:ext uri="{FF2B5EF4-FFF2-40B4-BE49-F238E27FC236}">
                <a16:creationId xmlns:a16="http://schemas.microsoft.com/office/drawing/2014/main" id="{AB2F93DA-3CE6-1683-42F9-9B0427AF96E1}"/>
              </a:ext>
            </a:extLst>
          </p:cNvPr>
          <p:cNvSpPr>
            <a:spLocks noGrp="1"/>
          </p:cNvSpPr>
          <p:nvPr>
            <p:ph type="title"/>
          </p:nvPr>
        </p:nvSpPr>
        <p:spPr>
          <a:xfrm>
            <a:off x="0" y="0"/>
            <a:ext cx="10515600" cy="1001559"/>
          </a:xfrm>
        </p:spPr>
        <p:txBody>
          <a:bodyPr/>
          <a:lstStyle/>
          <a:p>
            <a:r>
              <a:rPr lang="en-US" dirty="0"/>
              <a:t>A good recommendation</a:t>
            </a:r>
          </a:p>
        </p:txBody>
      </p:sp>
      <p:pic>
        <p:nvPicPr>
          <p:cNvPr id="5" name="Picture 4" descr="A group of books on a white background&#10;&#10;Description automatically generated">
            <a:extLst>
              <a:ext uri="{FF2B5EF4-FFF2-40B4-BE49-F238E27FC236}">
                <a16:creationId xmlns:a16="http://schemas.microsoft.com/office/drawing/2014/main" id="{65BBCB5D-F544-A70B-90D8-E0CC1CB68BE2}"/>
              </a:ext>
            </a:extLst>
          </p:cNvPr>
          <p:cNvPicPr>
            <a:picLocks noChangeAspect="1"/>
          </p:cNvPicPr>
          <p:nvPr/>
        </p:nvPicPr>
        <p:blipFill>
          <a:blip r:embed="rId3"/>
          <a:stretch>
            <a:fillRect/>
          </a:stretch>
        </p:blipFill>
        <p:spPr>
          <a:xfrm>
            <a:off x="2189234" y="5020355"/>
            <a:ext cx="7772400" cy="1518557"/>
          </a:xfrm>
          <a:prstGeom prst="rect">
            <a:avLst/>
          </a:prstGeom>
        </p:spPr>
      </p:pic>
    </p:spTree>
    <p:extLst>
      <p:ext uri="{BB962C8B-B14F-4D97-AF65-F5344CB8AC3E}">
        <p14:creationId xmlns:p14="http://schemas.microsoft.com/office/powerpoint/2010/main" val="412904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25046E-58F1-7FF8-24FE-0DCCAA9AF4A2}"/>
              </a:ext>
            </a:extLst>
          </p:cNvPr>
          <p:cNvSpPr>
            <a:spLocks noGrp="1"/>
          </p:cNvSpPr>
          <p:nvPr>
            <p:ph type="sldNum" sz="quarter" idx="12"/>
          </p:nvPr>
        </p:nvSpPr>
        <p:spPr/>
        <p:txBody>
          <a:bodyPr/>
          <a:lstStyle/>
          <a:p>
            <a:fld id="{ABBEE3BA-F264-1746-880E-39AD601DF2B1}" type="slidenum">
              <a:rPr lang="en-US" smtClean="0"/>
              <a:t>5</a:t>
            </a:fld>
            <a:endParaRPr lang="en-US"/>
          </a:p>
        </p:txBody>
      </p:sp>
      <p:sp>
        <p:nvSpPr>
          <p:cNvPr id="3" name="Content Placeholder 2">
            <a:extLst>
              <a:ext uri="{FF2B5EF4-FFF2-40B4-BE49-F238E27FC236}">
                <a16:creationId xmlns:a16="http://schemas.microsoft.com/office/drawing/2014/main" id="{5835FA86-D5A4-0D23-D000-78C8F29669D9}"/>
              </a:ext>
            </a:extLst>
          </p:cNvPr>
          <p:cNvSpPr>
            <a:spLocks noGrp="1"/>
          </p:cNvSpPr>
          <p:nvPr>
            <p:ph idx="1"/>
          </p:nvPr>
        </p:nvSpPr>
        <p:spPr>
          <a:xfrm>
            <a:off x="557939" y="930459"/>
            <a:ext cx="8220936" cy="5314766"/>
          </a:xfrm>
        </p:spPr>
        <p:txBody>
          <a:bodyPr>
            <a:normAutofit/>
          </a:bodyPr>
          <a:lstStyle/>
          <a:p>
            <a:pPr marL="0" indent="0">
              <a:buNone/>
            </a:pPr>
            <a:r>
              <a:rPr lang="en-US" dirty="0"/>
              <a:t>What are the downsides? </a:t>
            </a:r>
          </a:p>
          <a:p>
            <a:r>
              <a:rPr lang="en-US" dirty="0"/>
              <a:t>Filter Bubbles</a:t>
            </a:r>
          </a:p>
          <a:p>
            <a:pPr lvl="1"/>
            <a:r>
              <a:rPr lang="en-US" dirty="0"/>
              <a:t>Isolates users in an ideological or cultural bubbles</a:t>
            </a:r>
          </a:p>
          <a:p>
            <a:pPr lvl="1"/>
            <a:r>
              <a:rPr lang="en-US" dirty="0"/>
              <a:t>limits exposure to diverse perspectives and experiences</a:t>
            </a:r>
          </a:p>
          <a:p>
            <a:r>
              <a:rPr lang="en-US" dirty="0"/>
              <a:t>Increased Polarization</a:t>
            </a:r>
          </a:p>
          <a:p>
            <a:pPr lvl="1"/>
            <a:r>
              <a:rPr lang="en-US" dirty="0"/>
              <a:t>Amplifies users' existing beliefs by exposing them to more extreme views (“clickbait”)</a:t>
            </a:r>
          </a:p>
          <a:p>
            <a:r>
              <a:rPr lang="en-US" dirty="0"/>
              <a:t>Data Privacy Concerns</a:t>
            </a:r>
          </a:p>
          <a:p>
            <a:pPr lvl="1"/>
            <a:r>
              <a:rPr lang="en-US" dirty="0"/>
              <a:t>Collection and analysis of personal data for tailoring recommendations raise significant privacy issues. (e.g. searches for “depression”)</a:t>
            </a:r>
          </a:p>
        </p:txBody>
      </p:sp>
      <p:sp>
        <p:nvSpPr>
          <p:cNvPr id="2" name="Title 1">
            <a:extLst>
              <a:ext uri="{FF2B5EF4-FFF2-40B4-BE49-F238E27FC236}">
                <a16:creationId xmlns:a16="http://schemas.microsoft.com/office/drawing/2014/main" id="{FF762741-4BC4-FD9C-3C0D-63E81EAF71F5}"/>
              </a:ext>
            </a:extLst>
          </p:cNvPr>
          <p:cNvSpPr>
            <a:spLocks noGrp="1"/>
          </p:cNvSpPr>
          <p:nvPr>
            <p:ph type="title"/>
          </p:nvPr>
        </p:nvSpPr>
        <p:spPr>
          <a:xfrm>
            <a:off x="0" y="0"/>
            <a:ext cx="10515600" cy="1001559"/>
          </a:xfrm>
        </p:spPr>
        <p:txBody>
          <a:bodyPr/>
          <a:lstStyle/>
          <a:p>
            <a:r>
              <a:rPr lang="en-US" dirty="0"/>
              <a:t>Perils of Recommender Systems</a:t>
            </a:r>
          </a:p>
        </p:txBody>
      </p:sp>
      <p:sp>
        <p:nvSpPr>
          <p:cNvPr id="5" name="TextBox 4">
            <a:extLst>
              <a:ext uri="{FF2B5EF4-FFF2-40B4-BE49-F238E27FC236}">
                <a16:creationId xmlns:a16="http://schemas.microsoft.com/office/drawing/2014/main" id="{CCF0AAF2-98B0-D8B7-BD05-0C4686AAD2FB}"/>
              </a:ext>
            </a:extLst>
          </p:cNvPr>
          <p:cNvSpPr txBox="1"/>
          <p:nvPr/>
        </p:nvSpPr>
        <p:spPr>
          <a:xfrm>
            <a:off x="2648035" y="6330623"/>
            <a:ext cx="6453113" cy="369332"/>
          </a:xfrm>
          <a:prstGeom prst="rect">
            <a:avLst/>
          </a:prstGeom>
          <a:solidFill>
            <a:schemeClr val="accent5">
              <a:lumMod val="20000"/>
              <a:lumOff val="80000"/>
            </a:schemeClr>
          </a:solidFill>
        </p:spPr>
        <p:txBody>
          <a:bodyPr wrap="none" rtlCol="0">
            <a:spAutoFit/>
          </a:bodyPr>
          <a:lstStyle/>
          <a:p>
            <a:pPr>
              <a:buNone/>
            </a:pPr>
            <a:r>
              <a:rPr lang="en-US" sz="1800" dirty="0">
                <a:latin typeface="Tahoma" panose="020B0604030504040204" pitchFamily="34" charset="0"/>
                <a:ea typeface="Tahoma" panose="020B0604030504040204" pitchFamily="34" charset="0"/>
                <a:cs typeface="Tahoma" panose="020B0604030504040204" pitchFamily="34" charset="0"/>
              </a:rPr>
              <a:t>Discussion: how do these concerns align with business goals?</a:t>
            </a:r>
          </a:p>
        </p:txBody>
      </p:sp>
      <p:pic>
        <p:nvPicPr>
          <p:cNvPr id="1028" name="Picture 4" descr="the filter bubble: what the internet is hiding from you">
            <a:extLst>
              <a:ext uri="{FF2B5EF4-FFF2-40B4-BE49-F238E27FC236}">
                <a16:creationId xmlns:a16="http://schemas.microsoft.com/office/drawing/2014/main" id="{F5A065E2-2DB9-870C-88F4-A85114FAF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1148" y="1364613"/>
            <a:ext cx="1679575" cy="26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77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4A12D2-5528-304D-FC04-C7FCB983771B}"/>
              </a:ext>
            </a:extLst>
          </p:cNvPr>
          <p:cNvSpPr>
            <a:spLocks noGrp="1"/>
          </p:cNvSpPr>
          <p:nvPr>
            <p:ph type="title"/>
          </p:nvPr>
        </p:nvSpPr>
        <p:spPr/>
        <p:txBody>
          <a:bodyPr>
            <a:normAutofit/>
          </a:bodyPr>
          <a:lstStyle/>
          <a:p>
            <a:r>
              <a:rPr lang="en-US" dirty="0"/>
              <a:t>Models for Recommender Systems</a:t>
            </a:r>
          </a:p>
        </p:txBody>
      </p:sp>
      <p:sp>
        <p:nvSpPr>
          <p:cNvPr id="2" name="Slide Number Placeholder 1">
            <a:extLst>
              <a:ext uri="{FF2B5EF4-FFF2-40B4-BE49-F238E27FC236}">
                <a16:creationId xmlns:a16="http://schemas.microsoft.com/office/drawing/2014/main" id="{A97E4CEC-7BA3-D4F5-37B8-0CAEA738C1E5}"/>
              </a:ext>
            </a:extLst>
          </p:cNvPr>
          <p:cNvSpPr>
            <a:spLocks noGrp="1"/>
          </p:cNvSpPr>
          <p:nvPr>
            <p:ph type="sldNum" sz="quarter" idx="12"/>
          </p:nvPr>
        </p:nvSpPr>
        <p:spPr/>
        <p:txBody>
          <a:bodyPr/>
          <a:lstStyle/>
          <a:p>
            <a:fld id="{ABBEE3BA-F264-1746-880E-39AD601DF2B1}" type="slidenum">
              <a:rPr lang="en-US" smtClean="0"/>
              <a:t>6</a:t>
            </a:fld>
            <a:endParaRPr lang="en-US"/>
          </a:p>
        </p:txBody>
      </p:sp>
    </p:spTree>
    <p:extLst>
      <p:ext uri="{BB962C8B-B14F-4D97-AF65-F5344CB8AC3E}">
        <p14:creationId xmlns:p14="http://schemas.microsoft.com/office/powerpoint/2010/main" val="404028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CD82E2-A4E1-2385-B1D8-29A16FF7AEFA}"/>
              </a:ext>
            </a:extLst>
          </p:cNvPr>
          <p:cNvSpPr>
            <a:spLocks noGrp="1"/>
          </p:cNvSpPr>
          <p:nvPr>
            <p:ph type="sldNum" sz="quarter" idx="12"/>
          </p:nvPr>
        </p:nvSpPr>
        <p:spPr/>
        <p:txBody>
          <a:bodyPr/>
          <a:lstStyle/>
          <a:p>
            <a:fld id="{ABBEE3BA-F264-1746-880E-39AD601DF2B1}" type="slidenum">
              <a:rPr lang="en-US" smtClean="0"/>
              <a:t>7</a:t>
            </a:fld>
            <a:endParaRPr lang="en-US" dirty="0"/>
          </a:p>
        </p:txBody>
      </p:sp>
      <p:sp>
        <p:nvSpPr>
          <p:cNvPr id="3" name="Content Placeholder 2">
            <a:extLst>
              <a:ext uri="{FF2B5EF4-FFF2-40B4-BE49-F238E27FC236}">
                <a16:creationId xmlns:a16="http://schemas.microsoft.com/office/drawing/2014/main" id="{EB596AE1-67FD-1B3B-2F14-2FE99C59FA21}"/>
              </a:ext>
            </a:extLst>
          </p:cNvPr>
          <p:cNvSpPr>
            <a:spLocks noGrp="1"/>
          </p:cNvSpPr>
          <p:nvPr>
            <p:ph idx="1"/>
          </p:nvPr>
        </p:nvSpPr>
        <p:spPr>
          <a:xfrm>
            <a:off x="838200" y="1618987"/>
            <a:ext cx="10515600" cy="4574305"/>
          </a:xfrm>
        </p:spPr>
        <p:txBody>
          <a:bodyPr/>
          <a:lstStyle/>
          <a:p>
            <a:r>
              <a:rPr lang="en-US" sz="2400" dirty="0"/>
              <a:t>What makes </a:t>
            </a:r>
            <a:r>
              <a:rPr lang="en-US" sz="2400" dirty="0" err="1"/>
              <a:t>RecSys</a:t>
            </a:r>
            <a:r>
              <a:rPr lang="en-US" sz="2400" dirty="0"/>
              <a:t> different than just a regular classification problem? </a:t>
            </a:r>
          </a:p>
          <a:p>
            <a:pPr lvl="1"/>
            <a:r>
              <a:rPr lang="en-US" sz="2000" dirty="0"/>
              <a:t>Multiclass problem with many classes</a:t>
            </a:r>
          </a:p>
          <a:p>
            <a:pPr lvl="1"/>
            <a:r>
              <a:rPr lang="en-US" sz="2000" dirty="0"/>
              <a:t>Goal is a ranking, not a prediction</a:t>
            </a:r>
          </a:p>
          <a:p>
            <a:pPr lvl="1"/>
            <a:r>
              <a:rPr lang="en-US" sz="2000" dirty="0"/>
              <a:t>Long tail of content</a:t>
            </a:r>
          </a:p>
          <a:p>
            <a:pPr marL="342900" lvl="1" indent="0">
              <a:buNone/>
            </a:pPr>
            <a:endParaRPr lang="en-US" sz="2000" dirty="0"/>
          </a:p>
          <a:p>
            <a:pPr lvl="1"/>
            <a:endParaRPr lang="en-US" sz="2000" dirty="0"/>
          </a:p>
          <a:p>
            <a:r>
              <a:rPr lang="en-US" sz="2400" dirty="0"/>
              <a:t>Three main models that are used, with many variants</a:t>
            </a:r>
          </a:p>
          <a:p>
            <a:pPr lvl="1"/>
            <a:r>
              <a:rPr lang="en-US" sz="2000" dirty="0"/>
              <a:t>Content-based</a:t>
            </a:r>
          </a:p>
          <a:p>
            <a:pPr lvl="1"/>
            <a:r>
              <a:rPr lang="en-US" sz="2000" dirty="0"/>
              <a:t>Similarities (modified </a:t>
            </a:r>
            <a:r>
              <a:rPr lang="en-US" sz="2000" dirty="0" err="1"/>
              <a:t>kNN</a:t>
            </a:r>
            <a:r>
              <a:rPr lang="en-US" sz="2000" dirty="0"/>
              <a:t>)</a:t>
            </a:r>
          </a:p>
          <a:p>
            <a:pPr lvl="1"/>
            <a:r>
              <a:rPr lang="en-US" sz="2000" dirty="0"/>
              <a:t>Matrix Factorization </a:t>
            </a:r>
          </a:p>
        </p:txBody>
      </p:sp>
      <p:sp>
        <p:nvSpPr>
          <p:cNvPr id="2" name="Title 1">
            <a:extLst>
              <a:ext uri="{FF2B5EF4-FFF2-40B4-BE49-F238E27FC236}">
                <a16:creationId xmlns:a16="http://schemas.microsoft.com/office/drawing/2014/main" id="{85FD1B57-F8FE-8EE9-C6BA-643DB0F64E44}"/>
              </a:ext>
            </a:extLst>
          </p:cNvPr>
          <p:cNvSpPr>
            <a:spLocks noGrp="1"/>
          </p:cNvSpPr>
          <p:nvPr>
            <p:ph type="title"/>
          </p:nvPr>
        </p:nvSpPr>
        <p:spPr>
          <a:xfrm>
            <a:off x="0" y="32478"/>
            <a:ext cx="10515600" cy="1001559"/>
          </a:xfrm>
        </p:spPr>
        <p:txBody>
          <a:bodyPr/>
          <a:lstStyle/>
          <a:p>
            <a:r>
              <a:rPr lang="en-US" dirty="0"/>
              <a:t>Models for Recommender Systems</a:t>
            </a:r>
          </a:p>
        </p:txBody>
      </p:sp>
      <p:sp>
        <p:nvSpPr>
          <p:cNvPr id="5" name="Right Brace 4">
            <a:extLst>
              <a:ext uri="{FF2B5EF4-FFF2-40B4-BE49-F238E27FC236}">
                <a16:creationId xmlns:a16="http://schemas.microsoft.com/office/drawing/2014/main" id="{3838EAD6-73C6-A9B0-A26E-EED9BCCF36AA}"/>
              </a:ext>
            </a:extLst>
          </p:cNvPr>
          <p:cNvSpPr/>
          <p:nvPr/>
        </p:nvSpPr>
        <p:spPr bwMode="auto">
          <a:xfrm>
            <a:off x="4775412" y="4775068"/>
            <a:ext cx="147484" cy="560438"/>
          </a:xfrm>
          <a:prstGeom prst="rightBrac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7BEE251D-FBC8-8BE9-F7B7-B755C37C94E4}"/>
              </a:ext>
            </a:extLst>
          </p:cNvPr>
          <p:cNvSpPr txBox="1"/>
          <p:nvPr/>
        </p:nvSpPr>
        <p:spPr>
          <a:xfrm>
            <a:off x="5098718" y="4708503"/>
            <a:ext cx="5776111" cy="712811"/>
          </a:xfrm>
          <a:prstGeom prst="rect">
            <a:avLst/>
          </a:prstGeom>
          <a:solidFill>
            <a:schemeClr val="accent5">
              <a:lumMod val="20000"/>
              <a:lumOff val="80000"/>
            </a:schemeClr>
          </a:solidFill>
        </p:spPr>
        <p:txBody>
          <a:bodyPr wrap="square" rtlCol="0">
            <a:spAutoFit/>
          </a:bodyPr>
          <a:lstStyle/>
          <a:p>
            <a:pPr algn="ctr">
              <a:buNone/>
            </a:pPr>
            <a:r>
              <a:rPr lang="en-US" sz="2000" i="1" dirty="0">
                <a:latin typeface="Tahoma" panose="020B0604030504040204" pitchFamily="34" charset="0"/>
                <a:ea typeface="Tahoma" panose="020B0604030504040204" pitchFamily="34" charset="0"/>
                <a:cs typeface="Tahoma" panose="020B0604030504040204" pitchFamily="34" charset="0"/>
              </a:rPr>
              <a:t>Collaborative filtering:</a:t>
            </a:r>
            <a:r>
              <a:rPr lang="en-US" sz="2000" dirty="0">
                <a:latin typeface="Tahoma" panose="020B0604030504040204" pitchFamily="34" charset="0"/>
                <a:ea typeface="Tahoma" panose="020B0604030504040204" pitchFamily="34" charset="0"/>
                <a:cs typeface="Tahoma" panose="020B0604030504040204" pitchFamily="34" charset="0"/>
              </a:rPr>
              <a:t> modelling you based on preferences of similar users</a:t>
            </a:r>
            <a:endParaRPr lang="en-US" sz="2000" i="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3356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FF6EA5-F075-8574-2513-7B601125EA24}"/>
              </a:ext>
            </a:extLst>
          </p:cNvPr>
          <p:cNvSpPr>
            <a:spLocks noGrp="1"/>
          </p:cNvSpPr>
          <p:nvPr>
            <p:ph type="sldNum" sz="quarter" idx="12"/>
          </p:nvPr>
        </p:nvSpPr>
        <p:spPr/>
        <p:txBody>
          <a:bodyPr/>
          <a:lstStyle/>
          <a:p>
            <a:fld id="{ABBEE3BA-F264-1746-880E-39AD601DF2B1}" type="slidenum">
              <a:rPr lang="en-US" smtClean="0"/>
              <a:t>8</a:t>
            </a:fld>
            <a:endParaRPr lang="en-US"/>
          </a:p>
        </p:txBody>
      </p:sp>
      <p:sp>
        <p:nvSpPr>
          <p:cNvPr id="3" name="Content Placeholder 2">
            <a:extLst>
              <a:ext uri="{FF2B5EF4-FFF2-40B4-BE49-F238E27FC236}">
                <a16:creationId xmlns:a16="http://schemas.microsoft.com/office/drawing/2014/main" id="{EABDB2E2-A036-8949-316B-A77BB99B083E}"/>
              </a:ext>
            </a:extLst>
          </p:cNvPr>
          <p:cNvSpPr>
            <a:spLocks noGrp="1"/>
          </p:cNvSpPr>
          <p:nvPr>
            <p:ph idx="1"/>
          </p:nvPr>
        </p:nvSpPr>
        <p:spPr>
          <a:xfrm>
            <a:off x="315686" y="1030886"/>
            <a:ext cx="8229600" cy="1066208"/>
          </a:xfrm>
        </p:spPr>
        <p:txBody>
          <a:bodyPr/>
          <a:lstStyle/>
          <a:p>
            <a:r>
              <a:rPr lang="en-US" dirty="0"/>
              <a:t>Fit models based on a massive set of engineered features</a:t>
            </a:r>
          </a:p>
        </p:txBody>
      </p:sp>
      <p:sp>
        <p:nvSpPr>
          <p:cNvPr id="2" name="Title 1">
            <a:extLst>
              <a:ext uri="{FF2B5EF4-FFF2-40B4-BE49-F238E27FC236}">
                <a16:creationId xmlns:a16="http://schemas.microsoft.com/office/drawing/2014/main" id="{C54D3E46-6787-31B7-FEBB-311EBF55A178}"/>
              </a:ext>
            </a:extLst>
          </p:cNvPr>
          <p:cNvSpPr>
            <a:spLocks noGrp="1"/>
          </p:cNvSpPr>
          <p:nvPr>
            <p:ph type="title"/>
          </p:nvPr>
        </p:nvSpPr>
        <p:spPr>
          <a:xfrm>
            <a:off x="0" y="74743"/>
            <a:ext cx="10515600" cy="1001559"/>
          </a:xfrm>
        </p:spPr>
        <p:txBody>
          <a:bodyPr/>
          <a:lstStyle/>
          <a:p>
            <a:r>
              <a:rPr lang="en-US" dirty="0" err="1"/>
              <a:t>RecSys</a:t>
            </a:r>
            <a:r>
              <a:rPr lang="en-US" dirty="0"/>
              <a:t> 1: Content-based</a:t>
            </a:r>
          </a:p>
        </p:txBody>
      </p:sp>
      <p:pic>
        <p:nvPicPr>
          <p:cNvPr id="20482" name="Picture 2" descr="Pulp Fiction | Rotten Tomatoes">
            <a:extLst>
              <a:ext uri="{FF2B5EF4-FFF2-40B4-BE49-F238E27FC236}">
                <a16:creationId xmlns:a16="http://schemas.microsoft.com/office/drawing/2014/main" id="{73E9EBB2-1FE8-19BA-ECD8-FE2180E41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123" y="2500337"/>
            <a:ext cx="2808667" cy="37448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F1941E-1CF8-CF5D-1BC7-4A645C3CC0DF}"/>
              </a:ext>
            </a:extLst>
          </p:cNvPr>
          <p:cNvSpPr txBox="1"/>
          <p:nvPr/>
        </p:nvSpPr>
        <p:spPr>
          <a:xfrm>
            <a:off x="2588525" y="1897039"/>
            <a:ext cx="2190984"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Gwenda watches:</a:t>
            </a:r>
          </a:p>
        </p:txBody>
      </p:sp>
      <p:graphicFrame>
        <p:nvGraphicFramePr>
          <p:cNvPr id="7" name="Table 6">
            <a:extLst>
              <a:ext uri="{FF2B5EF4-FFF2-40B4-BE49-F238E27FC236}">
                <a16:creationId xmlns:a16="http://schemas.microsoft.com/office/drawing/2014/main" id="{5A500045-C9B4-9E61-409F-3F1C6924DEA5}"/>
              </a:ext>
            </a:extLst>
          </p:cNvPr>
          <p:cNvGraphicFramePr>
            <a:graphicFrameLocks noGrp="1"/>
          </p:cNvGraphicFramePr>
          <p:nvPr>
            <p:extLst>
              <p:ext uri="{D42A27DB-BD31-4B8C-83A1-F6EECF244321}">
                <p14:modId xmlns:p14="http://schemas.microsoft.com/office/powerpoint/2010/main" val="1880183663"/>
              </p:ext>
            </p:extLst>
          </p:nvPr>
        </p:nvGraphicFramePr>
        <p:xfrm>
          <a:off x="6464423" y="1589620"/>
          <a:ext cx="4793098" cy="5183184"/>
        </p:xfrm>
        <a:graphic>
          <a:graphicData uri="http://schemas.openxmlformats.org/drawingml/2006/table">
            <a:tbl>
              <a:tblPr firstRow="1" bandRow="1">
                <a:tableStyleId>{5C22544A-7EE6-4342-B048-85BDC9FD1C3A}</a:tableStyleId>
              </a:tblPr>
              <a:tblGrid>
                <a:gridCol w="2396549">
                  <a:extLst>
                    <a:ext uri="{9D8B030D-6E8A-4147-A177-3AD203B41FA5}">
                      <a16:colId xmlns:a16="http://schemas.microsoft.com/office/drawing/2014/main" val="1274465805"/>
                    </a:ext>
                  </a:extLst>
                </a:gridCol>
                <a:gridCol w="2396549">
                  <a:extLst>
                    <a:ext uri="{9D8B030D-6E8A-4147-A177-3AD203B41FA5}">
                      <a16:colId xmlns:a16="http://schemas.microsoft.com/office/drawing/2014/main" val="882357318"/>
                    </a:ext>
                  </a:extLst>
                </a:gridCol>
              </a:tblGrid>
              <a:tr h="365904">
                <a:tc>
                  <a:txBody>
                    <a:bodyPr/>
                    <a:lstStyle/>
                    <a:p>
                      <a:endParaRPr lang="en-US" sz="1600"/>
                    </a:p>
                  </a:txBody>
                  <a:tcPr/>
                </a:tc>
                <a:tc>
                  <a:txBody>
                    <a:bodyPr/>
                    <a:lstStyle/>
                    <a:p>
                      <a:r>
                        <a:rPr lang="en-US" sz="1600" dirty="0"/>
                        <a:t>Gwenda</a:t>
                      </a:r>
                    </a:p>
                  </a:txBody>
                  <a:tcPr/>
                </a:tc>
                <a:extLst>
                  <a:ext uri="{0D108BD9-81ED-4DB2-BD59-A6C34878D82A}">
                    <a16:rowId xmlns:a16="http://schemas.microsoft.com/office/drawing/2014/main" val="3168031233"/>
                  </a:ext>
                </a:extLst>
              </a:tr>
              <a:tr h="365904">
                <a:tc>
                  <a:txBody>
                    <a:bodyPr/>
                    <a:lstStyle/>
                    <a:p>
                      <a:r>
                        <a:rPr lang="en-US" sz="1600" dirty="0"/>
                        <a:t>Actor: John Travolta</a:t>
                      </a:r>
                    </a:p>
                  </a:txBody>
                  <a:tcPr/>
                </a:tc>
                <a:tc>
                  <a:txBody>
                    <a:bodyPr/>
                    <a:lstStyle/>
                    <a:p>
                      <a:r>
                        <a:rPr lang="en-US" sz="1600" dirty="0"/>
                        <a:t>1</a:t>
                      </a:r>
                    </a:p>
                  </a:txBody>
                  <a:tcPr/>
                </a:tc>
                <a:extLst>
                  <a:ext uri="{0D108BD9-81ED-4DB2-BD59-A6C34878D82A}">
                    <a16:rowId xmlns:a16="http://schemas.microsoft.com/office/drawing/2014/main" val="2346918447"/>
                  </a:ext>
                </a:extLst>
              </a:tr>
              <a:tr h="365904">
                <a:tc>
                  <a:txBody>
                    <a:bodyPr/>
                    <a:lstStyle/>
                    <a:p>
                      <a:r>
                        <a:rPr lang="en-US" sz="1600" dirty="0"/>
                        <a:t>Actor: Uma Thurman</a:t>
                      </a:r>
                    </a:p>
                  </a:txBody>
                  <a:tcPr/>
                </a:tc>
                <a:tc>
                  <a:txBody>
                    <a:bodyPr/>
                    <a:lstStyle/>
                    <a:p>
                      <a:r>
                        <a:rPr lang="en-US" sz="1600" dirty="0"/>
                        <a:t>1</a:t>
                      </a:r>
                    </a:p>
                  </a:txBody>
                  <a:tcPr/>
                </a:tc>
                <a:extLst>
                  <a:ext uri="{0D108BD9-81ED-4DB2-BD59-A6C34878D82A}">
                    <a16:rowId xmlns:a16="http://schemas.microsoft.com/office/drawing/2014/main" val="3254475064"/>
                  </a:ext>
                </a:extLst>
              </a:tr>
              <a:tr h="496226">
                <a:tc>
                  <a:txBody>
                    <a:bodyPr/>
                    <a:lstStyle/>
                    <a:p>
                      <a:r>
                        <a:rPr lang="en-US" sz="1600" dirty="0"/>
                        <a:t>Actor: Samuel L. Jackson</a:t>
                      </a:r>
                    </a:p>
                  </a:txBody>
                  <a:tcPr/>
                </a:tc>
                <a:tc>
                  <a:txBody>
                    <a:bodyPr/>
                    <a:lstStyle/>
                    <a:p>
                      <a:r>
                        <a:rPr lang="en-US" sz="1600" dirty="0"/>
                        <a:t>1</a:t>
                      </a:r>
                    </a:p>
                  </a:txBody>
                  <a:tcPr/>
                </a:tc>
                <a:extLst>
                  <a:ext uri="{0D108BD9-81ED-4DB2-BD59-A6C34878D82A}">
                    <a16:rowId xmlns:a16="http://schemas.microsoft.com/office/drawing/2014/main" val="1285364976"/>
                  </a:ext>
                </a:extLst>
              </a:tr>
              <a:tr h="365904">
                <a:tc>
                  <a:txBody>
                    <a:bodyPr/>
                    <a:lstStyle/>
                    <a:p>
                      <a:r>
                        <a:rPr lang="en-US" sz="1600" dirty="0"/>
                        <a:t>Actor: Bruce Willis</a:t>
                      </a:r>
                    </a:p>
                  </a:txBody>
                  <a:tcPr/>
                </a:tc>
                <a:tc>
                  <a:txBody>
                    <a:bodyPr/>
                    <a:lstStyle/>
                    <a:p>
                      <a:r>
                        <a:rPr lang="en-US" sz="1600" dirty="0"/>
                        <a:t>1</a:t>
                      </a:r>
                    </a:p>
                  </a:txBody>
                  <a:tcPr/>
                </a:tc>
                <a:extLst>
                  <a:ext uri="{0D108BD9-81ED-4DB2-BD59-A6C34878D82A}">
                    <a16:rowId xmlns:a16="http://schemas.microsoft.com/office/drawing/2014/main" val="3744932853"/>
                  </a:ext>
                </a:extLst>
              </a:tr>
              <a:tr h="365904">
                <a:tc>
                  <a:txBody>
                    <a:bodyPr/>
                    <a:lstStyle/>
                    <a:p>
                      <a:r>
                        <a:rPr lang="en-US" sz="1600" dirty="0"/>
                        <a:t>Genre: Crime</a:t>
                      </a:r>
                    </a:p>
                  </a:txBody>
                  <a:tcPr/>
                </a:tc>
                <a:tc>
                  <a:txBody>
                    <a:bodyPr/>
                    <a:lstStyle/>
                    <a:p>
                      <a:r>
                        <a:rPr lang="en-US" sz="1600" dirty="0"/>
                        <a:t>1</a:t>
                      </a:r>
                    </a:p>
                  </a:txBody>
                  <a:tcPr/>
                </a:tc>
                <a:extLst>
                  <a:ext uri="{0D108BD9-81ED-4DB2-BD59-A6C34878D82A}">
                    <a16:rowId xmlns:a16="http://schemas.microsoft.com/office/drawing/2014/main" val="4128934066"/>
                  </a:ext>
                </a:extLst>
              </a:tr>
              <a:tr h="365904">
                <a:tc>
                  <a:txBody>
                    <a:bodyPr/>
                    <a:lstStyle/>
                    <a:p>
                      <a:r>
                        <a:rPr lang="en-US" sz="1600" dirty="0"/>
                        <a:t>Genre: Action</a:t>
                      </a:r>
                    </a:p>
                  </a:txBody>
                  <a:tcPr/>
                </a:tc>
                <a:tc>
                  <a:txBody>
                    <a:bodyPr/>
                    <a:lstStyle/>
                    <a:p>
                      <a:r>
                        <a:rPr lang="en-US" sz="1600" dirty="0"/>
                        <a:t>1</a:t>
                      </a:r>
                    </a:p>
                  </a:txBody>
                  <a:tcPr/>
                </a:tc>
                <a:extLst>
                  <a:ext uri="{0D108BD9-81ED-4DB2-BD59-A6C34878D82A}">
                    <a16:rowId xmlns:a16="http://schemas.microsoft.com/office/drawing/2014/main" val="148695947"/>
                  </a:ext>
                </a:extLst>
              </a:tr>
              <a:tr h="365904">
                <a:tc>
                  <a:txBody>
                    <a:bodyPr/>
                    <a:lstStyle/>
                    <a:p>
                      <a:r>
                        <a:rPr lang="en-US" sz="1600" dirty="0"/>
                        <a:t>Genre: Suspense</a:t>
                      </a:r>
                    </a:p>
                  </a:txBody>
                  <a:tcPr/>
                </a:tc>
                <a:tc>
                  <a:txBody>
                    <a:bodyPr/>
                    <a:lstStyle/>
                    <a:p>
                      <a:r>
                        <a:rPr lang="en-US" sz="1600" dirty="0"/>
                        <a:t>1</a:t>
                      </a:r>
                    </a:p>
                  </a:txBody>
                  <a:tcPr/>
                </a:tc>
                <a:extLst>
                  <a:ext uri="{0D108BD9-81ED-4DB2-BD59-A6C34878D82A}">
                    <a16:rowId xmlns:a16="http://schemas.microsoft.com/office/drawing/2014/main" val="2749351732"/>
                  </a:ext>
                </a:extLst>
              </a:tr>
              <a:tr h="496226">
                <a:tc>
                  <a:txBody>
                    <a:bodyPr/>
                    <a:lstStyle/>
                    <a:p>
                      <a:r>
                        <a:rPr lang="en-US" sz="1600" dirty="0"/>
                        <a:t>Director: Quentin Tarantino</a:t>
                      </a:r>
                    </a:p>
                  </a:txBody>
                  <a:tcPr/>
                </a:tc>
                <a:tc>
                  <a:txBody>
                    <a:bodyPr/>
                    <a:lstStyle/>
                    <a:p>
                      <a:r>
                        <a:rPr lang="en-US" sz="1600" dirty="0"/>
                        <a:t>1</a:t>
                      </a:r>
                    </a:p>
                  </a:txBody>
                  <a:tcPr/>
                </a:tc>
                <a:extLst>
                  <a:ext uri="{0D108BD9-81ED-4DB2-BD59-A6C34878D82A}">
                    <a16:rowId xmlns:a16="http://schemas.microsoft.com/office/drawing/2014/main" val="2699262518"/>
                  </a:ext>
                </a:extLst>
              </a:tr>
              <a:tr h="365904">
                <a:tc>
                  <a:txBody>
                    <a:bodyPr/>
                    <a:lstStyle/>
                    <a:p>
                      <a:r>
                        <a:rPr lang="en-US" sz="1600" dirty="0"/>
                        <a:t>Era: 1990s</a:t>
                      </a:r>
                    </a:p>
                  </a:txBody>
                  <a:tcPr/>
                </a:tc>
                <a:tc>
                  <a:txBody>
                    <a:bodyPr/>
                    <a:lstStyle/>
                    <a:p>
                      <a:r>
                        <a:rPr lang="en-US" sz="1600" dirty="0"/>
                        <a:t>1</a:t>
                      </a:r>
                    </a:p>
                  </a:txBody>
                  <a:tcPr/>
                </a:tc>
                <a:extLst>
                  <a:ext uri="{0D108BD9-81ED-4DB2-BD59-A6C34878D82A}">
                    <a16:rowId xmlns:a16="http://schemas.microsoft.com/office/drawing/2014/main" val="544897317"/>
                  </a:ext>
                </a:extLst>
              </a:tr>
              <a:tr h="365904">
                <a:tc>
                  <a:txBody>
                    <a:bodyPr/>
                    <a:lstStyle/>
                    <a:p>
                      <a:r>
                        <a:rPr lang="en-US" sz="1600" dirty="0"/>
                        <a:t>Style: Noir</a:t>
                      </a:r>
                    </a:p>
                  </a:txBody>
                  <a:tcPr/>
                </a:tc>
                <a:tc>
                  <a:txBody>
                    <a:bodyPr/>
                    <a:lstStyle/>
                    <a:p>
                      <a:r>
                        <a:rPr lang="en-US" sz="1600" dirty="0"/>
                        <a:t>1</a:t>
                      </a:r>
                    </a:p>
                  </a:txBody>
                  <a:tcPr/>
                </a:tc>
                <a:extLst>
                  <a:ext uri="{0D108BD9-81ED-4DB2-BD59-A6C34878D82A}">
                    <a16:rowId xmlns:a16="http://schemas.microsoft.com/office/drawing/2014/main" val="3384712887"/>
                  </a:ext>
                </a:extLst>
              </a:tr>
              <a:tr h="365904">
                <a:tc>
                  <a:txBody>
                    <a:bodyPr/>
                    <a:lstStyle/>
                    <a:p>
                      <a:r>
                        <a:rPr lang="en-US" sz="1600" dirty="0"/>
                        <a:t>Writer: Roger </a:t>
                      </a:r>
                      <a:r>
                        <a:rPr lang="en-US" sz="1600" dirty="0" err="1"/>
                        <a:t>Avary</a:t>
                      </a:r>
                      <a:endParaRPr lang="en-US" sz="1600" dirty="0"/>
                    </a:p>
                  </a:txBody>
                  <a:tcPr/>
                </a:tc>
                <a:tc>
                  <a:txBody>
                    <a:bodyPr/>
                    <a:lstStyle/>
                    <a:p>
                      <a:r>
                        <a:rPr lang="en-US" sz="1600" dirty="0"/>
                        <a:t>1</a:t>
                      </a:r>
                    </a:p>
                  </a:txBody>
                  <a:tcPr/>
                </a:tc>
                <a:extLst>
                  <a:ext uri="{0D108BD9-81ED-4DB2-BD59-A6C34878D82A}">
                    <a16:rowId xmlns:a16="http://schemas.microsoft.com/office/drawing/2014/main" val="3235955306"/>
                  </a:ext>
                </a:extLst>
              </a:tr>
              <a:tr h="365904">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536132635"/>
                  </a:ext>
                </a:extLst>
              </a:tr>
            </a:tbl>
          </a:graphicData>
        </a:graphic>
      </p:graphicFrame>
    </p:spTree>
    <p:extLst>
      <p:ext uri="{BB962C8B-B14F-4D97-AF65-F5344CB8AC3E}">
        <p14:creationId xmlns:p14="http://schemas.microsoft.com/office/powerpoint/2010/main" val="98713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5A30DC-DA57-123E-9819-73FF29B0DD80}"/>
              </a:ext>
            </a:extLst>
          </p:cNvPr>
          <p:cNvSpPr>
            <a:spLocks noGrp="1"/>
          </p:cNvSpPr>
          <p:nvPr>
            <p:ph type="sldNum" sz="quarter" idx="12"/>
          </p:nvPr>
        </p:nvSpPr>
        <p:spPr/>
        <p:txBody>
          <a:bodyPr/>
          <a:lstStyle/>
          <a:p>
            <a:fld id="{ABBEE3BA-F264-1746-880E-39AD601DF2B1}" type="slidenum">
              <a:rPr lang="en-US" smtClean="0"/>
              <a:t>9</a:t>
            </a:fld>
            <a:endParaRPr lang="en-US"/>
          </a:p>
        </p:txBody>
      </p:sp>
      <p:sp>
        <p:nvSpPr>
          <p:cNvPr id="3" name="Content Placeholder 2">
            <a:extLst>
              <a:ext uri="{FF2B5EF4-FFF2-40B4-BE49-F238E27FC236}">
                <a16:creationId xmlns:a16="http://schemas.microsoft.com/office/drawing/2014/main" id="{B965CA4C-61D2-3F82-2E52-9ABEFB4DBC88}"/>
              </a:ext>
            </a:extLst>
          </p:cNvPr>
          <p:cNvSpPr>
            <a:spLocks noGrp="1"/>
          </p:cNvSpPr>
          <p:nvPr>
            <p:ph idx="1"/>
          </p:nvPr>
        </p:nvSpPr>
        <p:spPr>
          <a:xfrm>
            <a:off x="217715" y="1366684"/>
            <a:ext cx="10515600" cy="4574305"/>
          </a:xfrm>
        </p:spPr>
        <p:txBody>
          <a:bodyPr/>
          <a:lstStyle/>
          <a:p>
            <a:r>
              <a:rPr lang="en-US" dirty="0"/>
              <a:t>Pros:</a:t>
            </a:r>
          </a:p>
          <a:p>
            <a:pPr lvl="1"/>
            <a:r>
              <a:rPr lang="en-US" dirty="0"/>
              <a:t>Very clear why a given recommendation was made</a:t>
            </a:r>
          </a:p>
          <a:p>
            <a:r>
              <a:rPr lang="en-US" dirty="0"/>
              <a:t>Cons:</a:t>
            </a:r>
          </a:p>
          <a:p>
            <a:pPr lvl="1"/>
            <a:r>
              <a:rPr lang="en-US" dirty="0"/>
              <a:t>Many arbitrary decision need to be made</a:t>
            </a:r>
          </a:p>
          <a:p>
            <a:pPr lvl="2"/>
            <a:r>
              <a:rPr lang="en-US" dirty="0"/>
              <a:t>Which actors, directors, </a:t>
            </a:r>
            <a:r>
              <a:rPr lang="en-US" dirty="0" err="1"/>
              <a:t>etc</a:t>
            </a:r>
            <a:endParaRPr lang="en-US" dirty="0"/>
          </a:p>
          <a:p>
            <a:pPr lvl="2"/>
            <a:r>
              <a:rPr lang="en-US" dirty="0"/>
              <a:t>What are genres, subgenres</a:t>
            </a:r>
          </a:p>
          <a:p>
            <a:pPr lvl="1"/>
            <a:r>
              <a:rPr lang="en-US" dirty="0"/>
              <a:t>Many thousands of parameters</a:t>
            </a:r>
          </a:p>
          <a:p>
            <a:pPr lvl="2"/>
            <a:r>
              <a:rPr lang="en-US" dirty="0"/>
              <a:t>Needs </a:t>
            </a:r>
            <a:r>
              <a:rPr lang="en-US" dirty="0" err="1"/>
              <a:t>regularlization</a:t>
            </a:r>
            <a:endParaRPr lang="en-US" dirty="0"/>
          </a:p>
          <a:p>
            <a:pPr lvl="1"/>
            <a:r>
              <a:rPr lang="en-US" dirty="0"/>
              <a:t>Does watching Pulp Fiction </a:t>
            </a:r>
            <a:r>
              <a:rPr lang="en-US" i="1" dirty="0"/>
              <a:t>really</a:t>
            </a:r>
            <a:r>
              <a:rPr lang="en-US" dirty="0"/>
              <a:t> mean you want to watch all Travolta movies?  </a:t>
            </a:r>
          </a:p>
        </p:txBody>
      </p:sp>
      <p:sp>
        <p:nvSpPr>
          <p:cNvPr id="2" name="Title 1">
            <a:extLst>
              <a:ext uri="{FF2B5EF4-FFF2-40B4-BE49-F238E27FC236}">
                <a16:creationId xmlns:a16="http://schemas.microsoft.com/office/drawing/2014/main" id="{1E8511A5-E230-A0FA-52A1-786B44656C1B}"/>
              </a:ext>
            </a:extLst>
          </p:cNvPr>
          <p:cNvSpPr>
            <a:spLocks noGrp="1"/>
          </p:cNvSpPr>
          <p:nvPr>
            <p:ph type="title"/>
          </p:nvPr>
        </p:nvSpPr>
        <p:spPr>
          <a:xfrm>
            <a:off x="217715" y="157444"/>
            <a:ext cx="10515600" cy="1001559"/>
          </a:xfrm>
        </p:spPr>
        <p:txBody>
          <a:bodyPr/>
          <a:lstStyle/>
          <a:p>
            <a:r>
              <a:rPr lang="en-US" dirty="0" err="1"/>
              <a:t>RecSys</a:t>
            </a:r>
            <a:r>
              <a:rPr lang="en-US" dirty="0"/>
              <a:t> 1: Content-based</a:t>
            </a:r>
          </a:p>
        </p:txBody>
      </p:sp>
      <p:pic>
        <p:nvPicPr>
          <p:cNvPr id="1026" name="Picture 2" descr="MICHAEL 1 Sided ORIGINAL ROLLED 27x41 JOHN TRAVOLTA ANDIE MACDOWELL">
            <a:extLst>
              <a:ext uri="{FF2B5EF4-FFF2-40B4-BE49-F238E27FC236}">
                <a16:creationId xmlns:a16="http://schemas.microsoft.com/office/drawing/2014/main" id="{E3E349E3-7475-350C-965D-1C43C8538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3442" y="2199132"/>
            <a:ext cx="1660891" cy="24597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ttlefield Earth movie poster [John Travolta] original 27x40 VG">
            <a:extLst>
              <a:ext uri="{FF2B5EF4-FFF2-40B4-BE49-F238E27FC236}">
                <a16:creationId xmlns:a16="http://schemas.microsoft.com/office/drawing/2014/main" id="{4D929DA8-A436-912E-6C2B-D5EA16B04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4532" y="2199132"/>
            <a:ext cx="1659753" cy="2459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5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28" name="Slide Number Placeholder 7">
            <a:extLst>
              <a:ext uri="{FF2B5EF4-FFF2-40B4-BE49-F238E27FC236}">
                <a16:creationId xmlns:a16="http://schemas.microsoft.com/office/drawing/2014/main" id="{A80CFD7F-7E87-66C6-860E-0FB6191D91D0}"/>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AC50A497-4585-6447-985C-E4DE72430331}" type="slidenum">
              <a:rPr lang="en-US" altLang="en-US" smtClean="0"/>
              <a:pPr/>
              <a:t>10</a:t>
            </a:fld>
            <a:endParaRPr lang="en-US" altLang="en-US" sz="1292" dirty="0"/>
          </a:p>
        </p:txBody>
      </p:sp>
      <p:sp>
        <p:nvSpPr>
          <p:cNvPr id="43009" name="Rectangle 2">
            <a:extLst>
              <a:ext uri="{FF2B5EF4-FFF2-40B4-BE49-F238E27FC236}">
                <a16:creationId xmlns:a16="http://schemas.microsoft.com/office/drawing/2014/main" id="{C43415DC-C552-12D9-AA22-3BA332C05FCE}"/>
              </a:ext>
            </a:extLst>
          </p:cNvPr>
          <p:cNvSpPr>
            <a:spLocks noGrp="1" noChangeArrowheads="1"/>
          </p:cNvSpPr>
          <p:nvPr>
            <p:ph type="title"/>
          </p:nvPr>
        </p:nvSpPr>
        <p:spPr>
          <a:xfrm>
            <a:off x="185057" y="92480"/>
            <a:ext cx="9954986" cy="1055077"/>
          </a:xfrm>
        </p:spPr>
        <p:txBody>
          <a:bodyPr>
            <a:normAutofit/>
          </a:bodyPr>
          <a:lstStyle/>
          <a:p>
            <a:r>
              <a:rPr lang="en-US" dirty="0" err="1"/>
              <a:t>RecSys</a:t>
            </a:r>
            <a:r>
              <a:rPr lang="en-US" dirty="0"/>
              <a:t> 2: k-</a:t>
            </a:r>
            <a:r>
              <a:rPr lang="en-US" altLang="en-US" dirty="0">
                <a:ea typeface="ＭＳ Ｐゴシック" panose="020B0600070205080204" pitchFamily="34" charset="-128"/>
              </a:rPr>
              <a:t>Nearest Neighbors</a:t>
            </a:r>
          </a:p>
        </p:txBody>
      </p:sp>
      <p:sp>
        <p:nvSpPr>
          <p:cNvPr id="2" name="Text Box 123">
            <a:extLst>
              <a:ext uri="{FF2B5EF4-FFF2-40B4-BE49-F238E27FC236}">
                <a16:creationId xmlns:a16="http://schemas.microsoft.com/office/drawing/2014/main" id="{6BB193C4-C6B8-24A5-7570-4D33B29442FC}"/>
              </a:ext>
            </a:extLst>
          </p:cNvPr>
          <p:cNvSpPr txBox="1">
            <a:spLocks noChangeArrowheads="1"/>
          </p:cNvSpPr>
          <p:nvPr/>
        </p:nvSpPr>
        <p:spPr bwMode="auto">
          <a:xfrm rot="16200000">
            <a:off x="2197419" y="3454550"/>
            <a:ext cx="691374" cy="338554"/>
          </a:xfrm>
          <a:prstGeom prst="rect">
            <a:avLst/>
          </a:prstGeom>
          <a:solidFill>
            <a:schemeClr val="accent5"/>
          </a:solidFill>
          <a:ln>
            <a:noFill/>
          </a:ln>
        </p:spPr>
        <p:txBody>
          <a:bodyPr wrap="square">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rtl="1" eaLnBrk="1" hangingPunct="1">
              <a:buNone/>
            </a:pPr>
            <a:r>
              <a:rPr lang="en-US" altLang="en-US" sz="1600" dirty="0">
                <a:latin typeface="Arial" panose="020B0604020202020204" pitchFamily="34" charset="0"/>
                <a:cs typeface="Arial" panose="020B0604020202020204" pitchFamily="34" charset="0"/>
              </a:rPr>
              <a:t>users</a:t>
            </a:r>
          </a:p>
        </p:txBody>
      </p:sp>
      <p:pic>
        <p:nvPicPr>
          <p:cNvPr id="5" name="Picture 4" descr="A crossword puzzle with different colored squares&#10;&#10;AI-generated content may be incorrect.">
            <a:extLst>
              <a:ext uri="{FF2B5EF4-FFF2-40B4-BE49-F238E27FC236}">
                <a16:creationId xmlns:a16="http://schemas.microsoft.com/office/drawing/2014/main" id="{7BC4CC50-B496-FBC6-6FAA-974DA22369E1}"/>
              </a:ext>
            </a:extLst>
          </p:cNvPr>
          <p:cNvPicPr>
            <a:picLocks noChangeAspect="1"/>
          </p:cNvPicPr>
          <p:nvPr/>
        </p:nvPicPr>
        <p:blipFill>
          <a:blip r:embed="rId3"/>
          <a:stretch>
            <a:fillRect/>
          </a:stretch>
        </p:blipFill>
        <p:spPr>
          <a:xfrm>
            <a:off x="2373829" y="1294238"/>
            <a:ext cx="8541821" cy="4659175"/>
          </a:xfrm>
          <a:prstGeom prst="rect">
            <a:avLst/>
          </a:prstGeom>
        </p:spPr>
      </p:pic>
      <p:sp>
        <p:nvSpPr>
          <p:cNvPr id="6" name="TextBox 5">
            <a:extLst>
              <a:ext uri="{FF2B5EF4-FFF2-40B4-BE49-F238E27FC236}">
                <a16:creationId xmlns:a16="http://schemas.microsoft.com/office/drawing/2014/main" id="{A4DEBC5E-C1D4-44AD-D7EE-4E130D585210}"/>
              </a:ext>
            </a:extLst>
          </p:cNvPr>
          <p:cNvSpPr txBox="1"/>
          <p:nvPr/>
        </p:nvSpPr>
        <p:spPr>
          <a:xfrm>
            <a:off x="0" y="6519446"/>
            <a:ext cx="3267241" cy="338554"/>
          </a:xfrm>
          <a:prstGeom prst="rect">
            <a:avLst/>
          </a:prstGeom>
          <a:solidFill>
            <a:schemeClr val="bg2"/>
          </a:solidFill>
        </p:spPr>
        <p:txBody>
          <a:bodyPr wrap="none" rtlCol="0">
            <a:spAutoFit/>
          </a:bodyPr>
          <a:lstStyle/>
          <a:p>
            <a:pPr algn="l"/>
            <a:r>
              <a:rPr lang="en-US" sz="1600" dirty="0">
                <a:latin typeface="Montserrat" pitchFamily="2" charset="77"/>
              </a:rPr>
              <a:t>Image from Jeff Howbert, UW</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0CBAC6-3B53-E616-598E-67E6E57F6425}"/>
              </a:ext>
            </a:extLst>
          </p:cNvPr>
          <p:cNvSpPr>
            <a:spLocks noGrp="1"/>
          </p:cNvSpPr>
          <p:nvPr>
            <p:ph type="sldNum" sz="quarter" idx="12"/>
          </p:nvPr>
        </p:nvSpPr>
        <p:spPr/>
        <p:txBody>
          <a:bodyPr/>
          <a:lstStyle/>
          <a:p>
            <a:fld id="{ABBEE3BA-F264-1746-880E-39AD601DF2B1}" type="slidenum">
              <a:rPr lang="en-US" smtClean="0"/>
              <a:t>11</a:t>
            </a:fld>
            <a:endParaRPr lang="en-US"/>
          </a:p>
        </p:txBody>
      </p:sp>
      <p:sp>
        <p:nvSpPr>
          <p:cNvPr id="3" name="Content Placeholder 2">
            <a:extLst>
              <a:ext uri="{FF2B5EF4-FFF2-40B4-BE49-F238E27FC236}">
                <a16:creationId xmlns:a16="http://schemas.microsoft.com/office/drawing/2014/main" id="{13E49DFD-4FEA-7163-BFC4-23C8B27B4469}"/>
              </a:ext>
            </a:extLst>
          </p:cNvPr>
          <p:cNvSpPr>
            <a:spLocks noGrp="1"/>
          </p:cNvSpPr>
          <p:nvPr>
            <p:ph idx="1"/>
          </p:nvPr>
        </p:nvSpPr>
        <p:spPr>
          <a:xfrm>
            <a:off x="8454844" y="1314330"/>
            <a:ext cx="3737156" cy="4698358"/>
          </a:xfrm>
        </p:spPr>
        <p:txBody>
          <a:bodyPr>
            <a:normAutofit/>
          </a:bodyPr>
          <a:lstStyle/>
          <a:p>
            <a:pPr marL="0" indent="0">
              <a:buNone/>
            </a:pPr>
            <a:endParaRPr lang="en-US" sz="2000" dirty="0"/>
          </a:p>
          <a:p>
            <a:pPr marL="0" indent="0">
              <a:buNone/>
            </a:pPr>
            <a:r>
              <a:rPr lang="en-US" sz="2000" dirty="0"/>
              <a:t>Any matrix can be </a:t>
            </a:r>
            <a:r>
              <a:rPr lang="en-US" sz="2000" i="1" dirty="0"/>
              <a:t>decomposed</a:t>
            </a:r>
            <a:r>
              <a:rPr lang="en-US" sz="2000" dirty="0"/>
              <a:t> into smaller elements</a:t>
            </a:r>
          </a:p>
          <a:p>
            <a:r>
              <a:rPr lang="en-US" sz="1900" dirty="0"/>
              <a:t>Similar to principal components: </a:t>
            </a:r>
            <a:r>
              <a:rPr lang="en-US" sz="1900" i="1" dirty="0"/>
              <a:t>r </a:t>
            </a:r>
            <a:r>
              <a:rPr lang="en-US" sz="1900" dirty="0"/>
              <a:t>determines how much compression</a:t>
            </a:r>
          </a:p>
          <a:p>
            <a:pPr marL="0" indent="0">
              <a:buNone/>
            </a:pPr>
            <a:endParaRPr lang="en-US" sz="1900" dirty="0"/>
          </a:p>
          <a:p>
            <a:r>
              <a:rPr lang="en-US" sz="1900" dirty="0"/>
              <a:t>The ratings matrix is </a:t>
            </a:r>
            <a:r>
              <a:rPr lang="en-US" sz="1900" i="1" dirty="0"/>
              <a:t>decomposed</a:t>
            </a:r>
            <a:r>
              <a:rPr lang="en-US" sz="1900" dirty="0"/>
              <a:t> into smaller pieces – one for the users and one for the content</a:t>
            </a:r>
          </a:p>
          <a:p>
            <a:pPr marL="0" indent="0">
              <a:buNone/>
            </a:pPr>
            <a:endParaRPr lang="en-US" sz="1900" dirty="0"/>
          </a:p>
          <a:p>
            <a:pPr lvl="1"/>
            <a:endParaRPr lang="en-US" sz="1800" dirty="0"/>
          </a:p>
          <a:p>
            <a:pPr marL="457200" lvl="1" indent="0">
              <a:buNone/>
            </a:pPr>
            <a:endParaRPr lang="en-US" sz="1800" dirty="0"/>
          </a:p>
        </p:txBody>
      </p:sp>
      <p:sp>
        <p:nvSpPr>
          <p:cNvPr id="2" name="Title 1">
            <a:extLst>
              <a:ext uri="{FF2B5EF4-FFF2-40B4-BE49-F238E27FC236}">
                <a16:creationId xmlns:a16="http://schemas.microsoft.com/office/drawing/2014/main" id="{E9752446-CB43-4932-3EC3-00DB2DE46C8D}"/>
              </a:ext>
            </a:extLst>
          </p:cNvPr>
          <p:cNvSpPr>
            <a:spLocks noGrp="1"/>
          </p:cNvSpPr>
          <p:nvPr>
            <p:ph type="title"/>
          </p:nvPr>
        </p:nvSpPr>
        <p:spPr>
          <a:xfrm>
            <a:off x="544285" y="212665"/>
            <a:ext cx="10515600" cy="1001559"/>
          </a:xfrm>
        </p:spPr>
        <p:txBody>
          <a:bodyPr>
            <a:normAutofit/>
          </a:bodyPr>
          <a:lstStyle/>
          <a:p>
            <a:r>
              <a:rPr lang="en-US" dirty="0" err="1"/>
              <a:t>RecSys</a:t>
            </a:r>
            <a:r>
              <a:rPr lang="en-US" dirty="0"/>
              <a:t> 3 – Matrix Decomposition </a:t>
            </a:r>
          </a:p>
        </p:txBody>
      </p:sp>
      <p:sp>
        <p:nvSpPr>
          <p:cNvPr id="7" name="TextBox 6">
            <a:extLst>
              <a:ext uri="{FF2B5EF4-FFF2-40B4-BE49-F238E27FC236}">
                <a16:creationId xmlns:a16="http://schemas.microsoft.com/office/drawing/2014/main" id="{7BCC9278-8924-F1C2-AF61-E7DF470FD2F3}"/>
              </a:ext>
            </a:extLst>
          </p:cNvPr>
          <p:cNvSpPr txBox="1"/>
          <p:nvPr/>
        </p:nvSpPr>
        <p:spPr>
          <a:xfrm>
            <a:off x="4090737" y="6245225"/>
            <a:ext cx="2694584" cy="400110"/>
          </a:xfrm>
          <a:prstGeom prst="rect">
            <a:avLst/>
          </a:prstGeom>
          <a:no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Why is this relevant….</a:t>
            </a:r>
          </a:p>
        </p:txBody>
      </p:sp>
      <p:pic>
        <p:nvPicPr>
          <p:cNvPr id="6" name="Picture 5" descr="A diagram of a bunch of numbers&#10;&#10;AI-generated content may be incorrect.">
            <a:extLst>
              <a:ext uri="{FF2B5EF4-FFF2-40B4-BE49-F238E27FC236}">
                <a16:creationId xmlns:a16="http://schemas.microsoft.com/office/drawing/2014/main" id="{B36E9DDE-B683-7C00-7242-A0CBADC916C5}"/>
              </a:ext>
            </a:extLst>
          </p:cNvPr>
          <p:cNvPicPr>
            <a:picLocks noChangeAspect="1"/>
          </p:cNvPicPr>
          <p:nvPr/>
        </p:nvPicPr>
        <p:blipFill>
          <a:blip r:embed="rId3"/>
          <a:stretch>
            <a:fillRect/>
          </a:stretch>
        </p:blipFill>
        <p:spPr>
          <a:xfrm>
            <a:off x="0" y="1214224"/>
            <a:ext cx="8443765" cy="4898571"/>
          </a:xfrm>
          <a:prstGeom prst="rect">
            <a:avLst/>
          </a:prstGeom>
        </p:spPr>
      </p:pic>
      <p:sp>
        <p:nvSpPr>
          <p:cNvPr id="8" name="TextBox 7">
            <a:extLst>
              <a:ext uri="{FF2B5EF4-FFF2-40B4-BE49-F238E27FC236}">
                <a16:creationId xmlns:a16="http://schemas.microsoft.com/office/drawing/2014/main" id="{DF24D0D3-59FD-A421-DEDE-AA97C8BC0CC6}"/>
              </a:ext>
            </a:extLst>
          </p:cNvPr>
          <p:cNvSpPr txBox="1"/>
          <p:nvPr/>
        </p:nvSpPr>
        <p:spPr>
          <a:xfrm>
            <a:off x="0" y="6538912"/>
            <a:ext cx="3267241" cy="338554"/>
          </a:xfrm>
          <a:prstGeom prst="rect">
            <a:avLst/>
          </a:prstGeom>
          <a:solidFill>
            <a:schemeClr val="bg2"/>
          </a:solidFill>
        </p:spPr>
        <p:txBody>
          <a:bodyPr wrap="none" rtlCol="0">
            <a:spAutoFit/>
          </a:bodyPr>
          <a:lstStyle/>
          <a:p>
            <a:pPr algn="l"/>
            <a:r>
              <a:rPr lang="en-US" sz="1600" dirty="0">
                <a:latin typeface="Montserrat" pitchFamily="2" charset="77"/>
              </a:rPr>
              <a:t>Image from Jeff Howbert, UW</a:t>
            </a:r>
          </a:p>
        </p:txBody>
      </p:sp>
    </p:spTree>
    <p:extLst>
      <p:ext uri="{BB962C8B-B14F-4D97-AF65-F5344CB8AC3E}">
        <p14:creationId xmlns:p14="http://schemas.microsoft.com/office/powerpoint/2010/main" val="1731577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026">
            <a:extLst>
              <a:ext uri="{FF2B5EF4-FFF2-40B4-BE49-F238E27FC236}">
                <a16:creationId xmlns:a16="http://schemas.microsoft.com/office/drawing/2014/main" id="{EE9EA909-0EE1-8D36-4636-2183FC1D57F6}"/>
              </a:ext>
            </a:extLst>
          </p:cNvPr>
          <p:cNvSpPr>
            <a:spLocks noGrp="1" noChangeArrowheads="1"/>
          </p:cNvSpPr>
          <p:nvPr>
            <p:ph type="title"/>
          </p:nvPr>
        </p:nvSpPr>
        <p:spPr>
          <a:xfrm>
            <a:off x="119743" y="21977"/>
            <a:ext cx="10515600" cy="736588"/>
          </a:xfrm>
        </p:spPr>
        <p:txBody>
          <a:bodyPr>
            <a:normAutofit fontScale="90000"/>
          </a:bodyPr>
          <a:lstStyle/>
          <a:p>
            <a:r>
              <a:rPr lang="en-US" altLang="en-US" dirty="0" err="1">
                <a:ea typeface="ＭＳ Ｐゴシック" panose="020B0600070205080204" pitchFamily="34" charset="-128"/>
              </a:rPr>
              <a:t>RecSys</a:t>
            </a:r>
            <a:r>
              <a:rPr lang="en-US" altLang="en-US" dirty="0">
                <a:ea typeface="ＭＳ Ｐゴシック" panose="020B0600070205080204" pitchFamily="34" charset="-128"/>
              </a:rPr>
              <a:t> 3:  Matrix Decomposition - SVD</a:t>
            </a:r>
          </a:p>
        </p:txBody>
      </p:sp>
      <p:sp>
        <p:nvSpPr>
          <p:cNvPr id="52408" name="Text Box 1207">
            <a:extLst>
              <a:ext uri="{FF2B5EF4-FFF2-40B4-BE49-F238E27FC236}">
                <a16:creationId xmlns:a16="http://schemas.microsoft.com/office/drawing/2014/main" id="{AEB383AD-F416-46E3-FC39-5EFCA50C1CA7}"/>
              </a:ext>
            </a:extLst>
          </p:cNvPr>
          <p:cNvSpPr txBox="1">
            <a:spLocks noChangeArrowheads="1"/>
          </p:cNvSpPr>
          <p:nvPr/>
        </p:nvSpPr>
        <p:spPr bwMode="auto">
          <a:xfrm>
            <a:off x="1952110" y="3803851"/>
            <a:ext cx="468923" cy="54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rtl="1" eaLnBrk="1" hangingPunct="1">
              <a:spcBef>
                <a:spcPct val="50000"/>
              </a:spcBef>
              <a:buNone/>
            </a:pPr>
            <a:r>
              <a:rPr lang="en-US" altLang="en-US" sz="2954" dirty="0">
                <a:latin typeface="Arial" panose="020B0604020202020204" pitchFamily="34" charset="0"/>
                <a:cs typeface="Arial" panose="020B0604020202020204" pitchFamily="34" charset="0"/>
              </a:rPr>
              <a:t>~</a:t>
            </a:r>
          </a:p>
        </p:txBody>
      </p:sp>
      <p:sp>
        <p:nvSpPr>
          <p:cNvPr id="52415" name="TextBox 22">
            <a:extLst>
              <a:ext uri="{FF2B5EF4-FFF2-40B4-BE49-F238E27FC236}">
                <a16:creationId xmlns:a16="http://schemas.microsoft.com/office/drawing/2014/main" id="{28386AEF-3817-50C1-5DEC-3EB8B2C42AB5}"/>
              </a:ext>
            </a:extLst>
          </p:cNvPr>
          <p:cNvSpPr txBox="1">
            <a:spLocks noChangeArrowheads="1"/>
          </p:cNvSpPr>
          <p:nvPr/>
        </p:nvSpPr>
        <p:spPr bwMode="auto">
          <a:xfrm>
            <a:off x="2081245" y="1048696"/>
            <a:ext cx="1899138" cy="923330"/>
          </a:xfrm>
          <a:prstGeom prst="rect">
            <a:avLst/>
          </a:prstGeom>
          <a:solidFill>
            <a:schemeClr val="accent5">
              <a:lumMod val="20000"/>
              <a:lumOff val="80000"/>
            </a:schemeClr>
          </a:solidFill>
        </p:spPr>
        <p:txBody>
          <a:bodyPr wrap="square" rtlCol="0">
            <a:spAutoFit/>
          </a:bodyPr>
          <a:lstStyle>
            <a:defPPr>
              <a:defRPr lang="en-US"/>
            </a:defPPr>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r>
              <a:rPr lang="en-US" altLang="en-US" dirty="0"/>
              <a:t>Example with 3 latent factors (concepts)</a:t>
            </a:r>
          </a:p>
        </p:txBody>
      </p:sp>
      <p:sp>
        <p:nvSpPr>
          <p:cNvPr id="52416" name="TextBox 18">
            <a:extLst>
              <a:ext uri="{FF2B5EF4-FFF2-40B4-BE49-F238E27FC236}">
                <a16:creationId xmlns:a16="http://schemas.microsoft.com/office/drawing/2014/main" id="{03B7D867-90D5-77E6-7382-1251C36A79F0}"/>
              </a:ext>
            </a:extLst>
          </p:cNvPr>
          <p:cNvSpPr txBox="1">
            <a:spLocks noChangeArrowheads="1"/>
          </p:cNvSpPr>
          <p:nvPr/>
        </p:nvSpPr>
        <p:spPr bwMode="auto">
          <a:xfrm>
            <a:off x="7362627" y="6391641"/>
            <a:ext cx="2254386" cy="338554"/>
          </a:xfrm>
          <a:prstGeom prst="rect">
            <a:avLst/>
          </a:prstGeom>
          <a:solidFill>
            <a:schemeClr val="accent5">
              <a:lumMod val="20000"/>
              <a:lumOff val="80000"/>
            </a:schemeClr>
          </a:solidFill>
        </p:spPr>
        <p:txBody>
          <a:bodyPr wrap="square" rtlCol="0">
            <a:spAutoFit/>
          </a:bodyPr>
          <a:lstStyle>
            <a:defPPr>
              <a:defRPr lang="en-US"/>
            </a:defPPr>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marL="285750" indent="-285750">
              <a:buFont typeface="Arial" panose="020B0604020202020204" pitchFamily="34" charset="0"/>
              <a:buChar char="•"/>
            </a:pPr>
            <a:r>
              <a:rPr lang="en-US" altLang="en-US" sz="1600" dirty="0"/>
              <a:t>See ISL 12.3</a:t>
            </a:r>
          </a:p>
        </p:txBody>
      </p:sp>
      <p:pic>
        <p:nvPicPr>
          <p:cNvPr id="8" name="Picture 7" descr="A screenshot of a graph&#10;&#10;AI-generated content may be incorrect.">
            <a:extLst>
              <a:ext uri="{FF2B5EF4-FFF2-40B4-BE49-F238E27FC236}">
                <a16:creationId xmlns:a16="http://schemas.microsoft.com/office/drawing/2014/main" id="{2AD0BED3-1ACD-6D0B-80DD-2D6327C03747}"/>
              </a:ext>
            </a:extLst>
          </p:cNvPr>
          <p:cNvPicPr>
            <a:picLocks noChangeAspect="1"/>
          </p:cNvPicPr>
          <p:nvPr/>
        </p:nvPicPr>
        <p:blipFill>
          <a:blip r:embed="rId3"/>
          <a:stretch>
            <a:fillRect/>
          </a:stretch>
        </p:blipFill>
        <p:spPr>
          <a:xfrm>
            <a:off x="235136" y="758565"/>
            <a:ext cx="8823735" cy="4923778"/>
          </a:xfrm>
          <a:prstGeom prst="rect">
            <a:avLst/>
          </a:prstGeom>
        </p:spPr>
      </p:pic>
      <p:sp>
        <p:nvSpPr>
          <p:cNvPr id="2" name="TextBox 18">
            <a:extLst>
              <a:ext uri="{FF2B5EF4-FFF2-40B4-BE49-F238E27FC236}">
                <a16:creationId xmlns:a16="http://schemas.microsoft.com/office/drawing/2014/main" id="{1EBFF8CE-EACA-183B-F103-44B53B490A9D}"/>
              </a:ext>
            </a:extLst>
          </p:cNvPr>
          <p:cNvSpPr txBox="1">
            <a:spLocks noChangeArrowheads="1"/>
          </p:cNvSpPr>
          <p:nvPr/>
        </p:nvSpPr>
        <p:spPr bwMode="auto">
          <a:xfrm>
            <a:off x="5457715" y="4830189"/>
            <a:ext cx="5970935" cy="1569660"/>
          </a:xfrm>
          <a:prstGeom prst="rect">
            <a:avLst/>
          </a:prstGeom>
          <a:solidFill>
            <a:schemeClr val="accent5">
              <a:lumMod val="20000"/>
              <a:lumOff val="80000"/>
            </a:schemeClr>
          </a:solidFill>
        </p:spPr>
        <p:txBody>
          <a:bodyPr wrap="square" rtlCol="0">
            <a:spAutoFit/>
          </a:bodyPr>
          <a:lstStyle>
            <a:defPPr>
              <a:defRPr lang="en-US"/>
            </a:defPPr>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marL="285750" indent="-285750">
              <a:buFont typeface="Arial" panose="020B0604020202020204" pitchFamily="34" charset="0"/>
              <a:buChar char="•"/>
            </a:pPr>
            <a:r>
              <a:rPr lang="en-US" sz="1600" dirty="0"/>
              <a:t>Multiplying the component matrices together reconstructs the original matrix, and fills in the holes (aka predictions!)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users and the content are now described by </a:t>
            </a:r>
            <a:r>
              <a:rPr lang="en-US" sz="1600" i="1" dirty="0"/>
              <a:t>latent factors </a:t>
            </a:r>
            <a:r>
              <a:rPr lang="en-US" sz="1600" dirty="0"/>
              <a:t>– hidden traits that describe the characteristics of movies </a:t>
            </a:r>
          </a:p>
        </p:txBody>
      </p:sp>
      <p:sp>
        <p:nvSpPr>
          <p:cNvPr id="3" name="TextBox 2">
            <a:extLst>
              <a:ext uri="{FF2B5EF4-FFF2-40B4-BE49-F238E27FC236}">
                <a16:creationId xmlns:a16="http://schemas.microsoft.com/office/drawing/2014/main" id="{E12F8ADD-AC0C-EACE-9ACA-A94C54F4C72C}"/>
              </a:ext>
            </a:extLst>
          </p:cNvPr>
          <p:cNvSpPr txBox="1"/>
          <p:nvPr/>
        </p:nvSpPr>
        <p:spPr>
          <a:xfrm>
            <a:off x="0" y="6538912"/>
            <a:ext cx="3267241" cy="338554"/>
          </a:xfrm>
          <a:prstGeom prst="rect">
            <a:avLst/>
          </a:prstGeom>
          <a:solidFill>
            <a:schemeClr val="bg2"/>
          </a:solidFill>
        </p:spPr>
        <p:txBody>
          <a:bodyPr wrap="none" rtlCol="0">
            <a:spAutoFit/>
          </a:bodyPr>
          <a:lstStyle/>
          <a:p>
            <a:pPr algn="l"/>
            <a:r>
              <a:rPr lang="en-US" sz="1600" dirty="0">
                <a:latin typeface="Montserrat" pitchFamily="2" charset="77"/>
              </a:rPr>
              <a:t>Image from Jeff Howbert, UW</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16" grpId="0" animBg="1"/>
      <p:bldP spid="2"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2">
            <a:extLst>
              <a:ext uri="{FF2B5EF4-FFF2-40B4-BE49-F238E27FC236}">
                <a16:creationId xmlns:a16="http://schemas.microsoft.com/office/drawing/2014/main" id="{51D93AF5-2FA8-4142-2EE7-3EEA4CFBE3D3}"/>
              </a:ext>
            </a:extLst>
          </p:cNvPr>
          <p:cNvSpPr txBox="1">
            <a:spLocks noChangeArrowheads="1"/>
          </p:cNvSpPr>
          <p:nvPr/>
        </p:nvSpPr>
        <p:spPr bwMode="auto">
          <a:xfrm>
            <a:off x="2630366" y="3779228"/>
            <a:ext cx="284052"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endParaRPr lang="en-GB" altLang="en-US" sz="2215">
              <a:cs typeface="Arial" panose="020B0604020202020204" pitchFamily="34" charset="0"/>
            </a:endParaRPr>
          </a:p>
        </p:txBody>
      </p:sp>
      <p:sp>
        <p:nvSpPr>
          <p:cNvPr id="50205" name="Line 4">
            <a:extLst>
              <a:ext uri="{FF2B5EF4-FFF2-40B4-BE49-F238E27FC236}">
                <a16:creationId xmlns:a16="http://schemas.microsoft.com/office/drawing/2014/main" id="{3021DD22-833D-44F2-AEF7-20F2BA9F0E5A}"/>
              </a:ext>
            </a:extLst>
          </p:cNvPr>
          <p:cNvSpPr>
            <a:spLocks noChangeShapeType="1"/>
          </p:cNvSpPr>
          <p:nvPr/>
        </p:nvSpPr>
        <p:spPr bwMode="auto">
          <a:xfrm>
            <a:off x="2934939" y="3708887"/>
            <a:ext cx="6172289"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sz="2954"/>
          </a:p>
        </p:txBody>
      </p:sp>
      <p:sp>
        <p:nvSpPr>
          <p:cNvPr id="50206" name="Text Box 5">
            <a:extLst>
              <a:ext uri="{FF2B5EF4-FFF2-40B4-BE49-F238E27FC236}">
                <a16:creationId xmlns:a16="http://schemas.microsoft.com/office/drawing/2014/main" id="{3C5B7B49-C2F0-F2E4-1915-2FD16559047F}"/>
              </a:ext>
            </a:extLst>
          </p:cNvPr>
          <p:cNvSpPr txBox="1">
            <a:spLocks noChangeArrowheads="1"/>
          </p:cNvSpPr>
          <p:nvPr/>
        </p:nvSpPr>
        <p:spPr bwMode="auto">
          <a:xfrm>
            <a:off x="1852247" y="3329354"/>
            <a:ext cx="1363682" cy="85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buNone/>
            </a:pPr>
            <a:r>
              <a:rPr lang="en-US" altLang="en-US" sz="1662" b="1" dirty="0">
                <a:latin typeface="Arial" panose="020B0604020202020204" pitchFamily="34" charset="0"/>
                <a:cs typeface="Arial" panose="020B0604020202020204" pitchFamily="34" charset="0"/>
              </a:rPr>
              <a:t>Geared towards females</a:t>
            </a:r>
          </a:p>
        </p:txBody>
      </p:sp>
      <p:sp>
        <p:nvSpPr>
          <p:cNvPr id="50207" name="Text Box 6">
            <a:extLst>
              <a:ext uri="{FF2B5EF4-FFF2-40B4-BE49-F238E27FC236}">
                <a16:creationId xmlns:a16="http://schemas.microsoft.com/office/drawing/2014/main" id="{02EC2556-7E64-820A-479D-121DA84C6A03}"/>
              </a:ext>
            </a:extLst>
          </p:cNvPr>
          <p:cNvSpPr txBox="1">
            <a:spLocks noChangeArrowheads="1"/>
          </p:cNvSpPr>
          <p:nvPr/>
        </p:nvSpPr>
        <p:spPr bwMode="auto">
          <a:xfrm>
            <a:off x="8953238" y="3295650"/>
            <a:ext cx="1355745" cy="85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b="1" dirty="0">
                <a:latin typeface="Arial" panose="020B0604020202020204" pitchFamily="34" charset="0"/>
                <a:cs typeface="Arial" panose="020B0604020202020204" pitchFamily="34" charset="0"/>
              </a:rPr>
              <a:t>Geared towards males</a:t>
            </a:r>
          </a:p>
        </p:txBody>
      </p:sp>
      <p:sp>
        <p:nvSpPr>
          <p:cNvPr id="50202" name="Line 8">
            <a:extLst>
              <a:ext uri="{FF2B5EF4-FFF2-40B4-BE49-F238E27FC236}">
                <a16:creationId xmlns:a16="http://schemas.microsoft.com/office/drawing/2014/main" id="{BAAB5108-A20C-66F6-826C-199C6446B04A}"/>
              </a:ext>
            </a:extLst>
          </p:cNvPr>
          <p:cNvSpPr>
            <a:spLocks noChangeShapeType="1"/>
          </p:cNvSpPr>
          <p:nvPr/>
        </p:nvSpPr>
        <p:spPr bwMode="auto">
          <a:xfrm>
            <a:off x="6135838" y="1317381"/>
            <a:ext cx="0" cy="464233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sz="2954"/>
          </a:p>
        </p:txBody>
      </p:sp>
      <p:sp>
        <p:nvSpPr>
          <p:cNvPr id="50203" name="Text Box 9">
            <a:extLst>
              <a:ext uri="{FF2B5EF4-FFF2-40B4-BE49-F238E27FC236}">
                <a16:creationId xmlns:a16="http://schemas.microsoft.com/office/drawing/2014/main" id="{456F7E70-A4AA-B3BE-2B27-3CFD4CA7D10D}"/>
              </a:ext>
            </a:extLst>
          </p:cNvPr>
          <p:cNvSpPr txBox="1">
            <a:spLocks noChangeArrowheads="1"/>
          </p:cNvSpPr>
          <p:nvPr/>
        </p:nvSpPr>
        <p:spPr bwMode="auto">
          <a:xfrm>
            <a:off x="5628384" y="965690"/>
            <a:ext cx="943549" cy="34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buNone/>
            </a:pPr>
            <a:r>
              <a:rPr lang="en-US" altLang="en-US" sz="1662" b="1" dirty="0">
                <a:latin typeface="Arial" panose="020B0604020202020204" pitchFamily="34" charset="0"/>
                <a:cs typeface="Arial" panose="020B0604020202020204" pitchFamily="34" charset="0"/>
              </a:rPr>
              <a:t>serious</a:t>
            </a:r>
            <a:endParaRPr lang="en-US" altLang="en-US" sz="1662" dirty="0">
              <a:latin typeface="Arial" panose="020B0604020202020204" pitchFamily="34" charset="0"/>
              <a:cs typeface="Arial" panose="020B0604020202020204" pitchFamily="34" charset="0"/>
            </a:endParaRPr>
          </a:p>
        </p:txBody>
      </p:sp>
      <p:sp>
        <p:nvSpPr>
          <p:cNvPr id="50204" name="Text Box 10">
            <a:extLst>
              <a:ext uri="{FF2B5EF4-FFF2-40B4-BE49-F238E27FC236}">
                <a16:creationId xmlns:a16="http://schemas.microsoft.com/office/drawing/2014/main" id="{B45BCBD2-0A43-9BA7-9BE9-92370E6C185F}"/>
              </a:ext>
            </a:extLst>
          </p:cNvPr>
          <p:cNvSpPr txBox="1">
            <a:spLocks noChangeArrowheads="1"/>
          </p:cNvSpPr>
          <p:nvPr/>
        </p:nvSpPr>
        <p:spPr bwMode="auto">
          <a:xfrm>
            <a:off x="5591911" y="6030059"/>
            <a:ext cx="1037111" cy="34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buNone/>
            </a:pPr>
            <a:r>
              <a:rPr lang="en-US" altLang="en-US" sz="1662" b="1" dirty="0">
                <a:latin typeface="Arial" panose="020B0604020202020204" pitchFamily="34" charset="0"/>
                <a:cs typeface="Arial" panose="020B0604020202020204" pitchFamily="34" charset="0"/>
              </a:rPr>
              <a:t>escapist</a:t>
            </a:r>
          </a:p>
        </p:txBody>
      </p:sp>
      <p:sp>
        <p:nvSpPr>
          <p:cNvPr id="61451" name="Text Box 11">
            <a:extLst>
              <a:ext uri="{FF2B5EF4-FFF2-40B4-BE49-F238E27FC236}">
                <a16:creationId xmlns:a16="http://schemas.microsoft.com/office/drawing/2014/main" id="{666C60B0-1797-F91E-F6E8-6213CC50DD78}"/>
              </a:ext>
            </a:extLst>
          </p:cNvPr>
          <p:cNvSpPr txBox="1">
            <a:spLocks noChangeArrowheads="1"/>
          </p:cNvSpPr>
          <p:nvPr/>
        </p:nvSpPr>
        <p:spPr bwMode="auto">
          <a:xfrm>
            <a:off x="2640623" y="5156691"/>
            <a:ext cx="1799492" cy="603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The Princess Diaries</a:t>
            </a:r>
          </a:p>
        </p:txBody>
      </p:sp>
      <p:sp>
        <p:nvSpPr>
          <p:cNvPr id="61452" name="Text Box 12">
            <a:extLst>
              <a:ext uri="{FF2B5EF4-FFF2-40B4-BE49-F238E27FC236}">
                <a16:creationId xmlns:a16="http://schemas.microsoft.com/office/drawing/2014/main" id="{FA92D9B5-6D42-5AA1-C6F0-4980C902CB24}"/>
              </a:ext>
            </a:extLst>
          </p:cNvPr>
          <p:cNvSpPr txBox="1">
            <a:spLocks noChangeArrowheads="1"/>
          </p:cNvSpPr>
          <p:nvPr/>
        </p:nvSpPr>
        <p:spPr bwMode="auto">
          <a:xfrm>
            <a:off x="4572000" y="4273063"/>
            <a:ext cx="1767254" cy="3481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The Lion King</a:t>
            </a:r>
          </a:p>
        </p:txBody>
      </p:sp>
      <p:sp>
        <p:nvSpPr>
          <p:cNvPr id="61453" name="Text Box 13">
            <a:extLst>
              <a:ext uri="{FF2B5EF4-FFF2-40B4-BE49-F238E27FC236}">
                <a16:creationId xmlns:a16="http://schemas.microsoft.com/office/drawing/2014/main" id="{4FDAA91D-10CD-BD14-148B-5C3415EBD4DC}"/>
              </a:ext>
            </a:extLst>
          </p:cNvPr>
          <p:cNvSpPr txBox="1">
            <a:spLocks noChangeArrowheads="1"/>
          </p:cNvSpPr>
          <p:nvPr/>
        </p:nvSpPr>
        <p:spPr bwMode="auto">
          <a:xfrm>
            <a:off x="7202366" y="1387721"/>
            <a:ext cx="1462454"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Braveheart</a:t>
            </a:r>
          </a:p>
        </p:txBody>
      </p:sp>
      <p:sp>
        <p:nvSpPr>
          <p:cNvPr id="61454" name="Text Box 14">
            <a:extLst>
              <a:ext uri="{FF2B5EF4-FFF2-40B4-BE49-F238E27FC236}">
                <a16:creationId xmlns:a16="http://schemas.microsoft.com/office/drawing/2014/main" id="{E1612048-C81F-2AE7-C250-E51CBA751511}"/>
              </a:ext>
            </a:extLst>
          </p:cNvPr>
          <p:cNvSpPr txBox="1">
            <a:spLocks noChangeArrowheads="1"/>
          </p:cNvSpPr>
          <p:nvPr/>
        </p:nvSpPr>
        <p:spPr bwMode="auto">
          <a:xfrm>
            <a:off x="7501304" y="2863363"/>
            <a:ext cx="1729154"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Lethal Weapon</a:t>
            </a:r>
          </a:p>
        </p:txBody>
      </p:sp>
      <p:sp>
        <p:nvSpPr>
          <p:cNvPr id="61455" name="Text Box 15">
            <a:extLst>
              <a:ext uri="{FF2B5EF4-FFF2-40B4-BE49-F238E27FC236}">
                <a16:creationId xmlns:a16="http://schemas.microsoft.com/office/drawing/2014/main" id="{3C6F1A50-FF4B-82E2-A4F2-44CAFF4FE097}"/>
              </a:ext>
            </a:extLst>
          </p:cNvPr>
          <p:cNvSpPr txBox="1">
            <a:spLocks noChangeArrowheads="1"/>
          </p:cNvSpPr>
          <p:nvPr/>
        </p:nvSpPr>
        <p:spPr bwMode="auto">
          <a:xfrm>
            <a:off x="6096002" y="4976448"/>
            <a:ext cx="1749669" cy="603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Independence Day</a:t>
            </a:r>
          </a:p>
        </p:txBody>
      </p:sp>
      <p:sp>
        <p:nvSpPr>
          <p:cNvPr id="61456" name="Text Box 16">
            <a:extLst>
              <a:ext uri="{FF2B5EF4-FFF2-40B4-BE49-F238E27FC236}">
                <a16:creationId xmlns:a16="http://schemas.microsoft.com/office/drawing/2014/main" id="{57A6A226-515F-C9D2-19D8-1CC38076005F}"/>
              </a:ext>
            </a:extLst>
          </p:cNvPr>
          <p:cNvSpPr txBox="1">
            <a:spLocks noChangeArrowheads="1"/>
          </p:cNvSpPr>
          <p:nvPr/>
        </p:nvSpPr>
        <p:spPr bwMode="auto">
          <a:xfrm>
            <a:off x="5221166" y="1669075"/>
            <a:ext cx="1462454" cy="3481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Amadeus</a:t>
            </a:r>
          </a:p>
        </p:txBody>
      </p:sp>
      <p:sp>
        <p:nvSpPr>
          <p:cNvPr id="61457" name="Text Box 17">
            <a:extLst>
              <a:ext uri="{FF2B5EF4-FFF2-40B4-BE49-F238E27FC236}">
                <a16:creationId xmlns:a16="http://schemas.microsoft.com/office/drawing/2014/main" id="{31B7FCFB-51C4-5C06-99AE-BDFAB71C6FEC}"/>
              </a:ext>
            </a:extLst>
          </p:cNvPr>
          <p:cNvSpPr txBox="1">
            <a:spLocks noChangeArrowheads="1"/>
          </p:cNvSpPr>
          <p:nvPr/>
        </p:nvSpPr>
        <p:spPr bwMode="auto">
          <a:xfrm>
            <a:off x="2935166" y="1567963"/>
            <a:ext cx="1462454" cy="603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The Color Purple</a:t>
            </a:r>
          </a:p>
        </p:txBody>
      </p:sp>
      <p:sp>
        <p:nvSpPr>
          <p:cNvPr id="61458" name="Text Box 18">
            <a:extLst>
              <a:ext uri="{FF2B5EF4-FFF2-40B4-BE49-F238E27FC236}">
                <a16:creationId xmlns:a16="http://schemas.microsoft.com/office/drawing/2014/main" id="{7B656CC9-04F6-AD04-F680-3007457DFE55}"/>
              </a:ext>
            </a:extLst>
          </p:cNvPr>
          <p:cNvSpPr txBox="1">
            <a:spLocks noChangeArrowheads="1"/>
          </p:cNvSpPr>
          <p:nvPr/>
        </p:nvSpPr>
        <p:spPr bwMode="auto">
          <a:xfrm>
            <a:off x="8229600" y="5187463"/>
            <a:ext cx="1462454" cy="603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Dumb and Dumber</a:t>
            </a:r>
          </a:p>
        </p:txBody>
      </p:sp>
      <p:pic>
        <p:nvPicPr>
          <p:cNvPr id="61459" name="Picture 19" descr="girl-3-128x128">
            <a:extLst>
              <a:ext uri="{FF2B5EF4-FFF2-40B4-BE49-F238E27FC236}">
                <a16:creationId xmlns:a16="http://schemas.microsoft.com/office/drawing/2014/main" id="{98E13DE6-407A-6FC0-5F14-9F5B68B41D3F}"/>
              </a:ext>
            </a:extLst>
          </p:cNvPr>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30212" y="1868367"/>
            <a:ext cx="575896" cy="53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0" name="Picture 20" descr="boy_icon">
            <a:extLst>
              <a:ext uri="{FF2B5EF4-FFF2-40B4-BE49-F238E27FC236}">
                <a16:creationId xmlns:a16="http://schemas.microsoft.com/office/drawing/2014/main" id="{82E04547-DCF9-CC2E-2337-031AADF8DE79}"/>
              </a:ext>
            </a:extLst>
          </p:cNvPr>
          <p:cNvPicPr>
            <a:picLocks noChangeAspect="1" noChangeArrowheads="1"/>
          </p:cNvPicPr>
          <p:nvPr/>
        </p:nvPicPr>
        <p:blipFill>
          <a:blip r:embed="rId5">
            <a:clrChange>
              <a:clrFrom>
                <a:srgbClr val="FEFEFC"/>
              </a:clrFrom>
              <a:clrTo>
                <a:srgbClr val="FEFEFC">
                  <a:alpha val="0"/>
                </a:srgbClr>
              </a:clrTo>
            </a:clrChange>
            <a:extLst>
              <a:ext uri="{28A0092B-C50C-407E-A947-70E740481C1C}">
                <a14:useLocalDpi xmlns:a14="http://schemas.microsoft.com/office/drawing/2010/main" val="0"/>
              </a:ext>
            </a:extLst>
          </a:blip>
          <a:srcRect/>
          <a:stretch>
            <a:fillRect/>
          </a:stretch>
        </p:blipFill>
        <p:spPr bwMode="auto">
          <a:xfrm>
            <a:off x="4608635" y="2794490"/>
            <a:ext cx="514350" cy="474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1" name="Picture 21" descr="boy-icon">
            <a:extLst>
              <a:ext uri="{FF2B5EF4-FFF2-40B4-BE49-F238E27FC236}">
                <a16:creationId xmlns:a16="http://schemas.microsoft.com/office/drawing/2014/main" id="{A96746A7-5782-8F0E-C754-106720021B0D}"/>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9445" r="21249" b="1563"/>
          <a:stretch>
            <a:fillRect/>
          </a:stretch>
        </p:blipFill>
        <p:spPr bwMode="auto">
          <a:xfrm>
            <a:off x="7620001" y="4132385"/>
            <a:ext cx="669681" cy="70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2" name="Picture 22" descr="drew%20final">
            <a:extLst>
              <a:ext uri="{FF2B5EF4-FFF2-40B4-BE49-F238E27FC236}">
                <a16:creationId xmlns:a16="http://schemas.microsoft.com/office/drawing/2014/main" id="{F940424A-70BF-3F69-2BFE-AE2817E1E11C}"/>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20271" r="21230" b="278"/>
          <a:stretch>
            <a:fillRect/>
          </a:stretch>
        </p:blipFill>
        <p:spPr bwMode="auto">
          <a:xfrm>
            <a:off x="6553201" y="3991708"/>
            <a:ext cx="499697" cy="562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3" name="Picture 23" descr="istockphoto_1239124_girl_icon_design">
            <a:extLst>
              <a:ext uri="{FF2B5EF4-FFF2-40B4-BE49-F238E27FC236}">
                <a16:creationId xmlns:a16="http://schemas.microsoft.com/office/drawing/2014/main" id="{87E31CF2-AE49-2F72-383D-B319AB5952D6}"/>
              </a:ext>
            </a:extLst>
          </p:cNvPr>
          <p:cNvPicPr>
            <a:picLocks noChangeAspect="1" noChangeArrowheads="1"/>
          </p:cNvPicPr>
          <p:nvPr/>
        </p:nvPicPr>
        <p:blipFill>
          <a:blip r:embed="rId8">
            <a:clrChange>
              <a:clrFrom>
                <a:srgbClr val="F39501"/>
              </a:clrFrom>
              <a:clrTo>
                <a:srgbClr val="F39501">
                  <a:alpha val="0"/>
                </a:srgbClr>
              </a:clrTo>
            </a:clrChange>
            <a:extLst>
              <a:ext uri="{28A0092B-C50C-407E-A947-70E740481C1C}">
                <a14:useLocalDpi xmlns:a14="http://schemas.microsoft.com/office/drawing/2010/main" val="0"/>
              </a:ext>
            </a:extLst>
          </a:blip>
          <a:srcRect/>
          <a:stretch>
            <a:fillRect/>
          </a:stretch>
        </p:blipFill>
        <p:spPr bwMode="auto">
          <a:xfrm>
            <a:off x="3464170" y="4160227"/>
            <a:ext cx="575897" cy="562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4" name="Picture 24" descr="boy-1-128x128">
            <a:extLst>
              <a:ext uri="{FF2B5EF4-FFF2-40B4-BE49-F238E27FC236}">
                <a16:creationId xmlns:a16="http://schemas.microsoft.com/office/drawing/2014/main" id="{9A3CEB9C-54F4-DE91-DFB9-05885FDC5E12}"/>
              </a:ext>
            </a:extLst>
          </p:cNvPr>
          <p:cNvPicPr>
            <a:picLocks noChangeAspect="1" noChangeArrowheads="1"/>
          </p:cNvPicPr>
          <p:nvPr/>
        </p:nvPicPr>
        <p:blipFill>
          <a:blip r:embed="rId9">
            <a:clrChange>
              <a:clrFrom>
                <a:srgbClr val="000000"/>
              </a:clrFrom>
              <a:clrTo>
                <a:srgbClr val="000000">
                  <a:alpha val="0"/>
                </a:srgbClr>
              </a:clrTo>
            </a:clrChange>
            <a:extLst>
              <a:ext uri="{28A0092B-C50C-407E-A947-70E740481C1C}">
                <a14:useLocalDpi xmlns:a14="http://schemas.microsoft.com/office/drawing/2010/main" val="0"/>
              </a:ext>
            </a:extLst>
          </a:blip>
          <a:srcRect l="11812" r="14063" b="-563"/>
          <a:stretch>
            <a:fillRect/>
          </a:stretch>
        </p:blipFill>
        <p:spPr bwMode="auto">
          <a:xfrm>
            <a:off x="8077202" y="1881554"/>
            <a:ext cx="507023" cy="6345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1465" name="Text Box 25">
            <a:extLst>
              <a:ext uri="{FF2B5EF4-FFF2-40B4-BE49-F238E27FC236}">
                <a16:creationId xmlns:a16="http://schemas.microsoft.com/office/drawing/2014/main" id="{AE8C3E97-4C75-9B62-B81E-6334B67B5DB3}"/>
              </a:ext>
            </a:extLst>
          </p:cNvPr>
          <p:cNvSpPr txBox="1">
            <a:spLocks noChangeArrowheads="1"/>
          </p:cNvSpPr>
          <p:nvPr/>
        </p:nvSpPr>
        <p:spPr bwMode="auto">
          <a:xfrm>
            <a:off x="5952393" y="3221000"/>
            <a:ext cx="1462454"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Ocean</a:t>
            </a:r>
            <a:r>
              <a:rPr lang="ja-JP" altLang="en-US" sz="1662">
                <a:solidFill>
                  <a:schemeClr val="accent2"/>
                </a:solidFill>
                <a:latin typeface="Lucida Bright" panose="02040602050505020304" pitchFamily="18" charset="77"/>
                <a:cs typeface="Arial" panose="020B0604020202020204" pitchFamily="34" charset="0"/>
              </a:rPr>
              <a:t>’</a:t>
            </a:r>
            <a:r>
              <a:rPr lang="en-US" altLang="ja-JP" sz="1662" dirty="0">
                <a:solidFill>
                  <a:schemeClr val="accent2"/>
                </a:solidFill>
                <a:latin typeface="Lucida Bright" panose="02040602050505020304" pitchFamily="18" charset="77"/>
                <a:cs typeface="Arial" panose="020B0604020202020204" pitchFamily="34" charset="0"/>
              </a:rPr>
              <a:t>s 11</a:t>
            </a:r>
            <a:endParaRPr lang="en-US" altLang="en-US" sz="1662" dirty="0">
              <a:solidFill>
                <a:schemeClr val="accent2"/>
              </a:solidFill>
              <a:latin typeface="Lucida Bright" panose="02040602050505020304" pitchFamily="18" charset="77"/>
              <a:cs typeface="Arial" panose="020B0604020202020204" pitchFamily="34" charset="0"/>
            </a:endParaRPr>
          </a:p>
        </p:txBody>
      </p:sp>
      <p:sp>
        <p:nvSpPr>
          <p:cNvPr id="61466" name="Text Box 26">
            <a:extLst>
              <a:ext uri="{FF2B5EF4-FFF2-40B4-BE49-F238E27FC236}">
                <a16:creationId xmlns:a16="http://schemas.microsoft.com/office/drawing/2014/main" id="{9D97BFC7-5048-27FF-8F75-2C80860527C2}"/>
              </a:ext>
            </a:extLst>
          </p:cNvPr>
          <p:cNvSpPr txBox="1">
            <a:spLocks noChangeArrowheads="1"/>
          </p:cNvSpPr>
          <p:nvPr/>
        </p:nvSpPr>
        <p:spPr bwMode="auto">
          <a:xfrm>
            <a:off x="3179885" y="2936632"/>
            <a:ext cx="1462454" cy="603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ctr">
              <a:buNone/>
            </a:pPr>
            <a:r>
              <a:rPr lang="en-US" altLang="en-US" sz="1662" dirty="0">
                <a:solidFill>
                  <a:schemeClr val="accent2"/>
                </a:solidFill>
                <a:latin typeface="Lucida Bright" panose="02040602050505020304" pitchFamily="18" charset="77"/>
                <a:cs typeface="Arial" panose="020B0604020202020204" pitchFamily="34" charset="0"/>
              </a:rPr>
              <a:t>Sense and Sensibility</a:t>
            </a:r>
          </a:p>
        </p:txBody>
      </p:sp>
      <p:sp>
        <p:nvSpPr>
          <p:cNvPr id="50197" name="Rectangle 28">
            <a:extLst>
              <a:ext uri="{FF2B5EF4-FFF2-40B4-BE49-F238E27FC236}">
                <a16:creationId xmlns:a16="http://schemas.microsoft.com/office/drawing/2014/main" id="{BAEB1A8B-D068-008C-00BE-649E8E010BBB}"/>
              </a:ext>
            </a:extLst>
          </p:cNvPr>
          <p:cNvSpPr>
            <a:spLocks noChangeArrowheads="1"/>
          </p:cNvSpPr>
          <p:nvPr/>
        </p:nvSpPr>
        <p:spPr bwMode="auto">
          <a:xfrm>
            <a:off x="1632438" y="263769"/>
            <a:ext cx="8229600" cy="58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47738">
              <a:defRPr sz="2400">
                <a:solidFill>
                  <a:schemeClr val="tx1"/>
                </a:solidFill>
                <a:latin typeface="Times" charset="0"/>
                <a:ea typeface="ＭＳ Ｐゴシック" panose="020B0600070205080204" pitchFamily="34" charset="-128"/>
              </a:defRPr>
            </a:lvl1pPr>
            <a:lvl2pPr marL="742950" indent="-285750" defTabSz="947738">
              <a:defRPr sz="2400">
                <a:solidFill>
                  <a:schemeClr val="tx1"/>
                </a:solidFill>
                <a:latin typeface="Times" charset="0"/>
                <a:ea typeface="ＭＳ Ｐゴシック" panose="020B0600070205080204" pitchFamily="34" charset="-128"/>
              </a:defRPr>
            </a:lvl2pPr>
            <a:lvl3pPr marL="1143000" indent="-228600" defTabSz="947738">
              <a:defRPr sz="2400">
                <a:solidFill>
                  <a:schemeClr val="tx1"/>
                </a:solidFill>
                <a:latin typeface="Times" charset="0"/>
                <a:ea typeface="ＭＳ Ｐゴシック" panose="020B0600070205080204" pitchFamily="34" charset="-128"/>
              </a:defRPr>
            </a:lvl3pPr>
            <a:lvl4pPr marL="1600200" indent="-228600" defTabSz="947738">
              <a:defRPr sz="2400">
                <a:solidFill>
                  <a:schemeClr val="tx1"/>
                </a:solidFill>
                <a:latin typeface="Times" charset="0"/>
                <a:ea typeface="ＭＳ Ｐゴシック" panose="020B0600070205080204" pitchFamily="34" charset="-128"/>
              </a:defRPr>
            </a:lvl4pPr>
            <a:lvl5pPr marL="2057400" indent="-228600" defTabSz="947738">
              <a:defRPr sz="2400">
                <a:solidFill>
                  <a:schemeClr val="tx1"/>
                </a:solidFill>
                <a:latin typeface="Times" charset="0"/>
                <a:ea typeface="ＭＳ Ｐゴシック" panose="020B0600070205080204" pitchFamily="34" charset="-128"/>
              </a:defRPr>
            </a:lvl5pPr>
            <a:lvl6pPr marL="2514600" indent="-228600" defTabSz="947738"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defTabSz="947738"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defTabSz="947738"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defTabSz="947738"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nSpc>
                <a:spcPct val="105000"/>
              </a:lnSpc>
            </a:pPr>
            <a:endParaRPr lang="en-US" altLang="en-US" sz="1846" b="1">
              <a:solidFill>
                <a:schemeClr val="accent1"/>
              </a:solidFill>
            </a:endParaRPr>
          </a:p>
        </p:txBody>
      </p:sp>
      <p:sp>
        <p:nvSpPr>
          <p:cNvPr id="50199" name="Slide Number Placeholder 30">
            <a:extLst>
              <a:ext uri="{FF2B5EF4-FFF2-40B4-BE49-F238E27FC236}">
                <a16:creationId xmlns:a16="http://schemas.microsoft.com/office/drawing/2014/main" id="{FD6D85DE-E4AD-DEEE-CA06-A2D77B912D99}"/>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pPr>
              <a:buNone/>
            </a:pPr>
            <a:fld id="{AC50A497-4585-6447-985C-E4DE72430331}" type="slidenum">
              <a:rPr lang="en-US" altLang="en-US" smtClean="0"/>
              <a:pPr>
                <a:buNone/>
              </a:pPr>
              <a:t>13</a:t>
            </a:fld>
            <a:endParaRPr lang="en-US" altLang="en-US" sz="1292" dirty="0"/>
          </a:p>
        </p:txBody>
      </p:sp>
      <p:sp>
        <p:nvSpPr>
          <p:cNvPr id="50198" name="Rectangle 29">
            <a:extLst>
              <a:ext uri="{FF2B5EF4-FFF2-40B4-BE49-F238E27FC236}">
                <a16:creationId xmlns:a16="http://schemas.microsoft.com/office/drawing/2014/main" id="{CC6B1220-0205-C4E1-E277-642750B7D313}"/>
              </a:ext>
            </a:extLst>
          </p:cNvPr>
          <p:cNvSpPr>
            <a:spLocks noGrp="1" noChangeArrowheads="1"/>
          </p:cNvSpPr>
          <p:nvPr>
            <p:ph type="title"/>
          </p:nvPr>
        </p:nvSpPr>
        <p:spPr>
          <a:xfrm>
            <a:off x="1524001" y="263770"/>
            <a:ext cx="8037635" cy="492369"/>
          </a:xfrm>
        </p:spPr>
        <p:txBody>
          <a:bodyPr/>
          <a:lstStyle/>
          <a:p>
            <a:r>
              <a:rPr lang="en-US" altLang="en-US" sz="2585" dirty="0">
                <a:ea typeface="ＭＳ Ｐゴシック" panose="020B0600070205080204" pitchFamily="34" charset="-128"/>
              </a:rPr>
              <a:t>Matrix Decomposition : Latent Factors</a:t>
            </a:r>
            <a:endParaRPr lang="en-GB" altLang="en-US" sz="2585" dirty="0">
              <a:ea typeface="ＭＳ Ｐゴシック" panose="020B0600070205080204" pitchFamily="34" charset="-128"/>
            </a:endParaRPr>
          </a:p>
        </p:txBody>
      </p:sp>
      <p:pic>
        <p:nvPicPr>
          <p:cNvPr id="2050" name="Picture 2" descr="Cartoon Face Vector Art, Icons, and Graphics for Free Download">
            <a:extLst>
              <a:ext uri="{FF2B5EF4-FFF2-40B4-BE49-F238E27FC236}">
                <a16:creationId xmlns:a16="http://schemas.microsoft.com/office/drawing/2014/main" id="{CECDC904-3077-A095-4135-689F8B3C3E2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63742" y="2473082"/>
            <a:ext cx="639885" cy="63988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51"/>
                                        </p:tgtEl>
                                        <p:attrNameLst>
                                          <p:attrName>style.visibility</p:attrName>
                                        </p:attrNameLst>
                                      </p:cBhvr>
                                      <p:to>
                                        <p:strVal val="visible"/>
                                      </p:to>
                                    </p:set>
                                    <p:animEffect transition="in" filter="dissolve">
                                      <p:cBhvr>
                                        <p:cTn id="7" dur="500"/>
                                        <p:tgtEl>
                                          <p:spTgt spid="61451"/>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1466"/>
                                        </p:tgtEl>
                                        <p:attrNameLst>
                                          <p:attrName>style.visibility</p:attrName>
                                        </p:attrNameLst>
                                      </p:cBhvr>
                                      <p:to>
                                        <p:strVal val="visible"/>
                                      </p:to>
                                    </p:set>
                                    <p:animEffect transition="in" filter="dissolve">
                                      <p:cBhvr>
                                        <p:cTn id="11" dur="500"/>
                                        <p:tgtEl>
                                          <p:spTgt spid="61466"/>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1452"/>
                                        </p:tgtEl>
                                        <p:attrNameLst>
                                          <p:attrName>style.visibility</p:attrName>
                                        </p:attrNameLst>
                                      </p:cBhvr>
                                      <p:to>
                                        <p:strVal val="visible"/>
                                      </p:to>
                                    </p:set>
                                    <p:animEffect transition="in" filter="dissolve">
                                      <p:cBhvr>
                                        <p:cTn id="15" dur="500"/>
                                        <p:tgtEl>
                                          <p:spTgt spid="61452"/>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61453"/>
                                        </p:tgtEl>
                                        <p:attrNameLst>
                                          <p:attrName>style.visibility</p:attrName>
                                        </p:attrNameLst>
                                      </p:cBhvr>
                                      <p:to>
                                        <p:strVal val="visible"/>
                                      </p:to>
                                    </p:set>
                                    <p:animEffect transition="in" filter="dissolve">
                                      <p:cBhvr>
                                        <p:cTn id="19" dur="500"/>
                                        <p:tgtEl>
                                          <p:spTgt spid="61453"/>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61454"/>
                                        </p:tgtEl>
                                        <p:attrNameLst>
                                          <p:attrName>style.visibility</p:attrName>
                                        </p:attrNameLst>
                                      </p:cBhvr>
                                      <p:to>
                                        <p:strVal val="visible"/>
                                      </p:to>
                                    </p:set>
                                    <p:animEffect transition="in" filter="dissolve">
                                      <p:cBhvr>
                                        <p:cTn id="23" dur="500"/>
                                        <p:tgtEl>
                                          <p:spTgt spid="61454"/>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61455"/>
                                        </p:tgtEl>
                                        <p:attrNameLst>
                                          <p:attrName>style.visibility</p:attrName>
                                        </p:attrNameLst>
                                      </p:cBhvr>
                                      <p:to>
                                        <p:strVal val="visible"/>
                                      </p:to>
                                    </p:set>
                                    <p:animEffect transition="in" filter="dissolve">
                                      <p:cBhvr>
                                        <p:cTn id="27" dur="500"/>
                                        <p:tgtEl>
                                          <p:spTgt spid="61455"/>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61456"/>
                                        </p:tgtEl>
                                        <p:attrNameLst>
                                          <p:attrName>style.visibility</p:attrName>
                                        </p:attrNameLst>
                                      </p:cBhvr>
                                      <p:to>
                                        <p:strVal val="visible"/>
                                      </p:to>
                                    </p:set>
                                    <p:animEffect transition="in" filter="dissolve">
                                      <p:cBhvr>
                                        <p:cTn id="31" dur="500"/>
                                        <p:tgtEl>
                                          <p:spTgt spid="61456"/>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61457"/>
                                        </p:tgtEl>
                                        <p:attrNameLst>
                                          <p:attrName>style.visibility</p:attrName>
                                        </p:attrNameLst>
                                      </p:cBhvr>
                                      <p:to>
                                        <p:strVal val="visible"/>
                                      </p:to>
                                    </p:set>
                                    <p:animEffect transition="in" filter="dissolve">
                                      <p:cBhvr>
                                        <p:cTn id="35" dur="500"/>
                                        <p:tgtEl>
                                          <p:spTgt spid="61457"/>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61458"/>
                                        </p:tgtEl>
                                        <p:attrNameLst>
                                          <p:attrName>style.visibility</p:attrName>
                                        </p:attrNameLst>
                                      </p:cBhvr>
                                      <p:to>
                                        <p:strVal val="visible"/>
                                      </p:to>
                                    </p:set>
                                    <p:animEffect transition="in" filter="dissolve">
                                      <p:cBhvr>
                                        <p:cTn id="39" dur="500"/>
                                        <p:tgtEl>
                                          <p:spTgt spid="61458"/>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61465"/>
                                        </p:tgtEl>
                                        <p:attrNameLst>
                                          <p:attrName>style.visibility</p:attrName>
                                        </p:attrNameLst>
                                      </p:cBhvr>
                                      <p:to>
                                        <p:strVal val="visible"/>
                                      </p:to>
                                    </p:set>
                                    <p:animEffect transition="in" filter="dissolve">
                                      <p:cBhvr>
                                        <p:cTn id="43" dur="500"/>
                                        <p:tgtEl>
                                          <p:spTgt spid="6146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020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020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020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020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61459"/>
                                        </p:tgtEl>
                                        <p:attrNameLst>
                                          <p:attrName>style.visibility</p:attrName>
                                        </p:attrNameLst>
                                      </p:cBhvr>
                                      <p:to>
                                        <p:strVal val="visible"/>
                                      </p:to>
                                    </p:set>
                                    <p:animEffect transition="in" filter="dissolve">
                                      <p:cBhvr>
                                        <p:cTn id="60" dur="500"/>
                                        <p:tgtEl>
                                          <p:spTgt spid="61459"/>
                                        </p:tgtEl>
                                      </p:cBhvr>
                                    </p:animEffect>
                                  </p:childTnLst>
                                </p:cTn>
                              </p:par>
                            </p:childTnLst>
                          </p:cTn>
                        </p:par>
                        <p:par>
                          <p:cTn id="61" fill="hold">
                            <p:stCondLst>
                              <p:cond delay="500"/>
                            </p:stCondLst>
                            <p:childTnLst>
                              <p:par>
                                <p:cTn id="62" presetID="9" presetClass="entr" presetSubtype="0" fill="hold" nodeType="afterEffect">
                                  <p:stCondLst>
                                    <p:cond delay="0"/>
                                  </p:stCondLst>
                                  <p:childTnLst>
                                    <p:set>
                                      <p:cBhvr>
                                        <p:cTn id="63" dur="1" fill="hold">
                                          <p:stCondLst>
                                            <p:cond delay="0"/>
                                          </p:stCondLst>
                                        </p:cTn>
                                        <p:tgtEl>
                                          <p:spTgt spid="61460"/>
                                        </p:tgtEl>
                                        <p:attrNameLst>
                                          <p:attrName>style.visibility</p:attrName>
                                        </p:attrNameLst>
                                      </p:cBhvr>
                                      <p:to>
                                        <p:strVal val="visible"/>
                                      </p:to>
                                    </p:set>
                                    <p:animEffect transition="in" filter="dissolve">
                                      <p:cBhvr>
                                        <p:cTn id="64" dur="500"/>
                                        <p:tgtEl>
                                          <p:spTgt spid="61460"/>
                                        </p:tgtEl>
                                      </p:cBhvr>
                                    </p:animEffect>
                                  </p:childTnLst>
                                </p:cTn>
                              </p:par>
                            </p:childTnLst>
                          </p:cTn>
                        </p:par>
                        <p:par>
                          <p:cTn id="65" fill="hold">
                            <p:stCondLst>
                              <p:cond delay="1000"/>
                            </p:stCondLst>
                            <p:childTnLst>
                              <p:par>
                                <p:cTn id="66" presetID="9" presetClass="entr" presetSubtype="0" fill="hold" nodeType="afterEffect">
                                  <p:stCondLst>
                                    <p:cond delay="0"/>
                                  </p:stCondLst>
                                  <p:childTnLst>
                                    <p:set>
                                      <p:cBhvr>
                                        <p:cTn id="67" dur="1" fill="hold">
                                          <p:stCondLst>
                                            <p:cond delay="0"/>
                                          </p:stCondLst>
                                        </p:cTn>
                                        <p:tgtEl>
                                          <p:spTgt spid="61463"/>
                                        </p:tgtEl>
                                        <p:attrNameLst>
                                          <p:attrName>style.visibility</p:attrName>
                                        </p:attrNameLst>
                                      </p:cBhvr>
                                      <p:to>
                                        <p:strVal val="visible"/>
                                      </p:to>
                                    </p:set>
                                    <p:animEffect transition="in" filter="dissolve">
                                      <p:cBhvr>
                                        <p:cTn id="68" dur="500"/>
                                        <p:tgtEl>
                                          <p:spTgt spid="61463"/>
                                        </p:tgtEl>
                                      </p:cBhvr>
                                    </p:animEffect>
                                  </p:childTnLst>
                                </p:cTn>
                              </p:par>
                            </p:childTnLst>
                          </p:cTn>
                        </p:par>
                        <p:par>
                          <p:cTn id="69" fill="hold">
                            <p:stCondLst>
                              <p:cond delay="1500"/>
                            </p:stCondLst>
                            <p:childTnLst>
                              <p:par>
                                <p:cTn id="70" presetID="9" presetClass="entr" presetSubtype="0" fill="hold" nodeType="afterEffect">
                                  <p:stCondLst>
                                    <p:cond delay="0"/>
                                  </p:stCondLst>
                                  <p:childTnLst>
                                    <p:set>
                                      <p:cBhvr>
                                        <p:cTn id="71" dur="1" fill="hold">
                                          <p:stCondLst>
                                            <p:cond delay="0"/>
                                          </p:stCondLst>
                                        </p:cTn>
                                        <p:tgtEl>
                                          <p:spTgt spid="61462"/>
                                        </p:tgtEl>
                                        <p:attrNameLst>
                                          <p:attrName>style.visibility</p:attrName>
                                        </p:attrNameLst>
                                      </p:cBhvr>
                                      <p:to>
                                        <p:strVal val="visible"/>
                                      </p:to>
                                    </p:set>
                                    <p:animEffect transition="in" filter="dissolve">
                                      <p:cBhvr>
                                        <p:cTn id="72" dur="500"/>
                                        <p:tgtEl>
                                          <p:spTgt spid="61462"/>
                                        </p:tgtEl>
                                      </p:cBhvr>
                                    </p:animEffect>
                                  </p:childTnLst>
                                </p:cTn>
                              </p:par>
                            </p:childTnLst>
                          </p:cTn>
                        </p:par>
                        <p:par>
                          <p:cTn id="73" fill="hold">
                            <p:stCondLst>
                              <p:cond delay="2000"/>
                            </p:stCondLst>
                            <p:childTnLst>
                              <p:par>
                                <p:cTn id="74" presetID="9" presetClass="entr" presetSubtype="0" fill="hold" nodeType="afterEffect">
                                  <p:stCondLst>
                                    <p:cond delay="0"/>
                                  </p:stCondLst>
                                  <p:childTnLst>
                                    <p:set>
                                      <p:cBhvr>
                                        <p:cTn id="75" dur="1" fill="hold">
                                          <p:stCondLst>
                                            <p:cond delay="0"/>
                                          </p:stCondLst>
                                        </p:cTn>
                                        <p:tgtEl>
                                          <p:spTgt spid="61464"/>
                                        </p:tgtEl>
                                        <p:attrNameLst>
                                          <p:attrName>style.visibility</p:attrName>
                                        </p:attrNameLst>
                                      </p:cBhvr>
                                      <p:to>
                                        <p:strVal val="visible"/>
                                      </p:to>
                                    </p:set>
                                    <p:animEffect transition="in" filter="dissolve">
                                      <p:cBhvr>
                                        <p:cTn id="76" dur="500"/>
                                        <p:tgtEl>
                                          <p:spTgt spid="61464"/>
                                        </p:tgtEl>
                                      </p:cBhvr>
                                    </p:animEffect>
                                  </p:childTnLst>
                                </p:cTn>
                              </p:par>
                            </p:childTnLst>
                          </p:cTn>
                        </p:par>
                        <p:par>
                          <p:cTn id="77" fill="hold">
                            <p:stCondLst>
                              <p:cond delay="2500"/>
                            </p:stCondLst>
                            <p:childTnLst>
                              <p:par>
                                <p:cTn id="78" presetID="9" presetClass="entr" presetSubtype="0" fill="hold" nodeType="afterEffect">
                                  <p:stCondLst>
                                    <p:cond delay="0"/>
                                  </p:stCondLst>
                                  <p:childTnLst>
                                    <p:set>
                                      <p:cBhvr>
                                        <p:cTn id="79" dur="1" fill="hold">
                                          <p:stCondLst>
                                            <p:cond delay="0"/>
                                          </p:stCondLst>
                                        </p:cTn>
                                        <p:tgtEl>
                                          <p:spTgt spid="61461"/>
                                        </p:tgtEl>
                                        <p:attrNameLst>
                                          <p:attrName>style.visibility</p:attrName>
                                        </p:attrNameLst>
                                      </p:cBhvr>
                                      <p:to>
                                        <p:strVal val="visible"/>
                                      </p:to>
                                    </p:set>
                                    <p:animEffect transition="in" filter="dissolve">
                                      <p:cBhvr>
                                        <p:cTn id="80" dur="500"/>
                                        <p:tgtEl>
                                          <p:spTgt spid="61461"/>
                                        </p:tgtEl>
                                      </p:cBhvr>
                                    </p:animEffect>
                                  </p:childTnLst>
                                </p:cTn>
                              </p:par>
                              <p:par>
                                <p:cTn id="81" presetID="1" presetClass="entr" presetSubtype="0" fill="hold" nodeType="withEffect">
                                  <p:stCondLst>
                                    <p:cond delay="0"/>
                                  </p:stCondLst>
                                  <p:childTnLst>
                                    <p:set>
                                      <p:cBhvr>
                                        <p:cTn id="8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06" grpId="0"/>
      <p:bldP spid="50207" grpId="0"/>
      <p:bldP spid="50203" grpId="0"/>
      <p:bldP spid="50204" grpId="0"/>
      <p:bldP spid="61451" grpId="0" autoUpdateAnimBg="0"/>
      <p:bldP spid="61452" grpId="0" animBg="1" autoUpdateAnimBg="0"/>
      <p:bldP spid="61453" grpId="0" autoUpdateAnimBg="0"/>
      <p:bldP spid="61454" grpId="0" autoUpdateAnimBg="0"/>
      <p:bldP spid="61455" grpId="0" autoUpdateAnimBg="0"/>
      <p:bldP spid="61456" grpId="0" animBg="1" autoUpdateAnimBg="0"/>
      <p:bldP spid="61457" grpId="0" autoUpdateAnimBg="0"/>
      <p:bldP spid="61458" grpId="0" autoUpdateAnimBg="0"/>
      <p:bldP spid="61465" grpId="0" autoUpdateAnimBg="0"/>
      <p:bldP spid="6146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297" name="Picture 3" descr="movies2dfactors.png">
            <a:extLst>
              <a:ext uri="{FF2B5EF4-FFF2-40B4-BE49-F238E27FC236}">
                <a16:creationId xmlns:a16="http://schemas.microsoft.com/office/drawing/2014/main" id="{0BC74F0D-39DC-4037-F4DE-328E96673D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3490" y="911835"/>
            <a:ext cx="6096000" cy="5627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Slide Number Placeholder 3">
            <a:extLst>
              <a:ext uri="{FF2B5EF4-FFF2-40B4-BE49-F238E27FC236}">
                <a16:creationId xmlns:a16="http://schemas.microsoft.com/office/drawing/2014/main" id="{FF7A35D4-4C92-2FEC-0F4D-13B2745B3648}"/>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smtClean="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pPr>
              <a:spcBef>
                <a:spcPct val="0"/>
              </a:spcBef>
              <a:buFontTx/>
              <a:buNone/>
              <a:defRPr/>
            </a:pPr>
            <a:fld id="{0DDAB6C4-1661-4A45-92A8-A2258B57E41C}" type="slidenum">
              <a:rPr lang="en-US" altLang="en-US" smtClean="0"/>
              <a:pPr>
                <a:spcBef>
                  <a:spcPct val="0"/>
                </a:spcBef>
                <a:buFontTx/>
                <a:buNone/>
                <a:defRPr/>
              </a:pPr>
              <a:t>14</a:t>
            </a:fld>
            <a:endParaRPr lang="en-US" altLang="en-US" sz="1292"/>
          </a:p>
        </p:txBody>
      </p:sp>
      <p:sp>
        <p:nvSpPr>
          <p:cNvPr id="55298" name="Title 2">
            <a:extLst>
              <a:ext uri="{FF2B5EF4-FFF2-40B4-BE49-F238E27FC236}">
                <a16:creationId xmlns:a16="http://schemas.microsoft.com/office/drawing/2014/main" id="{60685F00-B241-1C1F-FA48-74DC389AEECC}"/>
              </a:ext>
            </a:extLst>
          </p:cNvPr>
          <p:cNvSpPr>
            <a:spLocks noGrp="1" noChangeArrowheads="1"/>
          </p:cNvSpPr>
          <p:nvPr>
            <p:ph type="title"/>
          </p:nvPr>
        </p:nvSpPr>
        <p:spPr>
          <a:xfrm>
            <a:off x="0" y="28890"/>
            <a:ext cx="10515600" cy="1001559"/>
          </a:xfrm>
        </p:spPr>
        <p:txBody>
          <a:bodyPr>
            <a:normAutofit fontScale="90000"/>
          </a:bodyPr>
          <a:lstStyle/>
          <a:p>
            <a:r>
              <a:rPr lang="en-US" altLang="en-US" dirty="0">
                <a:ea typeface="ＭＳ Ｐゴシック" panose="020B0600070205080204" pitchFamily="34" charset="-128"/>
              </a:rPr>
              <a:t>Netflix Data – first two latent factors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3E7F9A-A15D-DB0C-E884-962FB99DB9B9}"/>
              </a:ext>
            </a:extLst>
          </p:cNvPr>
          <p:cNvSpPr>
            <a:spLocks noGrp="1"/>
          </p:cNvSpPr>
          <p:nvPr>
            <p:ph type="sldNum" sz="quarter" idx="12"/>
          </p:nvPr>
        </p:nvSpPr>
        <p:spPr/>
        <p:txBody>
          <a:bodyPr/>
          <a:lstStyle/>
          <a:p>
            <a:fld id="{ABBEE3BA-F264-1746-880E-39AD601DF2B1}" type="slidenum">
              <a:rPr lang="en-US" smtClean="0"/>
              <a:t>15</a:t>
            </a:fld>
            <a:endParaRPr lang="en-US"/>
          </a:p>
        </p:txBody>
      </p:sp>
      <p:sp>
        <p:nvSpPr>
          <p:cNvPr id="3" name="Content Placeholder 2">
            <a:extLst>
              <a:ext uri="{FF2B5EF4-FFF2-40B4-BE49-F238E27FC236}">
                <a16:creationId xmlns:a16="http://schemas.microsoft.com/office/drawing/2014/main" id="{81619C92-B2DA-6749-8E18-0D483C44CDC0}"/>
              </a:ext>
            </a:extLst>
          </p:cNvPr>
          <p:cNvSpPr>
            <a:spLocks noGrp="1"/>
          </p:cNvSpPr>
          <p:nvPr>
            <p:ph idx="1"/>
          </p:nvPr>
        </p:nvSpPr>
        <p:spPr/>
        <p:txBody>
          <a:bodyPr/>
          <a:lstStyle/>
          <a:p>
            <a:r>
              <a:rPr lang="en-US" dirty="0"/>
              <a:t>Recommender System Models</a:t>
            </a:r>
          </a:p>
          <a:p>
            <a:pPr lvl="1"/>
            <a:r>
              <a:rPr lang="en-US" dirty="0"/>
              <a:t>1. Content based</a:t>
            </a:r>
          </a:p>
          <a:p>
            <a:pPr lvl="2"/>
            <a:r>
              <a:rPr lang="en-US" dirty="0"/>
              <a:t>Uses info on the movie, doesn’t require any ratings</a:t>
            </a:r>
          </a:p>
          <a:p>
            <a:pPr lvl="1"/>
            <a:r>
              <a:rPr lang="en-US" dirty="0"/>
              <a:t>2. Similarity based</a:t>
            </a:r>
          </a:p>
          <a:p>
            <a:pPr lvl="2"/>
            <a:r>
              <a:rPr lang="en-US" dirty="0"/>
              <a:t>Uses “collective” info on what others like, similarities between users and content</a:t>
            </a:r>
          </a:p>
          <a:p>
            <a:pPr lvl="2"/>
            <a:r>
              <a:rPr lang="en-US" dirty="0" err="1"/>
              <a:t>kNN</a:t>
            </a:r>
            <a:endParaRPr lang="en-US" dirty="0"/>
          </a:p>
          <a:p>
            <a:pPr lvl="1"/>
            <a:r>
              <a:rPr lang="en-US" dirty="0"/>
              <a:t>3. Matrix Decomposition based</a:t>
            </a:r>
          </a:p>
          <a:p>
            <a:pPr lvl="2"/>
            <a:r>
              <a:rPr lang="en-US" dirty="0"/>
              <a:t>Find interesting dimensions of the data that define how people differ on movie ratings</a:t>
            </a:r>
          </a:p>
          <a:p>
            <a:pPr lvl="2"/>
            <a:endParaRPr lang="en-US" dirty="0"/>
          </a:p>
          <a:p>
            <a:r>
              <a:rPr lang="en-US" dirty="0"/>
              <a:t>How might you evaluate a recommender system? </a:t>
            </a:r>
          </a:p>
        </p:txBody>
      </p:sp>
      <p:sp>
        <p:nvSpPr>
          <p:cNvPr id="2" name="Title 1">
            <a:extLst>
              <a:ext uri="{FF2B5EF4-FFF2-40B4-BE49-F238E27FC236}">
                <a16:creationId xmlns:a16="http://schemas.microsoft.com/office/drawing/2014/main" id="{F5D87776-1221-6701-4FBA-ADEB12DB3105}"/>
              </a:ext>
            </a:extLst>
          </p:cNvPr>
          <p:cNvSpPr>
            <a:spLocks noGrp="1"/>
          </p:cNvSpPr>
          <p:nvPr>
            <p:ph type="title"/>
          </p:nvPr>
        </p:nvSpPr>
        <p:spPr/>
        <p:txBody>
          <a:bodyPr/>
          <a:lstStyle/>
          <a:p>
            <a:r>
              <a:rPr lang="en-US" dirty="0"/>
              <a:t>Summary - </a:t>
            </a:r>
            <a:r>
              <a:rPr lang="en-US" dirty="0" err="1"/>
              <a:t>RecSys</a:t>
            </a:r>
            <a:endParaRPr lang="en-US" dirty="0"/>
          </a:p>
        </p:txBody>
      </p:sp>
    </p:spTree>
    <p:extLst>
      <p:ext uri="{BB962C8B-B14F-4D97-AF65-F5344CB8AC3E}">
        <p14:creationId xmlns:p14="http://schemas.microsoft.com/office/powerpoint/2010/main" val="22660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40758F-AB61-6618-1740-D9BAE12465C6}"/>
              </a:ext>
            </a:extLst>
          </p:cNvPr>
          <p:cNvSpPr>
            <a:spLocks noGrp="1"/>
          </p:cNvSpPr>
          <p:nvPr>
            <p:ph type="title"/>
          </p:nvPr>
        </p:nvSpPr>
        <p:spPr>
          <a:xfrm>
            <a:off x="0" y="2030639"/>
            <a:ext cx="10515600" cy="1001559"/>
          </a:xfrm>
        </p:spPr>
        <p:txBody>
          <a:bodyPr>
            <a:normAutofit/>
          </a:bodyPr>
          <a:lstStyle/>
          <a:p>
            <a:r>
              <a:rPr lang="en-US" dirty="0"/>
              <a:t>Netflix Prize</a:t>
            </a:r>
          </a:p>
        </p:txBody>
      </p:sp>
      <p:sp>
        <p:nvSpPr>
          <p:cNvPr id="2" name="Slide Number Placeholder 1">
            <a:extLst>
              <a:ext uri="{FF2B5EF4-FFF2-40B4-BE49-F238E27FC236}">
                <a16:creationId xmlns:a16="http://schemas.microsoft.com/office/drawing/2014/main" id="{12514020-855B-C9C6-0373-CAA010AB62FD}"/>
              </a:ext>
            </a:extLst>
          </p:cNvPr>
          <p:cNvSpPr>
            <a:spLocks noGrp="1"/>
          </p:cNvSpPr>
          <p:nvPr>
            <p:ph type="sldNum" sz="quarter" idx="12"/>
          </p:nvPr>
        </p:nvSpPr>
        <p:spPr/>
        <p:txBody>
          <a:bodyPr/>
          <a:lstStyle/>
          <a:p>
            <a:fld id="{ABBEE3BA-F264-1746-880E-39AD601DF2B1}" type="slidenum">
              <a:rPr lang="en-US" smtClean="0"/>
              <a:t>16</a:t>
            </a:fld>
            <a:endParaRPr lang="en-US"/>
          </a:p>
        </p:txBody>
      </p:sp>
    </p:spTree>
    <p:extLst>
      <p:ext uri="{BB962C8B-B14F-4D97-AF65-F5344CB8AC3E}">
        <p14:creationId xmlns:p14="http://schemas.microsoft.com/office/powerpoint/2010/main" val="3596375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34A578-A4D9-34EC-C8F0-DBE4A32ED5DB}"/>
              </a:ext>
            </a:extLst>
          </p:cNvPr>
          <p:cNvSpPr>
            <a:spLocks noGrp="1"/>
          </p:cNvSpPr>
          <p:nvPr>
            <p:ph type="sldNum" sz="quarter" idx="12"/>
          </p:nvPr>
        </p:nvSpPr>
        <p:spPr/>
        <p:txBody>
          <a:bodyPr/>
          <a:lstStyle/>
          <a:p>
            <a:fld id="{ABBEE3BA-F264-1746-880E-39AD601DF2B1}" type="slidenum">
              <a:rPr lang="en-US" smtClean="0"/>
              <a:t>17</a:t>
            </a:fld>
            <a:endParaRPr lang="en-US"/>
          </a:p>
        </p:txBody>
      </p:sp>
      <p:sp>
        <p:nvSpPr>
          <p:cNvPr id="4" name="Title 3">
            <a:extLst>
              <a:ext uri="{FF2B5EF4-FFF2-40B4-BE49-F238E27FC236}">
                <a16:creationId xmlns:a16="http://schemas.microsoft.com/office/drawing/2014/main" id="{ADE26481-37E2-8D7D-922F-7B41730958A7}"/>
              </a:ext>
            </a:extLst>
          </p:cNvPr>
          <p:cNvSpPr>
            <a:spLocks noGrp="1"/>
          </p:cNvSpPr>
          <p:nvPr>
            <p:ph type="title"/>
          </p:nvPr>
        </p:nvSpPr>
        <p:spPr>
          <a:xfrm>
            <a:off x="0" y="75824"/>
            <a:ext cx="10515600" cy="1001559"/>
          </a:xfrm>
        </p:spPr>
        <p:txBody>
          <a:bodyPr/>
          <a:lstStyle/>
          <a:p>
            <a:r>
              <a:rPr lang="en-US" dirty="0"/>
              <a:t>Netflix in 2006</a:t>
            </a:r>
          </a:p>
        </p:txBody>
      </p:sp>
      <p:pic>
        <p:nvPicPr>
          <p:cNvPr id="1028" name="Picture 4" descr="Netflix website in 2006">
            <a:extLst>
              <a:ext uri="{FF2B5EF4-FFF2-40B4-BE49-F238E27FC236}">
                <a16:creationId xmlns:a16="http://schemas.microsoft.com/office/drawing/2014/main" id="{BF6A749A-2B58-22B7-8284-04C125B47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03" y="1168399"/>
            <a:ext cx="5223651" cy="4216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Brief History of Netflix Personalization (Part One, from 1998 to 2006)">
            <a:extLst>
              <a:ext uri="{FF2B5EF4-FFF2-40B4-BE49-F238E27FC236}">
                <a16:creationId xmlns:a16="http://schemas.microsoft.com/office/drawing/2014/main" id="{7E2A0CDF-FDD9-D868-5671-5400BC6AC2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500" y="1168399"/>
            <a:ext cx="6096881" cy="37761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E796EF-88FF-0F2C-1C19-E62345BF60C3}"/>
              </a:ext>
            </a:extLst>
          </p:cNvPr>
          <p:cNvSpPr txBox="1"/>
          <p:nvPr/>
        </p:nvSpPr>
        <p:spPr>
          <a:xfrm>
            <a:off x="974245" y="5689601"/>
            <a:ext cx="10243510" cy="461665"/>
          </a:xfrm>
          <a:prstGeom prst="rect">
            <a:avLst/>
          </a:prstGeom>
          <a:noFill/>
        </p:spPr>
        <p:txBody>
          <a:bodyPr wrap="none" rtlCol="0">
            <a:spAutoFit/>
          </a:bodyPr>
          <a:lstStyle/>
          <a:p>
            <a:pPr algn="l"/>
            <a:r>
              <a:rPr lang="en-US" sz="2400" b="1" dirty="0" err="1">
                <a:latin typeface="Montserrat" pitchFamily="2" charset="77"/>
              </a:rPr>
              <a:t>Cinematch</a:t>
            </a:r>
            <a:r>
              <a:rPr lang="en-US" sz="2400" dirty="0">
                <a:latin typeface="Montserrat" pitchFamily="2" charset="77"/>
              </a:rPr>
              <a:t>: predict star rating for every movie for every customer</a:t>
            </a:r>
          </a:p>
        </p:txBody>
      </p:sp>
    </p:spTree>
    <p:extLst>
      <p:ext uri="{BB962C8B-B14F-4D97-AF65-F5344CB8AC3E}">
        <p14:creationId xmlns:p14="http://schemas.microsoft.com/office/powerpoint/2010/main" val="50272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CE8ED-0B07-72C5-B792-8BDCD12B38E4}"/>
              </a:ext>
            </a:extLst>
          </p:cNvPr>
          <p:cNvSpPr>
            <a:spLocks noGrp="1"/>
          </p:cNvSpPr>
          <p:nvPr>
            <p:ph type="sldNum" sz="quarter" idx="12"/>
          </p:nvPr>
        </p:nvSpPr>
        <p:spPr/>
        <p:txBody>
          <a:bodyPr/>
          <a:lstStyle/>
          <a:p>
            <a:fld id="{ABBEE3BA-F264-1746-880E-39AD601DF2B1}" type="slidenum">
              <a:rPr lang="en-US" smtClean="0"/>
              <a:t>18</a:t>
            </a:fld>
            <a:endParaRPr lang="en-US"/>
          </a:p>
        </p:txBody>
      </p:sp>
      <p:sp>
        <p:nvSpPr>
          <p:cNvPr id="3" name="Content Placeholder 2">
            <a:extLst>
              <a:ext uri="{FF2B5EF4-FFF2-40B4-BE49-F238E27FC236}">
                <a16:creationId xmlns:a16="http://schemas.microsoft.com/office/drawing/2014/main" id="{22D1093C-66F8-E1E9-CF32-1A8420B73B8D}"/>
              </a:ext>
            </a:extLst>
          </p:cNvPr>
          <p:cNvSpPr>
            <a:spLocks noGrp="1"/>
          </p:cNvSpPr>
          <p:nvPr>
            <p:ph idx="1"/>
          </p:nvPr>
        </p:nvSpPr>
        <p:spPr>
          <a:xfrm>
            <a:off x="516924" y="1458288"/>
            <a:ext cx="6199414" cy="4574305"/>
          </a:xfrm>
        </p:spPr>
        <p:txBody>
          <a:bodyPr>
            <a:normAutofit fontScale="77500" lnSpcReduction="20000"/>
          </a:bodyPr>
          <a:lstStyle/>
          <a:p>
            <a:pPr marL="0" indent="0">
              <a:lnSpc>
                <a:spcPct val="120000"/>
              </a:lnSpc>
              <a:buNone/>
            </a:pPr>
            <a:r>
              <a:rPr lang="en-US" altLang="en-US" sz="3200" dirty="0">
                <a:ea typeface="ＭＳ Ｐゴシック" panose="020B0600070205080204" pitchFamily="34" charset="-128"/>
              </a:rPr>
              <a:t>Goal:</a:t>
            </a:r>
          </a:p>
          <a:p>
            <a:pPr lvl="1">
              <a:lnSpc>
                <a:spcPct val="120000"/>
              </a:lnSpc>
            </a:pPr>
            <a:r>
              <a:rPr lang="en-US" altLang="en-US" dirty="0">
                <a:ea typeface="ＭＳ Ｐゴシック" panose="020B0600070205080204" pitchFamily="34" charset="-128"/>
              </a:rPr>
              <a:t>Can a team improve on </a:t>
            </a:r>
            <a:r>
              <a:rPr lang="en-US" altLang="en-US" dirty="0" err="1">
                <a:ea typeface="ＭＳ Ｐゴシック" panose="020B0600070205080204" pitchFamily="34" charset="-128"/>
              </a:rPr>
              <a:t>Cinematch</a:t>
            </a:r>
            <a:r>
              <a:rPr lang="en-US" altLang="en-US" dirty="0">
                <a:ea typeface="ＭＳ Ｐゴシック" panose="020B0600070205080204" pitchFamily="34" charset="-128"/>
              </a:rPr>
              <a:t> error rate?</a:t>
            </a:r>
          </a:p>
          <a:p>
            <a:pPr lvl="1">
              <a:lnSpc>
                <a:spcPct val="120000"/>
              </a:lnSpc>
            </a:pPr>
            <a:r>
              <a:rPr lang="en-US" altLang="en-US" dirty="0"/>
              <a:t>October 2006: Offers $1,000,000 if someone can beat </a:t>
            </a:r>
            <a:r>
              <a:rPr lang="en-US" altLang="en-US" dirty="0" err="1"/>
              <a:t>Cinematch</a:t>
            </a:r>
            <a:r>
              <a:rPr lang="en-US" altLang="en-US" dirty="0"/>
              <a:t> RMSE by 10%</a:t>
            </a:r>
          </a:p>
          <a:p>
            <a:pPr lvl="1">
              <a:lnSpc>
                <a:spcPct val="120000"/>
              </a:lnSpc>
            </a:pPr>
            <a:r>
              <a:rPr lang="en-US" altLang="en-US" dirty="0"/>
              <a:t>If 10% not reached, $500k (Progress Prize) given to team in the lead each year</a:t>
            </a:r>
          </a:p>
          <a:p>
            <a:pPr lvl="1">
              <a:lnSpc>
                <a:spcPct val="120000"/>
              </a:lnSpc>
            </a:pPr>
            <a:endParaRPr lang="en-US" sz="1400" dirty="0"/>
          </a:p>
          <a:p>
            <a:pPr lvl="1">
              <a:lnSpc>
                <a:spcPct val="120000"/>
              </a:lnSpc>
            </a:pPr>
            <a:endParaRPr lang="en-US" sz="1400" dirty="0"/>
          </a:p>
          <a:p>
            <a:pPr marL="0" indent="0">
              <a:lnSpc>
                <a:spcPct val="120000"/>
              </a:lnSpc>
              <a:buNone/>
            </a:pPr>
            <a:r>
              <a:rPr lang="en-US" dirty="0"/>
              <a:t>Conditions:</a:t>
            </a:r>
          </a:p>
          <a:p>
            <a:pPr lvl="1">
              <a:lnSpc>
                <a:spcPct val="120000"/>
              </a:lnSpc>
            </a:pPr>
            <a:r>
              <a:rPr lang="en-US" dirty="0"/>
              <a:t>Open to the public</a:t>
            </a:r>
          </a:p>
          <a:p>
            <a:pPr lvl="1">
              <a:lnSpc>
                <a:spcPct val="120000"/>
              </a:lnSpc>
            </a:pPr>
            <a:r>
              <a:rPr lang="en-US" dirty="0"/>
              <a:t>Teams could submit once per day</a:t>
            </a:r>
          </a:p>
          <a:p>
            <a:pPr lvl="1">
              <a:lnSpc>
                <a:spcPct val="120000"/>
              </a:lnSpc>
            </a:pPr>
            <a:r>
              <a:rPr lang="en-US" dirty="0"/>
              <a:t>Winning teams had to publish algorithm and provide a non-exclusive license to Netflix</a:t>
            </a:r>
          </a:p>
        </p:txBody>
      </p:sp>
      <p:sp>
        <p:nvSpPr>
          <p:cNvPr id="4" name="Title 3">
            <a:extLst>
              <a:ext uri="{FF2B5EF4-FFF2-40B4-BE49-F238E27FC236}">
                <a16:creationId xmlns:a16="http://schemas.microsoft.com/office/drawing/2014/main" id="{AD66BC2B-1D22-D6F4-8FC6-D2508D9AA049}"/>
              </a:ext>
            </a:extLst>
          </p:cNvPr>
          <p:cNvSpPr>
            <a:spLocks noGrp="1"/>
          </p:cNvSpPr>
          <p:nvPr>
            <p:ph type="title"/>
          </p:nvPr>
        </p:nvSpPr>
        <p:spPr/>
        <p:txBody>
          <a:bodyPr/>
          <a:lstStyle/>
          <a:p>
            <a:r>
              <a:rPr lang="en-US" dirty="0"/>
              <a:t>Netflix Prize – October 2006</a:t>
            </a:r>
          </a:p>
        </p:txBody>
      </p:sp>
      <p:pic>
        <p:nvPicPr>
          <p:cNvPr id="2050" name="Picture 2" descr="Netflix Prize">
            <a:extLst>
              <a:ext uri="{FF2B5EF4-FFF2-40B4-BE49-F238E27FC236}">
                <a16:creationId xmlns:a16="http://schemas.microsoft.com/office/drawing/2014/main" id="{E879C820-2C9A-5078-2B36-BBF90FC9F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9867" y="2489200"/>
            <a:ext cx="3953933" cy="2512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09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D53593-1B33-64EB-84FB-2A6F752D64B4}"/>
              </a:ext>
            </a:extLst>
          </p:cNvPr>
          <p:cNvSpPr>
            <a:spLocks noGrp="1"/>
          </p:cNvSpPr>
          <p:nvPr>
            <p:ph type="sldNum" sz="quarter" idx="12"/>
          </p:nvPr>
        </p:nvSpPr>
        <p:spPr/>
        <p:txBody>
          <a:bodyPr/>
          <a:lstStyle/>
          <a:p>
            <a:fld id="{ABBEE3BA-F264-1746-880E-39AD601DF2B1}" type="slidenum">
              <a:rPr lang="en-US" smtClean="0"/>
              <a:t>19</a:t>
            </a:fld>
            <a:endParaRPr lang="en-US"/>
          </a:p>
        </p:txBody>
      </p:sp>
      <p:pic>
        <p:nvPicPr>
          <p:cNvPr id="6" name="Content Placeholder 5">
            <a:extLst>
              <a:ext uri="{FF2B5EF4-FFF2-40B4-BE49-F238E27FC236}">
                <a16:creationId xmlns:a16="http://schemas.microsoft.com/office/drawing/2014/main" id="{6723AE4B-F50A-64CC-523D-816AA4643FEE}"/>
              </a:ext>
            </a:extLst>
          </p:cNvPr>
          <p:cNvPicPr>
            <a:picLocks noGrp="1" noChangeAspect="1"/>
          </p:cNvPicPr>
          <p:nvPr>
            <p:ph idx="1"/>
          </p:nvPr>
        </p:nvPicPr>
        <p:blipFill>
          <a:blip r:embed="rId3"/>
          <a:stretch>
            <a:fillRect/>
          </a:stretch>
        </p:blipFill>
        <p:spPr>
          <a:xfrm>
            <a:off x="5183188" y="1101725"/>
            <a:ext cx="6172200" cy="4114800"/>
          </a:xfrm>
          <a:prstGeom prst="rect">
            <a:avLst/>
          </a:prstGeom>
        </p:spPr>
      </p:pic>
      <p:sp>
        <p:nvSpPr>
          <p:cNvPr id="4" name="Text Placeholder 3">
            <a:extLst>
              <a:ext uri="{FF2B5EF4-FFF2-40B4-BE49-F238E27FC236}">
                <a16:creationId xmlns:a16="http://schemas.microsoft.com/office/drawing/2014/main" id="{076510BD-7028-0C5A-D86D-FCA6844C870A}"/>
              </a:ext>
            </a:extLst>
          </p:cNvPr>
          <p:cNvSpPr>
            <a:spLocks noGrp="1"/>
          </p:cNvSpPr>
          <p:nvPr>
            <p:ph type="body" sz="quarter" idx="13"/>
          </p:nvPr>
        </p:nvSpPr>
        <p:spPr>
          <a:xfrm>
            <a:off x="720702" y="1902853"/>
            <a:ext cx="3935413" cy="2823693"/>
          </a:xfrm>
        </p:spPr>
        <p:txBody>
          <a:bodyPr/>
          <a:lstStyle/>
          <a:p>
            <a:r>
              <a:rPr lang="en-US" dirty="0"/>
              <a:t>41k teams downloaded the data</a:t>
            </a:r>
          </a:p>
          <a:p>
            <a:r>
              <a:rPr lang="en-US" dirty="0"/>
              <a:t>186 countries</a:t>
            </a:r>
          </a:p>
          <a:p>
            <a:r>
              <a:rPr lang="en-US" dirty="0"/>
              <a:t>5169 teams submitted a solution</a:t>
            </a:r>
          </a:p>
          <a:p>
            <a:endParaRPr lang="en-US" dirty="0"/>
          </a:p>
        </p:txBody>
      </p:sp>
      <p:sp>
        <p:nvSpPr>
          <p:cNvPr id="5" name="Title 4">
            <a:extLst>
              <a:ext uri="{FF2B5EF4-FFF2-40B4-BE49-F238E27FC236}">
                <a16:creationId xmlns:a16="http://schemas.microsoft.com/office/drawing/2014/main" id="{6E294BAB-6D8F-62D5-57F5-3DE952DEFCCC}"/>
              </a:ext>
            </a:extLst>
          </p:cNvPr>
          <p:cNvSpPr>
            <a:spLocks noGrp="1"/>
          </p:cNvSpPr>
          <p:nvPr>
            <p:ph type="title"/>
          </p:nvPr>
        </p:nvSpPr>
        <p:spPr>
          <a:xfrm>
            <a:off x="223115" y="136525"/>
            <a:ext cx="6422384" cy="649086"/>
          </a:xfrm>
        </p:spPr>
        <p:txBody>
          <a:bodyPr>
            <a:normAutofit fontScale="90000"/>
          </a:bodyPr>
          <a:lstStyle/>
          <a:p>
            <a:r>
              <a:rPr lang="en-US" dirty="0"/>
              <a:t>Data scientists were excited…</a:t>
            </a:r>
          </a:p>
        </p:txBody>
      </p:sp>
    </p:spTree>
    <p:extLst>
      <p:ext uri="{BB962C8B-B14F-4D97-AF65-F5344CB8AC3E}">
        <p14:creationId xmlns:p14="http://schemas.microsoft.com/office/powerpoint/2010/main" val="2559553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diagram of a training data&#10;&#10;AI-generated content may be incorrect.">
            <a:extLst>
              <a:ext uri="{FF2B5EF4-FFF2-40B4-BE49-F238E27FC236}">
                <a16:creationId xmlns:a16="http://schemas.microsoft.com/office/drawing/2014/main" id="{07329B34-E355-84F6-C35A-97725D67AA02}"/>
              </a:ext>
            </a:extLst>
          </p:cNvPr>
          <p:cNvPicPr>
            <a:picLocks noChangeAspect="1"/>
          </p:cNvPicPr>
          <p:nvPr/>
        </p:nvPicPr>
        <p:blipFill>
          <a:blip r:embed="rId3"/>
          <a:stretch>
            <a:fillRect/>
          </a:stretch>
        </p:blipFill>
        <p:spPr>
          <a:xfrm>
            <a:off x="7141807" y="1322739"/>
            <a:ext cx="5050193" cy="4265609"/>
          </a:xfrm>
          <a:prstGeom prst="rect">
            <a:avLst/>
          </a:prstGeom>
        </p:spPr>
      </p:pic>
      <p:sp>
        <p:nvSpPr>
          <p:cNvPr id="4" name="Slide Number Placeholder 3">
            <a:extLst>
              <a:ext uri="{FF2B5EF4-FFF2-40B4-BE49-F238E27FC236}">
                <a16:creationId xmlns:a16="http://schemas.microsoft.com/office/drawing/2014/main" id="{8454AB40-195B-B8C9-2072-E5A93FED1D71}"/>
              </a:ext>
            </a:extLst>
          </p:cNvPr>
          <p:cNvSpPr>
            <a:spLocks noGrp="1"/>
          </p:cNvSpPr>
          <p:nvPr>
            <p:ph type="sldNum" sz="quarter" idx="12"/>
          </p:nvPr>
        </p:nvSpPr>
        <p:spPr/>
        <p:txBody>
          <a:bodyPr/>
          <a:lstStyle/>
          <a:p>
            <a:fld id="{ABBEE3BA-F264-1746-880E-39AD601DF2B1}" type="slidenum">
              <a:rPr lang="en-US" smtClean="0"/>
              <a:t>20</a:t>
            </a:fld>
            <a:endParaRPr lang="en-US"/>
          </a:p>
        </p:txBody>
      </p:sp>
      <p:sp>
        <p:nvSpPr>
          <p:cNvPr id="24" name="Title 23">
            <a:extLst>
              <a:ext uri="{FF2B5EF4-FFF2-40B4-BE49-F238E27FC236}">
                <a16:creationId xmlns:a16="http://schemas.microsoft.com/office/drawing/2014/main" id="{2B4E2249-E6DC-01B8-E138-61D0B1E3DF67}"/>
              </a:ext>
            </a:extLst>
          </p:cNvPr>
          <p:cNvSpPr>
            <a:spLocks noGrp="1"/>
          </p:cNvSpPr>
          <p:nvPr>
            <p:ph type="title"/>
          </p:nvPr>
        </p:nvSpPr>
        <p:spPr>
          <a:xfrm>
            <a:off x="0" y="31493"/>
            <a:ext cx="9835978" cy="517185"/>
          </a:xfrm>
        </p:spPr>
        <p:txBody>
          <a:bodyPr>
            <a:normAutofit/>
          </a:bodyPr>
          <a:lstStyle/>
          <a:p>
            <a:r>
              <a:rPr lang="en-US" sz="2800" dirty="0"/>
              <a:t>Competition Details</a:t>
            </a:r>
          </a:p>
        </p:txBody>
      </p:sp>
      <p:graphicFrame>
        <p:nvGraphicFramePr>
          <p:cNvPr id="5" name="Group 273">
            <a:extLst>
              <a:ext uri="{FF2B5EF4-FFF2-40B4-BE49-F238E27FC236}">
                <a16:creationId xmlns:a16="http://schemas.microsoft.com/office/drawing/2014/main" id="{76BEC846-823E-BC3A-5A81-F0D86EC6DE19}"/>
              </a:ext>
            </a:extLst>
          </p:cNvPr>
          <p:cNvGraphicFramePr>
            <a:graphicFrameLocks noGrp="1"/>
          </p:cNvGraphicFramePr>
          <p:nvPr>
            <p:extLst>
              <p:ext uri="{D42A27DB-BD31-4B8C-83A1-F6EECF244321}">
                <p14:modId xmlns:p14="http://schemas.microsoft.com/office/powerpoint/2010/main" val="1995014074"/>
              </p:ext>
            </p:extLst>
          </p:nvPr>
        </p:nvGraphicFramePr>
        <p:xfrm>
          <a:off x="1731405" y="1432252"/>
          <a:ext cx="3791457" cy="3831314"/>
        </p:xfrm>
        <a:graphic>
          <a:graphicData uri="http://schemas.openxmlformats.org/drawingml/2006/table">
            <a:tbl>
              <a:tblPr rtl="1"/>
              <a:tblGrid>
                <a:gridCol w="1244539">
                  <a:extLst>
                    <a:ext uri="{9D8B030D-6E8A-4147-A177-3AD203B41FA5}">
                      <a16:colId xmlns:a16="http://schemas.microsoft.com/office/drawing/2014/main" val="20000"/>
                    </a:ext>
                  </a:extLst>
                </a:gridCol>
                <a:gridCol w="570402">
                  <a:extLst>
                    <a:ext uri="{9D8B030D-6E8A-4147-A177-3AD203B41FA5}">
                      <a16:colId xmlns:a16="http://schemas.microsoft.com/office/drawing/2014/main" val="20001"/>
                    </a:ext>
                  </a:extLst>
                </a:gridCol>
                <a:gridCol w="1210646">
                  <a:extLst>
                    <a:ext uri="{9D8B030D-6E8A-4147-A177-3AD203B41FA5}">
                      <a16:colId xmlns:a16="http://schemas.microsoft.com/office/drawing/2014/main" val="20002"/>
                    </a:ext>
                  </a:extLst>
                </a:gridCol>
                <a:gridCol w="765870">
                  <a:extLst>
                    <a:ext uri="{9D8B030D-6E8A-4147-A177-3AD203B41FA5}">
                      <a16:colId xmlns:a16="http://schemas.microsoft.com/office/drawing/2014/main" val="20003"/>
                    </a:ext>
                  </a:extLst>
                </a:gridCol>
              </a:tblGrid>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dirty="0">
                          <a:ln>
                            <a:noFill/>
                          </a:ln>
                          <a:solidFill>
                            <a:schemeClr val="tx1"/>
                          </a:solidFill>
                          <a:effectLst/>
                          <a:latin typeface="Verdana" charset="0"/>
                        </a:rPr>
                        <a:t>date</a:t>
                      </a:r>
                    </a:p>
                  </a:txBody>
                  <a:tcPr marT="45725" marB="45725" horzOverflow="overflow">
                    <a:lnL cap="flat">
                      <a:noFill/>
                    </a:lnL>
                    <a:lnR w="381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solidFill>
                      <a:srgbClr val="ECB2C7"/>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dirty="0">
                          <a:ln>
                            <a:noFill/>
                          </a:ln>
                          <a:solidFill>
                            <a:schemeClr val="tx1"/>
                          </a:solidFill>
                          <a:effectLst/>
                          <a:latin typeface="Verdana" charset="0"/>
                        </a:rPr>
                        <a:t>score</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solidFill>
                      <a:srgbClr val="ECB2C7"/>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dirty="0">
                          <a:ln>
                            <a:noFill/>
                          </a:ln>
                          <a:solidFill>
                            <a:schemeClr val="tx1"/>
                          </a:solidFill>
                          <a:effectLst/>
                          <a:latin typeface="Verdana" charset="0"/>
                        </a:rPr>
                        <a:t>movie</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solidFill>
                      <a:srgbClr val="ECB2C7"/>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dirty="0">
                          <a:ln>
                            <a:noFill/>
                          </a:ln>
                          <a:solidFill>
                            <a:schemeClr val="tx1"/>
                          </a:solidFill>
                          <a:effectLst/>
                          <a:latin typeface="Verdana" charset="0"/>
                        </a:rPr>
                        <a:t>user</a:t>
                      </a:r>
                    </a:p>
                  </a:txBody>
                  <a:tcPr marT="45725" marB="45725" horzOverflow="overflow">
                    <a:lnL w="38100" cap="flat" cmpd="sng" algn="ctr">
                      <a:solidFill>
                        <a:schemeClr val="tx1"/>
                      </a:solidFill>
                      <a:prstDash val="solid"/>
                      <a:round/>
                      <a:headEnd type="none" w="med" len="med"/>
                      <a:tailEnd type="none" w="med" len="med"/>
                    </a:lnL>
                    <a:lnR cap="flat">
                      <a:noFill/>
                    </a:lnR>
                    <a:lnT cap="flat">
                      <a:noFill/>
                    </a:lnT>
                    <a:lnB w="38100" cap="flat" cmpd="sng" algn="ctr">
                      <a:solidFill>
                        <a:schemeClr val="tx1"/>
                      </a:solidFill>
                      <a:prstDash val="solid"/>
                      <a:round/>
                      <a:headEnd type="none" w="med" len="med"/>
                      <a:tailEnd type="none" w="med" len="med"/>
                    </a:lnB>
                    <a:lnTlToBr>
                      <a:noFill/>
                    </a:lnTlToBr>
                    <a:lnBlToTr>
                      <a:noFill/>
                    </a:lnBlToTr>
                    <a:solidFill>
                      <a:srgbClr val="ECB2C7"/>
                    </a:solidFill>
                  </a:tcPr>
                </a:tc>
                <a:extLst>
                  <a:ext uri="{0D108BD9-81ED-4DB2-BD59-A6C34878D82A}">
                    <a16:rowId xmlns:a16="http://schemas.microsoft.com/office/drawing/2014/main" val="10000"/>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2002-01-03</a:t>
                      </a:r>
                    </a:p>
                  </a:txBody>
                  <a:tcPr marT="45725" marB="45725" horzOverflow="overflow">
                    <a:lnL cap="flat">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1</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21</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1</a:t>
                      </a:r>
                    </a:p>
                  </a:txBody>
                  <a:tcPr marT="45725" marB="45725" horzOverflow="overflow">
                    <a:lnL w="38100" cap="flat" cmpd="sng" algn="ctr">
                      <a:solidFill>
                        <a:schemeClr val="tx1"/>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a:noFill/>
                    </a:lnB>
                    <a:lnTlToBr>
                      <a:noFill/>
                    </a:lnTlToBr>
                    <a:lnBlToTr>
                      <a:noFill/>
                    </a:lnBlToTr>
                    <a:solidFill>
                      <a:srgbClr val="FFCC00"/>
                    </a:solidFill>
                  </a:tcPr>
                </a:tc>
                <a:extLst>
                  <a:ext uri="{0D108BD9-81ED-4DB2-BD59-A6C34878D82A}">
                    <a16:rowId xmlns:a16="http://schemas.microsoft.com/office/drawing/2014/main" val="10001"/>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2002-04-04</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213</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1</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2"/>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2002-05-05</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4</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345</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3"/>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2002-05-05</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4</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123</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4"/>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2003-05-03</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3</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768</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5"/>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2003-10-10</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76</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3</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6"/>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2004-10-11</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4</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45</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4</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7"/>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2004-10-11</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1</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568</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8"/>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2004-10-11</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342</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09"/>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2004-12-12</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234</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10"/>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2005-01-02</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5</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76</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a:ln>
                            <a:noFill/>
                          </a:ln>
                          <a:solidFill>
                            <a:schemeClr val="tx1"/>
                          </a:solidFill>
                          <a:effectLst/>
                          <a:latin typeface="Verdana" charset="0"/>
                        </a:rPr>
                        <a:t>6</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CC00"/>
                    </a:solidFill>
                  </a:tcPr>
                </a:tc>
                <a:extLst>
                  <a:ext uri="{0D108BD9-81ED-4DB2-BD59-A6C34878D82A}">
                    <a16:rowId xmlns:a16="http://schemas.microsoft.com/office/drawing/2014/main" val="10011"/>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2005-01-31</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4</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56</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6</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solidFill>
                      <a:srgbClr val="FFCC00"/>
                    </a:solidFill>
                  </a:tcPr>
                </a:tc>
                <a:extLst>
                  <a:ext uri="{0D108BD9-81ED-4DB2-BD59-A6C34878D82A}">
                    <a16:rowId xmlns:a16="http://schemas.microsoft.com/office/drawing/2014/main" val="10012"/>
                  </a:ext>
                </a:extLst>
              </a:tr>
              <a:tr h="265024">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a:t>
                      </a:r>
                    </a:p>
                  </a:txBody>
                  <a:tcPr marT="45725" marB="45725" horzOverflow="overflow">
                    <a:lnL cap="flat">
                      <a:noFill/>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a:t>
                      </a:r>
                    </a:p>
                  </a:txBody>
                  <a:tcPr marT="45725" marB="45725"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CC00"/>
                    </a:solidFill>
                  </a:tcPr>
                </a:tc>
                <a:tc>
                  <a:txBody>
                    <a:bodyPr/>
                    <a:lstStyle/>
                    <a:p>
                      <a:pPr marL="0" marR="0" lvl="0" indent="0" algn="ctr" defTabSz="914400" rtl="0" eaLnBrk="0" fontAlgn="base" latinLnBrk="0" hangingPunct="0">
                        <a:lnSpc>
                          <a:spcPct val="100000"/>
                        </a:lnSpc>
                        <a:spcBef>
                          <a:spcPct val="20000"/>
                        </a:spcBef>
                        <a:spcAft>
                          <a:spcPct val="20000"/>
                        </a:spcAft>
                        <a:buClr>
                          <a:schemeClr val="tx2"/>
                        </a:buClr>
                        <a:buSzPct val="100000"/>
                        <a:buFontTx/>
                        <a:buNone/>
                        <a:tabLst/>
                      </a:pPr>
                      <a:r>
                        <a:rPr kumimoji="0" lang="en-US" sz="1200" b="0" i="0" u="none" strike="noStrike" cap="none" normalizeH="0" baseline="0" dirty="0">
                          <a:ln>
                            <a:noFill/>
                          </a:ln>
                          <a:solidFill>
                            <a:schemeClr val="tx1"/>
                          </a:solidFill>
                          <a:effectLst/>
                          <a:latin typeface="Verdana" charset="0"/>
                        </a:rPr>
                        <a:t>….</a:t>
                      </a:r>
                    </a:p>
                  </a:txBody>
                  <a:tcPr marT="45725" marB="45725" horzOverflow="overflow">
                    <a:lnL w="38100"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solidFill>
                      <a:srgbClr val="FFCC00"/>
                    </a:solidFill>
                  </a:tcPr>
                </a:tc>
                <a:extLst>
                  <a:ext uri="{0D108BD9-81ED-4DB2-BD59-A6C34878D82A}">
                    <a16:rowId xmlns:a16="http://schemas.microsoft.com/office/drawing/2014/main" val="2277369191"/>
                  </a:ext>
                </a:extLst>
              </a:tr>
            </a:tbl>
          </a:graphicData>
        </a:graphic>
      </p:graphicFrame>
      <p:grpSp>
        <p:nvGrpSpPr>
          <p:cNvPr id="14" name="Group 13">
            <a:extLst>
              <a:ext uri="{FF2B5EF4-FFF2-40B4-BE49-F238E27FC236}">
                <a16:creationId xmlns:a16="http://schemas.microsoft.com/office/drawing/2014/main" id="{1BA60FAF-AFF8-58FC-61D0-9CC394BFF9FC}"/>
              </a:ext>
            </a:extLst>
          </p:cNvPr>
          <p:cNvGrpSpPr/>
          <p:nvPr/>
        </p:nvGrpSpPr>
        <p:grpSpPr>
          <a:xfrm>
            <a:off x="1127558" y="819514"/>
            <a:ext cx="2252540" cy="631338"/>
            <a:chOff x="2539274" y="1457369"/>
            <a:chExt cx="2252540" cy="631338"/>
          </a:xfrm>
          <a:solidFill>
            <a:schemeClr val="bg2"/>
          </a:solidFill>
        </p:grpSpPr>
        <p:sp>
          <p:nvSpPr>
            <p:cNvPr id="6" name="TextBox 5">
              <a:extLst>
                <a:ext uri="{FF2B5EF4-FFF2-40B4-BE49-F238E27FC236}">
                  <a16:creationId xmlns:a16="http://schemas.microsoft.com/office/drawing/2014/main" id="{5F5C4E8D-7B7D-D0B9-060C-0E409225C394}"/>
                </a:ext>
              </a:extLst>
            </p:cNvPr>
            <p:cNvSpPr txBox="1"/>
            <p:nvPr/>
          </p:nvSpPr>
          <p:spPr>
            <a:xfrm>
              <a:off x="2539274" y="1457369"/>
              <a:ext cx="2252540" cy="400110"/>
            </a:xfrm>
            <a:prstGeom prst="rect">
              <a:avLst/>
            </a:prstGeom>
            <a:grp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480k unique users</a:t>
              </a:r>
            </a:p>
          </p:txBody>
        </p:sp>
        <p:sp>
          <p:nvSpPr>
            <p:cNvPr id="10" name="Right Arrow 9">
              <a:extLst>
                <a:ext uri="{FF2B5EF4-FFF2-40B4-BE49-F238E27FC236}">
                  <a16:creationId xmlns:a16="http://schemas.microsoft.com/office/drawing/2014/main" id="{AACBDB13-378B-4CF3-C77B-BCF91A5098FF}"/>
                </a:ext>
              </a:extLst>
            </p:cNvPr>
            <p:cNvSpPr/>
            <p:nvPr/>
          </p:nvSpPr>
          <p:spPr bwMode="auto">
            <a:xfrm rot="5400000">
              <a:off x="3440581" y="1787607"/>
              <a:ext cx="231227" cy="370974"/>
            </a:xfrm>
            <a:prstGeom prst="rightArrow">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grpSp>
      <p:grpSp>
        <p:nvGrpSpPr>
          <p:cNvPr id="16" name="Group 15">
            <a:extLst>
              <a:ext uri="{FF2B5EF4-FFF2-40B4-BE49-F238E27FC236}">
                <a16:creationId xmlns:a16="http://schemas.microsoft.com/office/drawing/2014/main" id="{AF79DAA9-8170-2170-4427-2CCBD14224FC}"/>
              </a:ext>
            </a:extLst>
          </p:cNvPr>
          <p:cNvGrpSpPr/>
          <p:nvPr/>
        </p:nvGrpSpPr>
        <p:grpSpPr>
          <a:xfrm>
            <a:off x="2057043" y="5151530"/>
            <a:ext cx="2646109" cy="751562"/>
            <a:chOff x="3258207" y="5044966"/>
            <a:chExt cx="2646109" cy="751562"/>
          </a:xfrm>
          <a:solidFill>
            <a:schemeClr val="bg2"/>
          </a:solidFill>
        </p:grpSpPr>
        <p:sp>
          <p:nvSpPr>
            <p:cNvPr id="7" name="TextBox 6">
              <a:extLst>
                <a:ext uri="{FF2B5EF4-FFF2-40B4-BE49-F238E27FC236}">
                  <a16:creationId xmlns:a16="http://schemas.microsoft.com/office/drawing/2014/main" id="{1EA4DA64-4E57-401C-BB0D-02664DA6A9B0}"/>
                </a:ext>
              </a:extLst>
            </p:cNvPr>
            <p:cNvSpPr txBox="1"/>
            <p:nvPr/>
          </p:nvSpPr>
          <p:spPr>
            <a:xfrm>
              <a:off x="3258207" y="5396418"/>
              <a:ext cx="2646109" cy="400110"/>
            </a:xfrm>
            <a:prstGeom prst="rect">
              <a:avLst/>
            </a:prstGeom>
            <a:grp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17,700 unique movies</a:t>
              </a:r>
            </a:p>
          </p:txBody>
        </p:sp>
        <p:sp>
          <p:nvSpPr>
            <p:cNvPr id="11" name="Right Arrow 10">
              <a:extLst>
                <a:ext uri="{FF2B5EF4-FFF2-40B4-BE49-F238E27FC236}">
                  <a16:creationId xmlns:a16="http://schemas.microsoft.com/office/drawing/2014/main" id="{23FA39BD-67EC-48F1-D0DC-5916A1579A1E}"/>
                </a:ext>
              </a:extLst>
            </p:cNvPr>
            <p:cNvSpPr/>
            <p:nvPr/>
          </p:nvSpPr>
          <p:spPr bwMode="auto">
            <a:xfrm rot="16200000">
              <a:off x="4004276" y="5099826"/>
              <a:ext cx="496464" cy="386743"/>
            </a:xfrm>
            <a:prstGeom prst="rightArrow">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grpSp>
      <p:grpSp>
        <p:nvGrpSpPr>
          <p:cNvPr id="15" name="Group 14">
            <a:extLst>
              <a:ext uri="{FF2B5EF4-FFF2-40B4-BE49-F238E27FC236}">
                <a16:creationId xmlns:a16="http://schemas.microsoft.com/office/drawing/2014/main" id="{10423ED3-040F-FC72-6A3E-216D7E8C1206}"/>
              </a:ext>
            </a:extLst>
          </p:cNvPr>
          <p:cNvGrpSpPr/>
          <p:nvPr/>
        </p:nvGrpSpPr>
        <p:grpSpPr>
          <a:xfrm>
            <a:off x="4185723" y="803776"/>
            <a:ext cx="1885068" cy="788948"/>
            <a:chOff x="6768781" y="3470493"/>
            <a:chExt cx="1885068" cy="788948"/>
          </a:xfrm>
          <a:solidFill>
            <a:schemeClr val="bg2"/>
          </a:solidFill>
        </p:grpSpPr>
        <p:sp>
          <p:nvSpPr>
            <p:cNvPr id="8" name="TextBox 7">
              <a:extLst>
                <a:ext uri="{FF2B5EF4-FFF2-40B4-BE49-F238E27FC236}">
                  <a16:creationId xmlns:a16="http://schemas.microsoft.com/office/drawing/2014/main" id="{BE82586D-555D-5188-71E8-0A150A8ABEB9}"/>
                </a:ext>
              </a:extLst>
            </p:cNvPr>
            <p:cNvSpPr txBox="1"/>
            <p:nvPr/>
          </p:nvSpPr>
          <p:spPr>
            <a:xfrm>
              <a:off x="6768781" y="3470493"/>
              <a:ext cx="1885068" cy="400110"/>
            </a:xfrm>
            <a:prstGeom prst="rect">
              <a:avLst/>
            </a:prstGeom>
            <a:grp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6 years of data</a:t>
              </a:r>
            </a:p>
          </p:txBody>
        </p:sp>
        <p:sp>
          <p:nvSpPr>
            <p:cNvPr id="12" name="Right Arrow 11">
              <a:extLst>
                <a:ext uri="{FF2B5EF4-FFF2-40B4-BE49-F238E27FC236}">
                  <a16:creationId xmlns:a16="http://schemas.microsoft.com/office/drawing/2014/main" id="{188D83AD-2FD3-9016-B147-078A803E2CFB}"/>
                </a:ext>
              </a:extLst>
            </p:cNvPr>
            <p:cNvSpPr/>
            <p:nvPr/>
          </p:nvSpPr>
          <p:spPr bwMode="auto">
            <a:xfrm rot="5400000">
              <a:off x="6891830" y="3855746"/>
              <a:ext cx="420647" cy="386743"/>
            </a:xfrm>
            <a:prstGeom prst="rightArrow">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grpSp>
      <p:grpSp>
        <p:nvGrpSpPr>
          <p:cNvPr id="17" name="Group 16">
            <a:extLst>
              <a:ext uri="{FF2B5EF4-FFF2-40B4-BE49-F238E27FC236}">
                <a16:creationId xmlns:a16="http://schemas.microsoft.com/office/drawing/2014/main" id="{6628FF36-53BD-237A-88BA-D38BA72AA1B8}"/>
              </a:ext>
            </a:extLst>
          </p:cNvPr>
          <p:cNvGrpSpPr/>
          <p:nvPr/>
        </p:nvGrpSpPr>
        <p:grpSpPr>
          <a:xfrm>
            <a:off x="67080" y="2865425"/>
            <a:ext cx="1912557" cy="412308"/>
            <a:chOff x="773114" y="3349328"/>
            <a:chExt cx="1912557" cy="412308"/>
          </a:xfrm>
          <a:solidFill>
            <a:schemeClr val="bg2"/>
          </a:solidFill>
        </p:grpSpPr>
        <p:sp>
          <p:nvSpPr>
            <p:cNvPr id="9" name="TextBox 8">
              <a:extLst>
                <a:ext uri="{FF2B5EF4-FFF2-40B4-BE49-F238E27FC236}">
                  <a16:creationId xmlns:a16="http://schemas.microsoft.com/office/drawing/2014/main" id="{524A98C2-508E-1D40-7621-357749A9B208}"/>
                </a:ext>
              </a:extLst>
            </p:cNvPr>
            <p:cNvSpPr txBox="1"/>
            <p:nvPr/>
          </p:nvSpPr>
          <p:spPr>
            <a:xfrm>
              <a:off x="773114" y="3349328"/>
              <a:ext cx="1416093" cy="400110"/>
            </a:xfrm>
            <a:prstGeom prst="rect">
              <a:avLst/>
            </a:prstGeom>
            <a:grp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102M rows</a:t>
              </a:r>
            </a:p>
          </p:txBody>
        </p:sp>
        <p:sp>
          <p:nvSpPr>
            <p:cNvPr id="13" name="Right Arrow 12">
              <a:extLst>
                <a:ext uri="{FF2B5EF4-FFF2-40B4-BE49-F238E27FC236}">
                  <a16:creationId xmlns:a16="http://schemas.microsoft.com/office/drawing/2014/main" id="{D97D335D-372C-FC77-F447-19D04707C8B4}"/>
                </a:ext>
              </a:extLst>
            </p:cNvPr>
            <p:cNvSpPr/>
            <p:nvPr/>
          </p:nvSpPr>
          <p:spPr bwMode="auto">
            <a:xfrm>
              <a:off x="2189207" y="3374893"/>
              <a:ext cx="496464" cy="386743"/>
            </a:xfrm>
            <a:prstGeom prst="rightArrow">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endParaRPr lang="en-US">
                <a:cs typeface="Arial" pitchFamily="34" charset="0"/>
              </a:endParaRPr>
            </a:p>
          </p:txBody>
        </p:sp>
      </p:grpSp>
      <p:graphicFrame>
        <p:nvGraphicFramePr>
          <p:cNvPr id="19" name="Table 18">
            <a:extLst>
              <a:ext uri="{FF2B5EF4-FFF2-40B4-BE49-F238E27FC236}">
                <a16:creationId xmlns:a16="http://schemas.microsoft.com/office/drawing/2014/main" id="{4B15B820-7C5E-515A-2218-6CA418FC481B}"/>
              </a:ext>
            </a:extLst>
          </p:cNvPr>
          <p:cNvGraphicFramePr>
            <a:graphicFrameLocks noGrp="1"/>
          </p:cNvGraphicFramePr>
          <p:nvPr>
            <p:extLst>
              <p:ext uri="{D42A27DB-BD31-4B8C-83A1-F6EECF244321}">
                <p14:modId xmlns:p14="http://schemas.microsoft.com/office/powerpoint/2010/main" val="3260763358"/>
              </p:ext>
            </p:extLst>
          </p:nvPr>
        </p:nvGraphicFramePr>
        <p:xfrm>
          <a:off x="4863661" y="5425748"/>
          <a:ext cx="2464678" cy="1361451"/>
        </p:xfrm>
        <a:graphic>
          <a:graphicData uri="http://schemas.openxmlformats.org/drawingml/2006/table">
            <a:tbl>
              <a:tblPr firstRow="1" bandRow="1">
                <a:tableStyleId>{93296810-A885-4BE3-A3E7-6D5BEEA58F35}</a:tableStyleId>
              </a:tblPr>
              <a:tblGrid>
                <a:gridCol w="790414">
                  <a:extLst>
                    <a:ext uri="{9D8B030D-6E8A-4147-A177-3AD203B41FA5}">
                      <a16:colId xmlns:a16="http://schemas.microsoft.com/office/drawing/2014/main" val="1884039790"/>
                    </a:ext>
                  </a:extLst>
                </a:gridCol>
                <a:gridCol w="1674264">
                  <a:extLst>
                    <a:ext uri="{9D8B030D-6E8A-4147-A177-3AD203B41FA5}">
                      <a16:colId xmlns:a16="http://schemas.microsoft.com/office/drawing/2014/main" val="1289832975"/>
                    </a:ext>
                  </a:extLst>
                </a:gridCol>
              </a:tblGrid>
              <a:tr h="300330">
                <a:tc>
                  <a:txBody>
                    <a:bodyPr/>
                    <a:lstStyle/>
                    <a:p>
                      <a:pPr algn="ctr"/>
                      <a:r>
                        <a:rPr lang="en-US" sz="1200" dirty="0">
                          <a:solidFill>
                            <a:schemeClr val="bg1"/>
                          </a:solidFill>
                        </a:rPr>
                        <a:t>Movie</a:t>
                      </a:r>
                    </a:p>
                  </a:txBody>
                  <a:tcPr/>
                </a:tc>
                <a:tc>
                  <a:txBody>
                    <a:bodyPr/>
                    <a:lstStyle/>
                    <a:p>
                      <a:pPr algn="ctr"/>
                      <a:r>
                        <a:rPr lang="en-US" sz="1200" dirty="0">
                          <a:solidFill>
                            <a:schemeClr val="bg1"/>
                          </a:solidFill>
                        </a:rPr>
                        <a:t>Title</a:t>
                      </a:r>
                    </a:p>
                  </a:txBody>
                  <a:tcPr/>
                </a:tc>
                <a:extLst>
                  <a:ext uri="{0D108BD9-81ED-4DB2-BD59-A6C34878D82A}">
                    <a16:rowId xmlns:a16="http://schemas.microsoft.com/office/drawing/2014/main" val="2262761821"/>
                  </a:ext>
                </a:extLst>
              </a:tr>
              <a:tr h="353707">
                <a:tc>
                  <a:txBody>
                    <a:bodyPr/>
                    <a:lstStyle/>
                    <a:p>
                      <a:pPr algn="ctr"/>
                      <a:r>
                        <a:rPr lang="en-US" sz="1200" dirty="0"/>
                        <a:t>1</a:t>
                      </a:r>
                    </a:p>
                  </a:txBody>
                  <a:tcPr/>
                </a:tc>
                <a:tc>
                  <a:txBody>
                    <a:bodyPr/>
                    <a:lstStyle/>
                    <a:p>
                      <a:pPr algn="ctr"/>
                      <a:r>
                        <a:rPr lang="en-US" sz="1200" dirty="0"/>
                        <a:t>Dinosaur Planet</a:t>
                      </a:r>
                    </a:p>
                  </a:txBody>
                  <a:tcPr/>
                </a:tc>
                <a:extLst>
                  <a:ext uri="{0D108BD9-81ED-4DB2-BD59-A6C34878D82A}">
                    <a16:rowId xmlns:a16="http://schemas.microsoft.com/office/drawing/2014/main" val="1175218754"/>
                  </a:ext>
                </a:extLst>
              </a:tr>
              <a:tr h="353707">
                <a:tc>
                  <a:txBody>
                    <a:bodyPr/>
                    <a:lstStyle/>
                    <a:p>
                      <a:pPr algn="ctr"/>
                      <a:r>
                        <a:rPr lang="en-US" sz="1200" dirty="0"/>
                        <a:t>2</a:t>
                      </a:r>
                    </a:p>
                  </a:txBody>
                  <a:tcPr/>
                </a:tc>
                <a:tc>
                  <a:txBody>
                    <a:bodyPr/>
                    <a:lstStyle/>
                    <a:p>
                      <a:pPr algn="ctr"/>
                      <a:r>
                        <a:rPr lang="en-US" sz="1200" dirty="0"/>
                        <a:t>Midnight Run</a:t>
                      </a:r>
                    </a:p>
                  </a:txBody>
                  <a:tcPr/>
                </a:tc>
                <a:extLst>
                  <a:ext uri="{0D108BD9-81ED-4DB2-BD59-A6C34878D82A}">
                    <a16:rowId xmlns:a16="http://schemas.microsoft.com/office/drawing/2014/main" val="680823549"/>
                  </a:ext>
                </a:extLst>
              </a:tr>
              <a:tr h="353707">
                <a:tc>
                  <a:txBody>
                    <a:bodyPr/>
                    <a:lstStyle/>
                    <a:p>
                      <a:pPr algn="ctr"/>
                      <a:r>
                        <a:rPr lang="en-US" sz="1200" dirty="0"/>
                        <a:t>…</a:t>
                      </a:r>
                    </a:p>
                  </a:txBody>
                  <a:tcPr/>
                </a:tc>
                <a:tc>
                  <a:txBody>
                    <a:bodyPr/>
                    <a:lstStyle/>
                    <a:p>
                      <a:pPr algn="ctr"/>
                      <a:r>
                        <a:rPr lang="en-US" sz="1200" dirty="0"/>
                        <a:t>…</a:t>
                      </a:r>
                    </a:p>
                  </a:txBody>
                  <a:tcPr/>
                </a:tc>
                <a:extLst>
                  <a:ext uri="{0D108BD9-81ED-4DB2-BD59-A6C34878D82A}">
                    <a16:rowId xmlns:a16="http://schemas.microsoft.com/office/drawing/2014/main" val="2161370895"/>
                  </a:ext>
                </a:extLst>
              </a:tr>
            </a:tbl>
          </a:graphicData>
        </a:graphic>
      </p:graphicFrame>
    </p:spTree>
    <p:extLst>
      <p:ext uri="{BB962C8B-B14F-4D97-AF65-F5344CB8AC3E}">
        <p14:creationId xmlns:p14="http://schemas.microsoft.com/office/powerpoint/2010/main" val="227648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Slide Number Placeholder 4">
            <a:extLst>
              <a:ext uri="{FF2B5EF4-FFF2-40B4-BE49-F238E27FC236}">
                <a16:creationId xmlns:a16="http://schemas.microsoft.com/office/drawing/2014/main" id="{634B2EE8-BE02-E009-46D7-2F5A3CCDBD85}"/>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0031CBD7-F902-7847-9BAC-63E9D13F6938}" type="slidenum">
              <a:rPr lang="en-US" altLang="en-US" smtClean="0"/>
              <a:pPr/>
              <a:t>21</a:t>
            </a:fld>
            <a:endParaRPr lang="en-US" altLang="en-US" sz="1292"/>
          </a:p>
        </p:txBody>
      </p:sp>
      <p:sp>
        <p:nvSpPr>
          <p:cNvPr id="24577" name="Rectangle 2">
            <a:extLst>
              <a:ext uri="{FF2B5EF4-FFF2-40B4-BE49-F238E27FC236}">
                <a16:creationId xmlns:a16="http://schemas.microsoft.com/office/drawing/2014/main" id="{51AD44FF-60ED-786D-CB58-61CB7E7CA227}"/>
              </a:ext>
            </a:extLst>
          </p:cNvPr>
          <p:cNvSpPr>
            <a:spLocks noGrp="1" noChangeArrowheads="1"/>
          </p:cNvSpPr>
          <p:nvPr>
            <p:ph type="title"/>
          </p:nvPr>
        </p:nvSpPr>
        <p:spPr/>
        <p:txBody>
          <a:bodyPr/>
          <a:lstStyle/>
          <a:p>
            <a:r>
              <a:rPr lang="en-US" altLang="en-US">
                <a:ea typeface="ＭＳ Ｐゴシック" panose="020B0600070205080204" pitchFamily="34" charset="-128"/>
              </a:rPr>
              <a:t>Data Characteristics</a:t>
            </a:r>
          </a:p>
        </p:txBody>
      </p:sp>
      <p:graphicFrame>
        <p:nvGraphicFramePr>
          <p:cNvPr id="24578" name="Object 2">
            <a:extLst>
              <a:ext uri="{FF2B5EF4-FFF2-40B4-BE49-F238E27FC236}">
                <a16:creationId xmlns:a16="http://schemas.microsoft.com/office/drawing/2014/main" id="{C1B2F40B-ABEC-E9C2-C994-0F67BB978B1F}"/>
              </a:ext>
            </a:extLst>
          </p:cNvPr>
          <p:cNvGraphicFramePr>
            <a:graphicFrameLocks noChangeAspect="1"/>
          </p:cNvGraphicFramePr>
          <p:nvPr/>
        </p:nvGraphicFramePr>
        <p:xfrm>
          <a:off x="1676401" y="1178169"/>
          <a:ext cx="4614497" cy="2391508"/>
        </p:xfrm>
        <a:graphic>
          <a:graphicData uri="http://schemas.openxmlformats.org/presentationml/2006/ole">
            <mc:AlternateContent xmlns:mc="http://schemas.openxmlformats.org/markup-compatibility/2006">
              <mc:Choice xmlns:v="urn:schemas-microsoft-com:vml" Requires="v">
                <p:oleObj name="Document" r:id="rId2" imgW="3136900" imgH="1752600" progId="Word.Document.8">
                  <p:embed/>
                </p:oleObj>
              </mc:Choice>
              <mc:Fallback>
                <p:oleObj name="Document" r:id="rId2" imgW="3136900" imgH="1752600" progId="Word.Document.8">
                  <p:embed/>
                  <p:pic>
                    <p:nvPicPr>
                      <p:cNvPr id="24578" name="Object 2">
                        <a:extLst>
                          <a:ext uri="{FF2B5EF4-FFF2-40B4-BE49-F238E27FC236}">
                            <a16:creationId xmlns:a16="http://schemas.microsoft.com/office/drawing/2014/main" id="{C1B2F40B-ABEC-E9C2-C994-0F67BB978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178169"/>
                        <a:ext cx="4614497" cy="2391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79" name="Object 10">
            <a:extLst>
              <a:ext uri="{FF2B5EF4-FFF2-40B4-BE49-F238E27FC236}">
                <a16:creationId xmlns:a16="http://schemas.microsoft.com/office/drawing/2014/main" id="{30B05C7A-659F-F604-8EBB-41F3E4D1D6CE}"/>
              </a:ext>
            </a:extLst>
          </p:cNvPr>
          <p:cNvGraphicFramePr>
            <a:graphicFrameLocks noChangeAspect="1"/>
          </p:cNvGraphicFramePr>
          <p:nvPr>
            <p:extLst>
              <p:ext uri="{D42A27DB-BD31-4B8C-83A1-F6EECF244321}">
                <p14:modId xmlns:p14="http://schemas.microsoft.com/office/powerpoint/2010/main" val="1187982334"/>
              </p:ext>
            </p:extLst>
          </p:nvPr>
        </p:nvGraphicFramePr>
        <p:xfrm>
          <a:off x="6518030" y="3569677"/>
          <a:ext cx="3997569" cy="2321169"/>
        </p:xfrm>
        <a:graphic>
          <a:graphicData uri="http://schemas.openxmlformats.org/presentationml/2006/ole">
            <mc:AlternateContent xmlns:mc="http://schemas.openxmlformats.org/markup-compatibility/2006">
              <mc:Choice xmlns:v="urn:schemas-microsoft-com:vml" Requires="v">
                <p:oleObj name="Worksheet" r:id="rId4" imgW="6172200" imgH="3886200" progId="Excel.Sheet.8">
                  <p:embed/>
                </p:oleObj>
              </mc:Choice>
              <mc:Fallback>
                <p:oleObj name="Worksheet" r:id="rId4" imgW="6172200" imgH="3886200" progId="Excel.Sheet.8">
                  <p:embed/>
                  <p:pic>
                    <p:nvPicPr>
                      <p:cNvPr id="24579" name="Object 10">
                        <a:extLst>
                          <a:ext uri="{FF2B5EF4-FFF2-40B4-BE49-F238E27FC236}">
                            <a16:creationId xmlns:a16="http://schemas.microsoft.com/office/drawing/2014/main" id="{30B05C7A-659F-F604-8EBB-41F3E4D1D6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8030" y="3569677"/>
                        <a:ext cx="3997569" cy="2321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78" name="Slide Number Placeholder 6">
            <a:extLst>
              <a:ext uri="{FF2B5EF4-FFF2-40B4-BE49-F238E27FC236}">
                <a16:creationId xmlns:a16="http://schemas.microsoft.com/office/drawing/2014/main" id="{FD828983-C627-17AA-F156-3111202094B6}"/>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0031CBD7-F902-7847-9BAC-63E9D13F6938}" type="slidenum">
              <a:rPr lang="en-US" altLang="en-US" smtClean="0"/>
              <a:pPr/>
              <a:t>22</a:t>
            </a:fld>
            <a:endParaRPr lang="en-US" altLang="en-US" sz="1292"/>
          </a:p>
        </p:txBody>
      </p:sp>
      <p:sp>
        <p:nvSpPr>
          <p:cNvPr id="26626" name="Rectangle 3">
            <a:extLst>
              <a:ext uri="{FF2B5EF4-FFF2-40B4-BE49-F238E27FC236}">
                <a16:creationId xmlns:a16="http://schemas.microsoft.com/office/drawing/2014/main" id="{343C5E93-8877-870D-A31B-67C396C53ED8}"/>
              </a:ext>
            </a:extLst>
          </p:cNvPr>
          <p:cNvSpPr>
            <a:spLocks noGrp="1" noChangeArrowheads="1"/>
          </p:cNvSpPr>
          <p:nvPr>
            <p:ph idx="1"/>
          </p:nvPr>
        </p:nvSpPr>
        <p:spPr>
          <a:xfrm>
            <a:off x="1981201" y="967155"/>
            <a:ext cx="8037635" cy="4056185"/>
          </a:xfrm>
        </p:spPr>
        <p:txBody>
          <a:bodyPr/>
          <a:lstStyle/>
          <a:p>
            <a:pPr marL="0" indent="0"/>
            <a:r>
              <a:rPr lang="en-US" altLang="en-US">
                <a:ea typeface="ＭＳ Ｐゴシック" panose="020B0600070205080204" pitchFamily="34" charset="-128"/>
              </a:rPr>
              <a:t> Most Loved Movies</a:t>
            </a:r>
          </a:p>
        </p:txBody>
      </p:sp>
      <p:sp>
        <p:nvSpPr>
          <p:cNvPr id="26625" name="Rectangle 2">
            <a:extLst>
              <a:ext uri="{FF2B5EF4-FFF2-40B4-BE49-F238E27FC236}">
                <a16:creationId xmlns:a16="http://schemas.microsoft.com/office/drawing/2014/main" id="{9C9FDFE7-F4F6-1A80-6499-F9F0F8499437}"/>
              </a:ext>
            </a:extLst>
          </p:cNvPr>
          <p:cNvSpPr>
            <a:spLocks noGrp="1" noChangeArrowheads="1"/>
          </p:cNvSpPr>
          <p:nvPr>
            <p:ph type="title"/>
          </p:nvPr>
        </p:nvSpPr>
        <p:spPr>
          <a:xfrm>
            <a:off x="1981201" y="263770"/>
            <a:ext cx="8037635" cy="492369"/>
          </a:xfrm>
        </p:spPr>
        <p:txBody>
          <a:bodyPr>
            <a:normAutofit fontScale="90000"/>
          </a:bodyPr>
          <a:lstStyle/>
          <a:p>
            <a:r>
              <a:rPr lang="en-US" altLang="en-US">
                <a:ea typeface="ＭＳ Ｐゴシック" panose="020B0600070205080204" pitchFamily="34" charset="-128"/>
              </a:rPr>
              <a:t>Data Characteristics</a:t>
            </a:r>
          </a:p>
        </p:txBody>
      </p:sp>
      <p:graphicFrame>
        <p:nvGraphicFramePr>
          <p:cNvPr id="70660" name="Group 4">
            <a:extLst>
              <a:ext uri="{FF2B5EF4-FFF2-40B4-BE49-F238E27FC236}">
                <a16:creationId xmlns:a16="http://schemas.microsoft.com/office/drawing/2014/main" id="{365A8FD4-36E2-F65E-98B6-CE500FDCA6AA}"/>
              </a:ext>
            </a:extLst>
          </p:cNvPr>
          <p:cNvGraphicFramePr>
            <a:graphicFrameLocks noGrp="1"/>
          </p:cNvGraphicFramePr>
          <p:nvPr/>
        </p:nvGraphicFramePr>
        <p:xfrm>
          <a:off x="1905001" y="967155"/>
          <a:ext cx="8037634" cy="2187819"/>
        </p:xfrm>
        <a:graphic>
          <a:graphicData uri="http://schemas.openxmlformats.org/drawingml/2006/table">
            <a:tbl>
              <a:tblPr rtl="1"/>
              <a:tblGrid>
                <a:gridCol w="1417027">
                  <a:extLst>
                    <a:ext uri="{9D8B030D-6E8A-4147-A177-3AD203B41FA5}">
                      <a16:colId xmlns:a16="http://schemas.microsoft.com/office/drawing/2014/main" val="3239512908"/>
                    </a:ext>
                  </a:extLst>
                </a:gridCol>
                <a:gridCol w="1441938">
                  <a:extLst>
                    <a:ext uri="{9D8B030D-6E8A-4147-A177-3AD203B41FA5}">
                      <a16:colId xmlns:a16="http://schemas.microsoft.com/office/drawing/2014/main" val="1557147181"/>
                    </a:ext>
                  </a:extLst>
                </a:gridCol>
                <a:gridCol w="5178669">
                  <a:extLst>
                    <a:ext uri="{9D8B030D-6E8A-4147-A177-3AD203B41FA5}">
                      <a16:colId xmlns:a16="http://schemas.microsoft.com/office/drawing/2014/main" val="2613936125"/>
                    </a:ext>
                  </a:extLst>
                </a:gridCol>
              </a:tblGrid>
              <a:tr h="312127">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Count</a:t>
                      </a:r>
                    </a:p>
                  </a:txBody>
                  <a:tcPr marT="42203" marB="42203" horzOverflow="overflow">
                    <a:lnL>
                      <a:noFill/>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lnTlToBr>
                      <a:noFill/>
                    </a:lnTlToBr>
                    <a:lnBlToTr>
                      <a:noFill/>
                    </a:lnBlToTr>
                    <a:solidFill>
                      <a:srgbClr val="ECB2C7"/>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Avg rating</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lnTlToBr>
                      <a:noFill/>
                    </a:lnTlToBr>
                    <a:lnBlToTr>
                      <a:noFill/>
                    </a:lnBlToTr>
                    <a:solidFill>
                      <a:srgbClr val="ECB2C7"/>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300" b="1"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Most Loved Movies</a:t>
                      </a:r>
                      <a:endPar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endParaRPr>
                    </a:p>
                  </a:txBody>
                  <a:tcPr marT="42203" marB="42203" horzOverflow="overflow">
                    <a:lnL w="28575"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lnTlToBr>
                      <a:noFill/>
                    </a:lnTlToBr>
                    <a:lnBlToTr>
                      <a:noFill/>
                    </a:lnBlToTr>
                    <a:solidFill>
                      <a:srgbClr val="ECB2C7"/>
                    </a:solidFill>
                  </a:tcPr>
                </a:tc>
                <a:extLst>
                  <a:ext uri="{0D108BD9-81ED-4DB2-BD59-A6C34878D82A}">
                    <a16:rowId xmlns:a16="http://schemas.microsoft.com/office/drawing/2014/main" val="1194745867"/>
                  </a:ext>
                </a:extLst>
              </a:tr>
              <a:tr h="313592">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137812 </a:t>
                      </a:r>
                    </a:p>
                  </a:txBody>
                  <a:tcPr marT="42203" marB="42203" horzOverflow="overflow">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4.593 </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The Shawshank Redemption </a:t>
                      </a:r>
                    </a:p>
                  </a:txBody>
                  <a:tcPr marT="42203" marB="42203" horzOverflow="overflow">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a:noFill/>
                    </a:lnB>
                    <a:lnTlToBr>
                      <a:noFill/>
                    </a:lnTlToBr>
                    <a:lnBlToTr>
                      <a:noFill/>
                    </a:lnBlToTr>
                    <a:solidFill>
                      <a:srgbClr val="ECFAA4"/>
                    </a:solidFill>
                  </a:tcPr>
                </a:tc>
                <a:extLst>
                  <a:ext uri="{0D108BD9-81ED-4DB2-BD59-A6C34878D82A}">
                    <a16:rowId xmlns:a16="http://schemas.microsoft.com/office/drawing/2014/main" val="3118613036"/>
                  </a:ext>
                </a:extLst>
              </a:tr>
              <a:tr h="312127">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133597 </a:t>
                      </a:r>
                    </a:p>
                  </a:txBody>
                  <a:tcPr marT="42203" marB="42203" horzOverflow="overflow">
                    <a:lnL>
                      <a:noFill/>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4.545 </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Lord of the Rings</a:t>
                      </a:r>
                      <a:r>
                        <a:rPr kumimoji="0" lang="he-IL"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 </a:t>
                      </a: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The Return of the King</a:t>
                      </a:r>
                    </a:p>
                  </a:txBody>
                  <a:tcPr marT="42203" marB="42203"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ECFAA4"/>
                    </a:solidFill>
                  </a:tcPr>
                </a:tc>
                <a:extLst>
                  <a:ext uri="{0D108BD9-81ED-4DB2-BD59-A6C34878D82A}">
                    <a16:rowId xmlns:a16="http://schemas.microsoft.com/office/drawing/2014/main" val="42497713"/>
                  </a:ext>
                </a:extLst>
              </a:tr>
              <a:tr h="312127">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180883</a:t>
                      </a:r>
                      <a:r>
                        <a:rPr kumimoji="0" lang="he-IL"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 </a:t>
                      </a:r>
                      <a:endPar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endParaRPr>
                    </a:p>
                  </a:txBody>
                  <a:tcPr marT="42203" marB="42203" horzOverflow="overflow">
                    <a:lnL>
                      <a:noFill/>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4.306 </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The Green Mile </a:t>
                      </a:r>
                    </a:p>
                  </a:txBody>
                  <a:tcPr marT="42203" marB="42203"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ECFAA4"/>
                    </a:solidFill>
                  </a:tcPr>
                </a:tc>
                <a:extLst>
                  <a:ext uri="{0D108BD9-81ED-4DB2-BD59-A6C34878D82A}">
                    <a16:rowId xmlns:a16="http://schemas.microsoft.com/office/drawing/2014/main" val="1829735537"/>
                  </a:ext>
                </a:extLst>
              </a:tr>
              <a:tr h="313592">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150676 </a:t>
                      </a:r>
                    </a:p>
                  </a:txBody>
                  <a:tcPr marT="42203" marB="42203" horzOverflow="overflow">
                    <a:lnL>
                      <a:noFill/>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4.460</a:t>
                      </a:r>
                      <a:r>
                        <a:rPr kumimoji="0" lang="he-IL"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 </a:t>
                      </a:r>
                      <a:endPar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endParaRP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Lord of the Rings</a:t>
                      </a:r>
                      <a:r>
                        <a:rPr kumimoji="0" lang="he-IL"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 </a:t>
                      </a: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The Two Towers </a:t>
                      </a:r>
                    </a:p>
                  </a:txBody>
                  <a:tcPr marT="42203" marB="42203"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ECFAA4"/>
                    </a:solidFill>
                  </a:tcPr>
                </a:tc>
                <a:extLst>
                  <a:ext uri="{0D108BD9-81ED-4DB2-BD59-A6C34878D82A}">
                    <a16:rowId xmlns:a16="http://schemas.microsoft.com/office/drawing/2014/main" val="550604445"/>
                  </a:ext>
                </a:extLst>
              </a:tr>
              <a:tr h="312127">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139050 </a:t>
                      </a:r>
                    </a:p>
                  </a:txBody>
                  <a:tcPr marT="42203" marB="42203" horzOverflow="overflow">
                    <a:lnL>
                      <a:noFill/>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4.415 </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Finding Nemo </a:t>
                      </a:r>
                    </a:p>
                  </a:txBody>
                  <a:tcPr marT="42203" marB="42203"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ECFAA4"/>
                    </a:solidFill>
                  </a:tcPr>
                </a:tc>
                <a:extLst>
                  <a:ext uri="{0D108BD9-81ED-4DB2-BD59-A6C34878D82A}">
                    <a16:rowId xmlns:a16="http://schemas.microsoft.com/office/drawing/2014/main" val="1841936957"/>
                  </a:ext>
                </a:extLst>
              </a:tr>
              <a:tr h="312127">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117456 </a:t>
                      </a:r>
                    </a:p>
                  </a:txBody>
                  <a:tcPr marT="42203" marB="42203" horzOverflow="overflow">
                    <a:lnL>
                      <a:noFill/>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a:ln>
                            <a:noFill/>
                          </a:ln>
                          <a:solidFill>
                            <a:schemeClr val="tx1"/>
                          </a:solidFill>
                          <a:effectLst/>
                          <a:latin typeface="Verdana" panose="020B0604030504040204" pitchFamily="34" charset="0"/>
                          <a:ea typeface="ＭＳ Ｐゴシック" panose="020B0600070205080204" pitchFamily="34" charset="-128"/>
                        </a:rPr>
                        <a:t>4.504 </a:t>
                      </a:r>
                    </a:p>
                  </a:txBody>
                  <a:tcPr marT="42203" marB="42203"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rgbClr val="ECFAA4"/>
                    </a:solidFill>
                  </a:tcPr>
                </a:tc>
                <a:tc>
                  <a:txBody>
                    <a:bodyPr/>
                    <a:lstStyle>
                      <a:lvl1pPr>
                        <a:spcBef>
                          <a:spcPct val="20000"/>
                        </a:spcBef>
                        <a:defRPr sz="2800">
                          <a:solidFill>
                            <a:schemeClr val="tx1"/>
                          </a:solidFill>
                          <a:latin typeface="Garamond" panose="02020404030301010803" pitchFamily="18" charset="0"/>
                          <a:ea typeface="ＭＳ Ｐゴシック" panose="020B0600070205080204" pitchFamily="34" charset="-128"/>
                        </a:defRPr>
                      </a:lvl1pPr>
                      <a:lvl2pPr marL="742950" indent="-285750">
                        <a:spcBef>
                          <a:spcPct val="20000"/>
                        </a:spcBef>
                        <a:defRPr sz="2400">
                          <a:solidFill>
                            <a:schemeClr val="tx1"/>
                          </a:solidFill>
                          <a:latin typeface="Garamond" panose="02020404030301010803" pitchFamily="18" charset="0"/>
                          <a:ea typeface="ＭＳ Ｐゴシック" panose="020B0600070205080204" pitchFamily="34" charset="-128"/>
                        </a:defRPr>
                      </a:lvl2pPr>
                      <a:lvl3pPr marL="1143000" indent="-2286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a:spcBef>
                          <a:spcPct val="20000"/>
                        </a:spcBef>
                        <a:defRPr>
                          <a:solidFill>
                            <a:schemeClr val="tx1"/>
                          </a:solidFill>
                          <a:latin typeface="Garamond" panose="02020404030301010803" pitchFamily="18" charset="0"/>
                          <a:ea typeface="ＭＳ Ｐゴシック" panose="020B0600070205080204" pitchFamily="34" charset="-128"/>
                        </a:defRPr>
                      </a:lvl4pPr>
                      <a:lvl5pPr marL="2057400" indent="-2286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altLang="en-US" sz="1100" b="0" i="0" u="none" strike="noStrike" cap="none" normalizeH="0" baseline="0" dirty="0">
                          <a:ln>
                            <a:noFill/>
                          </a:ln>
                          <a:solidFill>
                            <a:schemeClr val="tx1"/>
                          </a:solidFill>
                          <a:effectLst/>
                          <a:latin typeface="Verdana" panose="020B0604030504040204" pitchFamily="34" charset="0"/>
                          <a:ea typeface="ＭＳ Ｐゴシック" panose="020B0600070205080204" pitchFamily="34" charset="-128"/>
                        </a:rPr>
                        <a:t>Raiders of the Lost Ark </a:t>
                      </a:r>
                    </a:p>
                  </a:txBody>
                  <a:tcPr marT="42203" marB="42203"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ECFAA4"/>
                    </a:solidFill>
                  </a:tcPr>
                </a:tc>
                <a:extLst>
                  <a:ext uri="{0D108BD9-81ED-4DB2-BD59-A6C34878D82A}">
                    <a16:rowId xmlns:a16="http://schemas.microsoft.com/office/drawing/2014/main" val="1826670389"/>
                  </a:ext>
                </a:extLst>
              </a:tr>
            </a:tbl>
          </a:graphicData>
        </a:graphic>
      </p:graphicFrame>
      <p:graphicFrame>
        <p:nvGraphicFramePr>
          <p:cNvPr id="70694" name="Group 38">
            <a:extLst>
              <a:ext uri="{FF2B5EF4-FFF2-40B4-BE49-F238E27FC236}">
                <a16:creationId xmlns:a16="http://schemas.microsoft.com/office/drawing/2014/main" id="{2F53579E-BA8C-08AE-47DE-3AAF33600893}"/>
              </a:ext>
            </a:extLst>
          </p:cNvPr>
          <p:cNvGraphicFramePr>
            <a:graphicFrameLocks noGrp="1"/>
          </p:cNvGraphicFramePr>
          <p:nvPr/>
        </p:nvGraphicFramePr>
        <p:xfrm>
          <a:off x="2209800" y="3710354"/>
          <a:ext cx="3352800" cy="2031024"/>
        </p:xfrm>
        <a:graphic>
          <a:graphicData uri="http://schemas.openxmlformats.org/drawingml/2006/table">
            <a:tbl>
              <a:tblPr rtl="1"/>
              <a:tblGrid>
                <a:gridCol w="3352800">
                  <a:extLst>
                    <a:ext uri="{9D8B030D-6E8A-4147-A177-3AD203B41FA5}">
                      <a16:colId xmlns:a16="http://schemas.microsoft.com/office/drawing/2014/main" val="20000"/>
                    </a:ext>
                  </a:extLst>
                </a:gridCol>
              </a:tblGrid>
              <a:tr h="337597">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700" b="1" i="0" u="none" strike="noStrike" cap="none" normalizeH="0" baseline="0" dirty="0">
                          <a:ln>
                            <a:noFill/>
                          </a:ln>
                          <a:solidFill>
                            <a:schemeClr val="tx1"/>
                          </a:solidFill>
                          <a:effectLst/>
                          <a:latin typeface="Verdana" charset="0"/>
                          <a:ea typeface="ＭＳ Ｐゴシック" charset="0"/>
                          <a:cs typeface="ＭＳ Ｐゴシック" charset="0"/>
                        </a:rPr>
                        <a:t>Most Rated Movies</a:t>
                      </a:r>
                      <a:endParaRPr kumimoji="0" lang="en-US" sz="1100" b="0" i="0" u="none" strike="noStrike" cap="none" normalizeH="0" baseline="0" dirty="0">
                        <a:ln>
                          <a:noFill/>
                        </a:ln>
                        <a:solidFill>
                          <a:schemeClr val="tx1"/>
                        </a:solidFill>
                        <a:effectLst/>
                        <a:latin typeface="Verdana" charset="0"/>
                        <a:ea typeface="ＭＳ Ｐゴシック" charset="0"/>
                        <a:cs typeface="ＭＳ Ｐゴシック" charset="0"/>
                      </a:endParaRP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B2C7"/>
                    </a:solidFill>
                  </a:tcPr>
                </a:tc>
                <a:extLst>
                  <a:ext uri="{0D108BD9-81ED-4DB2-BD59-A6C34878D82A}">
                    <a16:rowId xmlns:a16="http://schemas.microsoft.com/office/drawing/2014/main" val="10000"/>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Miss Congeniality </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ECFAA4"/>
                    </a:solidFill>
                  </a:tcPr>
                </a:tc>
                <a:extLst>
                  <a:ext uri="{0D108BD9-81ED-4DB2-BD59-A6C34878D82A}">
                    <a16:rowId xmlns:a16="http://schemas.microsoft.com/office/drawing/2014/main" val="10001"/>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Independence Day </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2"/>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The Patriot </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3"/>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The Day After Tomorrow </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4"/>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Pretty Woman </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5"/>
                  </a:ext>
                </a:extLst>
              </a:tr>
              <a:tr h="281261">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dirty="0">
                          <a:ln>
                            <a:noFill/>
                          </a:ln>
                          <a:solidFill>
                            <a:schemeClr val="tx1"/>
                          </a:solidFill>
                          <a:effectLst/>
                          <a:latin typeface="Verdana" charset="0"/>
                          <a:ea typeface="ＭＳ Ｐゴシック" charset="0"/>
                          <a:cs typeface="ＭＳ Ｐゴシック" charset="0"/>
                        </a:rPr>
                        <a:t>Pirates of the Caribbean</a:t>
                      </a:r>
                    </a:p>
                  </a:txBody>
                  <a:tcPr marT="42189" marB="421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ECFAA4"/>
                    </a:solidFill>
                  </a:tcPr>
                </a:tc>
                <a:extLst>
                  <a:ext uri="{0D108BD9-81ED-4DB2-BD59-A6C34878D82A}">
                    <a16:rowId xmlns:a16="http://schemas.microsoft.com/office/drawing/2014/main" val="10006"/>
                  </a:ext>
                </a:extLst>
              </a:tr>
            </a:tbl>
          </a:graphicData>
        </a:graphic>
      </p:graphicFrame>
      <p:graphicFrame>
        <p:nvGraphicFramePr>
          <p:cNvPr id="70712" name="Group 56">
            <a:extLst>
              <a:ext uri="{FF2B5EF4-FFF2-40B4-BE49-F238E27FC236}">
                <a16:creationId xmlns:a16="http://schemas.microsoft.com/office/drawing/2014/main" id="{7755C659-31E5-BCA8-6586-6BEE322AB809}"/>
              </a:ext>
            </a:extLst>
          </p:cNvPr>
          <p:cNvGraphicFramePr>
            <a:graphicFrameLocks noGrp="1"/>
          </p:cNvGraphicFramePr>
          <p:nvPr/>
        </p:nvGraphicFramePr>
        <p:xfrm>
          <a:off x="6019800" y="3710354"/>
          <a:ext cx="3352800" cy="1954824"/>
        </p:xfrm>
        <a:graphic>
          <a:graphicData uri="http://schemas.openxmlformats.org/drawingml/2006/table">
            <a:tbl>
              <a:tblPr rtl="1"/>
              <a:tblGrid>
                <a:gridCol w="3352800">
                  <a:extLst>
                    <a:ext uri="{9D8B030D-6E8A-4147-A177-3AD203B41FA5}">
                      <a16:colId xmlns:a16="http://schemas.microsoft.com/office/drawing/2014/main" val="20000"/>
                    </a:ext>
                  </a:extLst>
                </a:gridCol>
              </a:tblGrid>
              <a:tr h="337610">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700" b="1" i="0" u="none" strike="noStrike" cap="none" normalizeH="0" baseline="0">
                          <a:ln>
                            <a:noFill/>
                          </a:ln>
                          <a:solidFill>
                            <a:schemeClr val="tx1"/>
                          </a:solidFill>
                          <a:effectLst/>
                          <a:latin typeface="Verdana" charset="0"/>
                          <a:ea typeface="ＭＳ Ｐゴシック" charset="0"/>
                          <a:cs typeface="ＭＳ Ｐゴシック" charset="0"/>
                        </a:rPr>
                        <a:t>Highest Variance</a:t>
                      </a:r>
                      <a:endParaRPr kumimoji="0" lang="en-US" sz="1100" b="0" i="0" u="none" strike="noStrike" cap="none" normalizeH="0" baseline="0">
                        <a:ln>
                          <a:noFill/>
                        </a:ln>
                        <a:solidFill>
                          <a:schemeClr val="tx1"/>
                        </a:solidFill>
                        <a:effectLst/>
                        <a:latin typeface="Verdana" charset="0"/>
                        <a:ea typeface="ＭＳ Ｐゴシック" charset="0"/>
                        <a:cs typeface="ＭＳ Ｐゴシック" charset="0"/>
                      </a:endParaRP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CB2C7"/>
                    </a:solidFill>
                  </a:tcPr>
                </a:tc>
                <a:extLst>
                  <a:ext uri="{0D108BD9-81ED-4DB2-BD59-A6C34878D82A}">
                    <a16:rowId xmlns:a16="http://schemas.microsoft.com/office/drawing/2014/main" val="10000"/>
                  </a:ext>
                </a:extLst>
              </a:tr>
              <a:tr h="272509">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The Royal Tenenbaums</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ECFAA4"/>
                    </a:solidFill>
                  </a:tcPr>
                </a:tc>
                <a:extLst>
                  <a:ext uri="{0D108BD9-81ED-4DB2-BD59-A6C34878D82A}">
                    <a16:rowId xmlns:a16="http://schemas.microsoft.com/office/drawing/2014/main" val="10001"/>
                  </a:ext>
                </a:extLst>
              </a:tr>
              <a:tr h="271044">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Lost In Translation </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2"/>
                  </a:ext>
                </a:extLst>
              </a:tr>
              <a:tr h="269578">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Pearl Harbor </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3"/>
                  </a:ext>
                </a:extLst>
              </a:tr>
              <a:tr h="275439">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Miss Congeniality </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4"/>
                  </a:ext>
                </a:extLst>
              </a:tr>
              <a:tr h="269578">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Napolean Dynamite </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ECFAA4"/>
                    </a:solidFill>
                  </a:tcPr>
                </a:tc>
                <a:extLst>
                  <a:ext uri="{0D108BD9-81ED-4DB2-BD59-A6C34878D82A}">
                    <a16:rowId xmlns:a16="http://schemas.microsoft.com/office/drawing/2014/main" val="10005"/>
                  </a:ext>
                </a:extLst>
              </a:tr>
              <a:tr h="253204">
                <a:tc>
                  <a:txBody>
                    <a:bodyPr/>
                    <a:lstStyle/>
                    <a:p>
                      <a:pPr marL="0" marR="0" lvl="0" indent="0" algn="l" defTabSz="914400" rtl="0" eaLnBrk="0" fontAlgn="base" latinLnBrk="0" hangingPunct="0">
                        <a:lnSpc>
                          <a:spcPct val="100000"/>
                        </a:lnSpc>
                        <a:spcBef>
                          <a:spcPct val="20000"/>
                        </a:spcBef>
                        <a:spcAft>
                          <a:spcPct val="20000"/>
                        </a:spcAft>
                        <a:buClr>
                          <a:schemeClr val="tx2"/>
                        </a:buClr>
                        <a:buSzPct val="100000"/>
                        <a:buFontTx/>
                        <a:buNone/>
                        <a:tabLst/>
                      </a:pPr>
                      <a:r>
                        <a:rPr kumimoji="0" lang="en-US" sz="1100" b="0" i="0" u="none" strike="noStrike" cap="none" normalizeH="0" baseline="0">
                          <a:ln>
                            <a:noFill/>
                          </a:ln>
                          <a:solidFill>
                            <a:schemeClr val="tx1"/>
                          </a:solidFill>
                          <a:effectLst/>
                          <a:latin typeface="Verdana" charset="0"/>
                          <a:ea typeface="ＭＳ Ｐゴシック" charset="0"/>
                          <a:cs typeface="ＭＳ Ｐゴシック" charset="0"/>
                        </a:rPr>
                        <a:t>Fahrenheit 9/11</a:t>
                      </a:r>
                    </a:p>
                  </a:txBody>
                  <a:tcPr marT="42196" marB="421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ECFAA4"/>
                    </a:solidFill>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0694"/>
                                        </p:tgtEl>
                                        <p:attrNameLst>
                                          <p:attrName>style.visibility</p:attrName>
                                        </p:attrNameLst>
                                      </p:cBhvr>
                                      <p:to>
                                        <p:strVal val="visible"/>
                                      </p:to>
                                    </p:set>
                                    <p:animEffect transition="in" filter="fade">
                                      <p:cBhvr>
                                        <p:cTn id="11" dur="1000"/>
                                        <p:tgtEl>
                                          <p:spTgt spid="7069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0712"/>
                                        </p:tgtEl>
                                        <p:attrNameLst>
                                          <p:attrName>style.visibility</p:attrName>
                                        </p:attrNameLst>
                                      </p:cBhvr>
                                      <p:to>
                                        <p:strVal val="visible"/>
                                      </p:to>
                                    </p:set>
                                    <p:animEffect transition="in" filter="fade">
                                      <p:cBhvr>
                                        <p:cTn id="16" dur="1000"/>
                                        <p:tgtEl>
                                          <p:spTgt spid="70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9491AE-415C-5B08-4EC7-48B6B226715B}"/>
              </a:ext>
            </a:extLst>
          </p:cNvPr>
          <p:cNvSpPr>
            <a:spLocks noGrp="1"/>
          </p:cNvSpPr>
          <p:nvPr>
            <p:ph type="sldNum" sz="quarter" idx="12"/>
          </p:nvPr>
        </p:nvSpPr>
        <p:spPr/>
        <p:txBody>
          <a:bodyPr/>
          <a:lstStyle/>
          <a:p>
            <a:fld id="{ABBEE3BA-F264-1746-880E-39AD601DF2B1}" type="slidenum">
              <a:rPr lang="en-US" smtClean="0"/>
              <a:t>23</a:t>
            </a:fld>
            <a:endParaRPr lang="en-US"/>
          </a:p>
        </p:txBody>
      </p:sp>
      <p:sp>
        <p:nvSpPr>
          <p:cNvPr id="3" name="Content Placeholder 2">
            <a:extLst>
              <a:ext uri="{FF2B5EF4-FFF2-40B4-BE49-F238E27FC236}">
                <a16:creationId xmlns:a16="http://schemas.microsoft.com/office/drawing/2014/main" id="{6B497815-9EF9-B3A1-80C0-2974B8873A28}"/>
              </a:ext>
            </a:extLst>
          </p:cNvPr>
          <p:cNvSpPr>
            <a:spLocks noGrp="1"/>
          </p:cNvSpPr>
          <p:nvPr>
            <p:ph idx="1"/>
          </p:nvPr>
        </p:nvSpPr>
        <p:spPr>
          <a:xfrm>
            <a:off x="960384" y="1286382"/>
            <a:ext cx="5724621" cy="1020261"/>
          </a:xfrm>
        </p:spPr>
        <p:txBody>
          <a:bodyPr>
            <a:normAutofit fontScale="77500" lnSpcReduction="20000"/>
          </a:bodyPr>
          <a:lstStyle/>
          <a:p>
            <a:pPr marL="0" indent="0">
              <a:lnSpc>
                <a:spcPct val="120000"/>
              </a:lnSpc>
              <a:buNone/>
            </a:pPr>
            <a:r>
              <a:rPr lang="en-US" dirty="0"/>
              <a:t>We slowly moved up the charts, and were in position to win the first year prize of $50k…</a:t>
            </a:r>
          </a:p>
        </p:txBody>
      </p:sp>
      <p:sp>
        <p:nvSpPr>
          <p:cNvPr id="2" name="Title 1">
            <a:extLst>
              <a:ext uri="{FF2B5EF4-FFF2-40B4-BE49-F238E27FC236}">
                <a16:creationId xmlns:a16="http://schemas.microsoft.com/office/drawing/2014/main" id="{D527611C-A1F6-A599-1454-CE0DB6085219}"/>
              </a:ext>
            </a:extLst>
          </p:cNvPr>
          <p:cNvSpPr>
            <a:spLocks noGrp="1"/>
          </p:cNvSpPr>
          <p:nvPr>
            <p:ph type="title"/>
          </p:nvPr>
        </p:nvSpPr>
        <p:spPr>
          <a:xfrm>
            <a:off x="89027" y="54518"/>
            <a:ext cx="10515600" cy="1001559"/>
          </a:xfrm>
        </p:spPr>
        <p:txBody>
          <a:bodyPr>
            <a:normAutofit/>
          </a:bodyPr>
          <a:lstStyle/>
          <a:p>
            <a:r>
              <a:rPr lang="en-US" sz="4000" dirty="0"/>
              <a:t>Netflix Prize : the first year</a:t>
            </a:r>
          </a:p>
        </p:txBody>
      </p:sp>
      <p:graphicFrame>
        <p:nvGraphicFramePr>
          <p:cNvPr id="5" name="Object 2">
            <a:extLst>
              <a:ext uri="{FF2B5EF4-FFF2-40B4-BE49-F238E27FC236}">
                <a16:creationId xmlns:a16="http://schemas.microsoft.com/office/drawing/2014/main" id="{3A840AB6-F38C-B108-C37D-4A09439C24AC}"/>
              </a:ext>
            </a:extLst>
          </p:cNvPr>
          <p:cNvGraphicFramePr>
            <a:graphicFrameLocks noChangeAspect="1"/>
          </p:cNvGraphicFramePr>
          <p:nvPr>
            <p:extLst>
              <p:ext uri="{D42A27DB-BD31-4B8C-83A1-F6EECF244321}">
                <p14:modId xmlns:p14="http://schemas.microsoft.com/office/powerpoint/2010/main" val="3609929031"/>
              </p:ext>
            </p:extLst>
          </p:nvPr>
        </p:nvGraphicFramePr>
        <p:xfrm>
          <a:off x="7691445" y="142835"/>
          <a:ext cx="4411528" cy="3786614"/>
        </p:xfrm>
        <a:graphic>
          <a:graphicData uri="http://schemas.openxmlformats.org/presentationml/2006/ole">
            <mc:AlternateContent xmlns:mc="http://schemas.openxmlformats.org/markup-compatibility/2006">
              <mc:Choice xmlns:v="urn:schemas-microsoft-com:vml" Requires="v">
                <p:oleObj name="Document" r:id="rId3" imgW="3136900" imgH="2908300" progId="Word.Document.8">
                  <p:embed/>
                </p:oleObj>
              </mc:Choice>
              <mc:Fallback>
                <p:oleObj name="Document" r:id="rId3" imgW="3136900" imgH="2908300" progId="Word.Document.8">
                  <p:embed/>
                  <p:pic>
                    <p:nvPicPr>
                      <p:cNvPr id="27651" name="Object 2">
                        <a:extLst>
                          <a:ext uri="{FF2B5EF4-FFF2-40B4-BE49-F238E27FC236}">
                            <a16:creationId xmlns:a16="http://schemas.microsoft.com/office/drawing/2014/main" id="{C91380F9-08E9-8057-EEDD-05B98D31EE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445" y="142835"/>
                        <a:ext cx="4411528" cy="3786614"/>
                      </a:xfrm>
                      <a:prstGeom prst="rect">
                        <a:avLst/>
                      </a:prstGeom>
                      <a:noFill/>
                      <a:ln>
                        <a:noFill/>
                      </a:ln>
                      <a:effectLst/>
                    </p:spPr>
                  </p:pic>
                </p:oleObj>
              </mc:Fallback>
            </mc:AlternateContent>
          </a:graphicData>
        </a:graphic>
      </p:graphicFrame>
      <p:pic>
        <p:nvPicPr>
          <p:cNvPr id="7" name="Picture 6" descr="A screenshot of a graph&#10;&#10;Description automatically generated">
            <a:extLst>
              <a:ext uri="{FF2B5EF4-FFF2-40B4-BE49-F238E27FC236}">
                <a16:creationId xmlns:a16="http://schemas.microsoft.com/office/drawing/2014/main" id="{2E51D3AA-4C94-CD5A-E3B0-2E1216B3614E}"/>
              </a:ext>
            </a:extLst>
          </p:cNvPr>
          <p:cNvPicPr>
            <a:picLocks noChangeAspect="1"/>
          </p:cNvPicPr>
          <p:nvPr/>
        </p:nvPicPr>
        <p:blipFill>
          <a:blip r:embed="rId5"/>
          <a:stretch>
            <a:fillRect/>
          </a:stretch>
        </p:blipFill>
        <p:spPr>
          <a:xfrm>
            <a:off x="1216071" y="3175686"/>
            <a:ext cx="5238069" cy="1734186"/>
          </a:xfrm>
          <a:prstGeom prst="rect">
            <a:avLst/>
          </a:prstGeom>
        </p:spPr>
      </p:pic>
      <p:sp>
        <p:nvSpPr>
          <p:cNvPr id="8" name="Content Placeholder 2">
            <a:extLst>
              <a:ext uri="{FF2B5EF4-FFF2-40B4-BE49-F238E27FC236}">
                <a16:creationId xmlns:a16="http://schemas.microsoft.com/office/drawing/2014/main" id="{6296FB39-6D24-603A-975E-81A263880890}"/>
              </a:ext>
            </a:extLst>
          </p:cNvPr>
          <p:cNvSpPr txBox="1">
            <a:spLocks/>
          </p:cNvSpPr>
          <p:nvPr/>
        </p:nvSpPr>
        <p:spPr bwMode="auto">
          <a:xfrm>
            <a:off x="1159822" y="2738055"/>
            <a:ext cx="4114800" cy="437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marL="0" indent="0">
              <a:buClrTx/>
              <a:buNone/>
            </a:pPr>
            <a:r>
              <a:rPr lang="en-US" kern="0" dirty="0"/>
              <a:t>But then….24 hours to go…</a:t>
            </a:r>
          </a:p>
        </p:txBody>
      </p:sp>
      <p:sp>
        <p:nvSpPr>
          <p:cNvPr id="9" name="Content Placeholder 2">
            <a:extLst>
              <a:ext uri="{FF2B5EF4-FFF2-40B4-BE49-F238E27FC236}">
                <a16:creationId xmlns:a16="http://schemas.microsoft.com/office/drawing/2014/main" id="{315392CE-5F12-3586-4E9F-D1AD4174B3DE}"/>
              </a:ext>
            </a:extLst>
          </p:cNvPr>
          <p:cNvSpPr txBox="1">
            <a:spLocks/>
          </p:cNvSpPr>
          <p:nvPr/>
        </p:nvSpPr>
        <p:spPr bwMode="auto">
          <a:xfrm>
            <a:off x="1693749" y="5401591"/>
            <a:ext cx="5495925" cy="919255"/>
          </a:xfrm>
          <a:prstGeom prst="rect">
            <a:avLst/>
          </a:prstGeom>
          <a:solidFill>
            <a:schemeClr val="accent5">
              <a:lumMod val="20000"/>
              <a:lumOff val="80000"/>
            </a:schemeClr>
          </a:solidFill>
          <a:ln>
            <a:noFill/>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0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57213" indent="-214313" algn="l" rtl="0" eaLnBrk="1" fontAlgn="base" hangingPunct="1">
              <a:spcBef>
                <a:spcPct val="20000"/>
              </a:spcBef>
              <a:spcAft>
                <a:spcPct val="0"/>
              </a:spcAft>
              <a:buChar char="–"/>
              <a:defRPr sz="18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rtl="0" eaLnBrk="1" fontAlgn="base" hangingPunct="1">
              <a:spcBef>
                <a:spcPct val="20000"/>
              </a:spcBef>
              <a:spcAft>
                <a:spcPct val="0"/>
              </a:spcAft>
              <a:buChar char="•"/>
              <a:defRPr sz="16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rtl="0" eaLnBrk="1" fontAlgn="base" hangingPunct="1">
              <a:spcBef>
                <a:spcPct val="20000"/>
              </a:spcBef>
              <a:spcAft>
                <a:spcPct val="0"/>
              </a:spcAft>
              <a:buChar char="»"/>
              <a:defRPr sz="15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rtl="0" eaLnBrk="1" fontAlgn="base" hangingPunct="1">
              <a:spcBef>
                <a:spcPct val="20000"/>
              </a:spcBef>
              <a:spcAft>
                <a:spcPct val="0"/>
              </a:spcAft>
              <a:buChar char="»"/>
              <a:defRPr sz="1500">
                <a:solidFill>
                  <a:schemeClr val="tx1"/>
                </a:solidFill>
                <a:latin typeface="+mn-lt"/>
                <a:cs typeface="+mn-cs"/>
              </a:defRPr>
            </a:lvl6pPr>
            <a:lvl7pPr marL="2228850" indent="-171450" algn="l" rtl="0" eaLnBrk="1" fontAlgn="base" hangingPunct="1">
              <a:spcBef>
                <a:spcPct val="20000"/>
              </a:spcBef>
              <a:spcAft>
                <a:spcPct val="0"/>
              </a:spcAft>
              <a:buChar char="»"/>
              <a:defRPr sz="1500">
                <a:solidFill>
                  <a:schemeClr val="tx1"/>
                </a:solidFill>
                <a:latin typeface="+mn-lt"/>
                <a:cs typeface="+mn-cs"/>
              </a:defRPr>
            </a:lvl7pPr>
            <a:lvl8pPr marL="2571750" indent="-171450" algn="l" rtl="0" eaLnBrk="1" fontAlgn="base" hangingPunct="1">
              <a:spcBef>
                <a:spcPct val="20000"/>
              </a:spcBef>
              <a:spcAft>
                <a:spcPct val="0"/>
              </a:spcAft>
              <a:buChar char="»"/>
              <a:defRPr sz="1500">
                <a:solidFill>
                  <a:schemeClr val="tx1"/>
                </a:solidFill>
                <a:latin typeface="+mn-lt"/>
                <a:cs typeface="+mn-cs"/>
              </a:defRPr>
            </a:lvl8pPr>
            <a:lvl9pPr marL="2914650" indent="-171450" algn="l" rtl="0" eaLnBrk="1" fontAlgn="base" hangingPunct="1">
              <a:spcBef>
                <a:spcPct val="20000"/>
              </a:spcBef>
              <a:spcAft>
                <a:spcPct val="0"/>
              </a:spcAft>
              <a:buChar char="»"/>
              <a:defRPr sz="1500">
                <a:solidFill>
                  <a:schemeClr val="tx1"/>
                </a:solidFill>
                <a:latin typeface="+mn-lt"/>
                <a:cs typeface="+mn-cs"/>
              </a:defRPr>
            </a:lvl9pPr>
          </a:lstStyle>
          <a:p>
            <a:pPr marL="0" indent="0" algn="ctr">
              <a:buClrTx/>
              <a:buNone/>
            </a:pPr>
            <a:r>
              <a:rPr lang="en-US" sz="1600" kern="0" dirty="0"/>
              <a:t>We ended up winning the first year prize, but we had no idea at the time how this move would change the competition (and really all of machine learning)</a:t>
            </a:r>
          </a:p>
        </p:txBody>
      </p:sp>
      <p:pic>
        <p:nvPicPr>
          <p:cNvPr id="3074" name="Picture 2" descr="The Netflix Prize: Crowdsourcing to Improve DVD Recommendations - Digital  Innovation and Transformation">
            <a:extLst>
              <a:ext uri="{FF2B5EF4-FFF2-40B4-BE49-F238E27FC236}">
                <a16:creationId xmlns:a16="http://schemas.microsoft.com/office/drawing/2014/main" id="{026FADAC-92C2-81FE-5E94-C6BD4F555C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7295" y="4373886"/>
            <a:ext cx="2048619" cy="2341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07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lide Number Placeholder 4">
            <a:extLst>
              <a:ext uri="{FF2B5EF4-FFF2-40B4-BE49-F238E27FC236}">
                <a16:creationId xmlns:a16="http://schemas.microsoft.com/office/drawing/2014/main" id="{2C0CAB2C-6FC0-B0AD-1F64-98D2775AC113}"/>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0031CBD7-F902-7847-9BAC-63E9D13F6938}" type="slidenum">
              <a:rPr lang="en-US" altLang="en-US" smtClean="0"/>
              <a:pPr/>
              <a:t>24</a:t>
            </a:fld>
            <a:endParaRPr lang="en-US" altLang="en-US" sz="1292"/>
          </a:p>
        </p:txBody>
      </p:sp>
      <p:sp>
        <p:nvSpPr>
          <p:cNvPr id="34818" name="Content Placeholder 2">
            <a:extLst>
              <a:ext uri="{FF2B5EF4-FFF2-40B4-BE49-F238E27FC236}">
                <a16:creationId xmlns:a16="http://schemas.microsoft.com/office/drawing/2014/main" id="{0A39A281-E8C9-D651-0D93-F4FD338A8C69}"/>
              </a:ext>
            </a:extLst>
          </p:cNvPr>
          <p:cNvSpPr>
            <a:spLocks noGrp="1"/>
          </p:cNvSpPr>
          <p:nvPr>
            <p:ph idx="1"/>
          </p:nvPr>
        </p:nvSpPr>
        <p:spPr>
          <a:xfrm>
            <a:off x="195943" y="1348740"/>
            <a:ext cx="8079380" cy="461420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en-US" altLang="en-US" sz="2400" dirty="0"/>
              <a:t>Timeline:</a:t>
            </a:r>
          </a:p>
          <a:p>
            <a:pPr lvl="1"/>
            <a:r>
              <a:rPr lang="en-US" altLang="en-US" dirty="0"/>
              <a:t>2008:  </a:t>
            </a:r>
            <a:r>
              <a:rPr lang="en-US" altLang="en-US" dirty="0" err="1"/>
              <a:t>BellKor</a:t>
            </a:r>
            <a:r>
              <a:rPr lang="en-US" altLang="en-US" dirty="0"/>
              <a:t> merges with </a:t>
            </a:r>
            <a:r>
              <a:rPr lang="en-US" altLang="en-US" dirty="0" err="1"/>
              <a:t>BigChaos</a:t>
            </a:r>
            <a:r>
              <a:rPr lang="en-US" altLang="en-US" dirty="0"/>
              <a:t> to win 2nd $50K Progress Prize (9.4%)</a:t>
            </a:r>
          </a:p>
          <a:p>
            <a:pPr lvl="1"/>
            <a:r>
              <a:rPr lang="en-US" altLang="en-US" dirty="0"/>
              <a:t>2009: </a:t>
            </a:r>
            <a:r>
              <a:rPr lang="en-US" altLang="en-US" dirty="0" err="1"/>
              <a:t>BellKor</a:t>
            </a:r>
            <a:r>
              <a:rPr lang="en-US" altLang="en-US" dirty="0"/>
              <a:t>, Big Chaos and Pragmatic Theory merge and passing 10% threshold</a:t>
            </a:r>
          </a:p>
          <a:p>
            <a:pPr lvl="2"/>
            <a:r>
              <a:rPr lang="en-US" altLang="en-US" dirty="0"/>
              <a:t>This begins 30 day </a:t>
            </a:r>
            <a:r>
              <a:rPr lang="ja-JP" altLang="en-US"/>
              <a:t>‘</a:t>
            </a:r>
            <a:r>
              <a:rPr lang="en-US" altLang="ja-JP" dirty="0"/>
              <a:t>last call</a:t>
            </a:r>
            <a:r>
              <a:rPr lang="ja-JP" altLang="en-US"/>
              <a:t>’</a:t>
            </a:r>
            <a:r>
              <a:rPr lang="en-US" altLang="ja-JP" dirty="0"/>
              <a:t> period.</a:t>
            </a:r>
          </a:p>
          <a:p>
            <a:pPr lvl="1"/>
            <a:r>
              <a:rPr lang="en-US" altLang="en-US" dirty="0"/>
              <a:t>July 25, 2009  (25 hours left):</a:t>
            </a:r>
          </a:p>
          <a:p>
            <a:pPr lvl="2"/>
            <a:r>
              <a:rPr lang="en-US" altLang="en-US" dirty="0"/>
              <a:t>We crawl up to 10.08%...</a:t>
            </a:r>
          </a:p>
          <a:p>
            <a:pPr lvl="2"/>
            <a:r>
              <a:rPr lang="en-US" altLang="en-US" dirty="0"/>
              <a:t>The Ensemble, a coalition of </a:t>
            </a:r>
            <a:r>
              <a:rPr lang="en-US" altLang="en-US" i="1" dirty="0"/>
              <a:t>23 independent teams</a:t>
            </a:r>
            <a:r>
              <a:rPr lang="en-US" altLang="en-US" dirty="0"/>
              <a:t>, combine to pass us on the public leaderboard</a:t>
            </a:r>
          </a:p>
          <a:p>
            <a:pPr marL="685800" lvl="2" indent="0">
              <a:buNone/>
            </a:pPr>
            <a:endParaRPr lang="en-US" altLang="en-US" dirty="0"/>
          </a:p>
        </p:txBody>
      </p:sp>
      <p:sp>
        <p:nvSpPr>
          <p:cNvPr id="34817" name="Title 1">
            <a:extLst>
              <a:ext uri="{FF2B5EF4-FFF2-40B4-BE49-F238E27FC236}">
                <a16:creationId xmlns:a16="http://schemas.microsoft.com/office/drawing/2014/main" id="{EE0C3E62-E11D-BA64-DB03-7E93C564A791}"/>
              </a:ext>
            </a:extLst>
          </p:cNvPr>
          <p:cNvSpPr>
            <a:spLocks noGrp="1"/>
          </p:cNvSpPr>
          <p:nvPr>
            <p:ph type="title"/>
          </p:nvPr>
        </p:nvSpPr>
        <p:spPr>
          <a:xfrm>
            <a:off x="34613" y="22225"/>
            <a:ext cx="10515600" cy="1001559"/>
          </a:xfrm>
        </p:spPr>
        <p:txBody>
          <a:bodyPr/>
          <a:lstStyle/>
          <a:p>
            <a:r>
              <a:rPr lang="en-US" altLang="en-US" dirty="0">
                <a:ea typeface="ＭＳ Ｐゴシック" panose="020B0600070205080204" pitchFamily="34" charset="-128"/>
              </a:rPr>
              <a:t>So The Drama</a:t>
            </a:r>
          </a:p>
        </p:txBody>
      </p:sp>
      <p:pic>
        <p:nvPicPr>
          <p:cNvPr id="3" name="Picture 2" descr="A screenshot of a computer screen&#10;&#10;Description automatically generated">
            <a:extLst>
              <a:ext uri="{FF2B5EF4-FFF2-40B4-BE49-F238E27FC236}">
                <a16:creationId xmlns:a16="http://schemas.microsoft.com/office/drawing/2014/main" id="{E5EB3775-8287-EC86-B09D-FC6B9F8CA8FE}"/>
              </a:ext>
            </a:extLst>
          </p:cNvPr>
          <p:cNvPicPr>
            <a:picLocks noChangeAspect="1"/>
          </p:cNvPicPr>
          <p:nvPr/>
        </p:nvPicPr>
        <p:blipFill>
          <a:blip r:embed="rId3"/>
          <a:stretch>
            <a:fillRect/>
          </a:stretch>
        </p:blipFill>
        <p:spPr>
          <a:xfrm>
            <a:off x="7646028" y="3432532"/>
            <a:ext cx="4602480" cy="2076728"/>
          </a:xfrm>
          <a:prstGeom prst="rect">
            <a:avLst/>
          </a:prstGeom>
        </p:spPr>
      </p:pic>
      <p:sp>
        <p:nvSpPr>
          <p:cNvPr id="5" name="TextBox 4">
            <a:extLst>
              <a:ext uri="{FF2B5EF4-FFF2-40B4-BE49-F238E27FC236}">
                <a16:creationId xmlns:a16="http://schemas.microsoft.com/office/drawing/2014/main" id="{AE424CD3-4589-6BE1-5389-4490632736A2}"/>
              </a:ext>
            </a:extLst>
          </p:cNvPr>
          <p:cNvSpPr txBox="1"/>
          <p:nvPr/>
        </p:nvSpPr>
        <p:spPr>
          <a:xfrm>
            <a:off x="3822449" y="5648464"/>
            <a:ext cx="706755" cy="707886"/>
          </a:xfrm>
          <a:prstGeom prst="rect">
            <a:avLst/>
          </a:prstGeom>
          <a:noFill/>
        </p:spPr>
        <p:txBody>
          <a:bodyPr wrap="square">
            <a:spAutoFit/>
          </a:bodyPr>
          <a:lstStyle/>
          <a:p>
            <a:pPr>
              <a:buNone/>
            </a:pPr>
            <a:r>
              <a:rPr lang="en-US" sz="4000" dirty="0">
                <a:latin typeface="Apple Color Emoji" pitchFamily="2" charset="0"/>
              </a:rPr>
              <a:t>😱</a:t>
            </a:r>
          </a:p>
        </p:txBody>
      </p:sp>
      <p:pic>
        <p:nvPicPr>
          <p:cNvPr id="2050" name="Picture 2" descr="Kim Possible Movie: So the Drama | Kim Possible Wiki | Fandom">
            <a:extLst>
              <a:ext uri="{FF2B5EF4-FFF2-40B4-BE49-F238E27FC236}">
                <a16:creationId xmlns:a16="http://schemas.microsoft.com/office/drawing/2014/main" id="{094AA14F-D80E-8F40-F1E7-C441CFC7D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8910" y="365125"/>
            <a:ext cx="1471303" cy="21955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81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81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81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1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5">
            <a:extLst>
              <a:ext uri="{FF2B5EF4-FFF2-40B4-BE49-F238E27FC236}">
                <a16:creationId xmlns:a16="http://schemas.microsoft.com/office/drawing/2014/main" id="{1E7E32DD-0219-C505-8492-388B3A783ECB}"/>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0031CBD7-F902-7847-9BAC-63E9D13F6938}" type="slidenum">
              <a:rPr lang="en-US" altLang="en-US" smtClean="0"/>
              <a:pPr/>
              <a:t>25</a:t>
            </a:fld>
            <a:endParaRPr lang="en-US" altLang="en-US" sz="1292"/>
          </a:p>
        </p:txBody>
      </p:sp>
      <p:sp>
        <p:nvSpPr>
          <p:cNvPr id="63492" name="Rectangle 3">
            <a:extLst>
              <a:ext uri="{FF2B5EF4-FFF2-40B4-BE49-F238E27FC236}">
                <a16:creationId xmlns:a16="http://schemas.microsoft.com/office/drawing/2014/main" id="{C7018910-61D0-72D3-61B2-E06C090675B1}"/>
              </a:ext>
            </a:extLst>
          </p:cNvPr>
          <p:cNvSpPr>
            <a:spLocks noGrp="1" noChangeArrowheads="1"/>
          </p:cNvSpPr>
          <p:nvPr>
            <p:ph idx="1"/>
          </p:nvPr>
        </p:nvSpPr>
        <p:spPr>
          <a:xfrm>
            <a:off x="544286" y="1059003"/>
            <a:ext cx="6453554" cy="4501662"/>
          </a:xfrm>
        </p:spPr>
        <p:txBody>
          <a:bodyPr>
            <a:normAutofit/>
          </a:bodyPr>
          <a:lstStyle/>
          <a:p>
            <a:pPr eaLnBrk="1" hangingPunct="1"/>
            <a:r>
              <a:rPr lang="en-US" altLang="en-US" sz="2400" dirty="0" err="1">
                <a:ea typeface="ＭＳ Ｐゴシック" panose="020B0600070205080204" pitchFamily="34" charset="-128"/>
              </a:rPr>
              <a:t>BellKor’</a:t>
            </a:r>
            <a:r>
              <a:rPr lang="en-US" altLang="ja-JP" sz="2400" dirty="0" err="1">
                <a:ea typeface="ＭＳ Ｐゴシック" panose="020B0600070205080204" pitchFamily="34" charset="-128"/>
              </a:rPr>
              <a:t>s</a:t>
            </a:r>
            <a:r>
              <a:rPr lang="en-US" altLang="ja-JP" sz="2400" dirty="0">
                <a:ea typeface="ＭＳ Ｐゴシック" panose="020B0600070205080204" pitchFamily="34" charset="-128"/>
              </a:rPr>
              <a:t> Pragmatic Theory:   0.8567</a:t>
            </a:r>
          </a:p>
          <a:p>
            <a:pPr eaLnBrk="1" hangingPunct="1"/>
            <a:r>
              <a:rPr lang="en-US" altLang="en-US" sz="2400" dirty="0">
                <a:ea typeface="ＭＳ Ｐゴシック" panose="020B0600070205080204" pitchFamily="34" charset="-128"/>
              </a:rPr>
              <a:t>The Ensemble:                     0.8567</a:t>
            </a:r>
          </a:p>
          <a:p>
            <a:pPr eaLnBrk="1" hangingPunct="1"/>
            <a:endParaRPr lang="en-US" altLang="en-US" sz="2400" dirty="0">
              <a:ea typeface="ＭＳ Ｐゴシック" panose="020B0600070205080204" pitchFamily="34" charset="-128"/>
            </a:endParaRPr>
          </a:p>
          <a:p>
            <a:pPr eaLnBrk="1" hangingPunct="1"/>
            <a:r>
              <a:rPr lang="en-US" altLang="en-US" sz="2400" dirty="0">
                <a:ea typeface="ＭＳ Ｐゴシック" panose="020B0600070205080204" pitchFamily="34" charset="-128"/>
              </a:rPr>
              <a:t>Tie breaker was submission date/time</a:t>
            </a:r>
          </a:p>
          <a:p>
            <a:pPr lvl="2" eaLnBrk="1" hangingPunct="1"/>
            <a:r>
              <a:rPr lang="en-US" altLang="en-US" sz="1800" dirty="0">
                <a:ea typeface="ＭＳ Ｐゴシック" panose="020B0600070205080204" pitchFamily="34" charset="-128"/>
              </a:rPr>
              <a:t>We submitted 20 minutes earlier 🏆</a:t>
            </a:r>
          </a:p>
          <a:p>
            <a:pPr eaLnBrk="1" hangingPunct="1">
              <a:buFontTx/>
              <a:buNone/>
            </a:pPr>
            <a:endParaRPr lang="en-US" altLang="en-US" sz="2400" dirty="0">
              <a:ea typeface="ＭＳ Ｐゴシック" panose="020B0600070205080204" pitchFamily="34" charset="-128"/>
            </a:endParaRPr>
          </a:p>
          <a:p>
            <a:pPr marL="0" indent="0">
              <a:buNone/>
            </a:pPr>
            <a:endParaRPr lang="en-US" altLang="en-US" sz="2400" dirty="0">
              <a:ea typeface="ＭＳ Ｐゴシック" panose="020B0600070205080204" pitchFamily="34" charset="-128"/>
            </a:endParaRPr>
          </a:p>
          <a:p>
            <a:pPr eaLnBrk="1" hangingPunct="1"/>
            <a:r>
              <a:rPr lang="en-US" altLang="en-US" sz="2400" dirty="0">
                <a:ea typeface="ＭＳ Ｐゴシック" panose="020B0600070205080204" pitchFamily="34" charset="-128"/>
              </a:rPr>
              <a:t>Note: a combination of BPC (10.06%) and Ensemble (10.06%) scores results in a 10.19% improvement</a:t>
            </a:r>
          </a:p>
          <a:p>
            <a:pPr eaLnBrk="1" hangingPunct="1"/>
            <a:endParaRPr lang="en-US" altLang="en-US" sz="2400" dirty="0">
              <a:ea typeface="ＭＳ Ｐゴシック" panose="020B0600070205080204" pitchFamily="34" charset="-128"/>
            </a:endParaRPr>
          </a:p>
          <a:p>
            <a:pPr eaLnBrk="1" hangingPunct="1"/>
            <a:endParaRPr lang="en-US" altLang="en-US" sz="2400" dirty="0">
              <a:ea typeface="ＭＳ Ｐゴシック" panose="020B0600070205080204" pitchFamily="34" charset="-128"/>
            </a:endParaRPr>
          </a:p>
          <a:p>
            <a:pPr eaLnBrk="1" hangingPunct="1"/>
            <a:endParaRPr lang="en-US" altLang="en-US" sz="2400" dirty="0">
              <a:ea typeface="ＭＳ Ｐゴシック" panose="020B0600070205080204" pitchFamily="34" charset="-128"/>
            </a:endParaRPr>
          </a:p>
          <a:p>
            <a:pPr eaLnBrk="1" hangingPunct="1"/>
            <a:endParaRPr lang="en-US" altLang="en-US" sz="2400" dirty="0">
              <a:ea typeface="ＭＳ Ｐゴシック" panose="020B0600070205080204" pitchFamily="34" charset="-128"/>
            </a:endParaRPr>
          </a:p>
          <a:p>
            <a:pPr eaLnBrk="1" hangingPunct="1">
              <a:buFontTx/>
              <a:buNone/>
            </a:pPr>
            <a:endParaRPr lang="en-US" altLang="en-US" sz="2400" dirty="0">
              <a:ea typeface="ＭＳ Ｐゴシック" panose="020B0600070205080204" pitchFamily="34" charset="-128"/>
            </a:endParaRPr>
          </a:p>
        </p:txBody>
      </p:sp>
      <p:sp>
        <p:nvSpPr>
          <p:cNvPr id="36866" name="Rectangle 2">
            <a:extLst>
              <a:ext uri="{FF2B5EF4-FFF2-40B4-BE49-F238E27FC236}">
                <a16:creationId xmlns:a16="http://schemas.microsoft.com/office/drawing/2014/main" id="{B31CFB36-7713-3B73-BAD1-759F4D909F5E}"/>
              </a:ext>
            </a:extLst>
          </p:cNvPr>
          <p:cNvSpPr>
            <a:spLocks noGrp="1" noChangeArrowheads="1"/>
          </p:cNvSpPr>
          <p:nvPr>
            <p:ph type="title"/>
          </p:nvPr>
        </p:nvSpPr>
        <p:spPr>
          <a:xfrm>
            <a:off x="94120" y="57445"/>
            <a:ext cx="10515600" cy="807970"/>
          </a:xfrm>
        </p:spPr>
        <p:txBody>
          <a:bodyPr/>
          <a:lstStyle/>
          <a:p>
            <a:pPr eaLnBrk="1" hangingPunct="1"/>
            <a:r>
              <a:rPr lang="en-US" altLang="en-US" dirty="0">
                <a:ea typeface="ＭＳ Ｐゴシック" panose="020B0600070205080204" pitchFamily="34" charset="-128"/>
              </a:rPr>
              <a:t>Test Set Results</a:t>
            </a:r>
          </a:p>
        </p:txBody>
      </p:sp>
      <p:pic>
        <p:nvPicPr>
          <p:cNvPr id="36869" name="Picture 3" descr="20090921_NETFLIX_ATT_141.jpg">
            <a:extLst>
              <a:ext uri="{FF2B5EF4-FFF2-40B4-BE49-F238E27FC236}">
                <a16:creationId xmlns:a16="http://schemas.microsoft.com/office/drawing/2014/main" id="{497E03FD-FB8A-D10E-7B93-BA072B3488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0803" y="1059004"/>
            <a:ext cx="4398179" cy="293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4A78E718-0D12-9DD3-8D4A-6D85D8853EA6}"/>
              </a:ext>
            </a:extLst>
          </p:cNvPr>
          <p:cNvSpPr txBox="1"/>
          <p:nvPr/>
        </p:nvSpPr>
        <p:spPr>
          <a:xfrm>
            <a:off x="3608070" y="5550505"/>
            <a:ext cx="4975860" cy="411480"/>
          </a:xfrm>
          <a:prstGeom prst="rect">
            <a:avLst/>
          </a:prstGeom>
          <a:solidFill>
            <a:schemeClr val="accent5">
              <a:lumMod val="20000"/>
              <a:lumOff val="80000"/>
            </a:schemeClr>
          </a:solidFill>
        </p:spPr>
        <p:txBody>
          <a:bodyPr wrap="squar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ensembles of ensembles of ensembles…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3492">
                                            <p:txEl>
                                              <p:pRg st="0" end="0"/>
                                            </p:txEl>
                                          </p:spTgt>
                                        </p:tgtEl>
                                        <p:attrNameLst>
                                          <p:attrName>style.visibility</p:attrName>
                                        </p:attrNameLst>
                                      </p:cBhvr>
                                      <p:to>
                                        <p:strVal val="visible"/>
                                      </p:to>
                                    </p:set>
                                    <p:animEffect transition="in" filter="fade">
                                      <p:cBhvr>
                                        <p:cTn id="7" dur="500"/>
                                        <p:tgtEl>
                                          <p:spTgt spid="634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3492">
                                            <p:txEl>
                                              <p:pRg st="1" end="1"/>
                                            </p:txEl>
                                          </p:spTgt>
                                        </p:tgtEl>
                                        <p:attrNameLst>
                                          <p:attrName>style.visibility</p:attrName>
                                        </p:attrNameLst>
                                      </p:cBhvr>
                                      <p:to>
                                        <p:strVal val="visible"/>
                                      </p:to>
                                    </p:set>
                                    <p:animEffect transition="in" filter="fade">
                                      <p:cBhvr>
                                        <p:cTn id="12" dur="500"/>
                                        <p:tgtEl>
                                          <p:spTgt spid="6349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3492">
                                            <p:txEl>
                                              <p:pRg st="3" end="3"/>
                                            </p:txEl>
                                          </p:spTgt>
                                        </p:tgtEl>
                                        <p:attrNameLst>
                                          <p:attrName>style.visibility</p:attrName>
                                        </p:attrNameLst>
                                      </p:cBhvr>
                                      <p:to>
                                        <p:strVal val="visible"/>
                                      </p:to>
                                    </p:set>
                                    <p:animEffect transition="in" filter="fade">
                                      <p:cBhvr>
                                        <p:cTn id="17" dur="500"/>
                                        <p:tgtEl>
                                          <p:spTgt spid="6349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492">
                                            <p:txEl>
                                              <p:pRg st="4" end="4"/>
                                            </p:txEl>
                                          </p:spTgt>
                                        </p:tgtEl>
                                        <p:attrNameLst>
                                          <p:attrName>style.visibility</p:attrName>
                                        </p:attrNameLst>
                                      </p:cBhvr>
                                      <p:to>
                                        <p:strVal val="visible"/>
                                      </p:to>
                                    </p:set>
                                    <p:animEffect transition="in" filter="fade">
                                      <p:cBhvr>
                                        <p:cTn id="22" dur="500"/>
                                        <p:tgtEl>
                                          <p:spTgt spid="63492">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68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3492">
                                            <p:txEl>
                                              <p:pRg st="7" end="7"/>
                                            </p:txEl>
                                          </p:spTgt>
                                        </p:tgtEl>
                                        <p:attrNameLst>
                                          <p:attrName>style.visibility</p:attrName>
                                        </p:attrNameLst>
                                      </p:cBhvr>
                                      <p:to>
                                        <p:strVal val="visible"/>
                                      </p:to>
                                    </p:set>
                                    <p:animEffect transition="in" filter="fade">
                                      <p:cBhvr>
                                        <p:cTn id="31" dur="500"/>
                                        <p:tgtEl>
                                          <p:spTgt spid="6349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build="p" bldLvl="2"/>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lide Number Placeholder 3">
            <a:extLst>
              <a:ext uri="{FF2B5EF4-FFF2-40B4-BE49-F238E27FC236}">
                <a16:creationId xmlns:a16="http://schemas.microsoft.com/office/drawing/2014/main" id="{021DA8AB-D1A9-6E45-87FC-B2FD76EF08A0}"/>
              </a:ext>
            </a:extLst>
          </p:cNvPr>
          <p:cNvSpPr>
            <a:spLocks noGrp="1"/>
          </p:cNvSpPr>
          <p:nvPr>
            <p:ph type="sldNum" sz="quarter" idx="12"/>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None/>
            </a:pPr>
            <a:fld id="{0031CBD7-F902-7847-9BAC-63E9D13F6938}" type="slidenum">
              <a:rPr lang="en-US" altLang="en-US" sz="1100">
                <a:latin typeface="Tahoma" panose="020B0604030504040204" pitchFamily="34" charset="0"/>
                <a:ea typeface="ＭＳ Ｐゴシック" panose="020B0600070205080204" pitchFamily="34" charset="-128"/>
                <a:cs typeface="Tahoma" panose="020B0604030504040204" pitchFamily="34" charset="0"/>
              </a:rPr>
              <a:pPr>
                <a:buNone/>
              </a:pPr>
              <a:t>26</a:t>
            </a:fld>
            <a:endParaRPr lang="en-US" altLang="en-US" sz="1100" dirty="0">
              <a:latin typeface="Tahoma" panose="020B0604030504040204" pitchFamily="34" charset="0"/>
              <a:ea typeface="ＭＳ Ｐゴシック" panose="020B0600070205080204" pitchFamily="34" charset="-128"/>
              <a:cs typeface="Tahoma" panose="020B0604030504040204" pitchFamily="34" charset="0"/>
            </a:endParaRPr>
          </a:p>
        </p:txBody>
      </p:sp>
      <p:sp>
        <p:nvSpPr>
          <p:cNvPr id="37890" name="Content Placeholder 2">
            <a:extLst>
              <a:ext uri="{FF2B5EF4-FFF2-40B4-BE49-F238E27FC236}">
                <a16:creationId xmlns:a16="http://schemas.microsoft.com/office/drawing/2014/main" id="{6040FF60-1FC4-BB95-47EA-0E51025F83B5}"/>
              </a:ext>
            </a:extLst>
          </p:cNvPr>
          <p:cNvSpPr>
            <a:spLocks noGrp="1"/>
          </p:cNvSpPr>
          <p:nvPr>
            <p:ph idx="1"/>
          </p:nvPr>
        </p:nvSpPr>
        <p:spPr>
          <a:xfrm>
            <a:off x="1273629" y="980050"/>
            <a:ext cx="9552214" cy="4696851"/>
          </a:xfrm>
        </p:spPr>
        <p:txBody>
          <a:bodyPr>
            <a:noAutofit/>
          </a:bodyPr>
          <a:lstStyle/>
          <a:p>
            <a:r>
              <a:rPr lang="en-US" altLang="en-US" dirty="0">
                <a:ea typeface="ＭＳ Ｐゴシック" panose="020B0600070205080204" pitchFamily="34" charset="-128"/>
              </a:rPr>
              <a:t>Our Prize winning solutions were an ensemble of many separate solution sets</a:t>
            </a:r>
          </a:p>
          <a:p>
            <a:pPr lvl="2"/>
            <a:r>
              <a:rPr lang="en-US" altLang="en-US" sz="1800" dirty="0">
                <a:ea typeface="ＭＳ Ｐゴシック" panose="020B0600070205080204" pitchFamily="34" charset="-128"/>
              </a:rPr>
              <a:t>Progress Prize 2007: 103 models</a:t>
            </a:r>
          </a:p>
          <a:p>
            <a:pPr lvl="2"/>
            <a:r>
              <a:rPr lang="en-US" altLang="en-US" sz="1800" dirty="0">
                <a:ea typeface="ＭＳ Ｐゴシック" panose="020B0600070205080204" pitchFamily="34" charset="-128"/>
              </a:rPr>
              <a:t>Progress Prize 2008 (w/Big Chaos): 205 models</a:t>
            </a:r>
          </a:p>
          <a:p>
            <a:pPr lvl="2"/>
            <a:r>
              <a:rPr lang="en-US" altLang="en-US" sz="1800" dirty="0">
                <a:ea typeface="ＭＳ Ｐゴシック" panose="020B0600070205080204" pitchFamily="34" charset="-128"/>
              </a:rPr>
              <a:t>Grand Prize 2009 (w/ BC and Pragmatic Theory):  &gt; 800 models!!</a:t>
            </a:r>
          </a:p>
          <a:p>
            <a:pPr lvl="1"/>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We used all of the models we knew of – thrown together:</a:t>
            </a:r>
          </a:p>
          <a:p>
            <a:pPr lvl="2"/>
            <a:r>
              <a:rPr lang="en-US" altLang="en-US" sz="1800" dirty="0">
                <a:ea typeface="ＭＳ Ｐゴシック" panose="020B0600070205080204" pitchFamily="34" charset="-128"/>
              </a:rPr>
              <a:t>Nearest Neighbors</a:t>
            </a:r>
          </a:p>
          <a:p>
            <a:pPr lvl="2"/>
            <a:r>
              <a:rPr lang="en-US" altLang="en-US" sz="1800" dirty="0">
                <a:ea typeface="ＭＳ Ｐゴシック" panose="020B0600070205080204" pitchFamily="34" charset="-128"/>
              </a:rPr>
              <a:t>Matrix Decomposition</a:t>
            </a:r>
          </a:p>
          <a:p>
            <a:pPr lvl="2"/>
            <a:r>
              <a:rPr lang="en-US" altLang="en-US" sz="1800" dirty="0">
                <a:ea typeface="ＭＳ Ｐゴシック" panose="020B0600070205080204" pitchFamily="34" charset="-128"/>
              </a:rPr>
              <a:t>Regularized regression (aggressive regularization!) </a:t>
            </a:r>
          </a:p>
          <a:p>
            <a:pPr lvl="2"/>
            <a:r>
              <a:rPr lang="en-US" altLang="en-US" sz="1800" dirty="0" err="1">
                <a:ea typeface="ＭＳ Ｐゴシック" panose="020B0600070205080204" pitchFamily="34" charset="-128"/>
              </a:rPr>
              <a:t>etc</a:t>
            </a:r>
            <a:r>
              <a:rPr lang="en-US" altLang="en-US" sz="1800" dirty="0">
                <a:ea typeface="ＭＳ Ｐゴシック" panose="020B0600070205080204" pitchFamily="34" charset="-128"/>
              </a:rPr>
              <a:t> </a:t>
            </a:r>
            <a:r>
              <a:rPr lang="en-US" altLang="en-US" sz="1800" dirty="0" err="1">
                <a:ea typeface="ＭＳ Ｐゴシック" panose="020B0600070205080204" pitchFamily="34" charset="-128"/>
              </a:rPr>
              <a:t>etc</a:t>
            </a:r>
            <a:endParaRPr lang="en-US" altLang="en-US" sz="1800" dirty="0">
              <a:ea typeface="ＭＳ Ｐゴシック" panose="020B0600070205080204" pitchFamily="34" charset="-128"/>
            </a:endParaRPr>
          </a:p>
          <a:p>
            <a:pPr lvl="2"/>
            <a:r>
              <a:rPr lang="en-US" altLang="en-US" sz="1800" dirty="0">
                <a:ea typeface="ＭＳ Ｐゴシック" panose="020B0600070205080204" pitchFamily="34" charset="-128"/>
              </a:rPr>
              <a:t>Interesting note: Content models added zero value</a:t>
            </a:r>
          </a:p>
          <a:p>
            <a:pPr lvl="1">
              <a:buFontTx/>
              <a:buNone/>
            </a:pPr>
            <a:endParaRPr lang="en-US" altLang="en-US" dirty="0">
              <a:ea typeface="ＭＳ Ｐゴシック" panose="020B0600070205080204" pitchFamily="34" charset="-128"/>
            </a:endParaRPr>
          </a:p>
          <a:p>
            <a:pPr lvl="1">
              <a:buNone/>
            </a:pPr>
            <a:r>
              <a:rPr lang="en-US" altLang="en-US" dirty="0">
                <a:ea typeface="ＭＳ Ｐゴシック" panose="020B0600070205080204" pitchFamily="34" charset="-128"/>
              </a:rPr>
              <a:t>Ensembles of ensembles of ensembles! </a:t>
            </a:r>
          </a:p>
          <a:p>
            <a:pPr lvl="1">
              <a:buNone/>
            </a:pPr>
            <a:endParaRPr lang="en-US" altLang="en-US" sz="1800" dirty="0">
              <a:ea typeface="ＭＳ Ｐゴシック" panose="020B0600070205080204" pitchFamily="34" charset="-128"/>
            </a:endParaRPr>
          </a:p>
        </p:txBody>
      </p:sp>
      <p:sp>
        <p:nvSpPr>
          <p:cNvPr id="37889" name="Title 1">
            <a:extLst>
              <a:ext uri="{FF2B5EF4-FFF2-40B4-BE49-F238E27FC236}">
                <a16:creationId xmlns:a16="http://schemas.microsoft.com/office/drawing/2014/main" id="{6E286B39-E446-F67C-6125-29C13BE193F8}"/>
              </a:ext>
            </a:extLst>
          </p:cNvPr>
          <p:cNvSpPr>
            <a:spLocks noGrp="1"/>
          </p:cNvSpPr>
          <p:nvPr>
            <p:ph type="title"/>
          </p:nvPr>
        </p:nvSpPr>
        <p:spPr>
          <a:xfrm>
            <a:off x="0" y="0"/>
            <a:ext cx="10515600" cy="1001559"/>
          </a:xfrm>
        </p:spPr>
        <p:txBody>
          <a:bodyPr/>
          <a:lstStyle/>
          <a:p>
            <a:r>
              <a:rPr lang="en-US" altLang="en-US" dirty="0">
                <a:ea typeface="ＭＳ Ｐゴシック" panose="020B0600070205080204" pitchFamily="34" charset="-128"/>
              </a:rPr>
              <a:t>Our Approach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89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89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89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890">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890">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890">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89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89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bldLvl="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526DDB-780C-367D-3A25-D82C27B42465}"/>
              </a:ext>
            </a:extLst>
          </p:cNvPr>
          <p:cNvSpPr>
            <a:spLocks noGrp="1"/>
          </p:cNvSpPr>
          <p:nvPr>
            <p:ph type="sldNum" sz="quarter" idx="12"/>
          </p:nvPr>
        </p:nvSpPr>
        <p:spPr/>
        <p:txBody>
          <a:bodyPr/>
          <a:lstStyle/>
          <a:p>
            <a:fld id="{ABBEE3BA-F264-1746-880E-39AD601DF2B1}" type="slidenum">
              <a:rPr lang="en-US" smtClean="0"/>
              <a:t>27</a:t>
            </a:fld>
            <a:endParaRPr lang="en-US"/>
          </a:p>
        </p:txBody>
      </p:sp>
      <p:sp>
        <p:nvSpPr>
          <p:cNvPr id="3" name="Content Placeholder 2">
            <a:extLst>
              <a:ext uri="{FF2B5EF4-FFF2-40B4-BE49-F238E27FC236}">
                <a16:creationId xmlns:a16="http://schemas.microsoft.com/office/drawing/2014/main" id="{4B9670A5-E955-502B-240F-948A374FD707}"/>
              </a:ext>
            </a:extLst>
          </p:cNvPr>
          <p:cNvSpPr>
            <a:spLocks noGrp="1"/>
          </p:cNvSpPr>
          <p:nvPr>
            <p:ph idx="1"/>
          </p:nvPr>
        </p:nvSpPr>
        <p:spPr>
          <a:xfrm>
            <a:off x="1031383" y="1679932"/>
            <a:ext cx="7996707" cy="4574305"/>
          </a:xfrm>
        </p:spPr>
        <p:txBody>
          <a:bodyPr>
            <a:normAutofit/>
          </a:bodyPr>
          <a:lstStyle/>
          <a:p>
            <a:r>
              <a:rPr lang="en-US" dirty="0"/>
              <a:t>The power of friendly competition</a:t>
            </a:r>
          </a:p>
          <a:p>
            <a:pPr lvl="1"/>
            <a:r>
              <a:rPr lang="en-US" dirty="0"/>
              <a:t>Cross team ideation, sharing, collaboration</a:t>
            </a:r>
          </a:p>
          <a:p>
            <a:endParaRPr lang="en-US" dirty="0"/>
          </a:p>
          <a:p>
            <a:r>
              <a:rPr lang="en-US" dirty="0"/>
              <a:t>The power of ”open science”</a:t>
            </a:r>
          </a:p>
          <a:p>
            <a:pPr lvl="1"/>
            <a:r>
              <a:rPr lang="en-US" dirty="0"/>
              <a:t>Netflix took a real risk to open data to public</a:t>
            </a:r>
          </a:p>
          <a:p>
            <a:pPr lvl="1"/>
            <a:r>
              <a:rPr lang="en-US" dirty="0"/>
              <a:t>Crowdsourcing wins:  Kaggle was born</a:t>
            </a:r>
          </a:p>
          <a:p>
            <a:endParaRPr lang="en-US" dirty="0"/>
          </a:p>
          <a:p>
            <a:r>
              <a:rPr lang="en-US" dirty="0"/>
              <a:t>The power of ensembles! </a:t>
            </a:r>
          </a:p>
          <a:p>
            <a:pPr lvl="1"/>
            <a:r>
              <a:rPr lang="en-US" dirty="0"/>
              <a:t>Inflection point in data science</a:t>
            </a:r>
          </a:p>
        </p:txBody>
      </p:sp>
      <p:sp>
        <p:nvSpPr>
          <p:cNvPr id="4" name="Title 3">
            <a:extLst>
              <a:ext uri="{FF2B5EF4-FFF2-40B4-BE49-F238E27FC236}">
                <a16:creationId xmlns:a16="http://schemas.microsoft.com/office/drawing/2014/main" id="{1280C212-AF76-D623-C16A-D758C1330A16}"/>
              </a:ext>
            </a:extLst>
          </p:cNvPr>
          <p:cNvSpPr>
            <a:spLocks noGrp="1"/>
          </p:cNvSpPr>
          <p:nvPr>
            <p:ph type="title"/>
          </p:nvPr>
        </p:nvSpPr>
        <p:spPr/>
        <p:txBody>
          <a:bodyPr/>
          <a:lstStyle/>
          <a:p>
            <a:r>
              <a:rPr lang="en-US" dirty="0"/>
              <a:t>Legacy of Netflix Prize</a:t>
            </a:r>
          </a:p>
        </p:txBody>
      </p:sp>
      <p:pic>
        <p:nvPicPr>
          <p:cNvPr id="4098" name="Picture 2" descr="🤝 Handshake Emoji: Meaning &amp; Usage">
            <a:extLst>
              <a:ext uri="{FF2B5EF4-FFF2-40B4-BE49-F238E27FC236}">
                <a16:creationId xmlns:a16="http://schemas.microsoft.com/office/drawing/2014/main" id="{DC28768C-5AFC-5AA5-AE0D-51EF10D2A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3089" y="1473870"/>
            <a:ext cx="1117600" cy="1117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tudent Collaboration Vector Art, Icons, and Graphics for Free Download">
            <a:extLst>
              <a:ext uri="{FF2B5EF4-FFF2-40B4-BE49-F238E27FC236}">
                <a16:creationId xmlns:a16="http://schemas.microsoft.com/office/drawing/2014/main" id="{049BF726-B2A2-DE29-8EB0-B2986202A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3089" y="3110780"/>
            <a:ext cx="1468192" cy="91926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Three Portrait Silhouettes Of Band Members Playing Instruments Vector, A  Simplistic Black Icon Of Group Band On A White Background, No Shadows,  Small Centered In Frame PNG and Vector with Transparent Background">
            <a:extLst>
              <a:ext uri="{FF2B5EF4-FFF2-40B4-BE49-F238E27FC236}">
                <a16:creationId xmlns:a16="http://schemas.microsoft.com/office/drawing/2014/main" id="{2B0BDB2A-798D-13A8-A338-B8FDA51C56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6419" y="4803819"/>
            <a:ext cx="1152659" cy="115265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news page&#10;&#10;AI-generated content may be incorrect.">
            <a:hlinkClick r:id="rId5"/>
            <a:extLst>
              <a:ext uri="{FF2B5EF4-FFF2-40B4-BE49-F238E27FC236}">
                <a16:creationId xmlns:a16="http://schemas.microsoft.com/office/drawing/2014/main" id="{655A65F0-11CA-D0ED-D5A3-0EF13D7AE879}"/>
              </a:ext>
            </a:extLst>
          </p:cNvPr>
          <p:cNvPicPr>
            <a:picLocks noChangeAspect="1"/>
          </p:cNvPicPr>
          <p:nvPr/>
        </p:nvPicPr>
        <p:blipFill>
          <a:blip r:embed="rId6"/>
          <a:stretch>
            <a:fillRect/>
          </a:stretch>
        </p:blipFill>
        <p:spPr>
          <a:xfrm>
            <a:off x="8330037" y="4326466"/>
            <a:ext cx="2830580" cy="1631346"/>
          </a:xfrm>
          <a:prstGeom prst="rect">
            <a:avLst/>
          </a:prstGeom>
          <a:ln w="38100">
            <a:solidFill>
              <a:schemeClr val="tx2"/>
            </a:solidFill>
          </a:ln>
        </p:spPr>
      </p:pic>
      <p:pic>
        <p:nvPicPr>
          <p:cNvPr id="8" name="Picture 7" descr="A screenshot of a video game&#10;&#10;AI-generated content may be incorrect.">
            <a:hlinkClick r:id="rId7"/>
            <a:extLst>
              <a:ext uri="{FF2B5EF4-FFF2-40B4-BE49-F238E27FC236}">
                <a16:creationId xmlns:a16="http://schemas.microsoft.com/office/drawing/2014/main" id="{5A994280-1881-13A9-AC63-23CA357C5D18}"/>
              </a:ext>
            </a:extLst>
          </p:cNvPr>
          <p:cNvPicPr>
            <a:picLocks noChangeAspect="1"/>
          </p:cNvPicPr>
          <p:nvPr/>
        </p:nvPicPr>
        <p:blipFill>
          <a:blip r:embed="rId8"/>
          <a:stretch>
            <a:fillRect/>
          </a:stretch>
        </p:blipFill>
        <p:spPr>
          <a:xfrm>
            <a:off x="8930825" y="5476216"/>
            <a:ext cx="3261175" cy="1381784"/>
          </a:xfrm>
          <a:prstGeom prst="rect">
            <a:avLst/>
          </a:prstGeom>
        </p:spPr>
      </p:pic>
    </p:spTree>
    <p:extLst>
      <p:ext uri="{BB962C8B-B14F-4D97-AF65-F5344CB8AC3E}">
        <p14:creationId xmlns:p14="http://schemas.microsoft.com/office/powerpoint/2010/main" val="249324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10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2F4E27-5197-20FA-5775-8E432C63B400}"/>
              </a:ext>
            </a:extLst>
          </p:cNvPr>
          <p:cNvSpPr>
            <a:spLocks noGrp="1"/>
          </p:cNvSpPr>
          <p:nvPr>
            <p:ph type="title"/>
          </p:nvPr>
        </p:nvSpPr>
        <p:spPr/>
        <p:txBody>
          <a:bodyPr>
            <a:normAutofit/>
          </a:bodyPr>
          <a:lstStyle/>
          <a:p>
            <a:r>
              <a:rPr lang="en-US" dirty="0"/>
              <a:t>Ensemble Methods</a:t>
            </a:r>
          </a:p>
        </p:txBody>
      </p:sp>
      <p:sp>
        <p:nvSpPr>
          <p:cNvPr id="2" name="Slide Number Placeholder 1">
            <a:extLst>
              <a:ext uri="{FF2B5EF4-FFF2-40B4-BE49-F238E27FC236}">
                <a16:creationId xmlns:a16="http://schemas.microsoft.com/office/drawing/2014/main" id="{12514020-855B-C9C6-0373-CAA010AB62FD}"/>
              </a:ext>
            </a:extLst>
          </p:cNvPr>
          <p:cNvSpPr>
            <a:spLocks noGrp="1"/>
          </p:cNvSpPr>
          <p:nvPr>
            <p:ph type="sldNum" sz="quarter" idx="12"/>
          </p:nvPr>
        </p:nvSpPr>
        <p:spPr/>
        <p:txBody>
          <a:bodyPr/>
          <a:lstStyle/>
          <a:p>
            <a:fld id="{ABBEE3BA-F264-1746-880E-39AD601DF2B1}" type="slidenum">
              <a:rPr lang="en-US" smtClean="0"/>
              <a:t>28</a:t>
            </a:fld>
            <a:endParaRPr lang="en-US"/>
          </a:p>
        </p:txBody>
      </p:sp>
    </p:spTree>
    <p:extLst>
      <p:ext uri="{BB962C8B-B14F-4D97-AF65-F5344CB8AC3E}">
        <p14:creationId xmlns:p14="http://schemas.microsoft.com/office/powerpoint/2010/main" val="3587867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D23AB3-2DD5-7D13-C38C-8075C6FEF550}"/>
              </a:ext>
            </a:extLst>
          </p:cNvPr>
          <p:cNvSpPr>
            <a:spLocks noGrp="1"/>
          </p:cNvSpPr>
          <p:nvPr>
            <p:ph type="sldNum" sz="quarter" idx="12"/>
          </p:nvPr>
        </p:nvSpPr>
        <p:spPr>
          <a:xfrm>
            <a:off x="8534400" y="6358443"/>
            <a:ext cx="2133600" cy="476250"/>
          </a:xfrm>
        </p:spPr>
        <p:txBody>
          <a:bodyPr/>
          <a:lstStyle/>
          <a:p>
            <a:fld id="{ABBEE3BA-F264-1746-880E-39AD601DF2B1}" type="slidenum">
              <a:rPr lang="en-US" smtClean="0"/>
              <a:t>29</a:t>
            </a:fld>
            <a:endParaRPr lang="en-US"/>
          </a:p>
        </p:txBody>
      </p:sp>
      <p:sp>
        <p:nvSpPr>
          <p:cNvPr id="3" name="Content Placeholder 2">
            <a:extLst>
              <a:ext uri="{FF2B5EF4-FFF2-40B4-BE49-F238E27FC236}">
                <a16:creationId xmlns:a16="http://schemas.microsoft.com/office/drawing/2014/main" id="{7DD79B7F-9FE3-EC21-089F-053C820B1E29}"/>
              </a:ext>
            </a:extLst>
          </p:cNvPr>
          <p:cNvSpPr>
            <a:spLocks noGrp="1"/>
          </p:cNvSpPr>
          <p:nvPr>
            <p:ph idx="1"/>
          </p:nvPr>
        </p:nvSpPr>
        <p:spPr>
          <a:xfrm>
            <a:off x="163286" y="967434"/>
            <a:ext cx="11413671" cy="515518"/>
          </a:xfrm>
        </p:spPr>
        <p:txBody>
          <a:bodyPr>
            <a:normAutofit fontScale="85000" lnSpcReduction="10000"/>
          </a:bodyPr>
          <a:lstStyle/>
          <a:p>
            <a:pPr marL="0" indent="0">
              <a:buNone/>
            </a:pPr>
            <a:r>
              <a:rPr lang="en-US" dirty="0"/>
              <a:t>Concept:  a combination of models can perform better than any single model itself. </a:t>
            </a:r>
          </a:p>
        </p:txBody>
      </p:sp>
      <p:sp>
        <p:nvSpPr>
          <p:cNvPr id="2" name="Title 1">
            <a:extLst>
              <a:ext uri="{FF2B5EF4-FFF2-40B4-BE49-F238E27FC236}">
                <a16:creationId xmlns:a16="http://schemas.microsoft.com/office/drawing/2014/main" id="{215910EE-4F40-8ABE-7C25-6EB96B8BA343}"/>
              </a:ext>
            </a:extLst>
          </p:cNvPr>
          <p:cNvSpPr>
            <a:spLocks noGrp="1"/>
          </p:cNvSpPr>
          <p:nvPr>
            <p:ph type="title"/>
          </p:nvPr>
        </p:nvSpPr>
        <p:spPr>
          <a:xfrm>
            <a:off x="34291" y="28011"/>
            <a:ext cx="8229600" cy="729214"/>
          </a:xfrm>
        </p:spPr>
        <p:txBody>
          <a:bodyPr/>
          <a:lstStyle/>
          <a:p>
            <a:r>
              <a:rPr lang="en-US" dirty="0"/>
              <a:t>Ensemble Methods</a:t>
            </a:r>
          </a:p>
        </p:txBody>
      </p:sp>
      <p:grpSp>
        <p:nvGrpSpPr>
          <p:cNvPr id="28" name="Group 27">
            <a:extLst>
              <a:ext uri="{FF2B5EF4-FFF2-40B4-BE49-F238E27FC236}">
                <a16:creationId xmlns:a16="http://schemas.microsoft.com/office/drawing/2014/main" id="{37A9C97E-C88F-F460-3082-0067196813F4}"/>
              </a:ext>
            </a:extLst>
          </p:cNvPr>
          <p:cNvGrpSpPr/>
          <p:nvPr/>
        </p:nvGrpSpPr>
        <p:grpSpPr>
          <a:xfrm>
            <a:off x="2895601" y="1844045"/>
            <a:ext cx="1744980" cy="1525183"/>
            <a:chOff x="1371601" y="1844044"/>
            <a:chExt cx="1744980" cy="1525183"/>
          </a:xfrm>
        </p:grpSpPr>
        <p:sp>
          <p:nvSpPr>
            <p:cNvPr id="5" name="Rounded Rectangle 4">
              <a:extLst>
                <a:ext uri="{FF2B5EF4-FFF2-40B4-BE49-F238E27FC236}">
                  <a16:creationId xmlns:a16="http://schemas.microsoft.com/office/drawing/2014/main" id="{37D0B62F-9AC1-743B-D90F-9DB5F3DF96A6}"/>
                </a:ext>
              </a:extLst>
            </p:cNvPr>
            <p:cNvSpPr/>
            <p:nvPr/>
          </p:nvSpPr>
          <p:spPr bwMode="auto">
            <a:xfrm>
              <a:off x="1371601" y="1844044"/>
              <a:ext cx="1744980" cy="454059"/>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Decision Tree</a:t>
              </a:r>
            </a:p>
          </p:txBody>
        </p:sp>
        <p:cxnSp>
          <p:nvCxnSpPr>
            <p:cNvPr id="9" name="Straight Arrow Connector 8">
              <a:extLst>
                <a:ext uri="{FF2B5EF4-FFF2-40B4-BE49-F238E27FC236}">
                  <a16:creationId xmlns:a16="http://schemas.microsoft.com/office/drawing/2014/main" id="{18C10CFA-9289-24AA-834F-BE867DFF5C53}"/>
                </a:ext>
              </a:extLst>
            </p:cNvPr>
            <p:cNvCxnSpPr/>
            <p:nvPr/>
          </p:nvCxnSpPr>
          <p:spPr bwMode="auto">
            <a:xfrm>
              <a:off x="2218034" y="2382377"/>
              <a:ext cx="194310" cy="450332"/>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076CAAE4-C0CD-8435-7641-BCFB287389A3}"/>
                </a:ext>
              </a:extLst>
            </p:cNvPr>
            <p:cNvSpPr txBox="1"/>
            <p:nvPr/>
          </p:nvSpPr>
          <p:spPr>
            <a:xfrm>
              <a:off x="2412344" y="2969117"/>
              <a:ext cx="32412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1</a:t>
              </a:r>
            </a:p>
          </p:txBody>
        </p:sp>
      </p:grpSp>
      <p:grpSp>
        <p:nvGrpSpPr>
          <p:cNvPr id="30" name="Group 29">
            <a:extLst>
              <a:ext uri="{FF2B5EF4-FFF2-40B4-BE49-F238E27FC236}">
                <a16:creationId xmlns:a16="http://schemas.microsoft.com/office/drawing/2014/main" id="{BF5D1B26-657B-23EC-DD0C-94F9099CEB92}"/>
              </a:ext>
            </a:extLst>
          </p:cNvPr>
          <p:cNvGrpSpPr/>
          <p:nvPr/>
        </p:nvGrpSpPr>
        <p:grpSpPr>
          <a:xfrm>
            <a:off x="7752258" y="1875642"/>
            <a:ext cx="1261110" cy="1519972"/>
            <a:chOff x="6228258" y="1875642"/>
            <a:chExt cx="1261110" cy="1519972"/>
          </a:xfrm>
        </p:grpSpPr>
        <p:sp>
          <p:nvSpPr>
            <p:cNvPr id="7" name="Rounded Rectangle 6">
              <a:extLst>
                <a:ext uri="{FF2B5EF4-FFF2-40B4-BE49-F238E27FC236}">
                  <a16:creationId xmlns:a16="http://schemas.microsoft.com/office/drawing/2014/main" id="{F2A7E034-73BD-B903-785F-43E0B9B5D9EF}"/>
                </a:ext>
              </a:extLst>
            </p:cNvPr>
            <p:cNvSpPr/>
            <p:nvPr/>
          </p:nvSpPr>
          <p:spPr bwMode="auto">
            <a:xfrm>
              <a:off x="6228258" y="1875642"/>
              <a:ext cx="1261110" cy="461690"/>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Neural Net</a:t>
              </a:r>
            </a:p>
          </p:txBody>
        </p:sp>
        <p:cxnSp>
          <p:nvCxnSpPr>
            <p:cNvPr id="10" name="Straight Arrow Connector 9">
              <a:extLst>
                <a:ext uri="{FF2B5EF4-FFF2-40B4-BE49-F238E27FC236}">
                  <a16:creationId xmlns:a16="http://schemas.microsoft.com/office/drawing/2014/main" id="{C824AB85-578C-9C56-30A1-59CD98321BB3}"/>
                </a:ext>
              </a:extLst>
            </p:cNvPr>
            <p:cNvCxnSpPr>
              <a:cxnSpLocks/>
            </p:cNvCxnSpPr>
            <p:nvPr/>
          </p:nvCxnSpPr>
          <p:spPr bwMode="auto">
            <a:xfrm flipH="1">
              <a:off x="6668115" y="2382377"/>
              <a:ext cx="169544" cy="48805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6298CDF9-3929-BB67-DEFD-25066A98593E}"/>
                </a:ext>
              </a:extLst>
            </p:cNvPr>
            <p:cNvSpPr txBox="1"/>
            <p:nvPr/>
          </p:nvSpPr>
          <p:spPr>
            <a:xfrm>
              <a:off x="6428759" y="2995504"/>
              <a:ext cx="32412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1</a:t>
              </a:r>
            </a:p>
          </p:txBody>
        </p:sp>
      </p:grpSp>
      <p:grpSp>
        <p:nvGrpSpPr>
          <p:cNvPr id="29" name="Group 28">
            <a:extLst>
              <a:ext uri="{FF2B5EF4-FFF2-40B4-BE49-F238E27FC236}">
                <a16:creationId xmlns:a16="http://schemas.microsoft.com/office/drawing/2014/main" id="{56EA5DA0-CE6E-C5ED-AFFA-4CF5A8D94A2A}"/>
              </a:ext>
            </a:extLst>
          </p:cNvPr>
          <p:cNvGrpSpPr/>
          <p:nvPr/>
        </p:nvGrpSpPr>
        <p:grpSpPr>
          <a:xfrm>
            <a:off x="5375910" y="1698179"/>
            <a:ext cx="1645920" cy="1671049"/>
            <a:chOff x="3851910" y="1698178"/>
            <a:chExt cx="1645920" cy="1671049"/>
          </a:xfrm>
        </p:grpSpPr>
        <p:sp>
          <p:nvSpPr>
            <p:cNvPr id="6" name="Rounded Rectangle 5">
              <a:extLst>
                <a:ext uri="{FF2B5EF4-FFF2-40B4-BE49-F238E27FC236}">
                  <a16:creationId xmlns:a16="http://schemas.microsoft.com/office/drawing/2014/main" id="{D722D3D2-B085-5F77-0110-0A56B03FCF92}"/>
                </a:ext>
              </a:extLst>
            </p:cNvPr>
            <p:cNvSpPr/>
            <p:nvPr/>
          </p:nvSpPr>
          <p:spPr bwMode="auto">
            <a:xfrm>
              <a:off x="3851910" y="1698178"/>
              <a:ext cx="1645920" cy="640799"/>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Logistic Regression</a:t>
              </a:r>
            </a:p>
          </p:txBody>
        </p:sp>
        <p:cxnSp>
          <p:nvCxnSpPr>
            <p:cNvPr id="11" name="Straight Arrow Connector 10">
              <a:extLst>
                <a:ext uri="{FF2B5EF4-FFF2-40B4-BE49-F238E27FC236}">
                  <a16:creationId xmlns:a16="http://schemas.microsoft.com/office/drawing/2014/main" id="{C8928E68-B86A-E801-23D2-BDB80FA20CEB}"/>
                </a:ext>
              </a:extLst>
            </p:cNvPr>
            <p:cNvCxnSpPr>
              <a:cxnSpLocks/>
            </p:cNvCxnSpPr>
            <p:nvPr/>
          </p:nvCxnSpPr>
          <p:spPr bwMode="auto">
            <a:xfrm>
              <a:off x="4540229" y="2382377"/>
              <a:ext cx="0" cy="48805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CC88BDA-4B42-6C7A-B6E2-E36C9D9FF39A}"/>
                </a:ext>
              </a:extLst>
            </p:cNvPr>
            <p:cNvSpPr txBox="1"/>
            <p:nvPr/>
          </p:nvSpPr>
          <p:spPr>
            <a:xfrm>
              <a:off x="4378165" y="2969117"/>
              <a:ext cx="32412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0</a:t>
              </a:r>
            </a:p>
          </p:txBody>
        </p:sp>
      </p:grpSp>
      <p:sp>
        <p:nvSpPr>
          <p:cNvPr id="17" name="TextBox 16">
            <a:extLst>
              <a:ext uri="{FF2B5EF4-FFF2-40B4-BE49-F238E27FC236}">
                <a16:creationId xmlns:a16="http://schemas.microsoft.com/office/drawing/2014/main" id="{374AE6D3-2892-CB0F-7DA8-9C592AA83758}"/>
              </a:ext>
            </a:extLst>
          </p:cNvPr>
          <p:cNvSpPr txBox="1"/>
          <p:nvPr/>
        </p:nvSpPr>
        <p:spPr>
          <a:xfrm>
            <a:off x="4620917" y="3480027"/>
            <a:ext cx="2950167"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Ensemble Prediction = 1</a:t>
            </a:r>
          </a:p>
        </p:txBody>
      </p:sp>
      <p:grpSp>
        <p:nvGrpSpPr>
          <p:cNvPr id="31" name="Group 30">
            <a:extLst>
              <a:ext uri="{FF2B5EF4-FFF2-40B4-BE49-F238E27FC236}">
                <a16:creationId xmlns:a16="http://schemas.microsoft.com/office/drawing/2014/main" id="{0D6E1D81-C35D-EDE7-32F4-362C9E5BA127}"/>
              </a:ext>
            </a:extLst>
          </p:cNvPr>
          <p:cNvGrpSpPr/>
          <p:nvPr/>
        </p:nvGrpSpPr>
        <p:grpSpPr>
          <a:xfrm>
            <a:off x="2659380" y="4359650"/>
            <a:ext cx="2026920" cy="1620029"/>
            <a:chOff x="1135380" y="4359649"/>
            <a:chExt cx="2026920" cy="1620029"/>
          </a:xfrm>
        </p:grpSpPr>
        <p:sp>
          <p:nvSpPr>
            <p:cNvPr id="18" name="Rounded Rectangle 17">
              <a:extLst>
                <a:ext uri="{FF2B5EF4-FFF2-40B4-BE49-F238E27FC236}">
                  <a16:creationId xmlns:a16="http://schemas.microsoft.com/office/drawing/2014/main" id="{EF562D5F-73B8-4A46-6BF1-DCD165CEE44C}"/>
                </a:ext>
              </a:extLst>
            </p:cNvPr>
            <p:cNvSpPr/>
            <p:nvPr/>
          </p:nvSpPr>
          <p:spPr bwMode="auto">
            <a:xfrm>
              <a:off x="1135380" y="4359649"/>
              <a:ext cx="2026920" cy="454059"/>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Linear Regression</a:t>
              </a:r>
            </a:p>
          </p:txBody>
        </p:sp>
        <p:cxnSp>
          <p:nvCxnSpPr>
            <p:cNvPr id="21" name="Straight Arrow Connector 20">
              <a:extLst>
                <a:ext uri="{FF2B5EF4-FFF2-40B4-BE49-F238E27FC236}">
                  <a16:creationId xmlns:a16="http://schemas.microsoft.com/office/drawing/2014/main" id="{A2E00EEF-F742-14FA-D7E6-4FB7E304989D}"/>
                </a:ext>
              </a:extLst>
            </p:cNvPr>
            <p:cNvCxnSpPr/>
            <p:nvPr/>
          </p:nvCxnSpPr>
          <p:spPr bwMode="auto">
            <a:xfrm>
              <a:off x="2289810" y="4992828"/>
              <a:ext cx="194310" cy="450332"/>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2D18FB92-AF77-2EC1-89E2-1B4A9EC0F6F3}"/>
                </a:ext>
              </a:extLst>
            </p:cNvPr>
            <p:cNvSpPr txBox="1"/>
            <p:nvPr/>
          </p:nvSpPr>
          <p:spPr>
            <a:xfrm>
              <a:off x="2484120" y="5579568"/>
              <a:ext cx="46358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22</a:t>
              </a:r>
            </a:p>
          </p:txBody>
        </p:sp>
      </p:grpSp>
      <p:grpSp>
        <p:nvGrpSpPr>
          <p:cNvPr id="33" name="Group 32">
            <a:extLst>
              <a:ext uri="{FF2B5EF4-FFF2-40B4-BE49-F238E27FC236}">
                <a16:creationId xmlns:a16="http://schemas.microsoft.com/office/drawing/2014/main" id="{A7D55503-4C50-7F2F-2888-7E9E3BA611AB}"/>
              </a:ext>
            </a:extLst>
          </p:cNvPr>
          <p:cNvGrpSpPr/>
          <p:nvPr/>
        </p:nvGrpSpPr>
        <p:grpSpPr>
          <a:xfrm>
            <a:off x="7780020" y="4320930"/>
            <a:ext cx="1261110" cy="1658749"/>
            <a:chOff x="6256020" y="4320929"/>
            <a:chExt cx="1261110" cy="1658749"/>
          </a:xfrm>
        </p:grpSpPr>
        <p:sp>
          <p:nvSpPr>
            <p:cNvPr id="20" name="Rounded Rectangle 19">
              <a:extLst>
                <a:ext uri="{FF2B5EF4-FFF2-40B4-BE49-F238E27FC236}">
                  <a16:creationId xmlns:a16="http://schemas.microsoft.com/office/drawing/2014/main" id="{7BBF199F-A3F9-156F-5263-4B477D7FA7B9}"/>
                </a:ext>
              </a:extLst>
            </p:cNvPr>
            <p:cNvSpPr/>
            <p:nvPr/>
          </p:nvSpPr>
          <p:spPr bwMode="auto">
            <a:xfrm>
              <a:off x="6256020" y="4320929"/>
              <a:ext cx="1261110" cy="461690"/>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Neural Net</a:t>
              </a:r>
            </a:p>
          </p:txBody>
        </p:sp>
        <p:cxnSp>
          <p:nvCxnSpPr>
            <p:cNvPr id="22" name="Straight Arrow Connector 21">
              <a:extLst>
                <a:ext uri="{FF2B5EF4-FFF2-40B4-BE49-F238E27FC236}">
                  <a16:creationId xmlns:a16="http://schemas.microsoft.com/office/drawing/2014/main" id="{167D40F1-B015-3E48-E5D2-562241BD6C2E}"/>
                </a:ext>
              </a:extLst>
            </p:cNvPr>
            <p:cNvCxnSpPr>
              <a:cxnSpLocks/>
            </p:cNvCxnSpPr>
            <p:nvPr/>
          </p:nvCxnSpPr>
          <p:spPr bwMode="auto">
            <a:xfrm flipH="1">
              <a:off x="6739891" y="4992828"/>
              <a:ext cx="169544" cy="48805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0EAB2C71-BAAE-C329-2F9C-503A4AB87640}"/>
                </a:ext>
              </a:extLst>
            </p:cNvPr>
            <p:cNvSpPr txBox="1"/>
            <p:nvPr/>
          </p:nvSpPr>
          <p:spPr>
            <a:xfrm>
              <a:off x="6518851" y="5579568"/>
              <a:ext cx="46358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28</a:t>
              </a:r>
            </a:p>
          </p:txBody>
        </p:sp>
      </p:grpSp>
      <p:grpSp>
        <p:nvGrpSpPr>
          <p:cNvPr id="32" name="Group 31">
            <a:extLst>
              <a:ext uri="{FF2B5EF4-FFF2-40B4-BE49-F238E27FC236}">
                <a16:creationId xmlns:a16="http://schemas.microsoft.com/office/drawing/2014/main" id="{F2477FB7-12C2-24C0-9376-F5CEDE1FC614}"/>
              </a:ext>
            </a:extLst>
          </p:cNvPr>
          <p:cNvGrpSpPr/>
          <p:nvPr/>
        </p:nvGrpSpPr>
        <p:grpSpPr>
          <a:xfrm>
            <a:off x="5410200" y="4241230"/>
            <a:ext cx="1645920" cy="1738449"/>
            <a:chOff x="3886200" y="4241229"/>
            <a:chExt cx="1645920" cy="1738449"/>
          </a:xfrm>
        </p:grpSpPr>
        <p:sp>
          <p:nvSpPr>
            <p:cNvPr id="19" name="Rounded Rectangle 18">
              <a:extLst>
                <a:ext uri="{FF2B5EF4-FFF2-40B4-BE49-F238E27FC236}">
                  <a16:creationId xmlns:a16="http://schemas.microsoft.com/office/drawing/2014/main" id="{61779B4B-6D40-30A2-3A03-4252B4E87E8A}"/>
                </a:ext>
              </a:extLst>
            </p:cNvPr>
            <p:cNvSpPr/>
            <p:nvPr/>
          </p:nvSpPr>
          <p:spPr bwMode="auto">
            <a:xfrm>
              <a:off x="3886200" y="4241229"/>
              <a:ext cx="1645920" cy="640799"/>
            </a:xfrm>
            <a:prstGeom prst="round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buNone/>
              </a:pPr>
              <a:r>
                <a:rPr lang="en-US" sz="1600" dirty="0">
                  <a:latin typeface="Tahoma" panose="020B0604030504040204" pitchFamily="34" charset="0"/>
                  <a:ea typeface="ＭＳ Ｐゴシック" panose="020B0600070205080204" pitchFamily="34" charset="-128"/>
                  <a:cs typeface="Tahoma" panose="020B0604030504040204" pitchFamily="34" charset="0"/>
                </a:rPr>
                <a:t>Regression Tree</a:t>
              </a:r>
            </a:p>
          </p:txBody>
        </p:sp>
        <p:cxnSp>
          <p:nvCxnSpPr>
            <p:cNvPr id="23" name="Straight Arrow Connector 22">
              <a:extLst>
                <a:ext uri="{FF2B5EF4-FFF2-40B4-BE49-F238E27FC236}">
                  <a16:creationId xmlns:a16="http://schemas.microsoft.com/office/drawing/2014/main" id="{0D80F1C2-6B35-8054-57A0-5DCCAD732F90}"/>
                </a:ext>
              </a:extLst>
            </p:cNvPr>
            <p:cNvCxnSpPr>
              <a:cxnSpLocks/>
            </p:cNvCxnSpPr>
            <p:nvPr/>
          </p:nvCxnSpPr>
          <p:spPr bwMode="auto">
            <a:xfrm>
              <a:off x="4612005" y="4992828"/>
              <a:ext cx="0" cy="48805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6" name="TextBox 25">
              <a:extLst>
                <a:ext uri="{FF2B5EF4-FFF2-40B4-BE49-F238E27FC236}">
                  <a16:creationId xmlns:a16="http://schemas.microsoft.com/office/drawing/2014/main" id="{BA200C90-570E-171B-C579-76BD24EB03F6}"/>
                </a:ext>
              </a:extLst>
            </p:cNvPr>
            <p:cNvSpPr txBox="1"/>
            <p:nvPr/>
          </p:nvSpPr>
          <p:spPr>
            <a:xfrm>
              <a:off x="4449941" y="5579568"/>
              <a:ext cx="46358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10</a:t>
              </a:r>
            </a:p>
          </p:txBody>
        </p:sp>
      </p:grpSp>
      <p:sp>
        <p:nvSpPr>
          <p:cNvPr id="27" name="TextBox 26">
            <a:extLst>
              <a:ext uri="{FF2B5EF4-FFF2-40B4-BE49-F238E27FC236}">
                <a16:creationId xmlns:a16="http://schemas.microsoft.com/office/drawing/2014/main" id="{E1E7ABF8-C380-353E-33CD-054800EC7B0B}"/>
              </a:ext>
            </a:extLst>
          </p:cNvPr>
          <p:cNvSpPr txBox="1"/>
          <p:nvPr/>
        </p:nvSpPr>
        <p:spPr>
          <a:xfrm>
            <a:off x="4640581" y="6140593"/>
            <a:ext cx="3089628" cy="400110"/>
          </a:xfrm>
          <a:prstGeom prst="rect">
            <a:avLst/>
          </a:prstGeom>
          <a:noFill/>
          <a:ln>
            <a:solidFill>
              <a:schemeClr val="accent2"/>
            </a:solidFill>
          </a:ln>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Ensemble Prediction =20 </a:t>
            </a:r>
          </a:p>
        </p:txBody>
      </p:sp>
    </p:spTree>
    <p:extLst>
      <p:ext uri="{BB962C8B-B14F-4D97-AF65-F5344CB8AC3E}">
        <p14:creationId xmlns:p14="http://schemas.microsoft.com/office/powerpoint/2010/main" val="258314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8E52-E05B-B2EB-D135-3E1017B24686}"/>
              </a:ext>
            </a:extLst>
          </p:cNvPr>
          <p:cNvSpPr>
            <a:spLocks noGrp="1"/>
          </p:cNvSpPr>
          <p:nvPr>
            <p:ph type="title"/>
          </p:nvPr>
        </p:nvSpPr>
        <p:spPr>
          <a:xfrm>
            <a:off x="0" y="53221"/>
            <a:ext cx="8229600" cy="767443"/>
          </a:xfrm>
        </p:spPr>
        <p:txBody>
          <a:bodyPr wrap="square" anchor="ctr">
            <a:normAutofit/>
          </a:bodyPr>
          <a:lstStyle/>
          <a:p>
            <a:r>
              <a:rPr lang="en-US" dirty="0"/>
              <a:t>Ensembles: Motivation</a:t>
            </a:r>
          </a:p>
        </p:txBody>
      </p:sp>
      <p:sp>
        <p:nvSpPr>
          <p:cNvPr id="3" name="Content Placeholder 2">
            <a:extLst>
              <a:ext uri="{FF2B5EF4-FFF2-40B4-BE49-F238E27FC236}">
                <a16:creationId xmlns:a16="http://schemas.microsoft.com/office/drawing/2014/main" id="{DB3179F7-C737-ACE1-AB13-32DA1FC7ECEE}"/>
              </a:ext>
            </a:extLst>
          </p:cNvPr>
          <p:cNvSpPr>
            <a:spLocks noGrp="1"/>
          </p:cNvSpPr>
          <p:nvPr>
            <p:ph type="body" sz="half" idx="1"/>
          </p:nvPr>
        </p:nvSpPr>
        <p:spPr>
          <a:xfrm>
            <a:off x="783771" y="1004178"/>
            <a:ext cx="7445829" cy="571729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sz="2000" dirty="0">
                <a:ea typeface="ＭＳ Ｐゴシック" panose="020B0600070205080204" pitchFamily="34" charset="-128"/>
              </a:rPr>
              <a:t>Models are simple, but reality is complex</a:t>
            </a:r>
          </a:p>
          <a:p>
            <a:pPr lvl="1"/>
            <a:r>
              <a:rPr lang="en-US" sz="1600" dirty="0"/>
              <a:t>The “truth” is often more complicated than any one model can capture</a:t>
            </a:r>
          </a:p>
          <a:p>
            <a:pPr lvl="1"/>
            <a:r>
              <a:rPr lang="en-US" sz="1600" dirty="0"/>
              <a:t>Combinations of “simple” models can capture arbitrarily complex systems</a:t>
            </a:r>
          </a:p>
          <a:p>
            <a:pPr lvl="2"/>
            <a:r>
              <a:rPr lang="en-US" sz="1400" dirty="0"/>
              <a:t>Example : spam rule based systems, neural nets: many different rules, each simple, combined can work well</a:t>
            </a:r>
          </a:p>
          <a:p>
            <a:pPr marL="685800" lvl="2" indent="0">
              <a:buNone/>
            </a:pPr>
            <a:endParaRPr lang="en-US" sz="1400" dirty="0"/>
          </a:p>
          <a:p>
            <a:pPr lvl="2"/>
            <a:endParaRPr lang="en-US" sz="1400" dirty="0"/>
          </a:p>
          <a:p>
            <a:r>
              <a:rPr lang="en-US" sz="2000" dirty="0">
                <a:ea typeface="ＭＳ Ｐゴシック" panose="020B0600070205080204" pitchFamily="34" charset="-128"/>
              </a:rPr>
              <a:t>An average of several predictions can be more </a:t>
            </a:r>
            <a:r>
              <a:rPr lang="en-US" sz="2000" i="1" dirty="0">
                <a:ea typeface="ＭＳ Ｐゴシック" panose="020B0600070205080204" pitchFamily="34" charset="-128"/>
              </a:rPr>
              <a:t>accurate</a:t>
            </a:r>
            <a:r>
              <a:rPr lang="en-US" sz="2000" dirty="0">
                <a:ea typeface="ＭＳ Ｐゴシック" panose="020B0600070205080204" pitchFamily="34" charset="-128"/>
              </a:rPr>
              <a:t> and </a:t>
            </a:r>
            <a:r>
              <a:rPr lang="en-US" sz="2000" i="1" dirty="0">
                <a:ea typeface="ＭＳ Ｐゴシック" panose="020B0600070205080204" pitchFamily="34" charset="-128"/>
              </a:rPr>
              <a:t>stable</a:t>
            </a:r>
            <a:r>
              <a:rPr lang="en-US" sz="2000" dirty="0">
                <a:ea typeface="ＭＳ Ｐゴシック" panose="020B0600070205080204" pitchFamily="34" charset="-128"/>
              </a:rPr>
              <a:t> than a single model</a:t>
            </a:r>
          </a:p>
          <a:p>
            <a:pPr lvl="1"/>
            <a:r>
              <a:rPr lang="en-US" sz="1600" dirty="0"/>
              <a:t>Accuracy: how well it predicts</a:t>
            </a:r>
          </a:p>
          <a:p>
            <a:pPr lvl="1"/>
            <a:r>
              <a:rPr lang="en-US" sz="1600" dirty="0"/>
              <a:t>Stable: how impacted the model is by outliers or single points</a:t>
            </a:r>
          </a:p>
          <a:p>
            <a:pPr lvl="1"/>
            <a:endParaRPr lang="en-US" sz="1600" dirty="0"/>
          </a:p>
          <a:p>
            <a:pPr lvl="1"/>
            <a:endParaRPr lang="en-US" sz="1600" dirty="0"/>
          </a:p>
          <a:p>
            <a:r>
              <a:rPr lang="en-US" sz="2000" dirty="0">
                <a:ea typeface="ＭＳ Ｐゴシック" panose="020B0600070205080204" pitchFamily="34" charset="-128"/>
              </a:rPr>
              <a:t>The Wisdom of Crowds</a:t>
            </a:r>
          </a:p>
          <a:p>
            <a:pPr lvl="1"/>
            <a:r>
              <a:rPr lang="en-US" sz="1600" dirty="0"/>
              <a:t>Predictions based on a collection of independent opinions will perform better than any single expert</a:t>
            </a:r>
          </a:p>
        </p:txBody>
      </p:sp>
      <p:sp>
        <p:nvSpPr>
          <p:cNvPr id="4" name="Slide Number Placeholder 3">
            <a:extLst>
              <a:ext uri="{FF2B5EF4-FFF2-40B4-BE49-F238E27FC236}">
                <a16:creationId xmlns:a16="http://schemas.microsoft.com/office/drawing/2014/main" id="{6105CDF4-D9CE-49AF-B9AE-0FD67E8E0DCA}"/>
              </a:ext>
            </a:extLst>
          </p:cNvPr>
          <p:cNvSpPr>
            <a:spLocks noGrp="1"/>
          </p:cNvSpPr>
          <p:nvPr>
            <p:ph type="sldNum" sz="quarter" idx="12"/>
          </p:nvPr>
        </p:nvSpPr>
        <p:spPr>
          <a:xfrm>
            <a:off x="8077200" y="6245225"/>
            <a:ext cx="2133600" cy="476250"/>
          </a:xfrm>
        </p:spPr>
        <p:txBody>
          <a:bodyPr wrap="square" anchor="t">
            <a:normAutofit/>
          </a:bodyPr>
          <a:lstStyle/>
          <a:p>
            <a:pPr>
              <a:spcAft>
                <a:spcPts val="600"/>
              </a:spcAft>
            </a:pPr>
            <a:fld id="{ABBEE3BA-F264-1746-880E-39AD601DF2B1}" type="slidenum">
              <a:rPr lang="en-US" smtClean="0"/>
              <a:pPr>
                <a:spcAft>
                  <a:spcPts val="600"/>
                </a:spcAft>
              </a:pPr>
              <a:t>30</a:t>
            </a:fld>
            <a:endParaRPr lang="en-US"/>
          </a:p>
        </p:txBody>
      </p:sp>
      <p:pic>
        <p:nvPicPr>
          <p:cNvPr id="14340" name="Picture 4" descr="The Wisdom of Crowds">
            <a:extLst>
              <a:ext uri="{FF2B5EF4-FFF2-40B4-BE49-F238E27FC236}">
                <a16:creationId xmlns:a16="http://schemas.microsoft.com/office/drawing/2014/main" id="{A0D8DEF7-5791-4CED-8F71-37269EFA72B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98575" y="2080416"/>
            <a:ext cx="1820588" cy="2697167"/>
          </a:xfrm>
          <a:prstGeom prst="rect">
            <a:avLst/>
          </a:prstGeom>
          <a:solidFill>
            <a:srgbClr val="FFFFFF"/>
          </a:solidFill>
        </p:spPr>
      </p:pic>
    </p:spTree>
    <p:extLst>
      <p:ext uri="{BB962C8B-B14F-4D97-AF65-F5344CB8AC3E}">
        <p14:creationId xmlns:p14="http://schemas.microsoft.com/office/powerpoint/2010/main" val="135427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287772-C453-1A79-8F36-81F6A418A696}"/>
              </a:ext>
            </a:extLst>
          </p:cNvPr>
          <p:cNvSpPr>
            <a:spLocks noGrp="1"/>
          </p:cNvSpPr>
          <p:nvPr>
            <p:ph type="sldNum" sz="quarter" idx="12"/>
          </p:nvPr>
        </p:nvSpPr>
        <p:spPr/>
        <p:txBody>
          <a:bodyPr/>
          <a:lstStyle/>
          <a:p>
            <a:fld id="{ABBEE3BA-F264-1746-880E-39AD601DF2B1}" type="slidenum">
              <a:rPr lang="en-US" smtClean="0"/>
              <a:t>31</a:t>
            </a:fld>
            <a:endParaRPr lang="en-US"/>
          </a:p>
        </p:txBody>
      </p:sp>
      <p:sp>
        <p:nvSpPr>
          <p:cNvPr id="5" name="Rectangle 3">
            <a:extLst>
              <a:ext uri="{FF2B5EF4-FFF2-40B4-BE49-F238E27FC236}">
                <a16:creationId xmlns:a16="http://schemas.microsoft.com/office/drawing/2014/main" id="{4C8D919E-B532-D9A1-971E-6E296FFD0D35}"/>
              </a:ext>
            </a:extLst>
          </p:cNvPr>
          <p:cNvSpPr>
            <a:spLocks noGrp="1" noChangeArrowheads="1"/>
          </p:cNvSpPr>
          <p:nvPr>
            <p:ph idx="1"/>
          </p:nvPr>
        </p:nvSpPr>
        <p:spPr/>
        <p:txBody>
          <a:bodyPr/>
          <a:lstStyle/>
          <a:p>
            <a:r>
              <a:rPr lang="en-NZ" altLang="en-US" sz="1800" dirty="0">
                <a:ea typeface="ＭＳ Ｐゴシック" panose="020B0600070205080204" pitchFamily="34" charset="-128"/>
              </a:rPr>
              <a:t>The ensemble predicts a target value using an average of predictions of several individual models</a:t>
            </a:r>
          </a:p>
          <a:p>
            <a:pPr lvl="1"/>
            <a:r>
              <a:rPr lang="en-NZ" altLang="en-US" sz="1400" dirty="0">
                <a:ea typeface="ＭＳ Ｐゴシック" panose="020B0600070205080204" pitchFamily="34" charset="-128"/>
              </a:rPr>
              <a:t>Each model is fit independently of the others</a:t>
            </a:r>
          </a:p>
          <a:p>
            <a:pPr lvl="1"/>
            <a:endParaRPr lang="en-NZ" altLang="en-US" sz="1400" dirty="0">
              <a:ea typeface="ＭＳ Ｐゴシック" panose="020B0600070205080204" pitchFamily="34" charset="-128"/>
            </a:endParaRPr>
          </a:p>
          <a:p>
            <a:r>
              <a:rPr lang="en-NZ" altLang="en-US" sz="1800" dirty="0">
                <a:ea typeface="ＭＳ Ｐゴシック" panose="020B0600070205080204" pitchFamily="34" charset="-128"/>
              </a:rPr>
              <a:t>For a continuous target, an ensemble averages predictions</a:t>
            </a:r>
          </a:p>
          <a:p>
            <a:pPr lvl="1"/>
            <a:r>
              <a:rPr lang="en-US" altLang="en-US" sz="1600" dirty="0">
                <a:ea typeface="ＭＳ Ｐゴシック" panose="020B0600070205080204" pitchFamily="34" charset="-128"/>
              </a:rPr>
              <a:t>May be</a:t>
            </a:r>
            <a:r>
              <a:rPr lang="en-NZ" altLang="en-US" sz="1600" dirty="0">
                <a:ea typeface="ＭＳ Ｐゴシック" panose="020B0600070205080204" pitchFamily="34" charset="-128"/>
              </a:rPr>
              <a:t> weighted</a:t>
            </a:r>
          </a:p>
          <a:p>
            <a:endParaRPr lang="en-NZ" altLang="en-US" sz="1800" dirty="0">
              <a:ea typeface="ＭＳ Ｐゴシック" panose="020B0600070205080204" pitchFamily="34" charset="-128"/>
            </a:endParaRPr>
          </a:p>
          <a:p>
            <a:r>
              <a:rPr lang="en-NZ" altLang="en-US" sz="1800" dirty="0">
                <a:ea typeface="ＭＳ Ｐゴシック" panose="020B0600070205080204" pitchFamily="34" charset="-128"/>
              </a:rPr>
              <a:t>For a categorical target (classification), an ensemble will use “voting” of the predictions of individual models</a:t>
            </a:r>
          </a:p>
          <a:p>
            <a:endParaRPr lang="en-NZ" altLang="en-US" sz="1800" dirty="0">
              <a:ea typeface="ＭＳ Ｐゴシック" panose="020B0600070205080204" pitchFamily="34" charset="-128"/>
            </a:endParaRPr>
          </a:p>
          <a:p>
            <a:endParaRPr lang="en-NZ" altLang="en-US" sz="1800" dirty="0">
              <a:ea typeface="ＭＳ Ｐゴシック" panose="020B0600070205080204" pitchFamily="34" charset="-128"/>
            </a:endParaRPr>
          </a:p>
          <a:p>
            <a:endParaRPr lang="en-NZ" altLang="en-US" sz="1800" dirty="0">
              <a:ea typeface="ＭＳ Ｐゴシック" panose="020B0600070205080204" pitchFamily="34" charset="-128"/>
            </a:endParaRPr>
          </a:p>
          <a:p>
            <a:r>
              <a:rPr lang="en-NZ" altLang="en-US" sz="1800" dirty="0">
                <a:ea typeface="ＭＳ Ｐゴシック" panose="020B0600070205080204" pitchFamily="34" charset="-128"/>
              </a:rPr>
              <a:t>The Netflix Prize winning solution was a weighted average of 800+ individual models!</a:t>
            </a:r>
          </a:p>
        </p:txBody>
      </p:sp>
      <p:sp>
        <p:nvSpPr>
          <p:cNvPr id="2" name="Title 1">
            <a:extLst>
              <a:ext uri="{FF2B5EF4-FFF2-40B4-BE49-F238E27FC236}">
                <a16:creationId xmlns:a16="http://schemas.microsoft.com/office/drawing/2014/main" id="{C259149C-BD89-73EB-1511-2DFAD5DB4E49}"/>
              </a:ext>
            </a:extLst>
          </p:cNvPr>
          <p:cNvSpPr>
            <a:spLocks noGrp="1"/>
          </p:cNvSpPr>
          <p:nvPr>
            <p:ph type="title"/>
          </p:nvPr>
        </p:nvSpPr>
        <p:spPr/>
        <p:txBody>
          <a:bodyPr/>
          <a:lstStyle/>
          <a:p>
            <a:r>
              <a:rPr lang="en-US" dirty="0"/>
              <a:t>Ensembles: How they work</a:t>
            </a:r>
          </a:p>
        </p:txBody>
      </p:sp>
    </p:spTree>
    <p:extLst>
      <p:ext uri="{BB962C8B-B14F-4D97-AF65-F5344CB8AC3E}">
        <p14:creationId xmlns:p14="http://schemas.microsoft.com/office/powerpoint/2010/main" val="284339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A83196-0FA3-3D08-B399-ED325F4F1A1E}"/>
              </a:ext>
            </a:extLst>
          </p:cNvPr>
          <p:cNvSpPr>
            <a:spLocks noGrp="1"/>
          </p:cNvSpPr>
          <p:nvPr>
            <p:ph type="sldNum" sz="quarter" idx="12"/>
          </p:nvPr>
        </p:nvSpPr>
        <p:spPr/>
        <p:txBody>
          <a:bodyPr/>
          <a:lstStyle/>
          <a:p>
            <a:fld id="{ABBEE3BA-F264-1746-880E-39AD601DF2B1}" type="slidenum">
              <a:rPr lang="en-US" smtClean="0"/>
              <a:t>32</a:t>
            </a:fld>
            <a:endParaRPr lang="en-US"/>
          </a:p>
        </p:txBody>
      </p:sp>
      <p:sp>
        <p:nvSpPr>
          <p:cNvPr id="5" name="Content Placeholder 4">
            <a:extLst>
              <a:ext uri="{FF2B5EF4-FFF2-40B4-BE49-F238E27FC236}">
                <a16:creationId xmlns:a16="http://schemas.microsoft.com/office/drawing/2014/main" id="{8AC173EE-196E-914B-3A82-9C8FFB4A1932}"/>
              </a:ext>
            </a:extLst>
          </p:cNvPr>
          <p:cNvSpPr>
            <a:spLocks noGrp="1"/>
          </p:cNvSpPr>
          <p:nvPr>
            <p:ph idx="1"/>
          </p:nvPr>
        </p:nvSpPr>
        <p:spPr>
          <a:xfrm>
            <a:off x="620485" y="1075239"/>
            <a:ext cx="11136085" cy="4814202"/>
          </a:xfrm>
        </p:spPr>
        <p:txBody>
          <a:bodyPr>
            <a:noAutofit/>
          </a:bodyPr>
          <a:lstStyle/>
          <a:p>
            <a:pPr>
              <a:lnSpc>
                <a:spcPct val="120000"/>
              </a:lnSpc>
            </a:pPr>
            <a:r>
              <a:rPr lang="en-US" sz="2000" dirty="0"/>
              <a:t>Wisdom of Crowds: “</a:t>
            </a:r>
            <a:r>
              <a:rPr lang="en-US" sz="2000" i="1" dirty="0"/>
              <a:t>Ensembles work best when the models are independent, decentralized, and have diversity of opinion”</a:t>
            </a:r>
            <a:endParaRPr lang="en-US" sz="2000" dirty="0"/>
          </a:p>
          <a:p>
            <a:pPr lvl="1">
              <a:lnSpc>
                <a:spcPct val="120000"/>
              </a:lnSpc>
            </a:pPr>
            <a:r>
              <a:rPr lang="en-US" sz="1800" dirty="0"/>
              <a:t>For real world examples, this means embrace diversity (in all forms)</a:t>
            </a:r>
          </a:p>
          <a:p>
            <a:pPr lvl="1">
              <a:lnSpc>
                <a:spcPct val="120000"/>
              </a:lnSpc>
            </a:pPr>
            <a:r>
              <a:rPr lang="en-US" sz="1800" dirty="0"/>
              <a:t>For data science models: this means, maybe they are built on different data sets, or use different features. </a:t>
            </a:r>
          </a:p>
          <a:p>
            <a:pPr lvl="1">
              <a:lnSpc>
                <a:spcPct val="120000"/>
              </a:lnSpc>
            </a:pPr>
            <a:r>
              <a:rPr lang="en-US" sz="1800" dirty="0"/>
              <a:t>is this a sensible assumption? </a:t>
            </a:r>
          </a:p>
          <a:p>
            <a:pPr marL="457200" lvl="1" indent="0">
              <a:lnSpc>
                <a:spcPct val="120000"/>
              </a:lnSpc>
              <a:buNone/>
            </a:pPr>
            <a:endParaRPr lang="en-US" sz="1600" dirty="0"/>
          </a:p>
          <a:p>
            <a:pPr>
              <a:lnSpc>
                <a:spcPct val="120000"/>
              </a:lnSpc>
            </a:pPr>
            <a:r>
              <a:rPr lang="en-US" sz="2000" dirty="0"/>
              <a:t>Even though models are not typically independent, they are capturing different elements of of the signal, and still work very well! </a:t>
            </a:r>
          </a:p>
          <a:p>
            <a:pPr marL="0" indent="0">
              <a:lnSpc>
                <a:spcPct val="120000"/>
              </a:lnSpc>
              <a:buNone/>
            </a:pPr>
            <a:endParaRPr lang="en-US" sz="2000" dirty="0"/>
          </a:p>
          <a:p>
            <a:pPr>
              <a:lnSpc>
                <a:spcPct val="120000"/>
              </a:lnSpc>
            </a:pPr>
            <a:r>
              <a:rPr lang="en-US" sz="2000" dirty="0"/>
              <a:t>Netflix Prize took advantage of this:</a:t>
            </a:r>
          </a:p>
          <a:p>
            <a:pPr lvl="1">
              <a:lnSpc>
                <a:spcPct val="120000"/>
              </a:lnSpc>
            </a:pPr>
            <a:r>
              <a:rPr lang="en-US" sz="1800" dirty="0"/>
              <a:t>Different models from the same team</a:t>
            </a:r>
          </a:p>
          <a:p>
            <a:pPr lvl="1">
              <a:lnSpc>
                <a:spcPct val="120000"/>
              </a:lnSpc>
            </a:pPr>
            <a:r>
              <a:rPr lang="en-US" sz="1800" dirty="0"/>
              <a:t>Different teams approach the problem differently, maybe engineer different features</a:t>
            </a:r>
          </a:p>
        </p:txBody>
      </p:sp>
      <p:sp>
        <p:nvSpPr>
          <p:cNvPr id="4" name="Title 3">
            <a:extLst>
              <a:ext uri="{FF2B5EF4-FFF2-40B4-BE49-F238E27FC236}">
                <a16:creationId xmlns:a16="http://schemas.microsoft.com/office/drawing/2014/main" id="{0EA95DBB-96E5-35E6-CED5-F63BD4897450}"/>
              </a:ext>
            </a:extLst>
          </p:cNvPr>
          <p:cNvSpPr>
            <a:spLocks noGrp="1"/>
          </p:cNvSpPr>
          <p:nvPr>
            <p:ph type="title"/>
          </p:nvPr>
        </p:nvSpPr>
        <p:spPr>
          <a:xfrm>
            <a:off x="0" y="73680"/>
            <a:ext cx="10515600" cy="1001559"/>
          </a:xfrm>
        </p:spPr>
        <p:txBody>
          <a:bodyPr/>
          <a:lstStyle/>
          <a:p>
            <a:r>
              <a:rPr lang="en-US" dirty="0"/>
              <a:t>Ensembles: why they work</a:t>
            </a:r>
          </a:p>
        </p:txBody>
      </p:sp>
    </p:spTree>
    <p:extLst>
      <p:ext uri="{BB962C8B-B14F-4D97-AF65-F5344CB8AC3E}">
        <p14:creationId xmlns:p14="http://schemas.microsoft.com/office/powerpoint/2010/main" val="184390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08CD-8042-EDB7-2389-E5788ABEDEF8}"/>
              </a:ext>
            </a:extLst>
          </p:cNvPr>
          <p:cNvSpPr>
            <a:spLocks noGrp="1"/>
          </p:cNvSpPr>
          <p:nvPr>
            <p:ph type="title"/>
          </p:nvPr>
        </p:nvSpPr>
        <p:spPr/>
        <p:txBody>
          <a:bodyPr>
            <a:normAutofit/>
          </a:bodyPr>
          <a:lstStyle/>
          <a:p>
            <a:r>
              <a:rPr lang="en-US" dirty="0"/>
              <a:t>Ensembles</a:t>
            </a:r>
          </a:p>
        </p:txBody>
      </p:sp>
      <p:sp>
        <p:nvSpPr>
          <p:cNvPr id="4" name="Slide Number Placeholder 3">
            <a:extLst>
              <a:ext uri="{FF2B5EF4-FFF2-40B4-BE49-F238E27FC236}">
                <a16:creationId xmlns:a16="http://schemas.microsoft.com/office/drawing/2014/main" id="{D69D625F-512A-DC28-4BF1-223E2AC1D238}"/>
              </a:ext>
            </a:extLst>
          </p:cNvPr>
          <p:cNvSpPr>
            <a:spLocks noGrp="1"/>
          </p:cNvSpPr>
          <p:nvPr>
            <p:ph type="sldNum" sz="quarter" idx="12"/>
          </p:nvPr>
        </p:nvSpPr>
        <p:spPr/>
        <p:txBody>
          <a:bodyPr/>
          <a:lstStyle/>
          <a:p>
            <a:fld id="{ABBEE3BA-F264-1746-880E-39AD601DF2B1}" type="slidenum">
              <a:rPr lang="en-US" smtClean="0"/>
              <a:t>33</a:t>
            </a:fld>
            <a:endParaRPr lang="en-US"/>
          </a:p>
        </p:txBody>
      </p:sp>
      <p:sp>
        <p:nvSpPr>
          <p:cNvPr id="6" name="TextBox 5">
            <a:extLst>
              <a:ext uri="{FF2B5EF4-FFF2-40B4-BE49-F238E27FC236}">
                <a16:creationId xmlns:a16="http://schemas.microsoft.com/office/drawing/2014/main" id="{62CC340F-D68E-4F9B-F287-8B0E04DCA8E0}"/>
              </a:ext>
            </a:extLst>
          </p:cNvPr>
          <p:cNvSpPr txBox="1"/>
          <p:nvPr/>
        </p:nvSpPr>
        <p:spPr>
          <a:xfrm>
            <a:off x="4993024" y="3064855"/>
            <a:ext cx="2639953" cy="400110"/>
          </a:xfrm>
          <a:prstGeom prst="rect">
            <a:avLst/>
          </a:prstGeom>
          <a:solidFill>
            <a:schemeClr val="accent5">
              <a:lumMod val="20000"/>
              <a:lumOff val="80000"/>
            </a:schemeClr>
          </a:solidFill>
        </p:spPr>
        <p:txBody>
          <a:bodyPr wrap="none" rtlCol="0">
            <a:sp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T10_Ensembles.ipynb</a:t>
            </a:r>
          </a:p>
        </p:txBody>
      </p:sp>
    </p:spTree>
    <p:extLst>
      <p:ext uri="{BB962C8B-B14F-4D97-AF65-F5344CB8AC3E}">
        <p14:creationId xmlns:p14="http://schemas.microsoft.com/office/powerpoint/2010/main" val="1253830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A9BDF8-8ACA-77F0-BA13-7357C378D3E1}"/>
              </a:ext>
            </a:extLst>
          </p:cNvPr>
          <p:cNvSpPr>
            <a:spLocks noGrp="1"/>
          </p:cNvSpPr>
          <p:nvPr>
            <p:ph type="sldNum" sz="quarter" idx="12"/>
          </p:nvPr>
        </p:nvSpPr>
        <p:spPr/>
        <p:txBody>
          <a:bodyPr/>
          <a:lstStyle/>
          <a:p>
            <a:fld id="{ABBEE3BA-F264-1746-880E-39AD601DF2B1}" type="slidenum">
              <a:rPr lang="en-US" smtClean="0"/>
              <a:t>34</a:t>
            </a:fld>
            <a:endParaRPr lang="en-US"/>
          </a:p>
        </p:txBody>
      </p:sp>
      <p:sp>
        <p:nvSpPr>
          <p:cNvPr id="3" name="Content Placeholder 2">
            <a:extLst>
              <a:ext uri="{FF2B5EF4-FFF2-40B4-BE49-F238E27FC236}">
                <a16:creationId xmlns:a16="http://schemas.microsoft.com/office/drawing/2014/main" id="{7423623A-71E2-636F-AC29-7B730AB34740}"/>
              </a:ext>
            </a:extLst>
          </p:cNvPr>
          <p:cNvSpPr>
            <a:spLocks noGrp="1"/>
          </p:cNvSpPr>
          <p:nvPr>
            <p:ph idx="1"/>
          </p:nvPr>
        </p:nvSpPr>
        <p:spPr>
          <a:xfrm>
            <a:off x="838200" y="1234312"/>
            <a:ext cx="10869386" cy="5346102"/>
          </a:xfrm>
        </p:spPr>
        <p:txBody>
          <a:bodyPr>
            <a:normAutofit lnSpcReduction="10000"/>
          </a:bodyPr>
          <a:lstStyle/>
          <a:p>
            <a:pPr marL="0" indent="0">
              <a:buNone/>
            </a:pPr>
            <a:r>
              <a:rPr lang="en-US" dirty="0"/>
              <a:t>In the 1990s, the theory resulted in the creation of many methods to exploit the theory of ensembles:</a:t>
            </a:r>
          </a:p>
          <a:p>
            <a:endParaRPr lang="en-US" dirty="0"/>
          </a:p>
          <a:p>
            <a:pPr lvl="1"/>
            <a:r>
              <a:rPr lang="en-US" dirty="0"/>
              <a:t>Boosting</a:t>
            </a:r>
          </a:p>
          <a:p>
            <a:pPr lvl="1"/>
            <a:r>
              <a:rPr lang="en-US" dirty="0"/>
              <a:t>Random Forests</a:t>
            </a:r>
          </a:p>
          <a:p>
            <a:pPr lvl="1"/>
            <a:r>
              <a:rPr lang="en-US" dirty="0"/>
              <a:t>Other methods with fun names:</a:t>
            </a:r>
          </a:p>
          <a:p>
            <a:pPr lvl="2"/>
            <a:r>
              <a:rPr lang="en-US" dirty="0"/>
              <a:t>Arcing</a:t>
            </a:r>
          </a:p>
          <a:p>
            <a:pPr lvl="2"/>
            <a:r>
              <a:rPr lang="en-US" dirty="0"/>
              <a:t>Bagging</a:t>
            </a:r>
          </a:p>
          <a:p>
            <a:pPr lvl="2"/>
            <a:r>
              <a:rPr lang="en-US" dirty="0"/>
              <a:t>Bumping</a:t>
            </a:r>
          </a:p>
          <a:p>
            <a:pPr lvl="2"/>
            <a:r>
              <a:rPr lang="en-US" dirty="0"/>
              <a:t>Crumpling</a:t>
            </a:r>
          </a:p>
          <a:p>
            <a:pPr lvl="2"/>
            <a:r>
              <a:rPr lang="en-US" dirty="0"/>
              <a:t>Born-again models</a:t>
            </a:r>
          </a:p>
          <a:p>
            <a:pPr lvl="2"/>
            <a:r>
              <a:rPr lang="en-US" dirty="0"/>
              <a:t>Bayesian Model Averaging</a:t>
            </a:r>
          </a:p>
          <a:p>
            <a:pPr lvl="3"/>
            <a:r>
              <a:rPr lang="en-US" dirty="0"/>
              <a:t>Close to my heart &lt;3! </a:t>
            </a:r>
          </a:p>
          <a:p>
            <a:pPr lvl="1"/>
            <a:endParaRPr lang="en-US" dirty="0"/>
          </a:p>
          <a:p>
            <a:pPr marL="342900" lvl="1" indent="0">
              <a:buNone/>
            </a:pPr>
            <a:endParaRPr lang="en-US" dirty="0"/>
          </a:p>
          <a:p>
            <a:pPr marL="342900" lvl="1" indent="0">
              <a:buNone/>
            </a:pPr>
            <a:endParaRPr lang="en-US" dirty="0"/>
          </a:p>
          <a:p>
            <a:pPr marL="342900" lvl="1" indent="0">
              <a:buNone/>
            </a:pPr>
            <a:endParaRPr lang="en-US" dirty="0"/>
          </a:p>
        </p:txBody>
      </p:sp>
      <p:sp>
        <p:nvSpPr>
          <p:cNvPr id="2" name="Title 1">
            <a:extLst>
              <a:ext uri="{FF2B5EF4-FFF2-40B4-BE49-F238E27FC236}">
                <a16:creationId xmlns:a16="http://schemas.microsoft.com/office/drawing/2014/main" id="{FDDE66B3-2F59-ECEE-0E68-70FFAC8DAA45}"/>
              </a:ext>
            </a:extLst>
          </p:cNvPr>
          <p:cNvSpPr>
            <a:spLocks noGrp="1"/>
          </p:cNvSpPr>
          <p:nvPr>
            <p:ph type="title"/>
          </p:nvPr>
        </p:nvSpPr>
        <p:spPr>
          <a:xfrm>
            <a:off x="0" y="10626"/>
            <a:ext cx="10515600" cy="1001559"/>
          </a:xfrm>
        </p:spPr>
        <p:txBody>
          <a:bodyPr/>
          <a:lstStyle/>
          <a:p>
            <a:r>
              <a:rPr lang="en-US" dirty="0"/>
              <a:t>Ensembles: use in data science</a:t>
            </a:r>
          </a:p>
        </p:txBody>
      </p:sp>
      <p:pic>
        <p:nvPicPr>
          <p:cNvPr id="6" name="Picture 5" descr="A close up of a book&#10;&#10;Description automatically generated">
            <a:extLst>
              <a:ext uri="{FF2B5EF4-FFF2-40B4-BE49-F238E27FC236}">
                <a16:creationId xmlns:a16="http://schemas.microsoft.com/office/drawing/2014/main" id="{FC60BF93-0B5A-4C4F-CB50-22ADF2B04579}"/>
              </a:ext>
            </a:extLst>
          </p:cNvPr>
          <p:cNvPicPr>
            <a:picLocks noChangeAspect="1"/>
          </p:cNvPicPr>
          <p:nvPr/>
        </p:nvPicPr>
        <p:blipFill>
          <a:blip r:embed="rId3"/>
          <a:stretch>
            <a:fillRect/>
          </a:stretch>
        </p:blipFill>
        <p:spPr>
          <a:xfrm>
            <a:off x="7210469" y="2159576"/>
            <a:ext cx="2484120" cy="1546061"/>
          </a:xfrm>
          <a:prstGeom prst="rect">
            <a:avLst/>
          </a:prstGeom>
        </p:spPr>
      </p:pic>
      <p:pic>
        <p:nvPicPr>
          <p:cNvPr id="7" name="Picture 6" descr="A person wearing a tie and holding a folder&#10;&#10;Description automatically generated">
            <a:extLst>
              <a:ext uri="{FF2B5EF4-FFF2-40B4-BE49-F238E27FC236}">
                <a16:creationId xmlns:a16="http://schemas.microsoft.com/office/drawing/2014/main" id="{B39AFDF8-5711-2F49-6B40-FD4EE999EA86}"/>
              </a:ext>
            </a:extLst>
          </p:cNvPr>
          <p:cNvPicPr>
            <a:picLocks noChangeAspect="1"/>
          </p:cNvPicPr>
          <p:nvPr/>
        </p:nvPicPr>
        <p:blipFill>
          <a:blip r:embed="rId4"/>
          <a:stretch>
            <a:fillRect/>
          </a:stretch>
        </p:blipFill>
        <p:spPr>
          <a:xfrm>
            <a:off x="7497387" y="3927764"/>
            <a:ext cx="1910284" cy="2059193"/>
          </a:xfrm>
          <a:prstGeom prst="rect">
            <a:avLst/>
          </a:prstGeom>
        </p:spPr>
      </p:pic>
    </p:spTree>
    <p:extLst>
      <p:ext uri="{BB962C8B-B14F-4D97-AF65-F5344CB8AC3E}">
        <p14:creationId xmlns:p14="http://schemas.microsoft.com/office/powerpoint/2010/main" val="412131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3A4580-FEED-6D92-8E02-7C5311DBE453}"/>
              </a:ext>
            </a:extLst>
          </p:cNvPr>
          <p:cNvSpPr>
            <a:spLocks noGrp="1"/>
          </p:cNvSpPr>
          <p:nvPr>
            <p:ph type="sldNum" sz="quarter" idx="12"/>
          </p:nvPr>
        </p:nvSpPr>
        <p:spPr/>
        <p:txBody>
          <a:bodyPr/>
          <a:lstStyle/>
          <a:p>
            <a:fld id="{ABBEE3BA-F264-1746-880E-39AD601DF2B1}" type="slidenum">
              <a:rPr lang="en-US" smtClean="0"/>
              <a:t>35</a:t>
            </a:fld>
            <a:endParaRPr lang="en-US"/>
          </a:p>
        </p:txBody>
      </p:sp>
      <p:sp>
        <p:nvSpPr>
          <p:cNvPr id="3" name="Content Placeholder 2">
            <a:extLst>
              <a:ext uri="{FF2B5EF4-FFF2-40B4-BE49-F238E27FC236}">
                <a16:creationId xmlns:a16="http://schemas.microsoft.com/office/drawing/2014/main" id="{7CDC80E5-F4CC-F6BC-7F21-631302C5EB7D}"/>
              </a:ext>
            </a:extLst>
          </p:cNvPr>
          <p:cNvSpPr>
            <a:spLocks noGrp="1"/>
          </p:cNvSpPr>
          <p:nvPr>
            <p:ph idx="1"/>
          </p:nvPr>
        </p:nvSpPr>
        <p:spPr>
          <a:xfrm>
            <a:off x="838201" y="1021900"/>
            <a:ext cx="10167256" cy="5470975"/>
          </a:xfrm>
        </p:spPr>
        <p:txBody>
          <a:bodyPr>
            <a:normAutofit/>
          </a:bodyPr>
          <a:lstStyle/>
          <a:p>
            <a:pPr marL="0" indent="0">
              <a:buNone/>
            </a:pPr>
            <a:r>
              <a:rPr lang="en-US" dirty="0"/>
              <a:t>Boosting takes advantage of a key theoretical finding in ensembles:  “</a:t>
            </a:r>
            <a:r>
              <a:rPr lang="en-US" i="1" dirty="0"/>
              <a:t>Theory of Weak Learners </a:t>
            </a:r>
            <a:r>
              <a:rPr lang="en-US" dirty="0"/>
              <a:t>” </a:t>
            </a:r>
          </a:p>
          <a:p>
            <a:pPr marL="0" indent="0">
              <a:buNone/>
            </a:pPr>
            <a:endParaRPr lang="en-US" dirty="0"/>
          </a:p>
          <a:p>
            <a:pPr lvl="1"/>
            <a:r>
              <a:rPr lang="en-US" dirty="0"/>
              <a:t>Says that if you want to build the best ensemble, you should build it from models that aren’t that good themselves!!   </a:t>
            </a:r>
          </a:p>
          <a:p>
            <a:pPr marL="342900" lvl="1" indent="0">
              <a:buNone/>
            </a:pPr>
            <a:endParaRPr lang="en-US" dirty="0"/>
          </a:p>
          <a:p>
            <a:pPr lvl="1"/>
            <a:r>
              <a:rPr lang="en-US" dirty="0"/>
              <a:t>A Weak Learner is a model that is only slightly better than random chance</a:t>
            </a:r>
          </a:p>
          <a:p>
            <a:pPr marL="457200" lvl="1" indent="0">
              <a:buNone/>
            </a:pPr>
            <a:endParaRPr lang="en-US" dirty="0"/>
          </a:p>
          <a:p>
            <a:pPr lvl="1"/>
            <a:r>
              <a:rPr lang="en-US" dirty="0"/>
              <a:t>The Theory of Weak Learners says that combining many weak learners, as long as they have some independent information </a:t>
            </a:r>
            <a:r>
              <a:rPr lang="en-US" i="1" dirty="0">
                <a:solidFill>
                  <a:schemeClr val="accent2"/>
                </a:solidFill>
              </a:rPr>
              <a:t>will perform better than combining strong learners. </a:t>
            </a:r>
          </a:p>
          <a:p>
            <a:pPr marL="342900" lvl="1" indent="0">
              <a:buNone/>
            </a:pPr>
            <a:endParaRPr lang="en-US" dirty="0"/>
          </a:p>
          <a:p>
            <a:pPr lvl="1"/>
            <a:endParaRPr lang="en-US" dirty="0"/>
          </a:p>
          <a:p>
            <a:pPr lvl="1"/>
            <a:endParaRPr lang="en-US" dirty="0"/>
          </a:p>
        </p:txBody>
      </p:sp>
      <p:sp>
        <p:nvSpPr>
          <p:cNvPr id="2" name="Title 1">
            <a:extLst>
              <a:ext uri="{FF2B5EF4-FFF2-40B4-BE49-F238E27FC236}">
                <a16:creationId xmlns:a16="http://schemas.microsoft.com/office/drawing/2014/main" id="{9CB9D7B0-B0EB-73DA-9F7E-B87117BC656D}"/>
              </a:ext>
            </a:extLst>
          </p:cNvPr>
          <p:cNvSpPr>
            <a:spLocks noGrp="1"/>
          </p:cNvSpPr>
          <p:nvPr>
            <p:ph type="title"/>
          </p:nvPr>
        </p:nvSpPr>
        <p:spPr>
          <a:xfrm>
            <a:off x="70744" y="20341"/>
            <a:ext cx="10515600" cy="1001559"/>
          </a:xfrm>
        </p:spPr>
        <p:txBody>
          <a:bodyPr/>
          <a:lstStyle/>
          <a:p>
            <a:r>
              <a:rPr lang="en-US" dirty="0"/>
              <a:t>Ensemble Methods: Boosting</a:t>
            </a:r>
          </a:p>
        </p:txBody>
      </p:sp>
      <p:sp>
        <p:nvSpPr>
          <p:cNvPr id="6" name="TextBox 5">
            <a:extLst>
              <a:ext uri="{FF2B5EF4-FFF2-40B4-BE49-F238E27FC236}">
                <a16:creationId xmlns:a16="http://schemas.microsoft.com/office/drawing/2014/main" id="{57818B12-428F-696A-177A-CA3171CC8BD9}"/>
              </a:ext>
            </a:extLst>
          </p:cNvPr>
          <p:cNvSpPr txBox="1"/>
          <p:nvPr/>
        </p:nvSpPr>
        <p:spPr>
          <a:xfrm>
            <a:off x="11023991" y="2452552"/>
            <a:ext cx="748923" cy="769441"/>
          </a:xfrm>
          <a:prstGeom prst="rect">
            <a:avLst/>
          </a:prstGeom>
          <a:noFill/>
        </p:spPr>
        <p:txBody>
          <a:bodyPr wrap="none" rtlCol="0">
            <a:spAutoFit/>
          </a:bodyPr>
          <a:lstStyle/>
          <a:p>
            <a:pPr>
              <a:buNone/>
            </a:pPr>
            <a:r>
              <a:rPr lang="en-US" sz="4400" dirty="0"/>
              <a:t>🤯</a:t>
            </a:r>
          </a:p>
        </p:txBody>
      </p:sp>
    </p:spTree>
    <p:extLst>
      <p:ext uri="{BB962C8B-B14F-4D97-AF65-F5344CB8AC3E}">
        <p14:creationId xmlns:p14="http://schemas.microsoft.com/office/powerpoint/2010/main" val="192408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01A034-5E41-933E-81AE-F9523BB75A30}"/>
              </a:ext>
            </a:extLst>
          </p:cNvPr>
          <p:cNvSpPr>
            <a:spLocks noGrp="1"/>
          </p:cNvSpPr>
          <p:nvPr>
            <p:ph type="sldNum" sz="quarter" idx="12"/>
          </p:nvPr>
        </p:nvSpPr>
        <p:spPr/>
        <p:txBody>
          <a:bodyPr/>
          <a:lstStyle/>
          <a:p>
            <a:fld id="{ABBEE3BA-F264-1746-880E-39AD601DF2B1}" type="slidenum">
              <a:rPr lang="en-US" smtClean="0"/>
              <a:t>36</a:t>
            </a:fld>
            <a:endParaRPr lang="en-US"/>
          </a:p>
        </p:txBody>
      </p:sp>
      <p:sp>
        <p:nvSpPr>
          <p:cNvPr id="3" name="Content Placeholder 2">
            <a:extLst>
              <a:ext uri="{FF2B5EF4-FFF2-40B4-BE49-F238E27FC236}">
                <a16:creationId xmlns:a16="http://schemas.microsoft.com/office/drawing/2014/main" id="{1F9C5F6E-0B02-0E86-F089-83FF3C96A2A7}"/>
              </a:ext>
            </a:extLst>
          </p:cNvPr>
          <p:cNvSpPr>
            <a:spLocks noGrp="1"/>
          </p:cNvSpPr>
          <p:nvPr>
            <p:ph idx="1"/>
          </p:nvPr>
        </p:nvSpPr>
        <p:spPr>
          <a:xfrm>
            <a:off x="1061357" y="865739"/>
            <a:ext cx="10515599" cy="5855736"/>
          </a:xfrm>
        </p:spPr>
        <p:txBody>
          <a:bodyPr>
            <a:normAutofit/>
          </a:bodyPr>
          <a:lstStyle/>
          <a:p>
            <a:r>
              <a:rPr lang="en-US" dirty="0"/>
              <a:t>Boosting steps:</a:t>
            </a:r>
          </a:p>
          <a:p>
            <a:pPr lvl="1"/>
            <a:r>
              <a:rPr lang="en-US" dirty="0"/>
              <a:t>Fit a simple classifier (weak learner) to the data set</a:t>
            </a:r>
          </a:p>
          <a:p>
            <a:pPr lvl="1"/>
            <a:r>
              <a:rPr lang="en-US" dirty="0"/>
              <a:t>Identify the cases the classifier got wrong</a:t>
            </a:r>
          </a:p>
          <a:p>
            <a:pPr lvl="1"/>
            <a:r>
              <a:rPr lang="en-US" dirty="0"/>
              <a:t>“upweight” or “</a:t>
            </a:r>
            <a:r>
              <a:rPr lang="en-US" dirty="0" err="1"/>
              <a:t>upsample</a:t>
            </a:r>
            <a:r>
              <a:rPr lang="en-US" dirty="0"/>
              <a:t>” the mis-classified cases</a:t>
            </a:r>
          </a:p>
          <a:p>
            <a:pPr lvl="1"/>
            <a:r>
              <a:rPr lang="en-US" dirty="0"/>
              <a:t>Fit classifier again</a:t>
            </a:r>
          </a:p>
          <a:p>
            <a:pPr lvl="1"/>
            <a:r>
              <a:rPr lang="en-US" dirty="0"/>
              <a:t>Rinse and repeat</a:t>
            </a:r>
          </a:p>
          <a:p>
            <a:pPr lvl="1"/>
            <a:r>
              <a:rPr lang="en-US" dirty="0"/>
              <a:t>Stop after k iterations, the final prediction is an ensemble of all of the component models (perhaps weighted) </a:t>
            </a:r>
          </a:p>
          <a:p>
            <a:pPr marL="342900" lvl="1" indent="0">
              <a:buNone/>
            </a:pPr>
            <a:endParaRPr lang="en-US" dirty="0"/>
          </a:p>
          <a:p>
            <a:pPr marL="342900" lvl="1" indent="0">
              <a:buNone/>
            </a:pPr>
            <a:endParaRPr lang="en-US" dirty="0"/>
          </a:p>
          <a:p>
            <a:r>
              <a:rPr lang="en-US" dirty="0"/>
              <a:t>Simple classifier could be as simple as a one-split tree!</a:t>
            </a:r>
          </a:p>
          <a:p>
            <a:pPr lvl="1"/>
            <a:r>
              <a:rPr lang="en-US" i="1" dirty="0"/>
              <a:t>Boosted stumps</a:t>
            </a:r>
          </a:p>
          <a:p>
            <a:pPr lvl="1"/>
            <a:endParaRPr lang="en-US" dirty="0"/>
          </a:p>
          <a:p>
            <a:pPr marL="342900" lvl="1" indent="0">
              <a:buNone/>
            </a:pPr>
            <a:endParaRPr lang="en-US" dirty="0"/>
          </a:p>
        </p:txBody>
      </p:sp>
      <p:sp>
        <p:nvSpPr>
          <p:cNvPr id="2" name="Title 1">
            <a:extLst>
              <a:ext uri="{FF2B5EF4-FFF2-40B4-BE49-F238E27FC236}">
                <a16:creationId xmlns:a16="http://schemas.microsoft.com/office/drawing/2014/main" id="{30547563-AADC-B5EE-7205-286D689692D8}"/>
              </a:ext>
            </a:extLst>
          </p:cNvPr>
          <p:cNvSpPr>
            <a:spLocks noGrp="1"/>
          </p:cNvSpPr>
          <p:nvPr>
            <p:ph type="title"/>
          </p:nvPr>
        </p:nvSpPr>
        <p:spPr>
          <a:xfrm>
            <a:off x="212271" y="136525"/>
            <a:ext cx="10515600" cy="653143"/>
          </a:xfrm>
        </p:spPr>
        <p:txBody>
          <a:bodyPr>
            <a:normAutofit fontScale="90000"/>
          </a:bodyPr>
          <a:lstStyle/>
          <a:p>
            <a:r>
              <a:rPr lang="en-US" dirty="0"/>
              <a:t>Boosting: How it works</a:t>
            </a:r>
          </a:p>
        </p:txBody>
      </p:sp>
    </p:spTree>
    <p:extLst>
      <p:ext uri="{BB962C8B-B14F-4D97-AF65-F5344CB8AC3E}">
        <p14:creationId xmlns:p14="http://schemas.microsoft.com/office/powerpoint/2010/main" val="262429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Slide Number Placeholder 4">
            <a:extLst>
              <a:ext uri="{FF2B5EF4-FFF2-40B4-BE49-F238E27FC236}">
                <a16:creationId xmlns:a16="http://schemas.microsoft.com/office/drawing/2014/main" id="{1B88AB35-156B-0F0A-7D6D-AEDF29DC67B0}"/>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fld id="{3C7B18BD-3CE5-A24F-8E89-D7361AEA4E6D}" type="slidenum">
              <a:rPr lang="en-US" altLang="en-US" smtClean="0"/>
              <a:pPr/>
              <a:t>37</a:t>
            </a:fld>
            <a:endParaRPr lang="en-US" altLang="en-US"/>
          </a:p>
        </p:txBody>
      </p:sp>
      <p:sp>
        <p:nvSpPr>
          <p:cNvPr id="35843" name="Content Placeholder 2">
            <a:extLst>
              <a:ext uri="{FF2B5EF4-FFF2-40B4-BE49-F238E27FC236}">
                <a16:creationId xmlns:a16="http://schemas.microsoft.com/office/drawing/2014/main" id="{E3480FDC-1F07-5C82-8709-F307E7DF0FA2}"/>
              </a:ext>
            </a:extLst>
          </p:cNvPr>
          <p:cNvSpPr>
            <a:spLocks noGrp="1"/>
          </p:cNvSpPr>
          <p:nvPr>
            <p:ph idx="1"/>
          </p:nvPr>
        </p:nvSpPr>
        <p:spPr>
          <a:xfrm>
            <a:off x="8077200" y="5072063"/>
            <a:ext cx="1639908" cy="579437"/>
          </a:xfrm>
        </p:spPr>
        <p:txBody>
          <a:bodyPr/>
          <a:lstStyle/>
          <a:p>
            <a:pPr marL="0" indent="0">
              <a:buNone/>
            </a:pPr>
            <a:r>
              <a:rPr lang="en-US" altLang="en-US" sz="1200" dirty="0">
                <a:ea typeface="ＭＳ Ｐゴシック" panose="020B0600070205080204" pitchFamily="34" charset="-128"/>
              </a:rPr>
              <a:t>Courtesy M. Littman</a:t>
            </a:r>
          </a:p>
        </p:txBody>
      </p:sp>
      <p:sp>
        <p:nvSpPr>
          <p:cNvPr id="35842" name="Title 1">
            <a:extLst>
              <a:ext uri="{FF2B5EF4-FFF2-40B4-BE49-F238E27FC236}">
                <a16:creationId xmlns:a16="http://schemas.microsoft.com/office/drawing/2014/main" id="{53BD1B13-FCA9-4F11-6C46-405AECCCE325}"/>
              </a:ext>
            </a:extLst>
          </p:cNvPr>
          <p:cNvSpPr>
            <a:spLocks noGrp="1"/>
          </p:cNvSpPr>
          <p:nvPr>
            <p:ph type="title"/>
          </p:nvPr>
        </p:nvSpPr>
        <p:spPr>
          <a:xfrm>
            <a:off x="190500" y="0"/>
            <a:ext cx="10515600" cy="1001559"/>
          </a:xfrm>
        </p:spPr>
        <p:txBody>
          <a:bodyPr/>
          <a:lstStyle/>
          <a:p>
            <a:r>
              <a:rPr lang="en-US" altLang="en-US" dirty="0">
                <a:ea typeface="ＭＳ Ｐゴシック" panose="020B0600070205080204" pitchFamily="34" charset="-128"/>
              </a:rPr>
              <a:t>Boosting Example</a:t>
            </a:r>
          </a:p>
        </p:txBody>
      </p:sp>
      <p:pic>
        <p:nvPicPr>
          <p:cNvPr id="35846" name="Picture 5">
            <a:extLst>
              <a:ext uri="{FF2B5EF4-FFF2-40B4-BE49-F238E27FC236}">
                <a16:creationId xmlns:a16="http://schemas.microsoft.com/office/drawing/2014/main" id="{C05968C3-6CDB-74D6-FDA5-CC565F4D05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37214" y="3122486"/>
            <a:ext cx="3124200"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6">
            <a:extLst>
              <a:ext uri="{FF2B5EF4-FFF2-40B4-BE49-F238E27FC236}">
                <a16:creationId xmlns:a16="http://schemas.microsoft.com/office/drawing/2014/main" id="{EDA43AEC-67F6-9006-DDB0-0ED14AA32F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1064" y="1437404"/>
            <a:ext cx="5016500" cy="448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Slide Number Placeholder 4">
            <a:extLst>
              <a:ext uri="{FF2B5EF4-FFF2-40B4-BE49-F238E27FC236}">
                <a16:creationId xmlns:a16="http://schemas.microsoft.com/office/drawing/2014/main" id="{440283C1-AFEF-86BC-1408-44A07176E1BB}"/>
              </a:ext>
            </a:extLst>
          </p:cNvPr>
          <p:cNvSpPr>
            <a:spLocks noGrp="1"/>
          </p:cNvSpPr>
          <p:nvPr>
            <p:ph type="sldNum" sz="quarter" idx="12"/>
          </p:nvPr>
        </p:nvSpPr>
        <p:spPr bwMode="auto">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a:lstStyle>
          <a:p>
            <a:pPr>
              <a:buNone/>
            </a:pPr>
            <a:fld id="{3C7B18BD-3CE5-A24F-8E89-D7361AEA4E6D}" type="slidenum">
              <a:rPr lang="en-US" altLang="en-US" smtClean="0"/>
              <a:pPr>
                <a:buNone/>
              </a:pPr>
              <a:t>38</a:t>
            </a:fld>
            <a:endParaRPr lang="en-US" altLang="en-US"/>
          </a:p>
        </p:txBody>
      </p:sp>
      <p:sp>
        <p:nvSpPr>
          <p:cNvPr id="36866" name="Content Placeholder 2">
            <a:extLst>
              <a:ext uri="{FF2B5EF4-FFF2-40B4-BE49-F238E27FC236}">
                <a16:creationId xmlns:a16="http://schemas.microsoft.com/office/drawing/2014/main" id="{E4E20418-35BE-7653-5B86-DB480248AA9D}"/>
              </a:ext>
            </a:extLst>
          </p:cNvPr>
          <p:cNvSpPr>
            <a:spLocks noGrp="1"/>
          </p:cNvSpPr>
          <p:nvPr>
            <p:ph idx="1"/>
          </p:nvPr>
        </p:nvSpPr>
        <p:spPr>
          <a:xfrm>
            <a:off x="7753986" y="6453917"/>
            <a:ext cx="1763395" cy="304800"/>
          </a:xfrm>
          <a:solidFill>
            <a:schemeClr val="accent5">
              <a:lumMod val="20000"/>
              <a:lumOff val="80000"/>
            </a:schemeClr>
          </a:solidFill>
        </p:spPr>
        <p:txBody>
          <a:bodyPr/>
          <a:lstStyle/>
          <a:p>
            <a:pPr marL="0" indent="0">
              <a:buNone/>
            </a:pPr>
            <a:r>
              <a:rPr lang="en-US" altLang="en-US" sz="1200" dirty="0">
                <a:ea typeface="ＭＳ Ｐゴシック" panose="020B0600070205080204" pitchFamily="34" charset="-128"/>
              </a:rPr>
              <a:t>Courtesy: M. Littman</a:t>
            </a:r>
          </a:p>
        </p:txBody>
      </p:sp>
      <p:sp>
        <p:nvSpPr>
          <p:cNvPr id="36869" name="Title 1">
            <a:extLst>
              <a:ext uri="{FF2B5EF4-FFF2-40B4-BE49-F238E27FC236}">
                <a16:creationId xmlns:a16="http://schemas.microsoft.com/office/drawing/2014/main" id="{5474FA3F-7688-1D67-28E9-CA759F49B13B}"/>
              </a:ext>
            </a:extLst>
          </p:cNvPr>
          <p:cNvSpPr>
            <a:spLocks noGrp="1"/>
          </p:cNvSpPr>
          <p:nvPr>
            <p:ph type="title"/>
          </p:nvPr>
        </p:nvSpPr>
        <p:spPr>
          <a:xfrm>
            <a:off x="0" y="99283"/>
            <a:ext cx="10515600" cy="1001559"/>
          </a:xfrm>
        </p:spPr>
        <p:txBody>
          <a:bodyPr/>
          <a:lstStyle/>
          <a:p>
            <a:r>
              <a:rPr lang="en-US" altLang="en-US" dirty="0">
                <a:ea typeface="ＭＳ Ｐゴシック" panose="020B0600070205080204" pitchFamily="34" charset="-128"/>
              </a:rPr>
              <a:t>Boosting Example</a:t>
            </a:r>
          </a:p>
        </p:txBody>
      </p:sp>
      <p:pic>
        <p:nvPicPr>
          <p:cNvPr id="36870" name="Picture 6">
            <a:extLst>
              <a:ext uri="{FF2B5EF4-FFF2-40B4-BE49-F238E27FC236}">
                <a16:creationId xmlns:a16="http://schemas.microsoft.com/office/drawing/2014/main" id="{E88EC0F6-2945-B631-20BD-8357B4E1B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914401"/>
            <a:ext cx="4069080" cy="298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7">
            <a:extLst>
              <a:ext uri="{FF2B5EF4-FFF2-40B4-BE49-F238E27FC236}">
                <a16:creationId xmlns:a16="http://schemas.microsoft.com/office/drawing/2014/main" id="{5896578A-E162-204C-8E44-AF6E3CC0ED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37242" y="1002264"/>
            <a:ext cx="4373558" cy="2617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a:extLst>
              <a:ext uri="{FF2B5EF4-FFF2-40B4-BE49-F238E27FC236}">
                <a16:creationId xmlns:a16="http://schemas.microsoft.com/office/drawing/2014/main" id="{B365D68D-F0E2-2FD1-0992-03592CDB0F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901219"/>
            <a:ext cx="3680460" cy="252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9">
            <a:extLst>
              <a:ext uri="{FF2B5EF4-FFF2-40B4-BE49-F238E27FC236}">
                <a16:creationId xmlns:a16="http://schemas.microsoft.com/office/drawing/2014/main" id="{9ABB83B3-4A18-49ED-3E2C-71DCC0D2015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09300" y="3928187"/>
            <a:ext cx="3316031" cy="252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7A9CE5-E9D9-BEFA-0DD8-186CC3EC2639}"/>
              </a:ext>
            </a:extLst>
          </p:cNvPr>
          <p:cNvSpPr>
            <a:spLocks noGrp="1"/>
          </p:cNvSpPr>
          <p:nvPr>
            <p:ph type="sldNum" sz="quarter" idx="12"/>
          </p:nvPr>
        </p:nvSpPr>
        <p:spPr/>
        <p:txBody>
          <a:bodyPr/>
          <a:lstStyle/>
          <a:p>
            <a:fld id="{ABBEE3BA-F264-1746-880E-39AD601DF2B1}" type="slidenum">
              <a:rPr lang="en-US" smtClean="0"/>
              <a:t>39</a:t>
            </a:fld>
            <a:endParaRPr lang="en-US"/>
          </a:p>
        </p:txBody>
      </p:sp>
      <p:sp>
        <p:nvSpPr>
          <p:cNvPr id="3" name="Content Placeholder 2">
            <a:extLst>
              <a:ext uri="{FF2B5EF4-FFF2-40B4-BE49-F238E27FC236}">
                <a16:creationId xmlns:a16="http://schemas.microsoft.com/office/drawing/2014/main" id="{A7CA8A76-2027-EB0B-9277-0DD1400E2885}"/>
              </a:ext>
            </a:extLst>
          </p:cNvPr>
          <p:cNvSpPr>
            <a:spLocks noGrp="1"/>
          </p:cNvSpPr>
          <p:nvPr>
            <p:ph idx="1"/>
          </p:nvPr>
        </p:nvSpPr>
        <p:spPr>
          <a:xfrm>
            <a:off x="424543" y="501131"/>
            <a:ext cx="7328065" cy="6220344"/>
          </a:xfrm>
        </p:spPr>
        <p:txBody>
          <a:bodyPr>
            <a:normAutofit fontScale="77500" lnSpcReduction="20000"/>
          </a:bodyPr>
          <a:lstStyle/>
          <a:p>
            <a:pPr>
              <a:lnSpc>
                <a:spcPct val="120000"/>
              </a:lnSpc>
            </a:pPr>
            <a:endParaRPr lang="en-US" dirty="0"/>
          </a:p>
          <a:p>
            <a:pPr>
              <a:lnSpc>
                <a:spcPct val="120000"/>
              </a:lnSpc>
              <a:spcAft>
                <a:spcPts val="1000"/>
              </a:spcAft>
            </a:pPr>
            <a:r>
              <a:rPr lang="en-US" dirty="0"/>
              <a:t> An ensemble of small decision trees, where each tree learns from the mistakes of the previous ones</a:t>
            </a:r>
          </a:p>
          <a:p>
            <a:pPr>
              <a:lnSpc>
                <a:spcPct val="120000"/>
              </a:lnSpc>
              <a:spcAft>
                <a:spcPts val="1000"/>
              </a:spcAft>
            </a:pPr>
            <a:r>
              <a:rPr lang="en-US" dirty="0"/>
              <a:t>Fast &amp; Efficient</a:t>
            </a:r>
            <a:br>
              <a:rPr lang="en-US" dirty="0"/>
            </a:br>
            <a:r>
              <a:rPr lang="en-US" dirty="0"/>
              <a:t>- Parallel computation for large datasets</a:t>
            </a:r>
          </a:p>
          <a:p>
            <a:pPr>
              <a:lnSpc>
                <a:spcPct val="120000"/>
              </a:lnSpc>
              <a:spcAft>
                <a:spcPts val="1000"/>
              </a:spcAft>
            </a:pPr>
            <a:r>
              <a:rPr lang="en-US" dirty="0"/>
              <a:t>Handles missing data intelligently</a:t>
            </a:r>
            <a:br>
              <a:rPr lang="en-US" dirty="0"/>
            </a:br>
            <a:r>
              <a:rPr lang="en-US" dirty="0"/>
              <a:t>- Learns optimal handling for missing values</a:t>
            </a:r>
          </a:p>
          <a:p>
            <a:pPr>
              <a:lnSpc>
                <a:spcPct val="120000"/>
              </a:lnSpc>
              <a:spcAft>
                <a:spcPts val="1000"/>
              </a:spcAft>
            </a:pPr>
            <a:r>
              <a:rPr lang="en-US" dirty="0"/>
              <a:t>Flexible &amp; Customizable</a:t>
            </a:r>
            <a:br>
              <a:rPr lang="en-US" dirty="0"/>
            </a:br>
            <a:r>
              <a:rPr lang="en-US" dirty="0"/>
              <a:t>- Supports many problem types (regression, classification, ranking)</a:t>
            </a:r>
          </a:p>
          <a:p>
            <a:pPr>
              <a:lnSpc>
                <a:spcPct val="120000"/>
              </a:lnSpc>
              <a:spcAft>
                <a:spcPts val="1000"/>
              </a:spcAft>
            </a:pPr>
            <a:r>
              <a:rPr lang="en-US" dirty="0"/>
              <a:t>Proven Track Record</a:t>
            </a:r>
            <a:br>
              <a:rPr lang="en-US" dirty="0"/>
            </a:br>
            <a:r>
              <a:rPr lang="en-US" dirty="0"/>
              <a:t>- Dominates Kaggle competitions</a:t>
            </a:r>
            <a:br>
              <a:rPr lang="en-US" dirty="0"/>
            </a:br>
            <a:r>
              <a:rPr lang="en-US" dirty="0"/>
              <a:t>- Used extensively in industry (fraud detection, marketing, recommendations)</a:t>
            </a:r>
          </a:p>
          <a:p>
            <a:pPr>
              <a:lnSpc>
                <a:spcPct val="120000"/>
              </a:lnSpc>
            </a:pPr>
            <a:endParaRPr lang="en-US" dirty="0"/>
          </a:p>
        </p:txBody>
      </p:sp>
      <p:sp>
        <p:nvSpPr>
          <p:cNvPr id="2" name="Title 1">
            <a:extLst>
              <a:ext uri="{FF2B5EF4-FFF2-40B4-BE49-F238E27FC236}">
                <a16:creationId xmlns:a16="http://schemas.microsoft.com/office/drawing/2014/main" id="{0BB0C7BD-78BE-B8C8-0797-43A228BEB0C9}"/>
              </a:ext>
            </a:extLst>
          </p:cNvPr>
          <p:cNvSpPr>
            <a:spLocks noGrp="1"/>
          </p:cNvSpPr>
          <p:nvPr>
            <p:ph type="title"/>
          </p:nvPr>
        </p:nvSpPr>
        <p:spPr>
          <a:xfrm>
            <a:off x="0" y="43414"/>
            <a:ext cx="9753600" cy="729214"/>
          </a:xfrm>
        </p:spPr>
        <p:txBody>
          <a:bodyPr>
            <a:normAutofit fontScale="90000"/>
          </a:bodyPr>
          <a:lstStyle/>
          <a:p>
            <a:r>
              <a:rPr lang="en-US" dirty="0"/>
              <a:t>Gradient Boosted Trees: </a:t>
            </a:r>
            <a:r>
              <a:rPr lang="en-US" dirty="0" err="1"/>
              <a:t>XGBoost</a:t>
            </a:r>
            <a:endParaRPr lang="en-US" dirty="0"/>
          </a:p>
        </p:txBody>
      </p:sp>
      <p:pic>
        <p:nvPicPr>
          <p:cNvPr id="5" name="Picture 4">
            <a:extLst>
              <a:ext uri="{FF2B5EF4-FFF2-40B4-BE49-F238E27FC236}">
                <a16:creationId xmlns:a16="http://schemas.microsoft.com/office/drawing/2014/main" id="{0970845F-2DE3-6F86-B47D-2C51449AE7C5}"/>
              </a:ext>
            </a:extLst>
          </p:cNvPr>
          <p:cNvPicPr>
            <a:picLocks noChangeAspect="1"/>
          </p:cNvPicPr>
          <p:nvPr/>
        </p:nvPicPr>
        <p:blipFill>
          <a:blip r:embed="rId3"/>
          <a:stretch>
            <a:fillRect/>
          </a:stretch>
        </p:blipFill>
        <p:spPr>
          <a:xfrm>
            <a:off x="7752608" y="721039"/>
            <a:ext cx="2743200" cy="1828800"/>
          </a:xfrm>
          <a:prstGeom prst="rect">
            <a:avLst/>
          </a:prstGeom>
        </p:spPr>
      </p:pic>
      <p:pic>
        <p:nvPicPr>
          <p:cNvPr id="6" name="Picture 5">
            <a:extLst>
              <a:ext uri="{FF2B5EF4-FFF2-40B4-BE49-F238E27FC236}">
                <a16:creationId xmlns:a16="http://schemas.microsoft.com/office/drawing/2014/main" id="{E29A20B2-F8F9-01F8-AB2F-1E3236A1C37E}"/>
              </a:ext>
            </a:extLst>
          </p:cNvPr>
          <p:cNvPicPr>
            <a:picLocks noChangeAspect="1"/>
          </p:cNvPicPr>
          <p:nvPr/>
        </p:nvPicPr>
        <p:blipFill>
          <a:blip r:embed="rId4"/>
          <a:stretch>
            <a:fillRect/>
          </a:stretch>
        </p:blipFill>
        <p:spPr>
          <a:xfrm>
            <a:off x="8074892" y="3063834"/>
            <a:ext cx="2440709" cy="2440709"/>
          </a:xfrm>
          <a:prstGeom prst="rect">
            <a:avLst/>
          </a:prstGeom>
        </p:spPr>
      </p:pic>
      <p:sp>
        <p:nvSpPr>
          <p:cNvPr id="7" name="TextBox 6">
            <a:extLst>
              <a:ext uri="{FF2B5EF4-FFF2-40B4-BE49-F238E27FC236}">
                <a16:creationId xmlns:a16="http://schemas.microsoft.com/office/drawing/2014/main" id="{0994423E-5FAD-CA3B-32AB-4ABFA1670F48}"/>
              </a:ext>
            </a:extLst>
          </p:cNvPr>
          <p:cNvSpPr txBox="1"/>
          <p:nvPr/>
        </p:nvSpPr>
        <p:spPr>
          <a:xfrm>
            <a:off x="6924084" y="5962260"/>
            <a:ext cx="2371162" cy="523220"/>
          </a:xfrm>
          <a:prstGeom prst="rect">
            <a:avLst/>
          </a:prstGeom>
          <a:solidFill>
            <a:schemeClr val="bg2"/>
          </a:solidFill>
        </p:spPr>
        <p:txBody>
          <a:bodyPr wrap="none" rtlCol="0">
            <a:spAutoFit/>
          </a:bodyPr>
          <a:lstStyle/>
          <a:p>
            <a:pPr algn="l"/>
            <a:r>
              <a:rPr lang="en-US" sz="1400" dirty="0">
                <a:latin typeface="Consolas" panose="020B0609020204030204" pitchFamily="49" charset="0"/>
                <a:cs typeface="Consolas" panose="020B0609020204030204" pitchFamily="49" charset="0"/>
              </a:rPr>
              <a:t>import </a:t>
            </a:r>
            <a:r>
              <a:rPr lang="en-US" sz="1400" dirty="0" err="1">
                <a:latin typeface="Consolas" panose="020B0609020204030204" pitchFamily="49" charset="0"/>
                <a:cs typeface="Consolas" panose="020B0609020204030204" pitchFamily="49" charset="0"/>
              </a:rPr>
              <a:t>xgboost</a:t>
            </a:r>
            <a:r>
              <a:rPr lang="en-US" sz="1400" dirty="0">
                <a:latin typeface="Consolas" panose="020B0609020204030204" pitchFamily="49" charset="0"/>
                <a:cs typeface="Consolas" panose="020B0609020204030204" pitchFamily="49" charset="0"/>
              </a:rPr>
              <a:t> as </a:t>
            </a:r>
            <a:r>
              <a:rPr lang="en-US" sz="1400" dirty="0" err="1">
                <a:latin typeface="Consolas" panose="020B0609020204030204" pitchFamily="49" charset="0"/>
                <a:cs typeface="Consolas" panose="020B0609020204030204" pitchFamily="49" charset="0"/>
              </a:rPr>
              <a:t>xxgb</a:t>
            </a:r>
            <a:endParaRPr lang="en-US" sz="1400" dirty="0">
              <a:latin typeface="Consolas" panose="020B0609020204030204" pitchFamily="49" charset="0"/>
              <a:cs typeface="Consolas" panose="020B0609020204030204" pitchFamily="49" charset="0"/>
            </a:endParaRPr>
          </a:p>
          <a:p>
            <a:pPr algn="l"/>
            <a:r>
              <a:rPr lang="en-US" sz="1400" dirty="0" err="1">
                <a:latin typeface="Consolas" panose="020B0609020204030204" pitchFamily="49" charset="0"/>
                <a:cs typeface="Consolas" panose="020B0609020204030204" pitchFamily="49" charset="0"/>
              </a:rPr>
              <a:t>xgb.XGBClassifier</a:t>
            </a: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4772350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rot="16200000">
            <a:off x="9751378" y="5885498"/>
            <a:ext cx="1315721" cy="365125"/>
          </a:xfrm>
          <a:prstGeom prst="rect">
            <a:avLst/>
          </a:prstGeom>
        </p:spPr>
        <p:txBody>
          <a:bodyPr/>
          <a:lstStyle/>
          <a:p>
            <a:pPr>
              <a:defRPr/>
            </a:pPr>
            <a:fld id="{22F27C8E-632E-435E-8D7A-E81F227BC0D3}" type="slidenum">
              <a:rPr lang="en-US" smtClean="0"/>
              <a:pPr>
                <a:defRPr/>
              </a:pPr>
              <a:t>40</a:t>
            </a:fld>
            <a:endParaRPr lang="en-US"/>
          </a:p>
        </p:txBody>
      </p:sp>
      <p:sp>
        <p:nvSpPr>
          <p:cNvPr id="3" name="Content Placeholder 2"/>
          <p:cNvSpPr>
            <a:spLocks noGrp="1"/>
          </p:cNvSpPr>
          <p:nvPr>
            <p:ph idx="1"/>
          </p:nvPr>
        </p:nvSpPr>
        <p:spPr>
          <a:xfrm>
            <a:off x="620486" y="830898"/>
            <a:ext cx="10923814" cy="406767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p>
            <a:r>
              <a:rPr lang="en-US" sz="2400" dirty="0">
                <a:ea typeface="ＭＳ Ｐゴシック" panose="020B0600070205080204" pitchFamily="34" charset="-128"/>
              </a:rPr>
              <a:t>Solves a problem with decision trees</a:t>
            </a:r>
          </a:p>
          <a:p>
            <a:pPr lvl="1"/>
            <a:r>
              <a:rPr lang="en-US" sz="2000" dirty="0">
                <a:ea typeface="ＭＳ Ｐゴシック" panose="020B0600070205080204" pitchFamily="34" charset="-128"/>
              </a:rPr>
              <a:t>Very dependent on the first split</a:t>
            </a:r>
          </a:p>
          <a:p>
            <a:r>
              <a:rPr lang="en-US" sz="2400" dirty="0">
                <a:ea typeface="ＭＳ Ｐゴシック" panose="020B0600070205080204" pitchFamily="34" charset="-128"/>
              </a:rPr>
              <a:t>Idea - Build many decision trees and average them</a:t>
            </a:r>
          </a:p>
          <a:p>
            <a:pPr lvl="1"/>
            <a:r>
              <a:rPr lang="en-US" sz="2000" dirty="0">
                <a:ea typeface="ＭＳ Ｐゴシック" panose="020B0600070205080204" pitchFamily="34" charset="-128"/>
              </a:rPr>
              <a:t>Better if the trees are weak: use small trees or even stumps</a:t>
            </a:r>
          </a:p>
          <a:p>
            <a:r>
              <a:rPr lang="en-US" sz="2400" dirty="0">
                <a:ea typeface="ＭＳ Ｐゴシック" panose="020B0600070205080204" pitchFamily="34" charset="-128"/>
              </a:rPr>
              <a:t>Even better idea to inject “diversity” -- at each step:</a:t>
            </a:r>
          </a:p>
          <a:p>
            <a:pPr lvl="1"/>
            <a:r>
              <a:rPr lang="en-US" sz="2000" dirty="0">
                <a:ea typeface="ＭＳ Ｐゴシック" panose="020B0600070205080204" pitchFamily="34" charset="-128"/>
              </a:rPr>
              <a:t>Use a random sample of your data  </a:t>
            </a:r>
          </a:p>
          <a:p>
            <a:pPr lvl="1"/>
            <a:r>
              <a:rPr lang="en-US" sz="2000" dirty="0">
                <a:ea typeface="ＭＳ Ｐゴシック" panose="020B0600070205080204" pitchFamily="34" charset="-128"/>
              </a:rPr>
              <a:t>Use a random sample of predictors</a:t>
            </a:r>
          </a:p>
          <a:p>
            <a:pPr lvl="1"/>
            <a:r>
              <a:rPr lang="en-US" sz="2000" dirty="0">
                <a:ea typeface="ＭＳ Ｐゴシック" panose="020B0600070205080204" pitchFamily="34" charset="-128"/>
              </a:rPr>
              <a:t>Reduces correlation between models, improving the ensemble</a:t>
            </a:r>
          </a:p>
          <a:p>
            <a:pPr lvl="1"/>
            <a:r>
              <a:rPr lang="en-US" sz="2000" dirty="0">
                <a:ea typeface="ＭＳ Ｐゴシック" panose="020B0600070205080204" pitchFamily="34" charset="-128"/>
              </a:rPr>
              <a:t>The resulting models don’t have to be great, they just have to be at least “weak”!</a:t>
            </a:r>
          </a:p>
          <a:p>
            <a:r>
              <a:rPr lang="en-US" sz="2400" dirty="0">
                <a:ea typeface="ＭＳ Ｐゴシック" panose="020B0600070205080204" pitchFamily="34" charset="-128"/>
              </a:rPr>
              <a:t>Final prediction is the average across all the trees : </a:t>
            </a:r>
          </a:p>
        </p:txBody>
      </p:sp>
      <p:sp>
        <p:nvSpPr>
          <p:cNvPr id="2" name="Title 1"/>
          <p:cNvSpPr>
            <a:spLocks noGrp="1"/>
          </p:cNvSpPr>
          <p:nvPr>
            <p:ph type="title"/>
          </p:nvPr>
        </p:nvSpPr>
        <p:spPr>
          <a:xfrm>
            <a:off x="0" y="76677"/>
            <a:ext cx="8229600" cy="685482"/>
          </a:xfrm>
        </p:spPr>
        <p:txBody>
          <a:bodyPr>
            <a:normAutofit fontScale="90000"/>
          </a:bodyPr>
          <a:lstStyle/>
          <a:p>
            <a:r>
              <a:rPr lang="en-US"/>
              <a:t>Random Forests</a:t>
            </a:r>
            <a:r>
              <a:rPr lang="en-US" dirty="0"/>
              <a:t>:</a:t>
            </a:r>
          </a:p>
        </p:txBody>
      </p:sp>
      <p:sp>
        <p:nvSpPr>
          <p:cNvPr id="5" name="AutoShape 2" descr="Image result for Random forest"/>
          <p:cNvSpPr>
            <a:spLocks noChangeAspect="1" noChangeArrowheads="1"/>
          </p:cNvSpPr>
          <p:nvPr/>
        </p:nvSpPr>
        <p:spPr bwMode="auto">
          <a:xfrm>
            <a:off x="1524000"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Random forest"/>
          <p:cNvSpPr>
            <a:spLocks noChangeAspect="1" noChangeArrowheads="1"/>
          </p:cNvSpPr>
          <p:nvPr/>
        </p:nvSpPr>
        <p:spPr bwMode="auto">
          <a:xfrm>
            <a:off x="1676400" y="7938"/>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92" name="Picture 8" descr="f:id:kazoo04:20131204173330p:pl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9581" y="4601245"/>
            <a:ext cx="3672839" cy="212467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91655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6B2673-918D-00F6-1DC0-39E55DE34DBB}"/>
              </a:ext>
            </a:extLst>
          </p:cNvPr>
          <p:cNvSpPr>
            <a:spLocks noGrp="1"/>
          </p:cNvSpPr>
          <p:nvPr>
            <p:ph type="sldNum" sz="quarter" idx="12"/>
          </p:nvPr>
        </p:nvSpPr>
        <p:spPr/>
        <p:txBody>
          <a:bodyPr/>
          <a:lstStyle/>
          <a:p>
            <a:fld id="{ABBEE3BA-F264-1746-880E-39AD601DF2B1}" type="slidenum">
              <a:rPr lang="en-US" smtClean="0"/>
              <a:t>41</a:t>
            </a:fld>
            <a:endParaRPr lang="en-US"/>
          </a:p>
        </p:txBody>
      </p:sp>
      <p:sp>
        <p:nvSpPr>
          <p:cNvPr id="3" name="Content Placeholder 2">
            <a:extLst>
              <a:ext uri="{FF2B5EF4-FFF2-40B4-BE49-F238E27FC236}">
                <a16:creationId xmlns:a16="http://schemas.microsoft.com/office/drawing/2014/main" id="{65343A15-206F-A2FF-B1DC-2319DBD00C50}"/>
              </a:ext>
            </a:extLst>
          </p:cNvPr>
          <p:cNvSpPr>
            <a:spLocks noGrp="1"/>
          </p:cNvSpPr>
          <p:nvPr>
            <p:ph idx="1"/>
          </p:nvPr>
        </p:nvSpPr>
        <p:spPr>
          <a:xfrm>
            <a:off x="838200" y="1042271"/>
            <a:ext cx="10515600" cy="4574305"/>
          </a:xfrm>
        </p:spPr>
        <p:txBody>
          <a:bodyPr>
            <a:normAutofit lnSpcReduction="10000"/>
          </a:bodyPr>
          <a:lstStyle/>
          <a:p>
            <a:r>
              <a:rPr lang="en-US" dirty="0"/>
              <a:t>Random Forests:</a:t>
            </a:r>
          </a:p>
          <a:p>
            <a:pPr lvl="1"/>
            <a:r>
              <a:rPr lang="en-US" dirty="0"/>
              <a:t>Tend to predict better</a:t>
            </a:r>
          </a:p>
          <a:p>
            <a:pPr lvl="2"/>
            <a:r>
              <a:rPr lang="en-US" dirty="0"/>
              <a:t>In fact RF are some of the best performing models out there</a:t>
            </a:r>
          </a:p>
          <a:p>
            <a:pPr lvl="1"/>
            <a:r>
              <a:rPr lang="en-US" dirty="0"/>
              <a:t>More robust to outliers</a:t>
            </a:r>
          </a:p>
          <a:p>
            <a:pPr lvl="1"/>
            <a:r>
              <a:rPr lang="en-US" dirty="0"/>
              <a:t>Smoother decision surface</a:t>
            </a:r>
          </a:p>
          <a:p>
            <a:pPr lvl="1"/>
            <a:endParaRPr lang="en-US" dirty="0"/>
          </a:p>
          <a:p>
            <a:r>
              <a:rPr lang="en-US" dirty="0"/>
              <a:t>BUT</a:t>
            </a:r>
          </a:p>
          <a:p>
            <a:pPr lvl="1"/>
            <a:r>
              <a:rPr lang="en-US" dirty="0"/>
              <a:t>Don’t have the nice interpretation of trees</a:t>
            </a:r>
          </a:p>
          <a:p>
            <a:pPr lvl="2"/>
            <a:r>
              <a:rPr lang="en-US" dirty="0"/>
              <a:t>Although RF classifiers do output </a:t>
            </a:r>
            <a:r>
              <a:rPr lang="en-US" dirty="0" err="1">
                <a:latin typeface="Consolas" panose="020B0609020204030204" pitchFamily="49" charset="0"/>
                <a:cs typeface="Consolas" panose="020B0609020204030204" pitchFamily="49" charset="0"/>
              </a:rPr>
              <a:t>feature_importances</a:t>
            </a:r>
            <a:r>
              <a:rPr lang="en-US" dirty="0">
                <a:latin typeface="Consolas" panose="020B0609020204030204" pitchFamily="49" charset="0"/>
                <a:cs typeface="Consolas" panose="020B0609020204030204" pitchFamily="49" charset="0"/>
              </a:rPr>
              <a:t>_</a:t>
            </a:r>
          </a:p>
          <a:p>
            <a:pPr lvl="1"/>
            <a:r>
              <a:rPr lang="en-US" dirty="0"/>
              <a:t>Can be computationally intensive</a:t>
            </a:r>
          </a:p>
          <a:p>
            <a:pPr lvl="1"/>
            <a:r>
              <a:rPr lang="en-US" dirty="0"/>
              <a:t>Have many parameters to optimize</a:t>
            </a:r>
          </a:p>
          <a:p>
            <a:pPr lvl="1"/>
            <a:endParaRPr lang="en-US" dirty="0"/>
          </a:p>
        </p:txBody>
      </p:sp>
      <p:sp>
        <p:nvSpPr>
          <p:cNvPr id="2" name="Title 1">
            <a:extLst>
              <a:ext uri="{FF2B5EF4-FFF2-40B4-BE49-F238E27FC236}">
                <a16:creationId xmlns:a16="http://schemas.microsoft.com/office/drawing/2014/main" id="{CE9DE02B-BE79-11BE-9558-286C72048F41}"/>
              </a:ext>
            </a:extLst>
          </p:cNvPr>
          <p:cNvSpPr>
            <a:spLocks noGrp="1"/>
          </p:cNvSpPr>
          <p:nvPr>
            <p:ph type="title"/>
          </p:nvPr>
        </p:nvSpPr>
        <p:spPr>
          <a:xfrm>
            <a:off x="0" y="40712"/>
            <a:ext cx="10515600" cy="1001559"/>
          </a:xfrm>
        </p:spPr>
        <p:txBody>
          <a:bodyPr/>
          <a:lstStyle/>
          <a:p>
            <a:r>
              <a:rPr lang="en-US" dirty="0"/>
              <a:t>Random Forests vs Trees</a:t>
            </a:r>
          </a:p>
        </p:txBody>
      </p:sp>
      <p:sp>
        <p:nvSpPr>
          <p:cNvPr id="5" name="TextBox 4">
            <a:extLst>
              <a:ext uri="{FF2B5EF4-FFF2-40B4-BE49-F238E27FC236}">
                <a16:creationId xmlns:a16="http://schemas.microsoft.com/office/drawing/2014/main" id="{4F41D96B-A5CE-3921-1009-8F0981978B66}"/>
              </a:ext>
            </a:extLst>
          </p:cNvPr>
          <p:cNvSpPr txBox="1"/>
          <p:nvPr/>
        </p:nvSpPr>
        <p:spPr>
          <a:xfrm>
            <a:off x="6785823" y="4882242"/>
            <a:ext cx="2990819" cy="338554"/>
          </a:xfrm>
          <a:prstGeom prst="rect">
            <a:avLst/>
          </a:prstGeom>
          <a:solidFill>
            <a:schemeClr val="accent5">
              <a:lumMod val="20000"/>
              <a:lumOff val="80000"/>
            </a:schemeClr>
          </a:solidFill>
        </p:spPr>
        <p:txBody>
          <a:bodyPr wrap="none" rtlCol="0">
            <a:spAutoFit/>
          </a:bodyPr>
          <a:lstStyle/>
          <a:p>
            <a:pPr>
              <a:buNone/>
            </a:pPr>
            <a:r>
              <a:rPr lang="en-US" sz="1600" dirty="0" err="1">
                <a:latin typeface="Tahoma" panose="020B0604030504040204" pitchFamily="34" charset="0"/>
                <a:ea typeface="Tahoma" panose="020B0604030504040204" pitchFamily="34" charset="0"/>
                <a:cs typeface="Tahoma" panose="020B0604030504040204" pitchFamily="34" charset="0"/>
              </a:rPr>
              <a:t>sklearn.RandomForestClassifier</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97ADE8F8-5D6A-71D4-2AD8-BA0485DE9E0A}"/>
              </a:ext>
            </a:extLst>
          </p:cNvPr>
          <p:cNvSpPr txBox="1"/>
          <p:nvPr/>
        </p:nvSpPr>
        <p:spPr>
          <a:xfrm>
            <a:off x="5829724" y="5781183"/>
            <a:ext cx="5524076" cy="307777"/>
          </a:xfrm>
          <a:prstGeom prst="rect">
            <a:avLst/>
          </a:prstGeom>
          <a:solidFill>
            <a:schemeClr val="accent5">
              <a:lumMod val="20000"/>
              <a:lumOff val="80000"/>
            </a:schemeClr>
          </a:solidFill>
        </p:spPr>
        <p:txBody>
          <a:bodyPr wrap="none" rtlCol="0">
            <a:spAutoFit/>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Some good code examples in </a:t>
            </a:r>
            <a:r>
              <a:rPr lang="en-US" sz="1400" dirty="0" err="1">
                <a:latin typeface="Tahoma" panose="020B0604030504040204" pitchFamily="34" charset="0"/>
                <a:ea typeface="Tahoma" panose="020B0604030504040204" pitchFamily="34" charset="0"/>
                <a:cs typeface="Tahoma" panose="020B0604030504040204" pitchFamily="34" charset="0"/>
              </a:rPr>
              <a:t>Shmueli</a:t>
            </a:r>
            <a:r>
              <a:rPr lang="en-US" sz="1400" dirty="0">
                <a:latin typeface="Tahoma" panose="020B0604030504040204" pitchFamily="34" charset="0"/>
                <a:ea typeface="Tahoma" panose="020B0604030504040204" pitchFamily="34" charset="0"/>
                <a:cs typeface="Tahoma" panose="020B0604030504040204" pitchFamily="34" charset="0"/>
              </a:rPr>
              <a:t> 9.8 (RF) and 13.1 (Boosting)</a:t>
            </a:r>
          </a:p>
        </p:txBody>
      </p:sp>
    </p:spTree>
    <p:extLst>
      <p:ext uri="{BB962C8B-B14F-4D97-AF65-F5344CB8AC3E}">
        <p14:creationId xmlns:p14="http://schemas.microsoft.com/office/powerpoint/2010/main" val="21445961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7.9|0.1"/>
</p:tagLst>
</file>

<file path=ppt/tags/tag2.xml><?xml version="1.0" encoding="utf-8"?>
<p:tagLst xmlns:a="http://schemas.openxmlformats.org/drawingml/2006/main" xmlns:r="http://schemas.openxmlformats.org/officeDocument/2006/relationships" xmlns:p="http://schemas.openxmlformats.org/presentationml/2006/main">
  <p:tag name="TIMING" val="|2.3"/>
</p:tagLst>
</file>

<file path=ppt/theme/theme1.xml><?xml version="1.0" encoding="utf-8"?>
<a:theme xmlns:a="http://schemas.openxmlformats.org/drawingml/2006/main" name="LSL_PowerPoint_Template">
  <a:themeElements>
    <a:clrScheme name="Stern Color Palette">
      <a:dk1>
        <a:srgbClr val="000000"/>
      </a:dk1>
      <a:lt1>
        <a:srgbClr val="FFFFFF"/>
      </a:lt1>
      <a:dk2>
        <a:srgbClr val="0E2841"/>
      </a:dk2>
      <a:lt2>
        <a:srgbClr val="EEE6F3"/>
      </a:lt2>
      <a:accent1>
        <a:srgbClr val="57068C"/>
      </a:accent1>
      <a:accent2>
        <a:srgbClr val="8900E1"/>
      </a:accent2>
      <a:accent3>
        <a:srgbClr val="330661"/>
      </a:accent3>
      <a:accent4>
        <a:srgbClr val="702B9D"/>
      </a:accent4>
      <a:accent5>
        <a:srgbClr val="A02B93"/>
      </a:accent5>
      <a:accent6>
        <a:srgbClr val="7B59A6"/>
      </a:accent6>
      <a:hlink>
        <a:srgbClr val="009B8A"/>
      </a:hlink>
      <a:folHlink>
        <a:srgbClr val="FB0F78"/>
      </a:folHlink>
    </a:clrScheme>
    <a:fontScheme name="LSL Template">
      <a:majorFont>
        <a:latin typeface="Montserrat"/>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400" dirty="0" smtClean="0">
            <a:latin typeface="Montserrat" pitchFamily="2" charset="77"/>
          </a:defRPr>
        </a:defPPr>
      </a:lstStyle>
    </a:txDef>
  </a:objectDefaults>
  <a:extraClrSchemeLst/>
  <a:extLst>
    <a:ext uri="{05A4C25C-085E-4340-85A3-A5531E510DB2}">
      <thm15:themeFamily xmlns:thm15="http://schemas.microsoft.com/office/thememl/2012/main" name="LSL_PowerPoint_Template" id="{21962180-B26F-4A46-B8B0-B7D5112C3D72}" vid="{BB355436-7ED7-E64D-88EB-D09D3F4BC2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LSL_PowerPoint_Template</Template>
  <TotalTime>28473</TotalTime>
  <Words>3201</Words>
  <Application>Microsoft Macintosh PowerPoint</Application>
  <PresentationFormat>Widescreen</PresentationFormat>
  <Paragraphs>612</Paragraphs>
  <Slides>41</Slides>
  <Notes>28</Notes>
  <HiddenSlides>3</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41</vt:i4>
      </vt:variant>
    </vt:vector>
  </HeadingPairs>
  <TitlesOfParts>
    <vt:vector size="57" baseType="lpstr">
      <vt:lpstr>ＭＳ Ｐゴシック</vt:lpstr>
      <vt:lpstr>Apple Color Emoji</vt:lpstr>
      <vt:lpstr>Arial</vt:lpstr>
      <vt:lpstr>Calibri</vt:lpstr>
      <vt:lpstr>Consolas</vt:lpstr>
      <vt:lpstr>Lucida Bright</vt:lpstr>
      <vt:lpstr>Montserrat</vt:lpstr>
      <vt:lpstr>Montserrat SemiBold</vt:lpstr>
      <vt:lpstr>Söhne</vt:lpstr>
      <vt:lpstr>Tahoma</vt:lpstr>
      <vt:lpstr>Times</vt:lpstr>
      <vt:lpstr>Verdana</vt:lpstr>
      <vt:lpstr>Wingdings</vt:lpstr>
      <vt:lpstr>LSL_PowerPoint_Template</vt:lpstr>
      <vt:lpstr>Document</vt:lpstr>
      <vt:lpstr>Worksheet</vt:lpstr>
      <vt:lpstr>Topic 11 – Recommender Systems and Ensembles </vt:lpstr>
      <vt:lpstr>Outline</vt:lpstr>
      <vt:lpstr>Recommender Systems</vt:lpstr>
      <vt:lpstr>A good recommendation</vt:lpstr>
      <vt:lpstr>Perils of Recommender Systems</vt:lpstr>
      <vt:lpstr>Models for Recommender Systems</vt:lpstr>
      <vt:lpstr>Models for Recommender Systems</vt:lpstr>
      <vt:lpstr>RecSys 1: Content-based</vt:lpstr>
      <vt:lpstr>RecSys 1: Content-based</vt:lpstr>
      <vt:lpstr>RecSys 2: k-Nearest Neighbors</vt:lpstr>
      <vt:lpstr>RecSys 3 – Matrix Decomposition </vt:lpstr>
      <vt:lpstr>RecSys 3:  Matrix Decomposition - SVD</vt:lpstr>
      <vt:lpstr>Matrix Decomposition : Latent Factors</vt:lpstr>
      <vt:lpstr>Netflix Data – first two latent factors</vt:lpstr>
      <vt:lpstr>Summary - RecSys</vt:lpstr>
      <vt:lpstr>Netflix Prize</vt:lpstr>
      <vt:lpstr>Netflix in 2006</vt:lpstr>
      <vt:lpstr>Netflix Prize – October 2006</vt:lpstr>
      <vt:lpstr>Data scientists were excited…</vt:lpstr>
      <vt:lpstr>Competition Details</vt:lpstr>
      <vt:lpstr>Data Characteristics</vt:lpstr>
      <vt:lpstr>Data Characteristics</vt:lpstr>
      <vt:lpstr>Netflix Prize : the first year</vt:lpstr>
      <vt:lpstr>So The Drama</vt:lpstr>
      <vt:lpstr>Test Set Results</vt:lpstr>
      <vt:lpstr>Our Approach</vt:lpstr>
      <vt:lpstr>Legacy of Netflix Prize</vt:lpstr>
      <vt:lpstr>Ensemble Methods</vt:lpstr>
      <vt:lpstr>Ensemble Methods</vt:lpstr>
      <vt:lpstr>Ensembles: Motivation</vt:lpstr>
      <vt:lpstr>Ensembles: How they work</vt:lpstr>
      <vt:lpstr>Ensembles: why they work</vt:lpstr>
      <vt:lpstr>Ensembles</vt:lpstr>
      <vt:lpstr>Ensembles: use in data science</vt:lpstr>
      <vt:lpstr>Ensemble Methods: Boosting</vt:lpstr>
      <vt:lpstr>Boosting: How it works</vt:lpstr>
      <vt:lpstr>Boosting Example</vt:lpstr>
      <vt:lpstr>Boosting Example</vt:lpstr>
      <vt:lpstr>Gradient Boosted Trees: XGBoost</vt:lpstr>
      <vt:lpstr>Random Forests:</vt:lpstr>
      <vt:lpstr>Random Forests vs Trees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volinsky</dc:creator>
  <cp:lastModifiedBy>chris volinsky</cp:lastModifiedBy>
  <cp:revision>58</cp:revision>
  <cp:lastPrinted>2025-04-26T16:57:48Z</cp:lastPrinted>
  <dcterms:created xsi:type="dcterms:W3CDTF">2023-07-07T20:20:38Z</dcterms:created>
  <dcterms:modified xsi:type="dcterms:W3CDTF">2025-11-19T15:18:30Z</dcterms:modified>
</cp:coreProperties>
</file>